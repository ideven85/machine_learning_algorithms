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gxY9CNcytawE9D8dIEAOART/wn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12" Type="http://schemas.openxmlformats.org/officeDocument/2006/relationships/slide" Target="slides/slide8.xml"/><Relationship Id="rId56"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1"/>
          <p:cNvSpPr/>
          <p:nvPr>
            <p:ph idx="2" type="pic"/>
          </p:nvPr>
        </p:nvSpPr>
        <p:spPr>
          <a:xfrm>
            <a:off x="5183188" y="987425"/>
            <a:ext cx="6172200" cy="4873625"/>
          </a:xfrm>
          <a:prstGeom prst="rect">
            <a:avLst/>
          </a:prstGeom>
          <a:noFill/>
          <a:ln>
            <a:noFill/>
          </a:ln>
        </p:spPr>
      </p:sp>
      <p:sp>
        <p:nvSpPr>
          <p:cNvPr id="64" name="Google Shape;64;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Learning Rate</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The learning rate determines the step size taken during optimization. When updating the weights of the network based on the calculated gradients, the learning rate defines how much of that gradient should be applied. Mathematically, the weight update rule in gradient descent is: </a:t>
            </a:r>
            <a:r>
              <a:rPr b="0" i="1" lang="en-IN">
                <a:latin typeface="Arial"/>
                <a:ea typeface="Arial"/>
                <a:cs typeface="Arial"/>
                <a:sym typeface="Arial"/>
              </a:rPr>
              <a:t>w</a:t>
            </a:r>
            <a:r>
              <a:rPr b="0" baseline="-25000" i="1" lang="en-IN">
                <a:latin typeface="Arial"/>
                <a:ea typeface="Arial"/>
                <a:cs typeface="Arial"/>
                <a:sym typeface="Arial"/>
              </a:rPr>
              <a:t>new</a:t>
            </a:r>
            <a:r>
              <a:rPr b="0" i="0" lang="en-IN">
                <a:latin typeface="Arial"/>
                <a:ea typeface="Arial"/>
                <a:cs typeface="Arial"/>
                <a:sym typeface="Arial"/>
              </a:rPr>
              <a:t>​=</a:t>
            </a:r>
            <a:r>
              <a:rPr b="0" i="1" lang="en-IN">
                <a:latin typeface="Arial"/>
                <a:ea typeface="Arial"/>
                <a:cs typeface="Arial"/>
                <a:sym typeface="Arial"/>
              </a:rPr>
              <a:t>w</a:t>
            </a:r>
            <a:r>
              <a:rPr b="0" baseline="-25000" i="1" lang="en-IN">
                <a:latin typeface="Arial"/>
                <a:ea typeface="Arial"/>
                <a:cs typeface="Arial"/>
                <a:sym typeface="Arial"/>
              </a:rPr>
              <a:t>old</a:t>
            </a:r>
            <a:r>
              <a:rPr b="0" i="0" lang="en-IN">
                <a:latin typeface="Arial"/>
                <a:ea typeface="Arial"/>
                <a:cs typeface="Arial"/>
                <a:sym typeface="Arial"/>
              </a:rPr>
              <a:t>​−learning rate × gradient</a:t>
            </a:r>
            <a:endParaRPr b="0" i="0">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Importance of Learning Rate</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Convergence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1" i="0" lang="en-IN">
                <a:latin typeface="Arial"/>
                <a:ea typeface="Arial"/>
                <a:cs typeface="Arial"/>
                <a:sym typeface="Arial"/>
              </a:rPr>
              <a:t>Too High</a:t>
            </a:r>
            <a:r>
              <a:rPr b="0" i="0" lang="en-IN">
                <a:latin typeface="Arial"/>
                <a:ea typeface="Arial"/>
                <a:cs typeface="Arial"/>
                <a:sym typeface="Arial"/>
              </a:rPr>
              <a:t>: If the learning rate is too high, the model might overshoot the optimal solution, leading to divergence. The loss might oscillate or even explode.</a:t>
            </a:r>
            <a:endParaRPr/>
          </a:p>
          <a:p>
            <a:pPr indent="-285750" lvl="1" marL="742950" rtl="0" algn="l">
              <a:lnSpc>
                <a:spcPct val="90000"/>
              </a:lnSpc>
              <a:spcBef>
                <a:spcPts val="500"/>
              </a:spcBef>
              <a:spcAft>
                <a:spcPts val="0"/>
              </a:spcAft>
              <a:buClr>
                <a:schemeClr val="dk1"/>
              </a:buClr>
              <a:buSzPts val="2400"/>
              <a:buFont typeface="Calibri"/>
              <a:buAutoNum type="arabicPeriod"/>
            </a:pPr>
            <a:r>
              <a:rPr b="1" i="0" lang="en-IN">
                <a:latin typeface="Arial"/>
                <a:ea typeface="Arial"/>
                <a:cs typeface="Arial"/>
                <a:sym typeface="Arial"/>
              </a:rPr>
              <a:t>Too Low</a:t>
            </a:r>
            <a:r>
              <a:rPr b="0" i="0" lang="en-IN">
                <a:latin typeface="Arial"/>
                <a:ea typeface="Arial"/>
                <a:cs typeface="Arial"/>
                <a:sym typeface="Arial"/>
              </a:rPr>
              <a:t>: If the learning rate is too low, the model will take tiny steps, leading to slow convergence. It might get stuck in local minima or plateaus.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Overfitting vs. Underfitting</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A very small learning rate might cause the model to converge to a sub-optimal solution and underfit the data.</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A moderately high learning rate can act as a form of implicit regularization, preventing overfitting. However, if it's too high, the model won't learn effectively.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IN">
                <a:latin typeface="Arial"/>
                <a:ea typeface="Arial"/>
                <a:cs typeface="Arial"/>
                <a:sym typeface="Arial"/>
              </a:rPr>
              <a:t>E</a:t>
            </a:r>
            <a:r>
              <a:rPr b="0" i="0" lang="en-IN">
                <a:latin typeface="Arial"/>
                <a:ea typeface="Arial"/>
                <a:cs typeface="Arial"/>
                <a:sym typeface="Arial"/>
              </a:rPr>
              <a:t>ffect of different learning rates</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Low Learning Rate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Imagine you're at the top of a hill and trying to get to the bottom by taking baby steps. It will take a long time, and if there's a flat area (plateau) or a small dip (local minimum) before the real bottom, you might stop there thinking you've reached the bottom.</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High Learning Rate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Now, imagine taking huge leaps to get to the bottom of the hill. You might jump right over the bottom and end up on the other side. You might keep leaping back and forth, never settling at the bottom. In the worst case, you might even leap farther and farther away, getting completely lost.</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Optimal Learning Rate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This is like taking firm, confident strides down the hill. You move quickly but not so fast that you miss the bottom. If you encounter small dips or flat areas, your momentum carries you through.</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Tips</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Learning Rate Annealing/Scheduling</a:t>
            </a:r>
            <a:r>
              <a:rPr b="0" i="0" lang="en-IN">
                <a:latin typeface="Arial"/>
                <a:ea typeface="Arial"/>
                <a:cs typeface="Arial"/>
                <a:sym typeface="Arial"/>
              </a:rPr>
              <a:t>: Start with a higher learning rate and reduce it during training. This allows the model to make large updates initially and finer updates later. Common strategies include step decay, exponential decay, and one-cycle learning.</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Learning Rate Finder</a:t>
            </a:r>
            <a:r>
              <a:rPr b="0" i="0" lang="en-IN">
                <a:latin typeface="Arial"/>
                <a:ea typeface="Arial"/>
                <a:cs typeface="Arial"/>
                <a:sym typeface="Arial"/>
              </a:rPr>
              <a:t>: Gradually increase the learning rate from a very small value and plot the loss. The optimal learning rate is typically just before the loss starts to increase and well before it shoots up.</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Warm-up</a:t>
            </a:r>
            <a:r>
              <a:rPr b="0" i="0" lang="en-IN">
                <a:latin typeface="Arial"/>
                <a:ea typeface="Arial"/>
                <a:cs typeface="Arial"/>
                <a:sym typeface="Arial"/>
              </a:rPr>
              <a:t>: Start with a small learning rate and gradually increase it in the early stages of training. This can help in stabilizing the optimizer before using a larger learning rate.</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Adaptive Learning Rate Methods</a:t>
            </a:r>
            <a:r>
              <a:rPr b="0" i="0" lang="en-IN">
                <a:latin typeface="Arial"/>
                <a:ea typeface="Arial"/>
                <a:cs typeface="Arial"/>
                <a:sym typeface="Arial"/>
              </a:rPr>
              <a:t>: Optimizers like Adam, RMSprop, and Adagrad automatically adjust the learning rate during training, which can sometimes (but not always) reduce the sensitivity to the initial learning rate setting.</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Batch Size</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In deep learning, it's often impractical to compute the loss for the entire dataset to make a single weight update due to computational constraints. Instead, the dataset is divided into smaller chunks or batches, and weights are updated after each batch. The batch size determines how many samples are used for each weight update.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Implications of Batch Size</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Computational Efficiency</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Larger batches exploit parallelism in modern computing hardware, such as GPUs, leading to faster per-sample computation.</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However, beyond a certain point, memory limitations might be reached, preventing the use of very large batch sizes.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Generalization</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Smaller batches introduce noise into the optimization, acting as a form of implicit regularization, often leading to better generalization.</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Larger batches provide a more accurate estimate of the gradient, but sometimes they can converge to sharp minimizers that generalize poorly.</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Convergence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Small batches can be noisy, leading to oscillations in the training trajectory. This noise can sometimes help escape local minima but might also hinder convergence.</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Larger batches tend to converge to flatter regions of the loss landscape, which can be beneficial for generalization.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Very Small Batch Size (e.g., 1, also known as online or stochastic gradient descent)</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1" i="0" lang="en-IN">
                <a:latin typeface="Arial"/>
                <a:ea typeface="Arial"/>
                <a:cs typeface="Arial"/>
                <a:sym typeface="Arial"/>
              </a:rPr>
              <a:t>Pros</a:t>
            </a:r>
            <a:r>
              <a:rPr b="0" i="0" lang="en-IN">
                <a:latin typeface="Arial"/>
                <a:ea typeface="Arial"/>
                <a:cs typeface="Arial"/>
                <a:sym typeface="Arial"/>
              </a:rPr>
              <a:t>: Every sample can lead to a weight update, which can be computationally inefficient but might quickly adapt to the data.</a:t>
            </a:r>
            <a:endParaRPr/>
          </a:p>
          <a:p>
            <a:pPr indent="-285750" lvl="1" marL="742950" rtl="0" algn="l">
              <a:lnSpc>
                <a:spcPct val="90000"/>
              </a:lnSpc>
              <a:spcBef>
                <a:spcPts val="500"/>
              </a:spcBef>
              <a:spcAft>
                <a:spcPts val="0"/>
              </a:spcAft>
              <a:buClr>
                <a:schemeClr val="dk1"/>
              </a:buClr>
              <a:buSzPct val="100000"/>
              <a:buFont typeface="Calibri"/>
              <a:buAutoNum type="arabicPeriod"/>
            </a:pPr>
            <a:r>
              <a:rPr b="1" i="0" lang="en-IN">
                <a:latin typeface="Arial"/>
                <a:ea typeface="Arial"/>
                <a:cs typeface="Arial"/>
                <a:sym typeface="Arial"/>
              </a:rPr>
              <a:t>Cons</a:t>
            </a:r>
            <a:r>
              <a:rPr b="0" i="0" lang="en-IN">
                <a:latin typeface="Arial"/>
                <a:ea typeface="Arial"/>
                <a:cs typeface="Arial"/>
                <a:sym typeface="Arial"/>
              </a:rPr>
              <a:t>: Very noisy updates can lead to a lack of convergence or getting stuck in local minima.</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Moderate Batch Size (e.g., 32, 64, 128)</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1" i="0" lang="en-IN">
                <a:latin typeface="Arial"/>
                <a:ea typeface="Arial"/>
                <a:cs typeface="Arial"/>
                <a:sym typeface="Arial"/>
              </a:rPr>
              <a:t>Pros</a:t>
            </a:r>
            <a:r>
              <a:rPr b="0" i="0" lang="en-IN">
                <a:latin typeface="Arial"/>
                <a:ea typeface="Arial"/>
                <a:cs typeface="Arial"/>
                <a:sym typeface="Arial"/>
              </a:rPr>
              <a:t>: Balances the benefits of computational efficiency and the regularization effect of smaller batches.</a:t>
            </a:r>
            <a:endParaRPr/>
          </a:p>
          <a:p>
            <a:pPr indent="-285750" lvl="1" marL="742950" rtl="0" algn="l">
              <a:lnSpc>
                <a:spcPct val="90000"/>
              </a:lnSpc>
              <a:spcBef>
                <a:spcPts val="500"/>
              </a:spcBef>
              <a:spcAft>
                <a:spcPts val="0"/>
              </a:spcAft>
              <a:buClr>
                <a:schemeClr val="dk1"/>
              </a:buClr>
              <a:buSzPct val="100000"/>
              <a:buFont typeface="Calibri"/>
              <a:buAutoNum type="arabicPeriod"/>
            </a:pPr>
            <a:r>
              <a:rPr b="1" i="0" lang="en-IN">
                <a:latin typeface="Arial"/>
                <a:ea typeface="Arial"/>
                <a:cs typeface="Arial"/>
                <a:sym typeface="Arial"/>
              </a:rPr>
              <a:t>Cons</a:t>
            </a:r>
            <a:r>
              <a:rPr b="0" i="0" lang="en-IN">
                <a:latin typeface="Arial"/>
                <a:ea typeface="Arial"/>
                <a:cs typeface="Arial"/>
                <a:sym typeface="Arial"/>
              </a:rPr>
              <a:t>: May still be noisy, but typically a good starting point for many tasks.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Large Batch Size (e.g., 512, 1024, or larger)</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1" i="0" lang="en-IN">
                <a:latin typeface="Arial"/>
                <a:ea typeface="Arial"/>
                <a:cs typeface="Arial"/>
                <a:sym typeface="Arial"/>
              </a:rPr>
              <a:t>Pros</a:t>
            </a:r>
            <a:r>
              <a:rPr b="0" i="0" lang="en-IN">
                <a:latin typeface="Arial"/>
                <a:ea typeface="Arial"/>
                <a:cs typeface="Arial"/>
                <a:sym typeface="Arial"/>
              </a:rPr>
              <a:t>: Can be more computationally efficient per sample due to better hardware utilization. Provides a more accurate estimate of the gradient, leading to smoother convergence.</a:t>
            </a:r>
            <a:endParaRPr/>
          </a:p>
          <a:p>
            <a:pPr indent="-285750" lvl="1" marL="742950" rtl="0" algn="l">
              <a:lnSpc>
                <a:spcPct val="90000"/>
              </a:lnSpc>
              <a:spcBef>
                <a:spcPts val="500"/>
              </a:spcBef>
              <a:spcAft>
                <a:spcPts val="0"/>
              </a:spcAft>
              <a:buClr>
                <a:schemeClr val="dk1"/>
              </a:buClr>
              <a:buSzPct val="100000"/>
              <a:buFont typeface="Calibri"/>
              <a:buAutoNum type="arabicPeriod"/>
            </a:pPr>
            <a:r>
              <a:rPr b="1" i="0" lang="en-IN">
                <a:latin typeface="Arial"/>
                <a:ea typeface="Arial"/>
                <a:cs typeface="Arial"/>
                <a:sym typeface="Arial"/>
              </a:rPr>
              <a:t>Cons</a:t>
            </a:r>
            <a:r>
              <a:rPr b="0" i="0" lang="en-IN">
                <a:latin typeface="Arial"/>
                <a:ea typeface="Arial"/>
                <a:cs typeface="Arial"/>
                <a:sym typeface="Arial"/>
              </a:rPr>
              <a:t>: May converge to sharp minimizers, leading to poorer generalization. Requires more memory, which might be a limitation on some hardware.</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Tips</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Memory Limitations</a:t>
            </a:r>
            <a:r>
              <a:rPr b="0" i="0" lang="en-IN">
                <a:latin typeface="Arial"/>
                <a:ea typeface="Arial"/>
                <a:cs typeface="Arial"/>
                <a:sym typeface="Arial"/>
              </a:rPr>
              <a:t>: Start with the largest batch size that fits into memory, then reduce, if necessary, based on model performance.</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Learning Rate Scaling</a:t>
            </a:r>
            <a:r>
              <a:rPr b="0" i="0" lang="en-IN">
                <a:latin typeface="Arial"/>
                <a:ea typeface="Arial"/>
                <a:cs typeface="Arial"/>
                <a:sym typeface="Arial"/>
              </a:rPr>
              <a:t>: When changing the batch size, it's common to scale the learning rate proportionally. For example, doubling the batch size might mean the learning rate should also be doubled.</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Batch Normalization</a:t>
            </a:r>
            <a:r>
              <a:rPr b="0" i="0" lang="en-IN">
                <a:latin typeface="Arial"/>
                <a:ea typeface="Arial"/>
                <a:cs typeface="Arial"/>
                <a:sym typeface="Arial"/>
              </a:rPr>
              <a:t>: The performance of batch normalization is sensitive to batch size. Very small batches might not work well with batch normalization.</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Warm-up</a:t>
            </a:r>
            <a:r>
              <a:rPr b="0" i="0" lang="en-IN">
                <a:latin typeface="Arial"/>
                <a:ea typeface="Arial"/>
                <a:cs typeface="Arial"/>
                <a:sym typeface="Arial"/>
              </a:rPr>
              <a:t>: If using large batches, consider using learning rate warm-up, where the learning rate is increased gradually at the start of training. This can help with stability.</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Gradient Accumulation</a:t>
            </a:r>
            <a:r>
              <a:rPr b="0" i="0" lang="en-IN">
                <a:latin typeface="Arial"/>
                <a:ea typeface="Arial"/>
                <a:cs typeface="Arial"/>
                <a:sym typeface="Arial"/>
              </a:rPr>
              <a:t>: If memory is a constraint, and you want to benefit from larger "effective" batch sizes, you can accumulate gradients over several forward and backward passes and then update the weights.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Number of Epochs</a:t>
            </a:r>
            <a:endParaRPr/>
          </a:p>
        </p:txBody>
      </p:sp>
      <p:sp>
        <p:nvSpPr>
          <p:cNvPr id="139" name="Google Shape;13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An epoch refers to one cycle through the full training dataset. After each epoch, the model's weights are updated, and we typically measure its performance on the validation set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Implications of the Number of Epochs</a:t>
            </a:r>
            <a:endParaRPr/>
          </a:p>
        </p:txBody>
      </p:sp>
      <p:sp>
        <p:nvSpPr>
          <p:cNvPr id="145" name="Google Shape;14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1" i="0" lang="en-IN">
                <a:latin typeface="Arial"/>
                <a:ea typeface="Arial"/>
                <a:cs typeface="Arial"/>
                <a:sym typeface="Arial"/>
              </a:rPr>
              <a:t>Underfitting</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Few Epochs</a:t>
            </a:r>
            <a:r>
              <a:rPr b="0" i="0" lang="en-IN">
                <a:latin typeface="Arial"/>
                <a:ea typeface="Arial"/>
                <a:cs typeface="Arial"/>
                <a:sym typeface="Arial"/>
              </a:rPr>
              <a:t>: If we train a model for very few epochs, it might not learn the underlying patterns of the training data adequately. This scenario is called underfitting. The model might have high training and validation errors.</a:t>
            </a:r>
            <a:endParaRPr/>
          </a:p>
          <a:p>
            <a:pPr indent="-228600" lvl="0" marL="228600" rtl="0" algn="l">
              <a:lnSpc>
                <a:spcPct val="90000"/>
              </a:lnSpc>
              <a:spcBef>
                <a:spcPts val="1000"/>
              </a:spcBef>
              <a:spcAft>
                <a:spcPts val="0"/>
              </a:spcAft>
              <a:buClr>
                <a:schemeClr val="dk1"/>
              </a:buClr>
              <a:buSzPct val="100000"/>
              <a:buChar char="•"/>
            </a:pPr>
            <a:r>
              <a:rPr b="1" i="0" lang="en-IN">
                <a:latin typeface="Arial"/>
                <a:ea typeface="Arial"/>
                <a:cs typeface="Arial"/>
                <a:sym typeface="Arial"/>
              </a:rPr>
              <a:t>Overfitting</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Many Epochs</a:t>
            </a:r>
            <a:r>
              <a:rPr b="0" i="0" lang="en-IN">
                <a:latin typeface="Arial"/>
                <a:ea typeface="Arial"/>
                <a:cs typeface="Arial"/>
                <a:sym typeface="Arial"/>
              </a:rPr>
              <a:t>: If we train the model for a large number of epochs, there's a risk that the model starts to memorize the training data, especially if the model is complex with a large number of parameters. This scenario is called overfitting. The model will have a low training error but a high validation error.</a:t>
            </a:r>
            <a:endParaRPr/>
          </a:p>
          <a:p>
            <a:pPr indent="-228600" lvl="0" marL="228600" rtl="0" algn="l">
              <a:lnSpc>
                <a:spcPct val="90000"/>
              </a:lnSpc>
              <a:spcBef>
                <a:spcPts val="1000"/>
              </a:spcBef>
              <a:spcAft>
                <a:spcPts val="0"/>
              </a:spcAft>
              <a:buClr>
                <a:schemeClr val="dk1"/>
              </a:buClr>
              <a:buSzPct val="100000"/>
              <a:buChar char="•"/>
            </a:pPr>
            <a:r>
              <a:rPr b="1" i="0" lang="en-IN">
                <a:latin typeface="Arial"/>
                <a:ea typeface="Arial"/>
                <a:cs typeface="Arial"/>
                <a:sym typeface="Arial"/>
              </a:rPr>
              <a:t>Computational Cost</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0" i="0" lang="en-IN">
                <a:latin typeface="Arial"/>
                <a:ea typeface="Arial"/>
                <a:cs typeface="Arial"/>
                <a:sym typeface="Arial"/>
              </a:rPr>
              <a:t>Training for more epochs increases the computational cost. For very deep networks or large datasets, this cost can be significant.</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151" name="Google Shape;15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0" lang="en-IN">
                <a:latin typeface="Arial"/>
                <a:ea typeface="Arial"/>
                <a:cs typeface="Arial"/>
                <a:sym typeface="Arial"/>
              </a:rPr>
              <a:t>Scenario with Few Epochs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Imagine you're learning to play a musical instrument. If you practice for only a few days, you're likely to make many mistakes because you haven't practiced enough. This is analogous to training a model for too few epochs, leading to underfitting.</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Scenario with Many Epochs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Continuing the musical instrument analogy, suppose you practice a particular song for years. While you'll become excellent at playing that specific song, you might struggle to adapt to a new song or style, as your practice was too narrow. This is analogous to training a model for many epochs, leading to overfitting on the training data and poor generalization to unseen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Tips</a:t>
            </a:r>
            <a:endParaRPr/>
          </a:p>
        </p:txBody>
      </p:sp>
      <p:sp>
        <p:nvSpPr>
          <p:cNvPr id="157" name="Google Shape;15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Early Stopping</a:t>
            </a:r>
            <a:r>
              <a:rPr b="0" i="0" lang="en-IN">
                <a:latin typeface="Arial"/>
                <a:ea typeface="Arial"/>
                <a:cs typeface="Arial"/>
                <a:sym typeface="Arial"/>
              </a:rPr>
              <a:t>: One common technique to counteract overfitting due to many epochs is "early stopping." Here, you monitor the model's performance on a validation dataset and stop training once the validation performance starts deteriorating, even if the training performance is still improving.</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Validation Curve</a:t>
            </a:r>
            <a:r>
              <a:rPr b="0" i="0" lang="en-IN">
                <a:latin typeface="Arial"/>
                <a:ea typeface="Arial"/>
                <a:cs typeface="Arial"/>
                <a:sym typeface="Arial"/>
              </a:rPr>
              <a:t>: Plot the training and validation errors as a function of epochs. This curve can provide insights into when the model starts overfitting.</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Save Checkpoints</a:t>
            </a:r>
            <a:r>
              <a:rPr b="0" i="0" lang="en-IN">
                <a:latin typeface="Arial"/>
                <a:ea typeface="Arial"/>
                <a:cs typeface="Arial"/>
                <a:sym typeface="Arial"/>
              </a:rPr>
              <a:t>: During training, save model checkpoints at regular intervals or after each epoch. This way, if you notice overfitting, you can always revert to a previous state.</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Regularization Techniques</a:t>
            </a:r>
            <a:r>
              <a:rPr b="0" i="0" lang="en-IN">
                <a:latin typeface="Arial"/>
                <a:ea typeface="Arial"/>
                <a:cs typeface="Arial"/>
                <a:sym typeface="Arial"/>
              </a:rPr>
              <a:t>: If you intend to train for many epochs, consider using regularization techniques like dropout, weight decay, or data augmentation to prevent overfitting.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Optimizers</a:t>
            </a:r>
            <a:endParaRPr/>
          </a:p>
        </p:txBody>
      </p:sp>
      <p:sp>
        <p:nvSpPr>
          <p:cNvPr id="163" name="Google Shape;16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Optimizers are algorithms used to adjust and compute network weights. The goal is to minimize (or maximize) the loss function. The choice of optimizer can influence the speed of convergence, the quality of the final model, and even whether the training process converges at all.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 and Implications of Different Optimizers</a:t>
            </a:r>
            <a:endParaRPr/>
          </a:p>
        </p:txBody>
      </p:sp>
      <p:sp>
        <p:nvSpPr>
          <p:cNvPr id="169" name="Google Shape;16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i="0" lang="en-IN">
                <a:latin typeface="Arial"/>
                <a:ea typeface="Arial"/>
                <a:cs typeface="Arial"/>
                <a:sym typeface="Arial"/>
              </a:rPr>
              <a:t>Stochastic Gradient Descent (SGD)</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Description</a:t>
            </a:r>
            <a:r>
              <a:rPr b="0" i="0" lang="en-IN">
                <a:latin typeface="Arial"/>
                <a:ea typeface="Arial"/>
                <a:cs typeface="Arial"/>
                <a:sym typeface="Arial"/>
              </a:rPr>
              <a:t>: Uses the gradient of the loss with respect to parameters to update them in the opposite direction.</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Implications</a:t>
            </a:r>
            <a:r>
              <a:rPr b="0" i="0" lang="en-IN">
                <a:latin typeface="Arial"/>
                <a:ea typeface="Arial"/>
                <a:cs typeface="Arial"/>
                <a:sym typeface="Arial"/>
              </a:rPr>
              <a:t>: It can be slow and sensitive to the learning rate. It may also get stuck in local minima or saddle points.</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Variants</a:t>
            </a:r>
            <a:r>
              <a:rPr b="0" i="0" lang="en-IN">
                <a:latin typeface="Arial"/>
                <a:ea typeface="Arial"/>
                <a:cs typeface="Arial"/>
                <a:sym typeface="Arial"/>
              </a:rPr>
              <a:t>: Momentum and Nesterov accelerated gradient are commonly used variants that help in faster convergence by considering past gradients.</a:t>
            </a:r>
            <a:endParaRPr/>
          </a:p>
          <a:p>
            <a:pPr indent="-228600" lvl="0" marL="228600" rtl="0" algn="l">
              <a:lnSpc>
                <a:spcPct val="90000"/>
              </a:lnSpc>
              <a:spcBef>
                <a:spcPts val="1000"/>
              </a:spcBef>
              <a:spcAft>
                <a:spcPts val="0"/>
              </a:spcAft>
              <a:buClr>
                <a:schemeClr val="dk1"/>
              </a:buClr>
              <a:buSzPct val="100000"/>
              <a:buChar char="•"/>
            </a:pPr>
            <a:r>
              <a:rPr b="1" i="0" lang="en-IN">
                <a:latin typeface="Arial"/>
                <a:ea typeface="Arial"/>
                <a:cs typeface="Arial"/>
                <a:sym typeface="Arial"/>
              </a:rPr>
              <a:t>Adagrad</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Description</a:t>
            </a:r>
            <a:r>
              <a:rPr b="0" i="0" lang="en-IN">
                <a:latin typeface="Arial"/>
                <a:ea typeface="Arial"/>
                <a:cs typeface="Arial"/>
                <a:sym typeface="Arial"/>
              </a:rPr>
              <a:t>: Adapts the learning rates of all model parameters by scaling them inversely proportional to the square root of the sum of all their historical squared values.</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Implications</a:t>
            </a:r>
            <a:r>
              <a:rPr b="0" i="0" lang="en-IN">
                <a:latin typeface="Arial"/>
                <a:ea typeface="Arial"/>
                <a:cs typeface="Arial"/>
                <a:sym typeface="Arial"/>
              </a:rPr>
              <a:t>: Can be beneficial for sparse data but may be unsuitable for deep learning due to an aggressive, monotonically decreasing learning rate.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 and Implications of Different Optimizers</a:t>
            </a:r>
            <a:endParaRPr/>
          </a:p>
        </p:txBody>
      </p:sp>
      <p:sp>
        <p:nvSpPr>
          <p:cNvPr id="175" name="Google Shape;175;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0" lang="en-IN">
                <a:latin typeface="Arial"/>
                <a:ea typeface="Arial"/>
                <a:cs typeface="Arial"/>
                <a:sym typeface="Arial"/>
              </a:rPr>
              <a:t>RMSprop</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Description</a:t>
            </a:r>
            <a:r>
              <a:rPr b="0" i="0" lang="en-IN">
                <a:latin typeface="Arial"/>
                <a:ea typeface="Arial"/>
                <a:cs typeface="Arial"/>
                <a:sym typeface="Arial"/>
              </a:rPr>
              <a:t>: Modifies Adagrad to use a moving average of squared gradients to adjust the learning rate, preventing its rapid decrease.</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Implications</a:t>
            </a:r>
            <a:r>
              <a:rPr b="0" i="0" lang="en-IN">
                <a:latin typeface="Arial"/>
                <a:ea typeface="Arial"/>
                <a:cs typeface="Arial"/>
                <a:sym typeface="Arial"/>
              </a:rPr>
              <a:t>: Often performs better than Adagrad for non-sparse, deep learning tasks.</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Adam (Adaptive Moment Estimation)</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Description</a:t>
            </a:r>
            <a:r>
              <a:rPr b="0" i="0" lang="en-IN">
                <a:latin typeface="Arial"/>
                <a:ea typeface="Arial"/>
                <a:cs typeface="Arial"/>
                <a:sym typeface="Arial"/>
              </a:rPr>
              <a:t>: </a:t>
            </a:r>
            <a:r>
              <a:rPr b="1" i="0" lang="en-IN">
                <a:latin typeface="Arial"/>
                <a:ea typeface="Arial"/>
                <a:cs typeface="Arial"/>
                <a:sym typeface="Arial"/>
              </a:rPr>
              <a:t>Combines the ideas of momentum and RMSprop</a:t>
            </a:r>
            <a:r>
              <a:rPr b="0" i="0" lang="en-IN">
                <a:latin typeface="Arial"/>
                <a:ea typeface="Arial"/>
                <a:cs typeface="Arial"/>
                <a:sym typeface="Arial"/>
              </a:rPr>
              <a:t>. It computes adaptive learning rates for each parameter using moving averages of both the gradients and squared gradients.</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Implications</a:t>
            </a:r>
            <a:r>
              <a:rPr b="0" i="0" lang="en-IN">
                <a:latin typeface="Arial"/>
                <a:ea typeface="Arial"/>
                <a:cs typeface="Arial"/>
                <a:sym typeface="Arial"/>
              </a:rPr>
              <a:t>: Often works well in practice, converging quickly and achieving good performance on a wide range of tasks.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181" name="Google Shape;18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Scenario with a Complex Loss Landscape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If you have a complex loss landscape with many local minima, using </a:t>
            </a:r>
            <a:r>
              <a:rPr b="1" i="0" lang="en-IN">
                <a:latin typeface="Arial"/>
                <a:ea typeface="Arial"/>
                <a:cs typeface="Arial"/>
                <a:sym typeface="Arial"/>
              </a:rPr>
              <a:t>SGD</a:t>
            </a:r>
            <a:r>
              <a:rPr b="0" i="0" lang="en-IN">
                <a:latin typeface="Arial"/>
                <a:ea typeface="Arial"/>
                <a:cs typeface="Arial"/>
                <a:sym typeface="Arial"/>
              </a:rPr>
              <a:t> might get stuck, while </a:t>
            </a:r>
            <a:r>
              <a:rPr b="1" i="0" lang="en-IN">
                <a:latin typeface="Arial"/>
                <a:ea typeface="Arial"/>
                <a:cs typeface="Arial"/>
                <a:sym typeface="Arial"/>
              </a:rPr>
              <a:t>Adam</a:t>
            </a:r>
            <a:r>
              <a:rPr b="0" i="0" lang="en-IN">
                <a:latin typeface="Arial"/>
                <a:ea typeface="Arial"/>
                <a:cs typeface="Arial"/>
                <a:sym typeface="Arial"/>
              </a:rPr>
              <a:t> or </a:t>
            </a:r>
            <a:r>
              <a:rPr b="1" i="0" lang="en-IN">
                <a:latin typeface="Arial"/>
                <a:ea typeface="Arial"/>
                <a:cs typeface="Arial"/>
                <a:sym typeface="Arial"/>
              </a:rPr>
              <a:t>RMSprop</a:t>
            </a:r>
            <a:r>
              <a:rPr b="0" i="0" lang="en-IN">
                <a:latin typeface="Arial"/>
                <a:ea typeface="Arial"/>
                <a:cs typeface="Arial"/>
                <a:sym typeface="Arial"/>
              </a:rPr>
              <a:t> can navigate the landscape more effectively due to their adaptive learning rates.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Scenario with Noisy Data</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If your data is noisy, a basic </a:t>
            </a:r>
            <a:r>
              <a:rPr b="1" i="0" lang="en-IN">
                <a:latin typeface="Arial"/>
                <a:ea typeface="Arial"/>
                <a:cs typeface="Arial"/>
                <a:sym typeface="Arial"/>
              </a:rPr>
              <a:t>SGD</a:t>
            </a:r>
            <a:r>
              <a:rPr b="0" i="0" lang="en-IN">
                <a:latin typeface="Arial"/>
                <a:ea typeface="Arial"/>
                <a:cs typeface="Arial"/>
                <a:sym typeface="Arial"/>
              </a:rPr>
              <a:t> might be influenced too much by the noise. In contrast, optimizers like </a:t>
            </a:r>
            <a:r>
              <a:rPr b="1" i="0" lang="en-IN">
                <a:latin typeface="Arial"/>
                <a:ea typeface="Arial"/>
                <a:cs typeface="Arial"/>
                <a:sym typeface="Arial"/>
              </a:rPr>
              <a:t>RMSprop</a:t>
            </a:r>
            <a:r>
              <a:rPr b="0" i="0" lang="en-IN">
                <a:latin typeface="Arial"/>
                <a:ea typeface="Arial"/>
                <a:cs typeface="Arial"/>
                <a:sym typeface="Arial"/>
              </a:rPr>
              <a:t> or </a:t>
            </a:r>
            <a:r>
              <a:rPr b="1" i="0" lang="en-IN">
                <a:latin typeface="Arial"/>
                <a:ea typeface="Arial"/>
                <a:cs typeface="Arial"/>
                <a:sym typeface="Arial"/>
              </a:rPr>
              <a:t>Adam</a:t>
            </a:r>
            <a:r>
              <a:rPr b="0" i="0" lang="en-IN">
                <a:latin typeface="Arial"/>
                <a:ea typeface="Arial"/>
                <a:cs typeface="Arial"/>
                <a:sym typeface="Arial"/>
              </a:rPr>
              <a:t>, which use moving averages, can dampen the effects of noisy gradients.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Scenario with Sparse Data</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For tasks with sparse data or parameters (like NLP tasks with large vocabularies), </a:t>
            </a:r>
            <a:r>
              <a:rPr b="1" i="0" lang="en-IN">
                <a:latin typeface="Arial"/>
                <a:ea typeface="Arial"/>
                <a:cs typeface="Arial"/>
                <a:sym typeface="Arial"/>
              </a:rPr>
              <a:t>Adagrad</a:t>
            </a:r>
            <a:r>
              <a:rPr b="0" i="0" lang="en-IN">
                <a:latin typeface="Arial"/>
                <a:ea typeface="Arial"/>
                <a:cs typeface="Arial"/>
                <a:sym typeface="Arial"/>
              </a:rPr>
              <a:t> might be beneficial because it adapts the learning rate for each parameter based on its historical information.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Tips</a:t>
            </a:r>
            <a:endParaRPr/>
          </a:p>
        </p:txBody>
      </p:sp>
      <p:sp>
        <p:nvSpPr>
          <p:cNvPr id="187" name="Google Shape;18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Learning Rate</a:t>
            </a:r>
            <a:r>
              <a:rPr b="0" i="0" lang="en-IN">
                <a:latin typeface="Arial"/>
                <a:ea typeface="Arial"/>
                <a:cs typeface="Arial"/>
                <a:sym typeface="Arial"/>
              </a:rPr>
              <a:t>: Each optimizer has its default learning rate, but it's often beneficial to fine-tune this rate for your specific task.</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Hyperparameters</a:t>
            </a:r>
            <a:r>
              <a:rPr b="0" i="0" lang="en-IN">
                <a:latin typeface="Arial"/>
                <a:ea typeface="Arial"/>
                <a:cs typeface="Arial"/>
                <a:sym typeface="Arial"/>
              </a:rPr>
              <a:t>: While Adam and RMSprop often work well with their default hyperparameters, it might be beneficial to tweak them based on the specific problem.</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Experimentation</a:t>
            </a:r>
            <a:r>
              <a:rPr b="0" i="0" lang="en-IN">
                <a:latin typeface="Arial"/>
                <a:ea typeface="Arial"/>
                <a:cs typeface="Arial"/>
                <a:sym typeface="Arial"/>
              </a:rPr>
              <a:t>: There's no one-size-fits-all optimizer. Experiment with different optimizers and their hyperparameters to see which works best for your specific problem</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Weight Initialization</a:t>
            </a:r>
            <a:endParaRPr/>
          </a:p>
        </p:txBody>
      </p:sp>
      <p:sp>
        <p:nvSpPr>
          <p:cNvPr id="193" name="Google Shape;19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0" i="0" lang="en-IN">
                <a:latin typeface="Arial"/>
                <a:ea typeface="Arial"/>
                <a:cs typeface="Arial"/>
                <a:sym typeface="Arial"/>
              </a:rPr>
              <a:t>The initial weights of a neural network can dictate whether the network converges, how fast it converges, and the quality of the converged solution. Poor initialization can lead to issues such as: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Vanishing Gradients</a:t>
            </a:r>
            <a:r>
              <a:rPr b="0" i="0" lang="en-IN">
                <a:latin typeface="Arial"/>
                <a:ea typeface="Arial"/>
                <a:cs typeface="Arial"/>
                <a:sym typeface="Arial"/>
              </a:rPr>
              <a:t>: If weights are initialized too small, the activations can become too small, leading gradients to vanish in deeper layers. This hinders learning in deep networks.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Exploding Gradients</a:t>
            </a:r>
            <a:r>
              <a:rPr b="0" i="0" lang="en-IN">
                <a:latin typeface="Arial"/>
                <a:ea typeface="Arial"/>
                <a:cs typeface="Arial"/>
                <a:sym typeface="Arial"/>
              </a:rPr>
              <a:t>: If weights are initialized too large, the activations can blow up, causing gradients to explode. This can lead to unstable training and large weight updates.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Slow Convergence</a:t>
            </a:r>
            <a:r>
              <a:rPr b="0" i="0" lang="en-IN">
                <a:latin typeface="Arial"/>
                <a:ea typeface="Arial"/>
                <a:cs typeface="Arial"/>
                <a:sym typeface="Arial"/>
              </a:rPr>
              <a:t>: Poorly initialized weights can cause the optimization to get stuck or converge very slowly.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Popular Weight Initialization Methods</a:t>
            </a:r>
            <a:endParaRPr/>
          </a:p>
        </p:txBody>
      </p:sp>
      <p:sp>
        <p:nvSpPr>
          <p:cNvPr id="199" name="Google Shape;199;p2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Zero Initialization</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1" i="0" lang="en-IN">
                <a:latin typeface="Arial"/>
                <a:ea typeface="Arial"/>
                <a:cs typeface="Arial"/>
                <a:sym typeface="Arial"/>
              </a:rPr>
              <a:t>Description</a:t>
            </a:r>
            <a:r>
              <a:rPr b="0" i="0" lang="en-IN">
                <a:latin typeface="Arial"/>
                <a:ea typeface="Arial"/>
                <a:cs typeface="Arial"/>
                <a:sym typeface="Arial"/>
              </a:rPr>
              <a:t>: All weights are initialized to zero.</a:t>
            </a:r>
            <a:endParaRPr/>
          </a:p>
          <a:p>
            <a:pPr indent="-285750" lvl="1" marL="742950" rtl="0" algn="l">
              <a:lnSpc>
                <a:spcPct val="90000"/>
              </a:lnSpc>
              <a:spcBef>
                <a:spcPts val="500"/>
              </a:spcBef>
              <a:spcAft>
                <a:spcPts val="0"/>
              </a:spcAft>
              <a:buClr>
                <a:schemeClr val="dk1"/>
              </a:buClr>
              <a:buSzPts val="2400"/>
              <a:buFont typeface="Calibri"/>
              <a:buAutoNum type="arabicPeriod"/>
            </a:pPr>
            <a:r>
              <a:rPr b="1" i="0" lang="en-IN">
                <a:latin typeface="Arial"/>
                <a:ea typeface="Arial"/>
                <a:cs typeface="Arial"/>
                <a:sym typeface="Arial"/>
              </a:rPr>
              <a:t>Issues</a:t>
            </a:r>
            <a:r>
              <a:rPr b="0" i="0" lang="en-IN">
                <a:latin typeface="Arial"/>
                <a:ea typeface="Arial"/>
                <a:cs typeface="Arial"/>
                <a:sym typeface="Arial"/>
              </a:rPr>
              <a:t>: All neurons in the network become symmetric, meaning they all update in the same way during training. This makes them indistinguishable, effectively making a deep network as useful as a single-layer network.</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Random Initialization</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1" i="0" lang="en-IN">
                <a:latin typeface="Arial"/>
                <a:ea typeface="Arial"/>
                <a:cs typeface="Arial"/>
                <a:sym typeface="Arial"/>
              </a:rPr>
              <a:t>Description</a:t>
            </a:r>
            <a:r>
              <a:rPr b="0" i="0" lang="en-IN">
                <a:latin typeface="Arial"/>
                <a:ea typeface="Arial"/>
                <a:cs typeface="Arial"/>
                <a:sym typeface="Arial"/>
              </a:rPr>
              <a:t>: Weights are initialized with small random values.</a:t>
            </a:r>
            <a:endParaRPr/>
          </a:p>
          <a:p>
            <a:pPr indent="-285750" lvl="1" marL="742950" rtl="0" algn="l">
              <a:lnSpc>
                <a:spcPct val="90000"/>
              </a:lnSpc>
              <a:spcBef>
                <a:spcPts val="500"/>
              </a:spcBef>
              <a:spcAft>
                <a:spcPts val="0"/>
              </a:spcAft>
              <a:buClr>
                <a:schemeClr val="dk1"/>
              </a:buClr>
              <a:buSzPts val="2400"/>
              <a:buFont typeface="Calibri"/>
              <a:buAutoNum type="arabicPeriod"/>
            </a:pPr>
            <a:r>
              <a:rPr b="1" i="0" lang="en-IN">
                <a:latin typeface="Arial"/>
                <a:ea typeface="Arial"/>
                <a:cs typeface="Arial"/>
                <a:sym typeface="Arial"/>
              </a:rPr>
              <a:t>Issues</a:t>
            </a:r>
            <a:r>
              <a:rPr b="0" i="0" lang="en-IN">
                <a:latin typeface="Arial"/>
                <a:ea typeface="Arial"/>
                <a:cs typeface="Arial"/>
                <a:sym typeface="Arial"/>
              </a:rPr>
              <a:t>: Can lead to vanishing or exploding gradients in deep networks.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Popular Weight Initialization Methods</a:t>
            </a:r>
            <a:endParaRPr/>
          </a:p>
        </p:txBody>
      </p:sp>
      <p:sp>
        <p:nvSpPr>
          <p:cNvPr id="205" name="Google Shape;205;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startAt="3"/>
            </a:pPr>
            <a:r>
              <a:rPr b="1" i="0" lang="en-IN">
                <a:latin typeface="Arial"/>
                <a:ea typeface="Arial"/>
                <a:cs typeface="Arial"/>
                <a:sym typeface="Arial"/>
              </a:rPr>
              <a:t>Xavier/Glorot Initialization</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Description</a:t>
            </a:r>
            <a:r>
              <a:rPr b="0" i="0" lang="en-IN">
                <a:latin typeface="Arial"/>
                <a:ea typeface="Arial"/>
                <a:cs typeface="Arial"/>
                <a:sym typeface="Arial"/>
              </a:rPr>
              <a:t>: Weights are initialized with values drawn from a distribution with zero mean and variance 2/</a:t>
            </a:r>
            <a:r>
              <a:rPr b="0" i="1" lang="en-IN">
                <a:latin typeface="Arial"/>
                <a:ea typeface="Arial"/>
                <a:cs typeface="Arial"/>
                <a:sym typeface="Arial"/>
              </a:rPr>
              <a:t>n</a:t>
            </a:r>
            <a:r>
              <a:rPr b="0" baseline="-25000" i="1" lang="en-IN">
                <a:latin typeface="Arial"/>
                <a:ea typeface="Arial"/>
                <a:cs typeface="Arial"/>
                <a:sym typeface="Arial"/>
              </a:rPr>
              <a:t>in</a:t>
            </a:r>
            <a:r>
              <a:rPr b="0" i="0" lang="en-IN">
                <a:latin typeface="Arial"/>
                <a:ea typeface="Arial"/>
                <a:cs typeface="Arial"/>
                <a:sym typeface="Arial"/>
              </a:rPr>
              <a:t>​+</a:t>
            </a:r>
            <a:r>
              <a:rPr b="0" i="1" lang="en-IN">
                <a:latin typeface="Arial"/>
                <a:ea typeface="Arial"/>
                <a:cs typeface="Arial"/>
                <a:sym typeface="Arial"/>
              </a:rPr>
              <a:t>n</a:t>
            </a:r>
            <a:r>
              <a:rPr b="0" baseline="-25000" i="1" lang="en-IN">
                <a:latin typeface="Arial"/>
                <a:ea typeface="Arial"/>
                <a:cs typeface="Arial"/>
                <a:sym typeface="Arial"/>
              </a:rPr>
              <a:t>out</a:t>
            </a:r>
            <a:r>
              <a:rPr b="0" i="0" lang="en-IN">
                <a:latin typeface="Arial"/>
                <a:ea typeface="Arial"/>
                <a:cs typeface="Arial"/>
                <a:sym typeface="Arial"/>
              </a:rPr>
              <a:t>​​, where </a:t>
            </a:r>
            <a:r>
              <a:rPr b="0" i="1" lang="en-IN">
                <a:latin typeface="Arial"/>
                <a:ea typeface="Arial"/>
                <a:cs typeface="Arial"/>
                <a:sym typeface="Arial"/>
              </a:rPr>
              <a:t>n</a:t>
            </a:r>
            <a:r>
              <a:rPr b="0" baseline="-25000" i="1" lang="en-IN">
                <a:latin typeface="Arial"/>
                <a:ea typeface="Arial"/>
                <a:cs typeface="Arial"/>
                <a:sym typeface="Arial"/>
              </a:rPr>
              <a:t>in</a:t>
            </a:r>
            <a:r>
              <a:rPr b="0" i="0" lang="en-IN">
                <a:latin typeface="Arial"/>
                <a:ea typeface="Arial"/>
                <a:cs typeface="Arial"/>
                <a:sym typeface="Arial"/>
              </a:rPr>
              <a:t>​ and </a:t>
            </a:r>
            <a:r>
              <a:rPr b="0" i="1" lang="en-IN">
                <a:latin typeface="Arial"/>
                <a:ea typeface="Arial"/>
                <a:cs typeface="Arial"/>
                <a:sym typeface="Arial"/>
              </a:rPr>
              <a:t>n</a:t>
            </a:r>
            <a:r>
              <a:rPr b="0" baseline="-25000" i="1" lang="en-IN">
                <a:latin typeface="Arial"/>
                <a:ea typeface="Arial"/>
                <a:cs typeface="Arial"/>
                <a:sym typeface="Arial"/>
              </a:rPr>
              <a:t>out</a:t>
            </a:r>
            <a:r>
              <a:rPr b="0" i="0" lang="en-IN">
                <a:latin typeface="Arial"/>
                <a:ea typeface="Arial"/>
                <a:cs typeface="Arial"/>
                <a:sym typeface="Arial"/>
              </a:rPr>
              <a:t>​ are the number of input and output units for the layer.</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Suitable for</a:t>
            </a:r>
            <a:r>
              <a:rPr b="0" i="0" lang="en-IN">
                <a:latin typeface="Arial"/>
                <a:ea typeface="Arial"/>
                <a:cs typeface="Arial"/>
                <a:sym typeface="Arial"/>
              </a:rPr>
              <a:t>: Sigmoid and hyperbolic tangent (tanh) activation functions.</a:t>
            </a:r>
            <a:endParaRPr/>
          </a:p>
          <a:p>
            <a:pPr indent="-228600" lvl="0" marL="228600" rtl="0" algn="l">
              <a:lnSpc>
                <a:spcPct val="90000"/>
              </a:lnSpc>
              <a:spcBef>
                <a:spcPts val="1000"/>
              </a:spcBef>
              <a:spcAft>
                <a:spcPts val="0"/>
              </a:spcAft>
              <a:buClr>
                <a:schemeClr val="dk1"/>
              </a:buClr>
              <a:buSzPts val="2800"/>
              <a:buFont typeface="Calibri"/>
              <a:buAutoNum type="arabicPeriod" startAt="3"/>
            </a:pPr>
            <a:r>
              <a:rPr b="1" i="0" lang="en-IN">
                <a:latin typeface="Arial"/>
                <a:ea typeface="Arial"/>
                <a:cs typeface="Arial"/>
                <a:sym typeface="Arial"/>
              </a:rPr>
              <a:t>He Initialization</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Description</a:t>
            </a:r>
            <a:r>
              <a:rPr b="0" i="0" lang="en-IN">
                <a:latin typeface="Arial"/>
                <a:ea typeface="Arial"/>
                <a:cs typeface="Arial"/>
                <a:sym typeface="Arial"/>
              </a:rPr>
              <a:t>: Weights are initialized with values drawn from a distribution with zero mean and variance 2/</a:t>
            </a:r>
            <a:r>
              <a:rPr b="0" i="1" lang="en-IN">
                <a:latin typeface="Arial"/>
                <a:ea typeface="Arial"/>
                <a:cs typeface="Arial"/>
                <a:sym typeface="Arial"/>
              </a:rPr>
              <a:t>n</a:t>
            </a:r>
            <a:r>
              <a:rPr b="0" baseline="-25000" i="1" lang="en-IN">
                <a:latin typeface="Arial"/>
                <a:ea typeface="Arial"/>
                <a:cs typeface="Arial"/>
                <a:sym typeface="Arial"/>
              </a:rPr>
              <a:t>in</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Suitable for</a:t>
            </a:r>
            <a:r>
              <a:rPr b="0" i="0" lang="en-IN">
                <a:latin typeface="Arial"/>
                <a:ea typeface="Arial"/>
                <a:cs typeface="Arial"/>
                <a:sym typeface="Arial"/>
              </a:rPr>
              <a:t>: ReLU and its variants.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Popular Weight Initialization Methods</a:t>
            </a:r>
            <a:endParaRPr/>
          </a:p>
        </p:txBody>
      </p:sp>
      <p:sp>
        <p:nvSpPr>
          <p:cNvPr id="211" name="Google Shape;2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startAt="5"/>
            </a:pPr>
            <a:r>
              <a:rPr b="1" i="0" lang="en-IN">
                <a:latin typeface="Arial"/>
                <a:ea typeface="Arial"/>
                <a:cs typeface="Arial"/>
                <a:sym typeface="Arial"/>
              </a:rPr>
              <a:t>LeCun Initialization</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Description</a:t>
            </a:r>
            <a:r>
              <a:rPr b="0" i="0" lang="en-IN">
                <a:latin typeface="Arial"/>
                <a:ea typeface="Arial"/>
                <a:cs typeface="Arial"/>
                <a:sym typeface="Arial"/>
              </a:rPr>
              <a:t>: Weights are initialized with values drawn from a distribution with zero mean and variance 1/</a:t>
            </a:r>
            <a:r>
              <a:rPr b="0" i="1" lang="en-IN">
                <a:latin typeface="Arial"/>
                <a:ea typeface="Arial"/>
                <a:cs typeface="Arial"/>
                <a:sym typeface="Arial"/>
              </a:rPr>
              <a:t>n</a:t>
            </a:r>
            <a:r>
              <a:rPr b="0" baseline="-25000" i="1" lang="en-IN">
                <a:latin typeface="Arial"/>
                <a:ea typeface="Arial"/>
                <a:cs typeface="Arial"/>
                <a:sym typeface="Arial"/>
              </a:rPr>
              <a:t>in</a:t>
            </a:r>
            <a:r>
              <a:rPr b="0" baseline="-25000" i="0" lang="en-IN">
                <a:latin typeface="Arial"/>
                <a:ea typeface="Arial"/>
                <a:cs typeface="Arial"/>
                <a:sym typeface="Arial"/>
              </a:rPr>
              <a:t>​</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Suitable for</a:t>
            </a:r>
            <a:r>
              <a:rPr b="0" i="0" lang="en-IN">
                <a:latin typeface="Arial"/>
                <a:ea typeface="Arial"/>
                <a:cs typeface="Arial"/>
                <a:sym typeface="Arial"/>
              </a:rPr>
              <a:t>: Sigmoid and hyperbolic tangent (tanh) activation functions, especially for layers closer to the input.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217" name="Google Shape;217;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Deep Network with ReLU Activations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0" i="0" lang="en-IN">
                <a:latin typeface="Arial"/>
                <a:ea typeface="Arial"/>
                <a:cs typeface="Arial"/>
                <a:sym typeface="Arial"/>
              </a:rPr>
              <a:t>If you're using a deep network with ReLU activations and initialize weights too small, the activations might stay close to zero, causing the network to not learn effectively. Using </a:t>
            </a:r>
            <a:r>
              <a:rPr b="1" i="0" lang="en-IN">
                <a:latin typeface="Arial"/>
                <a:ea typeface="Arial"/>
                <a:cs typeface="Arial"/>
                <a:sym typeface="Arial"/>
              </a:rPr>
              <a:t>He Initialization</a:t>
            </a:r>
            <a:r>
              <a:rPr b="0" i="0" lang="en-IN">
                <a:latin typeface="Arial"/>
                <a:ea typeface="Arial"/>
                <a:cs typeface="Arial"/>
                <a:sym typeface="Arial"/>
              </a:rPr>
              <a:t> can help activate the neurons more effectively and facilitate learning.</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Network with Tanh Activations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0" i="0" lang="en-IN">
                <a:latin typeface="Arial"/>
                <a:ea typeface="Arial"/>
                <a:cs typeface="Arial"/>
                <a:sym typeface="Arial"/>
              </a:rPr>
              <a:t>For a network using tanh activations, </a:t>
            </a:r>
            <a:r>
              <a:rPr b="1" i="0" lang="en-IN">
                <a:latin typeface="Arial"/>
                <a:ea typeface="Arial"/>
                <a:cs typeface="Arial"/>
                <a:sym typeface="Arial"/>
              </a:rPr>
              <a:t>Xavier/Glorot Initialization</a:t>
            </a:r>
            <a:r>
              <a:rPr b="0" i="0" lang="en-IN">
                <a:latin typeface="Arial"/>
                <a:ea typeface="Arial"/>
                <a:cs typeface="Arial"/>
                <a:sym typeface="Arial"/>
              </a:rPr>
              <a:t> can help prevent the activations from saturating at the extremes, thus avoiding vanishing gradients.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Network with Sigmoid Activations in Input Layers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0" i="0" lang="en-IN">
                <a:latin typeface="Arial"/>
                <a:ea typeface="Arial"/>
                <a:cs typeface="Arial"/>
                <a:sym typeface="Arial"/>
              </a:rPr>
              <a:t>If you have a network where the initial layers use sigmoid activations, </a:t>
            </a:r>
            <a:r>
              <a:rPr b="1" i="0" lang="en-IN">
                <a:latin typeface="Arial"/>
                <a:ea typeface="Arial"/>
                <a:cs typeface="Arial"/>
                <a:sym typeface="Arial"/>
              </a:rPr>
              <a:t>LeCun Initialization</a:t>
            </a:r>
            <a:r>
              <a:rPr b="0" i="0" lang="en-IN">
                <a:latin typeface="Arial"/>
                <a:ea typeface="Arial"/>
                <a:cs typeface="Arial"/>
                <a:sym typeface="Arial"/>
              </a:rPr>
              <a:t> might be beneficial to ensure that the activations in these layers don't squash to the extremes.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Activation Functions</a:t>
            </a:r>
            <a:endParaRPr/>
          </a:p>
        </p:txBody>
      </p:sp>
      <p:sp>
        <p:nvSpPr>
          <p:cNvPr id="223" name="Google Shape;22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Introducing Non-linearity</a:t>
            </a:r>
            <a:r>
              <a:rPr b="0" i="0" lang="en-IN">
                <a:latin typeface="Arial"/>
                <a:ea typeface="Arial"/>
                <a:cs typeface="Arial"/>
                <a:sym typeface="Arial"/>
              </a:rPr>
              <a:t>: This allows the network to model complex, non-linear relationships in the data.</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Gradient Propagation</a:t>
            </a:r>
            <a:r>
              <a:rPr b="0" i="0" lang="en-IN">
                <a:latin typeface="Arial"/>
                <a:ea typeface="Arial"/>
                <a:cs typeface="Arial"/>
                <a:sym typeface="Arial"/>
              </a:rPr>
              <a:t>: Activation functions and their derivatives determine how gradients are propagated backward through the network during training. Some activation functions can lead to vanishing or exploding gradients, affecting training dynamics.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Common Activation Functions</a:t>
            </a:r>
            <a:endParaRPr/>
          </a:p>
        </p:txBody>
      </p:sp>
      <p:sp>
        <p:nvSpPr>
          <p:cNvPr id="229" name="Google Shape;229;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i="0" lang="en-IN">
                <a:latin typeface="Arial"/>
                <a:ea typeface="Arial"/>
                <a:cs typeface="Arial"/>
                <a:sym typeface="Arial"/>
              </a:rPr>
              <a:t>Sigmoid</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Formula</a:t>
            </a:r>
            <a:r>
              <a:rPr b="0" i="0" lang="en-IN">
                <a:latin typeface="Arial"/>
                <a:ea typeface="Arial"/>
                <a:cs typeface="Arial"/>
                <a:sym typeface="Arial"/>
              </a:rPr>
              <a:t>: </a:t>
            </a:r>
            <a:r>
              <a:rPr b="0" i="1" lang="en-IN">
                <a:latin typeface="Arial"/>
                <a:ea typeface="Arial"/>
                <a:cs typeface="Arial"/>
                <a:sym typeface="Arial"/>
              </a:rPr>
              <a:t>f</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)=1/1+</a:t>
            </a:r>
            <a:r>
              <a:rPr b="0" i="1" lang="en-IN">
                <a:latin typeface="Arial"/>
                <a:ea typeface="Arial"/>
                <a:cs typeface="Arial"/>
                <a:sym typeface="Arial"/>
              </a:rPr>
              <a:t>e</a:t>
            </a:r>
            <a:r>
              <a:rPr b="0" baseline="30000" i="0" lang="en-IN">
                <a:latin typeface="Arial"/>
                <a:ea typeface="Arial"/>
                <a:cs typeface="Arial"/>
                <a:sym typeface="Arial"/>
              </a:rPr>
              <a:t>−</a:t>
            </a:r>
            <a:r>
              <a:rPr b="0" baseline="30000" i="1" lang="en-IN">
                <a:latin typeface="Arial"/>
                <a:ea typeface="Arial"/>
                <a:cs typeface="Arial"/>
                <a:sym typeface="Arial"/>
              </a:rPr>
              <a:t>x</a:t>
            </a:r>
            <a:endParaRPr b="0" i="0">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Range</a:t>
            </a:r>
            <a:r>
              <a:rPr b="0" i="0" lang="en-IN">
                <a:latin typeface="Arial"/>
                <a:ea typeface="Arial"/>
                <a:cs typeface="Arial"/>
                <a:sym typeface="Arial"/>
              </a:rPr>
              <a:t>: [0, 1]</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Issues</a:t>
            </a:r>
            <a:r>
              <a:rPr b="0" i="0" lang="en-IN">
                <a:latin typeface="Arial"/>
                <a:ea typeface="Arial"/>
                <a:cs typeface="Arial"/>
                <a:sym typeface="Arial"/>
              </a:rPr>
              <a:t>: Can lead to vanishing gradients in deep networks because its derivatives are very small for extreme values. Also, it's not zero-centered.</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Hyperbolic Tangent (tanh)</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Formula</a:t>
            </a:r>
            <a:r>
              <a:rPr b="0" i="0" lang="en-IN">
                <a:latin typeface="Arial"/>
                <a:ea typeface="Arial"/>
                <a:cs typeface="Arial"/>
                <a:sym typeface="Arial"/>
              </a:rPr>
              <a:t>: </a:t>
            </a:r>
            <a:r>
              <a:rPr b="0" i="1" lang="en-IN">
                <a:latin typeface="Arial"/>
                <a:ea typeface="Arial"/>
                <a:cs typeface="Arial"/>
                <a:sym typeface="Arial"/>
              </a:rPr>
              <a:t>f</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e</a:t>
            </a:r>
            <a:r>
              <a:rPr b="0" baseline="3000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e</a:t>
            </a:r>
            <a:r>
              <a:rPr b="0" baseline="30000" i="0" lang="en-IN">
                <a:latin typeface="Arial"/>
                <a:ea typeface="Arial"/>
                <a:cs typeface="Arial"/>
                <a:sym typeface="Arial"/>
              </a:rPr>
              <a:t>−</a:t>
            </a:r>
            <a:r>
              <a:rPr b="0" baseline="30000" i="1" lang="en-IN">
                <a:latin typeface="Arial"/>
                <a:ea typeface="Arial"/>
                <a:cs typeface="Arial"/>
                <a:sym typeface="Arial"/>
              </a:rPr>
              <a:t>x</a:t>
            </a:r>
            <a:r>
              <a:rPr b="0" i="1" lang="en-IN">
                <a:latin typeface="Arial"/>
                <a:ea typeface="Arial"/>
                <a:cs typeface="Arial"/>
                <a:sym typeface="Arial"/>
              </a:rPr>
              <a:t>/e</a:t>
            </a:r>
            <a:r>
              <a:rPr b="0" baseline="3000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e</a:t>
            </a:r>
            <a:r>
              <a:rPr b="0" baseline="30000" i="0" lang="en-IN">
                <a:latin typeface="Arial"/>
                <a:ea typeface="Arial"/>
                <a:cs typeface="Arial"/>
                <a:sym typeface="Arial"/>
              </a:rPr>
              <a:t>−</a:t>
            </a:r>
            <a:r>
              <a:rPr b="0" baseline="30000" i="1" lang="en-IN">
                <a:latin typeface="Arial"/>
                <a:ea typeface="Arial"/>
                <a:cs typeface="Arial"/>
                <a:sym typeface="Arial"/>
              </a:rPr>
              <a:t>x</a:t>
            </a:r>
            <a:r>
              <a:rPr b="0" baseline="30000" i="0" lang="en-IN">
                <a:latin typeface="Arial"/>
                <a:ea typeface="Arial"/>
                <a:cs typeface="Arial"/>
                <a:sym typeface="Arial"/>
              </a:rPr>
              <a:t>​</a:t>
            </a:r>
            <a:endParaRPr b="0" baseline="30000" i="0">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Range</a:t>
            </a:r>
            <a:r>
              <a:rPr b="0" i="0" lang="en-IN">
                <a:latin typeface="Arial"/>
                <a:ea typeface="Arial"/>
                <a:cs typeface="Arial"/>
                <a:sym typeface="Arial"/>
              </a:rPr>
              <a:t>: [-1, 1]</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Advantages</a:t>
            </a:r>
            <a:r>
              <a:rPr b="0" i="0" lang="en-IN">
                <a:latin typeface="Arial"/>
                <a:ea typeface="Arial"/>
                <a:cs typeface="Arial"/>
                <a:sym typeface="Arial"/>
              </a:rPr>
              <a:t>: Zero-centered, making it better than sigmoid for deeper networks.</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Issues</a:t>
            </a:r>
            <a:r>
              <a:rPr b="0" i="0" lang="en-IN">
                <a:latin typeface="Arial"/>
                <a:ea typeface="Arial"/>
                <a:cs typeface="Arial"/>
                <a:sym typeface="Arial"/>
              </a:rPr>
              <a:t>: Can still lead to vanishing gradients in very deep networks.</a:t>
            </a:r>
            <a:endParaRPr/>
          </a:p>
          <a:p>
            <a:pPr indent="-101600" lvl="2" marL="1143000" rtl="0" algn="l">
              <a:lnSpc>
                <a:spcPct val="90000"/>
              </a:lnSpc>
              <a:spcBef>
                <a:spcPts val="500"/>
              </a:spcBef>
              <a:spcAft>
                <a:spcPts val="0"/>
              </a:spcAft>
              <a:buClr>
                <a:schemeClr val="dk1"/>
              </a:buClr>
              <a:buSzPts val="2000"/>
              <a:buNone/>
            </a:pPr>
            <a:r>
              <a:t/>
            </a:r>
            <a:endParaRPr b="0" i="0">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Common Activation Functions</a:t>
            </a:r>
            <a:endParaRPr/>
          </a:p>
        </p:txBody>
      </p:sp>
      <p:sp>
        <p:nvSpPr>
          <p:cNvPr id="235" name="Google Shape;235;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0" lang="en-IN">
                <a:latin typeface="Arial"/>
                <a:ea typeface="Arial"/>
                <a:cs typeface="Arial"/>
                <a:sym typeface="Arial"/>
              </a:rPr>
              <a:t>ReLU (Rectified Linear Unit)</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Formula</a:t>
            </a:r>
            <a:r>
              <a:rPr b="0" i="0" lang="en-IN">
                <a:latin typeface="Arial"/>
                <a:ea typeface="Arial"/>
                <a:cs typeface="Arial"/>
                <a:sym typeface="Arial"/>
              </a:rPr>
              <a:t>: </a:t>
            </a:r>
            <a:r>
              <a:rPr b="0" i="1" lang="en-IN">
                <a:latin typeface="Arial"/>
                <a:ea typeface="Arial"/>
                <a:cs typeface="Arial"/>
                <a:sym typeface="Arial"/>
              </a:rPr>
              <a:t>f</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max</a:t>
            </a:r>
            <a:r>
              <a:rPr b="0" i="0" lang="en-IN">
                <a:latin typeface="Arial"/>
                <a:ea typeface="Arial"/>
                <a:cs typeface="Arial"/>
                <a:sym typeface="Arial"/>
              </a:rPr>
              <a:t>(0,</a:t>
            </a:r>
            <a:r>
              <a:rPr b="0" i="1" lang="en-IN">
                <a:latin typeface="Arial"/>
                <a:ea typeface="Arial"/>
                <a:cs typeface="Arial"/>
                <a:sym typeface="Arial"/>
              </a:rPr>
              <a:t>x</a:t>
            </a:r>
            <a:r>
              <a:rPr b="0" i="0" lang="en-IN">
                <a:latin typeface="Arial"/>
                <a:ea typeface="Arial"/>
                <a:cs typeface="Arial"/>
                <a:sym typeface="Arial"/>
              </a:rPr>
              <a:t>)</a:t>
            </a:r>
            <a:endParaRPr b="0" i="0">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Range</a:t>
            </a:r>
            <a:r>
              <a:rPr b="0" i="0" lang="en-IN">
                <a:latin typeface="Arial"/>
                <a:ea typeface="Arial"/>
                <a:cs typeface="Arial"/>
                <a:sym typeface="Arial"/>
              </a:rPr>
              <a:t>: [0, ∞]</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Advantages</a:t>
            </a:r>
            <a:r>
              <a:rPr b="0" i="0" lang="en-IN">
                <a:latin typeface="Arial"/>
                <a:ea typeface="Arial"/>
                <a:cs typeface="Arial"/>
                <a:sym typeface="Arial"/>
              </a:rPr>
              <a:t>: Helps mitigate the vanishing gradient problem and is computationally efficient.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Issues</a:t>
            </a:r>
            <a:r>
              <a:rPr b="0" i="0" lang="en-IN">
                <a:latin typeface="Arial"/>
                <a:ea typeface="Arial"/>
                <a:cs typeface="Arial"/>
                <a:sym typeface="Arial"/>
              </a:rPr>
              <a:t>: Neurons can "die" during training, meaning they always output 0. This can happen if a large gradient flows through a ReLU neuron, updating the weights in such a way that the neuron will always output 0.</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Common Activation Functions</a:t>
            </a:r>
            <a:endParaRPr/>
          </a:p>
        </p:txBody>
      </p:sp>
      <p:sp>
        <p:nvSpPr>
          <p:cNvPr id="241" name="Google Shape;24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i="0" lang="en-IN">
                <a:latin typeface="Arial"/>
                <a:ea typeface="Arial"/>
                <a:cs typeface="Arial"/>
                <a:sym typeface="Arial"/>
              </a:rPr>
              <a:t>Leaky ReLU</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Formula</a:t>
            </a:r>
            <a:r>
              <a:rPr b="0" i="0" lang="en-IN">
                <a:latin typeface="Arial"/>
                <a:ea typeface="Arial"/>
                <a:cs typeface="Arial"/>
                <a:sym typeface="Arial"/>
              </a:rPr>
              <a:t>: (</a:t>
            </a:r>
            <a:r>
              <a:rPr b="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 if </a:t>
            </a:r>
            <a:r>
              <a:rPr b="0" i="1" lang="en-IN">
                <a:latin typeface="Arial"/>
                <a:ea typeface="Arial"/>
                <a:cs typeface="Arial"/>
                <a:sym typeface="Arial"/>
              </a:rPr>
              <a:t>x</a:t>
            </a:r>
            <a:r>
              <a:rPr b="0" i="0" lang="en-IN">
                <a:latin typeface="Arial"/>
                <a:ea typeface="Arial"/>
                <a:cs typeface="Arial"/>
                <a:sym typeface="Arial"/>
              </a:rPr>
              <a:t>&gt;0 else </a:t>
            </a:r>
            <a:r>
              <a:rPr b="0" i="1" lang="en-IN">
                <a:latin typeface="Arial"/>
                <a:ea typeface="Arial"/>
                <a:cs typeface="Arial"/>
                <a:sym typeface="Arial"/>
              </a:rPr>
              <a:t>αx</a:t>
            </a:r>
            <a:r>
              <a:rPr b="0" i="0" lang="en-IN">
                <a:latin typeface="Arial"/>
                <a:ea typeface="Arial"/>
                <a:cs typeface="Arial"/>
                <a:sym typeface="Arial"/>
              </a:rPr>
              <a:t> (where </a:t>
            </a:r>
            <a:r>
              <a:rPr b="0" i="1" lang="en-IN">
                <a:latin typeface="Arial"/>
                <a:ea typeface="Arial"/>
                <a:cs typeface="Arial"/>
                <a:sym typeface="Arial"/>
              </a:rPr>
              <a:t>α</a:t>
            </a:r>
            <a:r>
              <a:rPr b="0" i="0" lang="en-IN">
                <a:latin typeface="Arial"/>
                <a:ea typeface="Arial"/>
                <a:cs typeface="Arial"/>
                <a:sym typeface="Arial"/>
              </a:rPr>
              <a:t> is a small constant)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Advantages</a:t>
            </a:r>
            <a:r>
              <a:rPr b="0" i="0" lang="en-IN">
                <a:latin typeface="Arial"/>
                <a:ea typeface="Arial"/>
                <a:cs typeface="Arial"/>
                <a:sym typeface="Arial"/>
              </a:rPr>
              <a:t>: Addresses the dying ReLU problem by allowing small negative values when </a:t>
            </a:r>
            <a:r>
              <a:rPr b="0" i="1" lang="en-IN">
                <a:latin typeface="Arial"/>
                <a:ea typeface="Arial"/>
                <a:cs typeface="Arial"/>
                <a:sym typeface="Arial"/>
              </a:rPr>
              <a:t>x</a:t>
            </a:r>
            <a:r>
              <a:rPr b="0" i="0" lang="en-IN">
                <a:latin typeface="Arial"/>
                <a:ea typeface="Arial"/>
                <a:cs typeface="Arial"/>
                <a:sym typeface="Arial"/>
              </a:rPr>
              <a:t>&lt;0.</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Swish</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Formula</a:t>
            </a:r>
            <a:r>
              <a:rPr b="0" i="0" lang="en-IN">
                <a:latin typeface="Arial"/>
                <a:ea typeface="Arial"/>
                <a:cs typeface="Arial"/>
                <a:sym typeface="Arial"/>
              </a:rPr>
              <a:t>:</a:t>
            </a:r>
            <a:r>
              <a:rPr lang="en-IN">
                <a:latin typeface="Arial"/>
                <a:ea typeface="Arial"/>
                <a:cs typeface="Arial"/>
                <a:sym typeface="Arial"/>
              </a:rPr>
              <a:t> </a:t>
            </a:r>
            <a:r>
              <a:rPr b="0" i="1" lang="en-IN">
                <a:latin typeface="Arial"/>
                <a:ea typeface="Arial"/>
                <a:cs typeface="Arial"/>
                <a:sym typeface="Arial"/>
              </a:rPr>
              <a:t>f</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a:t>
            </a:r>
            <a:r>
              <a:rPr b="0" i="1" lang="en-IN">
                <a:latin typeface="Arial"/>
                <a:ea typeface="Arial"/>
                <a:cs typeface="Arial"/>
                <a:sym typeface="Arial"/>
              </a:rPr>
              <a:t>sigmoid</a:t>
            </a:r>
            <a:r>
              <a:rPr b="0" i="0" lang="en-IN">
                <a:latin typeface="Arial"/>
                <a:ea typeface="Arial"/>
                <a:cs typeface="Arial"/>
                <a:sym typeface="Arial"/>
              </a:rPr>
              <a:t>(</a:t>
            </a:r>
            <a:r>
              <a:rPr b="0" i="1" lang="en-IN">
                <a:latin typeface="Arial"/>
                <a:ea typeface="Arial"/>
                <a:cs typeface="Arial"/>
                <a:sym typeface="Arial"/>
              </a:rPr>
              <a:t>x</a:t>
            </a:r>
            <a:r>
              <a:rPr b="0" i="0" lang="en-IN">
                <a:latin typeface="Arial"/>
                <a:ea typeface="Arial"/>
                <a:cs typeface="Arial"/>
                <a:sym typeface="Arial"/>
              </a:rPr>
              <a:t>)</a:t>
            </a:r>
            <a:endParaRPr b="0" i="0">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b="1" i="0" lang="en-IN">
                <a:latin typeface="Arial"/>
                <a:ea typeface="Arial"/>
                <a:cs typeface="Arial"/>
                <a:sym typeface="Arial"/>
              </a:rPr>
              <a:t>Advantages</a:t>
            </a:r>
            <a:r>
              <a:rPr b="0" i="0" lang="en-IN">
                <a:latin typeface="Arial"/>
                <a:ea typeface="Arial"/>
                <a:cs typeface="Arial"/>
                <a:sym typeface="Arial"/>
              </a:rPr>
              <a:t>: Smooth, non-monotonic function that has shown to outperform ReLU in some cases.</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Softmax</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Often used in the output layer for multi-class classification problems. It provides a probability distribution over multiple classes.</a:t>
            </a:r>
            <a:endParaRPr/>
          </a:p>
          <a:p>
            <a:pPr indent="-76200" lvl="1" marL="685800" rtl="0" algn="l">
              <a:lnSpc>
                <a:spcPct val="90000"/>
              </a:lnSpc>
              <a:spcBef>
                <a:spcPts val="500"/>
              </a:spcBef>
              <a:spcAft>
                <a:spcPts val="0"/>
              </a:spcAft>
              <a:buClr>
                <a:schemeClr val="dk1"/>
              </a:buClr>
              <a:buSzPts val="2400"/>
              <a:buNone/>
            </a:pPr>
            <a:r>
              <a:t/>
            </a:r>
            <a:endParaRPr b="0" i="0">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247" name="Google Shape;24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Deep CNN for Image Classification</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Using </a:t>
            </a:r>
            <a:r>
              <a:rPr b="1" i="0" lang="en-IN">
                <a:latin typeface="Arial"/>
                <a:ea typeface="Arial"/>
                <a:cs typeface="Arial"/>
                <a:sym typeface="Arial"/>
              </a:rPr>
              <a:t>sigmoid</a:t>
            </a:r>
            <a:r>
              <a:rPr b="0" i="0" lang="en-IN">
                <a:latin typeface="Arial"/>
                <a:ea typeface="Arial"/>
                <a:cs typeface="Arial"/>
                <a:sym typeface="Arial"/>
              </a:rPr>
              <a:t> activations might lead to slow convergence or the model getting stuck due to vanishing gradients. Switching to </a:t>
            </a:r>
            <a:r>
              <a:rPr b="1" i="0" lang="en-IN">
                <a:latin typeface="Arial"/>
                <a:ea typeface="Arial"/>
                <a:cs typeface="Arial"/>
                <a:sym typeface="Arial"/>
              </a:rPr>
              <a:t>ReLU</a:t>
            </a:r>
            <a:r>
              <a:rPr b="0" i="0" lang="en-IN">
                <a:latin typeface="Arial"/>
                <a:ea typeface="Arial"/>
                <a:cs typeface="Arial"/>
                <a:sym typeface="Arial"/>
              </a:rPr>
              <a:t> activations can speed up training and improve performance. However, if many neurons "die" during training, considering </a:t>
            </a:r>
            <a:r>
              <a:rPr b="1" i="0" lang="en-IN">
                <a:latin typeface="Arial"/>
                <a:ea typeface="Arial"/>
                <a:cs typeface="Arial"/>
                <a:sym typeface="Arial"/>
              </a:rPr>
              <a:t>Leaky ReLU</a:t>
            </a:r>
            <a:r>
              <a:rPr b="0" i="0" lang="en-IN">
                <a:latin typeface="Arial"/>
                <a:ea typeface="Arial"/>
                <a:cs typeface="Arial"/>
                <a:sym typeface="Arial"/>
              </a:rPr>
              <a:t> might be beneficial.</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Network Training Divergence</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If the network's training loss quickly becomes NaN or infinity, it might be due to exploding gradients. This can sometimes occur with </a:t>
            </a:r>
            <a:r>
              <a:rPr b="1" i="0" lang="en-IN">
                <a:latin typeface="Arial"/>
                <a:ea typeface="Arial"/>
                <a:cs typeface="Arial"/>
                <a:sym typeface="Arial"/>
              </a:rPr>
              <a:t>ReLU</a:t>
            </a:r>
            <a:r>
              <a:rPr b="0" i="0" lang="en-IN">
                <a:latin typeface="Arial"/>
                <a:ea typeface="Arial"/>
                <a:cs typeface="Arial"/>
                <a:sym typeface="Arial"/>
              </a:rPr>
              <a:t> if large activations propagate through the network. Using </a:t>
            </a:r>
            <a:r>
              <a:rPr b="1" i="0" lang="en-IN">
                <a:latin typeface="Arial"/>
                <a:ea typeface="Arial"/>
                <a:cs typeface="Arial"/>
                <a:sym typeface="Arial"/>
              </a:rPr>
              <a:t>tanh</a:t>
            </a:r>
            <a:r>
              <a:rPr b="0" i="0" lang="en-IN">
                <a:latin typeface="Arial"/>
                <a:ea typeface="Arial"/>
                <a:cs typeface="Arial"/>
                <a:sym typeface="Arial"/>
              </a:rPr>
              <a:t> or </a:t>
            </a:r>
            <a:r>
              <a:rPr b="1" i="0" lang="en-IN">
                <a:latin typeface="Arial"/>
                <a:ea typeface="Arial"/>
                <a:cs typeface="Arial"/>
                <a:sym typeface="Arial"/>
              </a:rPr>
              <a:t>Leaky ReLU</a:t>
            </a:r>
            <a:r>
              <a:rPr b="0" i="0" lang="en-IN">
                <a:latin typeface="Arial"/>
                <a:ea typeface="Arial"/>
                <a:cs typeface="Arial"/>
                <a:sym typeface="Arial"/>
              </a:rPr>
              <a:t> can help mitigate this.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Binary vs. Multi-class Classification</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ct val="100000"/>
              <a:buFont typeface="Calibri"/>
              <a:buAutoNum type="arabicPeriod"/>
            </a:pPr>
            <a:r>
              <a:rPr b="0" i="0" lang="en-IN">
                <a:latin typeface="Arial"/>
                <a:ea typeface="Arial"/>
                <a:cs typeface="Arial"/>
                <a:sym typeface="Arial"/>
              </a:rPr>
              <a:t>For binary classification, a single neuron with a </a:t>
            </a:r>
            <a:r>
              <a:rPr b="1" i="0" lang="en-IN">
                <a:latin typeface="Arial"/>
                <a:ea typeface="Arial"/>
                <a:cs typeface="Arial"/>
                <a:sym typeface="Arial"/>
              </a:rPr>
              <a:t>sigmoid</a:t>
            </a:r>
            <a:r>
              <a:rPr b="0" i="0" lang="en-IN">
                <a:latin typeface="Arial"/>
                <a:ea typeface="Arial"/>
                <a:cs typeface="Arial"/>
                <a:sym typeface="Arial"/>
              </a:rPr>
              <a:t> activation can be used in the output layer. For multi-class classification, multiple neurons with </a:t>
            </a:r>
            <a:r>
              <a:rPr b="1" i="0" lang="en-IN">
                <a:latin typeface="Arial"/>
                <a:ea typeface="Arial"/>
                <a:cs typeface="Arial"/>
                <a:sym typeface="Arial"/>
              </a:rPr>
              <a:t>softmax</a:t>
            </a:r>
            <a:r>
              <a:rPr b="0" i="0" lang="en-IN">
                <a:latin typeface="Arial"/>
                <a:ea typeface="Arial"/>
                <a:cs typeface="Arial"/>
                <a:sym typeface="Arial"/>
              </a:rPr>
              <a:t> activation would be appropriate.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Network Architecture</a:t>
            </a:r>
            <a:endParaRPr/>
          </a:p>
        </p:txBody>
      </p:sp>
      <p:sp>
        <p:nvSpPr>
          <p:cNvPr id="253" name="Google Shape;25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Capacity</a:t>
            </a:r>
            <a:r>
              <a:rPr b="0" i="0" lang="en-IN">
                <a:latin typeface="Arial"/>
                <a:ea typeface="Arial"/>
                <a:cs typeface="Arial"/>
                <a:sym typeface="Arial"/>
              </a:rPr>
              <a:t>: The architecture defines the number of parameters and thus the model's capacity. A more complex architecture can represent more intricate functions but may also be prone to overfitting.</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Feature Extraction</a:t>
            </a:r>
            <a:r>
              <a:rPr b="0" i="0" lang="en-IN">
                <a:latin typeface="Arial"/>
                <a:ea typeface="Arial"/>
                <a:cs typeface="Arial"/>
                <a:sym typeface="Arial"/>
              </a:rPr>
              <a:t>: In CNNs, the early layers often capture low-level features (like edges), while deeper layers capture high-level features (like patterns or objects). The architecture determines this hierarchical feature extraction.</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Computational Efficiency</a:t>
            </a:r>
            <a:r>
              <a:rPr b="0" i="0" lang="en-IN">
                <a:latin typeface="Arial"/>
                <a:ea typeface="Arial"/>
                <a:cs typeface="Arial"/>
                <a:sym typeface="Arial"/>
              </a:rPr>
              <a:t>: The architecture affects the computational cost during both training and inference. A deeper or wider network requires more computations.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Key Components in CNN Architecture</a:t>
            </a:r>
            <a:endParaRPr/>
          </a:p>
        </p:txBody>
      </p:sp>
      <p:sp>
        <p:nvSpPr>
          <p:cNvPr id="259" name="Google Shape;25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Convolutional Layers</a:t>
            </a:r>
            <a:r>
              <a:rPr b="0" i="0" lang="en-IN">
                <a:latin typeface="Arial"/>
                <a:ea typeface="Arial"/>
                <a:cs typeface="Arial"/>
                <a:sym typeface="Arial"/>
              </a:rPr>
              <a:t>: These layers apply convolution operations to the input, capturing spatial features.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Pooling Layers</a:t>
            </a:r>
            <a:r>
              <a:rPr b="0" i="0" lang="en-IN">
                <a:latin typeface="Arial"/>
                <a:ea typeface="Arial"/>
                <a:cs typeface="Arial"/>
                <a:sym typeface="Arial"/>
              </a:rPr>
              <a:t>: Often placed after convolutional layers, they reduce the spatial dimensions, helping in reducing computation and making the model more invariant to small translations.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Fully Connected (Dense) Layers</a:t>
            </a:r>
            <a:r>
              <a:rPr b="0" i="0" lang="en-IN">
                <a:latin typeface="Arial"/>
                <a:ea typeface="Arial"/>
                <a:cs typeface="Arial"/>
                <a:sym typeface="Arial"/>
              </a:rPr>
              <a:t>: Typically found at the end of the network, they perform classification based on the features extracted by previous layers.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Dropout Layers</a:t>
            </a:r>
            <a:r>
              <a:rPr b="0" i="0" lang="en-IN">
                <a:latin typeface="Arial"/>
                <a:ea typeface="Arial"/>
                <a:cs typeface="Arial"/>
                <a:sym typeface="Arial"/>
              </a:rPr>
              <a:t>: Introduced to prevent overfitting by randomly setting a fraction of input units to 0 during training.</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Batch Normalization Layers</a:t>
            </a:r>
            <a:r>
              <a:rPr b="0" i="0" lang="en-IN">
                <a:latin typeface="Arial"/>
                <a:ea typeface="Arial"/>
                <a:cs typeface="Arial"/>
                <a:sym typeface="Arial"/>
              </a:rPr>
              <a:t>: Improve training speed and model generalization by normalizing the activations of a given input volume before passing it to the next layer.</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 and Implications of Different Architectures</a:t>
            </a:r>
            <a:endParaRPr/>
          </a:p>
        </p:txBody>
      </p:sp>
      <p:sp>
        <p:nvSpPr>
          <p:cNvPr id="265" name="Google Shape;265;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n-IN">
                <a:latin typeface="Arial"/>
                <a:ea typeface="Arial"/>
                <a:cs typeface="Arial"/>
                <a:sym typeface="Arial"/>
              </a:rPr>
              <a:t>Shallow vs. Deep Networks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Shallow Networks</a:t>
            </a:r>
            <a:r>
              <a:rPr b="0" i="0" lang="en-IN">
                <a:latin typeface="Arial"/>
                <a:ea typeface="Arial"/>
                <a:cs typeface="Arial"/>
                <a:sym typeface="Arial"/>
              </a:rPr>
              <a:t>: Might not capture complex features, especially for intricate tasks like detailed image recognition.</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Deep Networks</a:t>
            </a:r>
            <a:r>
              <a:rPr b="0" i="0" lang="en-IN">
                <a:latin typeface="Arial"/>
                <a:ea typeface="Arial"/>
                <a:cs typeface="Arial"/>
                <a:sym typeface="Arial"/>
              </a:rPr>
              <a:t>: Can capture intricate patterns and hierarchies but may require more data and are computationally more expensive. Risk of overfitting if not enough data.</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n-IN">
                <a:latin typeface="Arial"/>
                <a:ea typeface="Arial"/>
                <a:cs typeface="Arial"/>
                <a:sym typeface="Arial"/>
              </a:rPr>
              <a:t>Small vs. Large Filters in Convolutional Layers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Small Filters (e.g., 3x3)</a:t>
            </a:r>
            <a:r>
              <a:rPr b="0" i="0" lang="en-IN">
                <a:latin typeface="Arial"/>
                <a:ea typeface="Arial"/>
                <a:cs typeface="Arial"/>
                <a:sym typeface="Arial"/>
              </a:rPr>
              <a:t>: Capture fine-grained patterns and are computationally efficient. Many state-of-the-art architectures, like VGG and ResNet, use 3x3 filters almost exclusively.</a:t>
            </a:r>
            <a:endParaRPr/>
          </a:p>
          <a:p>
            <a:pPr indent="-228600" lvl="1" marL="685800" rtl="0" algn="l">
              <a:lnSpc>
                <a:spcPct val="90000"/>
              </a:lnSpc>
              <a:spcBef>
                <a:spcPts val="500"/>
              </a:spcBef>
              <a:spcAft>
                <a:spcPts val="0"/>
              </a:spcAft>
              <a:buClr>
                <a:schemeClr val="dk1"/>
              </a:buClr>
              <a:buSzPct val="100000"/>
              <a:buChar char="•"/>
            </a:pPr>
            <a:r>
              <a:rPr b="1" i="0" lang="en-IN">
                <a:latin typeface="Arial"/>
                <a:ea typeface="Arial"/>
                <a:cs typeface="Arial"/>
                <a:sym typeface="Arial"/>
              </a:rPr>
              <a:t>Large Filters (e.g., 7x7 or 11x11)</a:t>
            </a:r>
            <a:r>
              <a:rPr b="0" i="0" lang="en-IN">
                <a:latin typeface="Arial"/>
                <a:ea typeface="Arial"/>
                <a:cs typeface="Arial"/>
                <a:sym typeface="Arial"/>
              </a:rPr>
              <a:t>: Capture larger patterns and can reduce spatial dimensions quickly. However, they might miss out on finer details and are computationally more intensive.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71" name="Google Shape;27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startAt="3"/>
            </a:pPr>
            <a:r>
              <a:rPr b="1" i="0" lang="en-IN">
                <a:latin typeface="Arial"/>
                <a:ea typeface="Arial"/>
                <a:cs typeface="Arial"/>
                <a:sym typeface="Arial"/>
              </a:rPr>
              <a:t>Stride Size</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A larger stride in convolutional layers can reduce spatial dimensions more aggressively. It speeds up computation but may lose some spatial information.</a:t>
            </a:r>
            <a:endParaRPr/>
          </a:p>
          <a:p>
            <a:pPr indent="-228600" lvl="0" marL="228600" rtl="0" algn="l">
              <a:lnSpc>
                <a:spcPct val="90000"/>
              </a:lnSpc>
              <a:spcBef>
                <a:spcPts val="1000"/>
              </a:spcBef>
              <a:spcAft>
                <a:spcPts val="0"/>
              </a:spcAft>
              <a:buClr>
                <a:schemeClr val="dk1"/>
              </a:buClr>
              <a:buSzPts val="2800"/>
              <a:buFont typeface="Calibri"/>
              <a:buAutoNum type="arabicPeriod" startAt="3"/>
            </a:pPr>
            <a:r>
              <a:rPr b="1" i="0" lang="en-IN">
                <a:latin typeface="Arial"/>
                <a:ea typeface="Arial"/>
                <a:cs typeface="Arial"/>
                <a:sym typeface="Arial"/>
              </a:rPr>
              <a:t>Network Width</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Wider networks (i.e., more neurons per layer or more filters in convolutional layers) increase the capacity but also the risk of overfitting and computational cost.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277" name="Google Shape;277;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Image Classification Task with Small Images (e.g., CIFAR-10)</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A shallower architecture might be sufficient due to the low resolution and complexity of images.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High-resolution Image Recognition (e.g., ImageNet)</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Deeper architectures like ResNet, Inception, or EfficientNet, which can capture intricate details and hierarchies, would be more suitable.</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Transfer Learning</a:t>
            </a:r>
            <a:r>
              <a:rPr b="0" i="0" lang="en-IN">
                <a:latin typeface="Arial"/>
                <a:ea typeface="Arial"/>
                <a:cs typeface="Arial"/>
                <a:sym typeface="Arial"/>
              </a:rPr>
              <a:t>:</a:t>
            </a:r>
            <a:endParaRPr/>
          </a:p>
          <a:p>
            <a:pPr indent="-285750" lvl="1" marL="742950" rtl="0" algn="l">
              <a:lnSpc>
                <a:spcPct val="90000"/>
              </a:lnSpc>
              <a:spcBef>
                <a:spcPts val="500"/>
              </a:spcBef>
              <a:spcAft>
                <a:spcPts val="0"/>
              </a:spcAft>
              <a:buClr>
                <a:schemeClr val="dk1"/>
              </a:buClr>
              <a:buSzPts val="2400"/>
              <a:buFont typeface="Calibri"/>
              <a:buAutoNum type="arabicPeriod"/>
            </a:pPr>
            <a:r>
              <a:rPr b="0" i="0" lang="en-IN">
                <a:latin typeface="Arial"/>
                <a:ea typeface="Arial"/>
                <a:cs typeface="Arial"/>
                <a:sym typeface="Arial"/>
              </a:rPr>
              <a:t>If you have limited data, you can use a pre-trained model (like VGG16 trained on ImageNet) and fine-tune it for your task. The pre-trained model already has learned features that can be beneficial for your specific task.</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Dropout</a:t>
            </a:r>
            <a:endParaRPr/>
          </a:p>
        </p:txBody>
      </p:sp>
      <p:sp>
        <p:nvSpPr>
          <p:cNvPr id="283" name="Google Shape;283;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Dropout involves randomly "dropping out" or setting to zero a fraction of the neurons in a layer during training. This means that during each training iteration, each neuron has a probability �</a:t>
            </a:r>
            <a:r>
              <a:rPr b="0" i="1" lang="en-IN">
                <a:latin typeface="Arial"/>
                <a:ea typeface="Arial"/>
                <a:cs typeface="Arial"/>
                <a:sym typeface="Arial"/>
              </a:rPr>
              <a:t>p</a:t>
            </a:r>
            <a:r>
              <a:rPr b="0" i="0" lang="en-IN">
                <a:latin typeface="Arial"/>
                <a:ea typeface="Arial"/>
                <a:cs typeface="Arial"/>
                <a:sym typeface="Arial"/>
              </a:rPr>
              <a:t> of being temporarily removed or "turned off." This helps to ensure that no single neuron becomes overly specialized or reliant on its neighboring neurons, promoting a more robust and generalized model.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Importance of Dropout</a:t>
            </a:r>
            <a:endParaRPr/>
          </a:p>
        </p:txBody>
      </p:sp>
      <p:sp>
        <p:nvSpPr>
          <p:cNvPr id="289" name="Google Shape;289;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Prevent Overfitting</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Dropout prevents complex co-adaptations of neurons, ensuring that they are more independent. This reduces overfitting, especially in large networks or when the amount of training data is limited.</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Model Ensembling</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Dropout can be thought of as training a pseudo-ensemble of neural networks. During inference (or testing), all neurons are used, which is like averaging the predictions of all these networks, leading to a more stable and generalized prediction.</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Regularization</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By adding noise into the training process, dropout acts as a form of regularization, making the model more robust.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Tuning the Dropout Rate</a:t>
            </a:r>
            <a:endParaRPr/>
          </a:p>
        </p:txBody>
      </p:sp>
      <p:sp>
        <p:nvSpPr>
          <p:cNvPr id="295" name="Google Shape;295;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Low Dropout Rate (e.g., 0.1 or 0.2)</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Only a small fraction of neurons are dropped out. This provides mild regularization which might be beneficial if the model is slightly overfitting.</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High Dropout Rate (e.g., 0.5 or 0.6)</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A significant fraction of neurons are turned off during training. This introduces strong regularization and is often used in very large networks or when the risk of overfitting is high.</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Too High Dropout Rate (e.g., 0.8 or 0.9)</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Turning off too many neurons might hinder the network's ability to train effectively, leading to underfitting.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Examples</a:t>
            </a:r>
            <a:endParaRPr/>
          </a:p>
        </p:txBody>
      </p:sp>
      <p:sp>
        <p:nvSpPr>
          <p:cNvPr id="301" name="Google Shape;301;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Small Dataset with a Large Network</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If you have a small dataset but a large network architecture, the risk of overfitting is high. Introducing a moderate to high dropout rate can help regularize the network and prevent it from memorizing the training data.</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Sufficiently Large Dataset</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With a large dataset and appropriate network size, the model might not overfit easily. In such cases, a lower dropout rate or even no dropout might work well.</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Deep Networks</a:t>
            </a:r>
            <a:r>
              <a:rPr b="0" i="0" lang="en-I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In very deep networks, using dropout in the initial layers might not be as effective as using it in the deeper or fully connected layers, where the model has already extracted complex features and is more prone to overfitting.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Tips</a:t>
            </a:r>
            <a:endParaRPr/>
          </a:p>
        </p:txBody>
      </p:sp>
      <p:sp>
        <p:nvSpPr>
          <p:cNvPr id="307" name="Google Shape;307;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Position in the Network</a:t>
            </a:r>
            <a:r>
              <a:rPr b="0" i="0" lang="en-IN">
                <a:latin typeface="Arial"/>
                <a:ea typeface="Arial"/>
                <a:cs typeface="Arial"/>
                <a:sym typeface="Arial"/>
              </a:rPr>
              <a:t>: Dropout is often used in the fully connected layers of CNNs, but it can also be applied to convolutional layers. However, it's less common to use dropout in the early layers of the network.</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Tuning</a:t>
            </a:r>
            <a:r>
              <a:rPr b="0" i="0" lang="en-IN">
                <a:latin typeface="Arial"/>
                <a:ea typeface="Arial"/>
                <a:cs typeface="Arial"/>
                <a:sym typeface="Arial"/>
              </a:rPr>
              <a:t>: Start with a common dropout rate (like 0.5) and adjust based on validation performance. If the model overfits, increase the dropout rate. If it underfits, decrease the dropout rate.</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Inference</a:t>
            </a:r>
            <a:r>
              <a:rPr b="0" i="0" lang="en-IN">
                <a:latin typeface="Arial"/>
                <a:ea typeface="Arial"/>
                <a:cs typeface="Arial"/>
                <a:sym typeface="Arial"/>
              </a:rPr>
              <a:t>: During inference (or testing), dropout is turned off, and the weights are typically scaled by the dropout rate to account for the increased number of active neurons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Batch Normalization</a:t>
            </a:r>
            <a:endParaRPr/>
          </a:p>
        </p:txBody>
      </p:sp>
      <p:sp>
        <p:nvSpPr>
          <p:cNvPr id="313" name="Google Shape;313;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Batch Normalization is a technique designed to automatically standardize the inputs to a layer in a deep learning model. It helps in stabilizing and accelerating the training of deep networks.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Why is it Needed</a:t>
            </a:r>
            <a:endParaRPr/>
          </a:p>
        </p:txBody>
      </p:sp>
      <p:sp>
        <p:nvSpPr>
          <p:cNvPr id="319" name="Google Shape;319;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Deep neural networks are sensitive to the initialization of their weights and to the scale and distribution of input features. If the input data or the activations in the hidden layers have too large or too small values, or if they're not centered around zero, it can hinder the training process. This is because large input values can lead to large gradients during backpropagation, causing the weights to update in large steps, which can lead to oscillations or divergences in training. On the other hand, very small values can lead to tiny gradients, causing the network to train very slowly (known as the vanishing gradient problem).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How Does BatchNorm Work?</a:t>
            </a:r>
            <a:endParaRPr/>
          </a:p>
        </p:txBody>
      </p:sp>
      <p:sp>
        <p:nvSpPr>
          <p:cNvPr id="325" name="Google Shape;325;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0" i="0" lang="en-IN">
                <a:latin typeface="Arial"/>
                <a:ea typeface="Arial"/>
                <a:cs typeface="Arial"/>
                <a:sym typeface="Arial"/>
              </a:rPr>
              <a:t>At a high level, during training, Batch Normalization standardizes the output of a previous activation layer by subtracting the batch mean and dividing by the batch standard deviation. Then, it scales and shifts the result using two new parameters (usually referred to as gamma and beta) that will be learned during training.</a:t>
            </a:r>
            <a:endParaRPr/>
          </a:p>
          <a:p>
            <a:pPr indent="0" lvl="0" marL="0" rtl="0" algn="l">
              <a:lnSpc>
                <a:spcPct val="90000"/>
              </a:lnSpc>
              <a:spcBef>
                <a:spcPts val="1000"/>
              </a:spcBef>
              <a:spcAft>
                <a:spcPts val="0"/>
              </a:spcAft>
              <a:buClr>
                <a:schemeClr val="dk1"/>
              </a:buClr>
              <a:buSzPts val="2800"/>
              <a:buNone/>
            </a:pPr>
            <a:r>
              <a:rPr b="0" i="0" lang="en-IN">
                <a:latin typeface="Arial"/>
                <a:ea typeface="Arial"/>
                <a:cs typeface="Arial"/>
                <a:sym typeface="Arial"/>
              </a:rPr>
              <a:t>Mathematically, given a mini-batch </a:t>
            </a:r>
            <a:r>
              <a:rPr b="0" i="1" lang="en-IN">
                <a:latin typeface="Arial"/>
                <a:ea typeface="Arial"/>
                <a:cs typeface="Arial"/>
                <a:sym typeface="Arial"/>
              </a:rPr>
              <a:t>B</a:t>
            </a:r>
            <a:r>
              <a:rPr b="0" i="0" lang="en-IN">
                <a:latin typeface="Arial"/>
                <a:ea typeface="Arial"/>
                <a:cs typeface="Arial"/>
                <a:sym typeface="Arial"/>
              </a:rPr>
              <a:t> of activations:</a:t>
            </a:r>
            <a:endParaRPr/>
          </a:p>
          <a:p>
            <a:pPr indent="-228600" lvl="0" marL="2286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Compute the mean </a:t>
            </a:r>
            <a:r>
              <a:rPr b="0" i="1" lang="en-IN">
                <a:latin typeface="Arial"/>
                <a:ea typeface="Arial"/>
                <a:cs typeface="Arial"/>
                <a:sym typeface="Arial"/>
              </a:rPr>
              <a:t>μ</a:t>
            </a:r>
            <a:r>
              <a:rPr b="0" baseline="-25000" i="1" lang="en-IN">
                <a:latin typeface="Arial"/>
                <a:ea typeface="Arial"/>
                <a:cs typeface="Arial"/>
                <a:sym typeface="Arial"/>
              </a:rPr>
              <a:t>B</a:t>
            </a:r>
            <a:r>
              <a:rPr b="0" i="0" lang="en-IN">
                <a:latin typeface="Arial"/>
                <a:ea typeface="Arial"/>
                <a:cs typeface="Arial"/>
                <a:sym typeface="Arial"/>
              </a:rPr>
              <a:t>​ and variance </a:t>
            </a:r>
            <a:r>
              <a:rPr b="0" i="1" lang="en-IN">
                <a:latin typeface="Arial"/>
                <a:ea typeface="Arial"/>
                <a:cs typeface="Arial"/>
                <a:sym typeface="Arial"/>
              </a:rPr>
              <a:t>σ</a:t>
            </a:r>
            <a:r>
              <a:rPr b="0" baseline="30000" i="1" lang="en-IN">
                <a:latin typeface="Arial"/>
                <a:ea typeface="Arial"/>
                <a:cs typeface="Arial"/>
                <a:sym typeface="Arial"/>
              </a:rPr>
              <a:t>2</a:t>
            </a:r>
            <a:r>
              <a:rPr b="0" baseline="-25000" i="1" lang="en-IN">
                <a:latin typeface="Arial"/>
                <a:ea typeface="Arial"/>
                <a:cs typeface="Arial"/>
                <a:sym typeface="Arial"/>
              </a:rPr>
              <a:t>B</a:t>
            </a:r>
            <a:r>
              <a:rPr b="0" i="0" lang="en-IN">
                <a:latin typeface="Arial"/>
                <a:ea typeface="Arial"/>
                <a:cs typeface="Arial"/>
                <a:sym typeface="Arial"/>
              </a:rPr>
              <a:t> for the mini-batch.</a:t>
            </a:r>
            <a:endParaRPr/>
          </a:p>
          <a:p>
            <a:pPr indent="-228600" lvl="0" marL="2286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Normalize the activations using: </a:t>
            </a:r>
            <a:r>
              <a:rPr b="0" i="1" lang="en-IN">
                <a:latin typeface="Arial"/>
                <a:ea typeface="Arial"/>
                <a:cs typeface="Arial"/>
                <a:sym typeface="Arial"/>
              </a:rPr>
              <a:t>x</a:t>
            </a:r>
            <a:r>
              <a:rPr b="0" i="0" lang="en-IN">
                <a:latin typeface="Arial"/>
                <a:ea typeface="Arial"/>
                <a:cs typeface="Arial"/>
                <a:sym typeface="Arial"/>
              </a:rPr>
              <a:t>^</a:t>
            </a:r>
            <a:r>
              <a:rPr b="0" baseline="-25000" i="1" lang="en-IN">
                <a:latin typeface="Arial"/>
                <a:ea typeface="Arial"/>
                <a:cs typeface="Arial"/>
                <a:sym typeface="Arial"/>
              </a:rPr>
              <a:t>i</a:t>
            </a:r>
            <a:r>
              <a:rPr b="0" i="0" lang="en-IN">
                <a:latin typeface="Arial"/>
                <a:ea typeface="Arial"/>
                <a:cs typeface="Arial"/>
                <a:sym typeface="Arial"/>
              </a:rPr>
              <a:t>​=</a:t>
            </a:r>
            <a:r>
              <a:rPr b="0" i="1" lang="en-IN">
                <a:latin typeface="Arial"/>
                <a:ea typeface="Arial"/>
                <a:cs typeface="Arial"/>
                <a:sym typeface="Arial"/>
              </a:rPr>
              <a:t>xi</a:t>
            </a:r>
            <a:r>
              <a:rPr b="0" i="0" lang="en-IN">
                <a:latin typeface="Arial"/>
                <a:ea typeface="Arial"/>
                <a:cs typeface="Arial"/>
                <a:sym typeface="Arial"/>
              </a:rPr>
              <a:t>​−</a:t>
            </a:r>
            <a:r>
              <a:rPr b="0" i="1" lang="en-IN">
                <a:latin typeface="Arial"/>
                <a:ea typeface="Arial"/>
                <a:cs typeface="Arial"/>
                <a:sym typeface="Arial"/>
              </a:rPr>
              <a:t>μB</a:t>
            </a:r>
            <a:r>
              <a:rPr b="0" i="0" lang="en-IN">
                <a:latin typeface="Arial"/>
                <a:ea typeface="Arial"/>
                <a:cs typeface="Arial"/>
                <a:sym typeface="Arial"/>
              </a:rPr>
              <a:t>​​/sqrt(</a:t>
            </a:r>
            <a:r>
              <a:rPr b="0" i="1" lang="en-IN">
                <a:latin typeface="Arial"/>
                <a:ea typeface="Arial"/>
                <a:cs typeface="Arial"/>
                <a:sym typeface="Arial"/>
              </a:rPr>
              <a:t>σ</a:t>
            </a:r>
            <a:r>
              <a:rPr b="0" baseline="30000" i="1" lang="en-IN">
                <a:latin typeface="Arial"/>
                <a:ea typeface="Arial"/>
                <a:cs typeface="Arial"/>
                <a:sym typeface="Arial"/>
              </a:rPr>
              <a:t>2</a:t>
            </a:r>
            <a:r>
              <a:rPr b="0" baseline="-25000" i="1" lang="en-IN">
                <a:latin typeface="Arial"/>
                <a:ea typeface="Arial"/>
                <a:cs typeface="Arial"/>
                <a:sym typeface="Arial"/>
              </a:rPr>
              <a:t>B</a:t>
            </a:r>
            <a:r>
              <a:rPr b="0" i="0" lang="en-IN">
                <a:latin typeface="Arial"/>
                <a:ea typeface="Arial"/>
                <a:cs typeface="Arial"/>
                <a:sym typeface="Arial"/>
              </a:rPr>
              <a:t> +</a:t>
            </a:r>
            <a:r>
              <a:rPr b="0" i="1" lang="en-IN">
                <a:latin typeface="Arial"/>
                <a:ea typeface="Arial"/>
                <a:cs typeface="Arial"/>
                <a:sym typeface="Arial"/>
              </a:rPr>
              <a:t>ϵ</a:t>
            </a:r>
            <a:r>
              <a:rPr b="0" i="0" lang="en-IN">
                <a:latin typeface="Arial"/>
                <a:ea typeface="Arial"/>
                <a:cs typeface="Arial"/>
                <a:sym typeface="Arial"/>
              </a:rPr>
              <a:t>​) where </a:t>
            </a:r>
            <a:r>
              <a:rPr b="0" i="1" lang="en-IN">
                <a:latin typeface="Arial"/>
                <a:ea typeface="Arial"/>
                <a:cs typeface="Arial"/>
                <a:sym typeface="Arial"/>
              </a:rPr>
              <a:t>ϵ</a:t>
            </a:r>
            <a:r>
              <a:rPr b="0" i="0" lang="en-IN">
                <a:latin typeface="Arial"/>
                <a:ea typeface="Arial"/>
                <a:cs typeface="Arial"/>
                <a:sym typeface="Arial"/>
              </a:rPr>
              <a:t> is a small constant added for numerical stability.</a:t>
            </a:r>
            <a:endParaRPr/>
          </a:p>
          <a:p>
            <a:pPr indent="-228600" lvl="0" marL="2286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Scale and shift: </a:t>
            </a:r>
            <a:r>
              <a:rPr b="0" i="1" lang="en-IN">
                <a:latin typeface="Arial"/>
                <a:ea typeface="Arial"/>
                <a:cs typeface="Arial"/>
                <a:sym typeface="Arial"/>
              </a:rPr>
              <a:t>y</a:t>
            </a:r>
            <a:r>
              <a:rPr b="0" baseline="-25000" i="1" lang="en-IN">
                <a:latin typeface="Arial"/>
                <a:ea typeface="Arial"/>
                <a:cs typeface="Arial"/>
                <a:sym typeface="Arial"/>
              </a:rPr>
              <a:t>i</a:t>
            </a:r>
            <a:r>
              <a:rPr b="0" i="0" lang="en-IN">
                <a:latin typeface="Arial"/>
                <a:ea typeface="Arial"/>
                <a:cs typeface="Arial"/>
                <a:sym typeface="Arial"/>
              </a:rPr>
              <a:t>​=</a:t>
            </a:r>
            <a:r>
              <a:rPr b="0" i="1" lang="en-IN">
                <a:latin typeface="Arial"/>
                <a:ea typeface="Arial"/>
                <a:cs typeface="Arial"/>
                <a:sym typeface="Arial"/>
              </a:rPr>
              <a:t>γx</a:t>
            </a:r>
            <a:r>
              <a:rPr b="0" i="0" lang="en-IN">
                <a:latin typeface="Arial"/>
                <a:ea typeface="Arial"/>
                <a:cs typeface="Arial"/>
                <a:sym typeface="Arial"/>
              </a:rPr>
              <a:t>^</a:t>
            </a:r>
            <a:r>
              <a:rPr b="0" baseline="-25000" i="1" lang="en-IN">
                <a:latin typeface="Arial"/>
                <a:ea typeface="Arial"/>
                <a:cs typeface="Arial"/>
                <a:sym typeface="Arial"/>
              </a:rPr>
              <a:t>i</a:t>
            </a:r>
            <a:r>
              <a:rPr b="0" i="0" lang="en-IN">
                <a:latin typeface="Arial"/>
                <a:ea typeface="Arial"/>
                <a:cs typeface="Arial"/>
                <a:sym typeface="Arial"/>
              </a:rPr>
              <a:t>​+</a:t>
            </a:r>
            <a:r>
              <a:rPr b="0" i="1" lang="en-IN">
                <a:latin typeface="Arial"/>
                <a:ea typeface="Arial"/>
                <a:cs typeface="Arial"/>
                <a:sym typeface="Arial"/>
              </a:rPr>
              <a:t>β</a:t>
            </a:r>
            <a:r>
              <a:rPr b="0" i="0" lang="en-IN">
                <a:latin typeface="Arial"/>
                <a:ea typeface="Arial"/>
                <a:cs typeface="Arial"/>
                <a:sym typeface="Arial"/>
              </a:rPr>
              <a:t> where </a:t>
            </a:r>
            <a:r>
              <a:rPr b="0" i="1" lang="en-IN">
                <a:latin typeface="Arial"/>
                <a:ea typeface="Arial"/>
                <a:cs typeface="Arial"/>
                <a:sym typeface="Arial"/>
              </a:rPr>
              <a:t>γ</a:t>
            </a:r>
            <a:r>
              <a:rPr b="0" i="0" lang="en-IN">
                <a:latin typeface="Arial"/>
                <a:ea typeface="Arial"/>
                <a:cs typeface="Arial"/>
                <a:sym typeface="Arial"/>
              </a:rPr>
              <a:t> and </a:t>
            </a:r>
            <a:r>
              <a:rPr b="0" i="1" lang="en-IN">
                <a:latin typeface="Arial"/>
                <a:ea typeface="Arial"/>
                <a:cs typeface="Arial"/>
                <a:sym typeface="Arial"/>
              </a:rPr>
              <a:t>β</a:t>
            </a:r>
            <a:r>
              <a:rPr b="0" i="0" lang="en-IN">
                <a:latin typeface="Arial"/>
                <a:ea typeface="Arial"/>
                <a:cs typeface="Arial"/>
                <a:sym typeface="Arial"/>
              </a:rPr>
              <a:t> are learnable parameters.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Example</a:t>
            </a:r>
            <a:endParaRPr/>
          </a:p>
        </p:txBody>
      </p:sp>
      <p:sp>
        <p:nvSpPr>
          <p:cNvPr id="331" name="Google Shape;331;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0" i="0" lang="en-IN">
                <a:latin typeface="Arial"/>
                <a:ea typeface="Arial"/>
                <a:cs typeface="Arial"/>
                <a:sym typeface="Arial"/>
              </a:rPr>
              <a:t>Imagine you have a mini-batch of data going into a layer, and the activations of the previous layer for this mini-batch are: [1,2,3,4,5][1,2,3,4,5]</a:t>
            </a:r>
            <a:endParaRPr/>
          </a:p>
          <a:p>
            <a:pPr indent="-228600" lvl="0" marL="228600" rtl="0" algn="l">
              <a:lnSpc>
                <a:spcPct val="90000"/>
              </a:lnSpc>
              <a:spcBef>
                <a:spcPts val="1000"/>
              </a:spcBef>
              <a:spcAft>
                <a:spcPts val="0"/>
              </a:spcAft>
              <a:buClr>
                <a:schemeClr val="dk1"/>
              </a:buClr>
              <a:buSzPct val="100000"/>
              <a:buChar char="•"/>
            </a:pPr>
            <a:r>
              <a:rPr b="1" i="0" lang="en-IN">
                <a:latin typeface="Arial"/>
                <a:ea typeface="Arial"/>
                <a:cs typeface="Arial"/>
                <a:sym typeface="Arial"/>
              </a:rPr>
              <a:t>Compute Mean and Variance</a:t>
            </a:r>
            <a:r>
              <a:rPr b="0" i="0" lang="en-IN">
                <a:latin typeface="Arial"/>
                <a:ea typeface="Arial"/>
                <a:cs typeface="Arial"/>
                <a:sym typeface="Arial"/>
              </a:rPr>
              <a:t>: Mean </a:t>
            </a:r>
            <a:r>
              <a:rPr b="0" i="1" lang="en-IN">
                <a:latin typeface="Arial"/>
                <a:ea typeface="Arial"/>
                <a:cs typeface="Arial"/>
                <a:sym typeface="Arial"/>
              </a:rPr>
              <a:t>μ</a:t>
            </a:r>
            <a:r>
              <a:rPr b="0" baseline="-25000" i="1" lang="en-IN">
                <a:latin typeface="Arial"/>
                <a:ea typeface="Arial"/>
                <a:cs typeface="Arial"/>
                <a:sym typeface="Arial"/>
              </a:rPr>
              <a:t>B</a:t>
            </a:r>
            <a:r>
              <a:rPr b="0" i="0" lang="en-IN">
                <a:latin typeface="Arial"/>
                <a:ea typeface="Arial"/>
                <a:cs typeface="Arial"/>
                <a:sym typeface="Arial"/>
              </a:rPr>
              <a:t>​=3 Variance </a:t>
            </a:r>
            <a:r>
              <a:rPr b="0" i="1" lang="en-IN">
                <a:latin typeface="Arial"/>
                <a:ea typeface="Arial"/>
                <a:cs typeface="Arial"/>
                <a:sym typeface="Arial"/>
              </a:rPr>
              <a:t>σ</a:t>
            </a:r>
            <a:r>
              <a:rPr b="0" baseline="30000" i="1" lang="en-IN">
                <a:latin typeface="Arial"/>
                <a:ea typeface="Arial"/>
                <a:cs typeface="Arial"/>
                <a:sym typeface="Arial"/>
              </a:rPr>
              <a:t>2</a:t>
            </a:r>
            <a:r>
              <a:rPr b="0" baseline="-25000" i="1" lang="en-IN">
                <a:latin typeface="Arial"/>
                <a:ea typeface="Arial"/>
                <a:cs typeface="Arial"/>
                <a:sym typeface="Arial"/>
              </a:rPr>
              <a:t>B </a:t>
            </a:r>
            <a:r>
              <a:rPr b="0" i="0" lang="en-IN">
                <a:latin typeface="Arial"/>
                <a:ea typeface="Arial"/>
                <a:cs typeface="Arial"/>
                <a:sym typeface="Arial"/>
              </a:rPr>
              <a:t>=2.5</a:t>
            </a:r>
            <a:endParaRPr b="0" i="0">
              <a:latin typeface="Arial"/>
              <a:ea typeface="Arial"/>
              <a:cs typeface="Arial"/>
              <a:sym typeface="Arial"/>
            </a:endParaRPr>
          </a:p>
          <a:p>
            <a:pPr indent="-228600" lvl="0" marL="228600" rtl="0" algn="l">
              <a:lnSpc>
                <a:spcPct val="90000"/>
              </a:lnSpc>
              <a:spcBef>
                <a:spcPts val="1000"/>
              </a:spcBef>
              <a:spcAft>
                <a:spcPts val="0"/>
              </a:spcAft>
              <a:buClr>
                <a:schemeClr val="dk1"/>
              </a:buClr>
              <a:buSzPct val="100000"/>
              <a:buChar char="•"/>
            </a:pPr>
            <a:r>
              <a:rPr b="1" i="0" lang="en-IN">
                <a:latin typeface="Arial"/>
                <a:ea typeface="Arial"/>
                <a:cs typeface="Arial"/>
                <a:sym typeface="Arial"/>
              </a:rPr>
              <a:t>Normalize</a:t>
            </a:r>
            <a:r>
              <a:rPr b="0" i="0" lang="en-IN">
                <a:latin typeface="Arial"/>
                <a:ea typeface="Arial"/>
                <a:cs typeface="Arial"/>
                <a:sym typeface="Arial"/>
              </a:rPr>
              <a:t>: Using the formula above, the normalized activations become: [−1.3416,−0.6708,0,0.6708,1.3416][−1.3416,−0.6708,0,0.6708,1.3416]</a:t>
            </a:r>
            <a:endParaRPr b="0" i="0">
              <a:latin typeface="Arial"/>
              <a:ea typeface="Arial"/>
              <a:cs typeface="Arial"/>
              <a:sym typeface="Arial"/>
            </a:endParaRPr>
          </a:p>
          <a:p>
            <a:pPr indent="-228600" lvl="0" marL="228600" rtl="0" algn="l">
              <a:lnSpc>
                <a:spcPct val="90000"/>
              </a:lnSpc>
              <a:spcBef>
                <a:spcPts val="1000"/>
              </a:spcBef>
              <a:spcAft>
                <a:spcPts val="0"/>
              </a:spcAft>
              <a:buClr>
                <a:schemeClr val="dk1"/>
              </a:buClr>
              <a:buSzPct val="100000"/>
              <a:buChar char="•"/>
            </a:pPr>
            <a:r>
              <a:rPr b="1" i="0" lang="en-IN">
                <a:latin typeface="Arial"/>
                <a:ea typeface="Arial"/>
                <a:cs typeface="Arial"/>
                <a:sym typeface="Arial"/>
              </a:rPr>
              <a:t>Scale and Shift</a:t>
            </a:r>
            <a:r>
              <a:rPr b="0" i="0" lang="en-IN">
                <a:latin typeface="Arial"/>
                <a:ea typeface="Arial"/>
                <a:cs typeface="Arial"/>
                <a:sym typeface="Arial"/>
              </a:rPr>
              <a:t>: Let's assume </a:t>
            </a:r>
            <a:r>
              <a:rPr b="0" i="1" lang="en-IN">
                <a:latin typeface="Arial"/>
                <a:ea typeface="Arial"/>
                <a:cs typeface="Arial"/>
                <a:sym typeface="Arial"/>
              </a:rPr>
              <a:t>γ</a:t>
            </a:r>
            <a:r>
              <a:rPr b="0" i="0" lang="en-IN">
                <a:latin typeface="Arial"/>
                <a:ea typeface="Arial"/>
                <a:cs typeface="Arial"/>
                <a:sym typeface="Arial"/>
              </a:rPr>
              <a:t>=2 and </a:t>
            </a:r>
            <a:r>
              <a:rPr b="0" i="1" lang="en-IN">
                <a:latin typeface="Arial"/>
                <a:ea typeface="Arial"/>
                <a:cs typeface="Arial"/>
                <a:sym typeface="Arial"/>
              </a:rPr>
              <a:t>β</a:t>
            </a:r>
            <a:r>
              <a:rPr b="0" i="0" lang="en-IN">
                <a:latin typeface="Arial"/>
                <a:ea typeface="Arial"/>
                <a:cs typeface="Arial"/>
                <a:sym typeface="Arial"/>
              </a:rPr>
              <a:t>=3 (in practice, these are learned from data). Using the scale and shift formula, the final values become: [0.3168,1.6584,3,4.3416,5.6832][0.3168,1.6584,3,4.3416,5.6832]</a:t>
            </a:r>
            <a:endParaRPr b="0" i="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b="0" i="0" lang="en-IN">
                <a:latin typeface="Arial"/>
                <a:ea typeface="Arial"/>
                <a:cs typeface="Arial"/>
                <a:sym typeface="Arial"/>
              </a:rPr>
              <a:t>During inference (i.e., when the model is being evaluated or deployed for predictions), the batch mean and variance are replaced by estimates of the entire training dataset's mean and variance, which are computed during training.</a:t>
            </a:r>
            <a:br>
              <a:rPr lang="en-IN"/>
            </a:b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Benefits</a:t>
            </a:r>
            <a:endParaRPr/>
          </a:p>
        </p:txBody>
      </p:sp>
      <p:sp>
        <p:nvSpPr>
          <p:cNvPr id="337" name="Google Shape;337;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Faster Convergence</a:t>
            </a:r>
            <a:r>
              <a:rPr b="0" i="0" lang="en-IN">
                <a:latin typeface="Arial"/>
                <a:ea typeface="Arial"/>
                <a:cs typeface="Arial"/>
                <a:sym typeface="Arial"/>
              </a:rPr>
              <a:t>: Normalizing activations can help the optimizer converge faster.</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Allows Higher Learning Rates</a:t>
            </a:r>
            <a:r>
              <a:rPr b="0" i="0" lang="en-IN">
                <a:latin typeface="Arial"/>
                <a:ea typeface="Arial"/>
                <a:cs typeface="Arial"/>
                <a:sym typeface="Arial"/>
              </a:rPr>
              <a:t>: Since it prevents activations from reaching extremely high or low values, it allows the use of higher learning rates without the risk of divergence.</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Reduces Sensitivity to Initialization</a:t>
            </a:r>
            <a:r>
              <a:rPr b="0" i="0" lang="en-IN">
                <a:latin typeface="Arial"/>
                <a:ea typeface="Arial"/>
                <a:cs typeface="Arial"/>
                <a:sym typeface="Arial"/>
              </a:rPr>
              <a:t>: With BatchNorm, you don't need to be as careful about choosing initial weights.</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Acts as a Regularizer</a:t>
            </a:r>
            <a:r>
              <a:rPr b="0" i="0" lang="en-IN">
                <a:latin typeface="Arial"/>
                <a:ea typeface="Arial"/>
                <a:cs typeface="Arial"/>
                <a:sym typeface="Arial"/>
              </a:rPr>
              <a:t>: It introduces a slight noise during training, providing a mild regularizing effect, which can reduce the need for other regularization techniques like dropout.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Weight Decay (L2 Regularization)</a:t>
            </a:r>
            <a:endParaRPr/>
          </a:p>
        </p:txBody>
      </p:sp>
      <p:sp>
        <p:nvSpPr>
          <p:cNvPr id="343" name="Google Shape;343;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Weight decay is one of the most commonly used forms of regularization in neural networks. It's essentially a penalty on the magnitude of the weights in the model. The idea is to prevent the weights from becoming too large, which can lead to overfitting.</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Weight Decay (L2 Regularization)</a:t>
            </a:r>
            <a:endParaRPr/>
          </a:p>
        </p:txBody>
      </p:sp>
      <p:sp>
        <p:nvSpPr>
          <p:cNvPr id="349" name="Google Shape;349;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IN"/>
              <a:t>Mathematically, weight decay involves adding a term to the loss function that is proportional to the sum of the squared values of the weights. This term encourages the model to keep the weights small. The loss function with weight decay is given by: </a:t>
            </a:r>
            <a:r>
              <a:rPr i="1" lang="en-IN">
                <a:latin typeface="Arial"/>
                <a:ea typeface="Arial"/>
                <a:cs typeface="Arial"/>
                <a:sym typeface="Arial"/>
              </a:rPr>
              <a:t>L</a:t>
            </a:r>
            <a:r>
              <a:rPr lang="en-IN">
                <a:latin typeface="Arial"/>
                <a:ea typeface="Arial"/>
                <a:cs typeface="Arial"/>
                <a:sym typeface="Arial"/>
              </a:rPr>
              <a:t>=</a:t>
            </a:r>
            <a:r>
              <a:rPr i="1" lang="en-IN">
                <a:latin typeface="Arial"/>
                <a:ea typeface="Arial"/>
                <a:cs typeface="Arial"/>
                <a:sym typeface="Arial"/>
              </a:rPr>
              <a:t>L</a:t>
            </a:r>
            <a:r>
              <a:rPr baseline="-25000" lang="en-IN">
                <a:latin typeface="Arial"/>
                <a:ea typeface="Arial"/>
                <a:cs typeface="Arial"/>
                <a:sym typeface="Arial"/>
              </a:rPr>
              <a:t>0</a:t>
            </a:r>
            <a:r>
              <a:rPr lang="en-IN">
                <a:latin typeface="Arial"/>
                <a:ea typeface="Arial"/>
                <a:cs typeface="Arial"/>
                <a:sym typeface="Arial"/>
              </a:rPr>
              <a:t>​+</a:t>
            </a:r>
            <a:r>
              <a:rPr i="1" lang="en-IN">
                <a:latin typeface="Arial"/>
                <a:ea typeface="Arial"/>
                <a:cs typeface="Arial"/>
                <a:sym typeface="Arial"/>
              </a:rPr>
              <a:t>λ</a:t>
            </a:r>
            <a:r>
              <a:rPr lang="en-IN">
                <a:latin typeface="Arial"/>
                <a:ea typeface="Arial"/>
                <a:cs typeface="Arial"/>
                <a:sym typeface="Arial"/>
              </a:rPr>
              <a:t>∑</a:t>
            </a:r>
            <a:r>
              <a:rPr baseline="-25000" i="1" lang="en-IN">
                <a:latin typeface="Arial"/>
                <a:ea typeface="Arial"/>
                <a:cs typeface="Arial"/>
                <a:sym typeface="Arial"/>
              </a:rPr>
              <a:t>i</a:t>
            </a:r>
            <a:r>
              <a:rPr lang="en-IN">
                <a:latin typeface="Arial"/>
                <a:ea typeface="Arial"/>
                <a:cs typeface="Arial"/>
                <a:sym typeface="Arial"/>
              </a:rPr>
              <a:t>​</a:t>
            </a:r>
            <a:r>
              <a:rPr i="1" lang="en-IN">
                <a:latin typeface="Arial"/>
                <a:ea typeface="Arial"/>
                <a:cs typeface="Arial"/>
                <a:sym typeface="Arial"/>
              </a:rPr>
              <a:t>w</a:t>
            </a:r>
            <a:r>
              <a:rPr baseline="30000" i="1" lang="en-IN">
                <a:latin typeface="Arial"/>
                <a:ea typeface="Arial"/>
                <a:cs typeface="Arial"/>
                <a:sym typeface="Arial"/>
              </a:rPr>
              <a:t>2</a:t>
            </a:r>
            <a:r>
              <a:rPr baseline="-25000" i="1" lang="en-IN">
                <a:latin typeface="Arial"/>
                <a:ea typeface="Arial"/>
                <a:cs typeface="Arial"/>
                <a:sym typeface="Arial"/>
              </a:rPr>
              <a:t>i</a:t>
            </a:r>
            <a:r>
              <a:rPr b="0" i="0" lang="en-IN">
                <a:latin typeface="Arial"/>
                <a:ea typeface="Arial"/>
                <a:cs typeface="Arial"/>
                <a:sym typeface="Arial"/>
              </a:rPr>
              <a:t>​</a:t>
            </a:r>
            <a:br>
              <a:rPr b="0" i="0" lang="en-IN">
                <a:latin typeface="Arial"/>
                <a:ea typeface="Arial"/>
                <a:cs typeface="Arial"/>
                <a:sym typeface="Arial"/>
              </a:rPr>
            </a:br>
            <a:endParaRPr/>
          </a:p>
          <a:p>
            <a:pPr indent="0" lvl="0" marL="0" rtl="0" algn="l">
              <a:lnSpc>
                <a:spcPct val="90000"/>
              </a:lnSpc>
              <a:spcBef>
                <a:spcPts val="1000"/>
              </a:spcBef>
              <a:spcAft>
                <a:spcPts val="0"/>
              </a:spcAft>
              <a:buClr>
                <a:schemeClr val="dk1"/>
              </a:buClr>
              <a:buSzPct val="100000"/>
              <a:buNone/>
            </a:pPr>
            <a:r>
              <a:rPr b="0" i="0" lang="en-IN">
                <a:latin typeface="Arial"/>
                <a:ea typeface="Arial"/>
                <a:cs typeface="Arial"/>
                <a:sym typeface="Arial"/>
              </a:rPr>
              <a:t>Where:</a:t>
            </a:r>
            <a:endParaRPr/>
          </a:p>
          <a:p>
            <a:pPr indent="-228600" lvl="0" marL="228600" rtl="0" algn="l">
              <a:lnSpc>
                <a:spcPct val="90000"/>
              </a:lnSpc>
              <a:spcBef>
                <a:spcPts val="1000"/>
              </a:spcBef>
              <a:spcAft>
                <a:spcPts val="0"/>
              </a:spcAft>
              <a:buClr>
                <a:schemeClr val="dk1"/>
              </a:buClr>
              <a:buSzPct val="100000"/>
              <a:buFont typeface="Arial"/>
              <a:buChar char="•"/>
            </a:pPr>
            <a:r>
              <a:rPr b="0" i="1" lang="en-IN">
                <a:latin typeface="Arial"/>
                <a:ea typeface="Arial"/>
                <a:cs typeface="Arial"/>
                <a:sym typeface="Arial"/>
              </a:rPr>
              <a:t>L</a:t>
            </a:r>
            <a:r>
              <a:rPr b="0" i="0" lang="en-IN">
                <a:latin typeface="Arial"/>
                <a:ea typeface="Arial"/>
                <a:cs typeface="Arial"/>
                <a:sym typeface="Arial"/>
              </a:rPr>
              <a:t> is the total loss.</a:t>
            </a:r>
            <a:endParaRPr/>
          </a:p>
          <a:p>
            <a:pPr indent="-228600" lvl="0" marL="228600" rtl="0" algn="l">
              <a:lnSpc>
                <a:spcPct val="90000"/>
              </a:lnSpc>
              <a:spcBef>
                <a:spcPts val="1000"/>
              </a:spcBef>
              <a:spcAft>
                <a:spcPts val="0"/>
              </a:spcAft>
              <a:buClr>
                <a:schemeClr val="dk1"/>
              </a:buClr>
              <a:buSzPct val="100000"/>
              <a:buFont typeface="Arial"/>
              <a:buChar char="•"/>
            </a:pPr>
            <a:r>
              <a:rPr b="0" i="1" lang="en-IN">
                <a:latin typeface="Arial"/>
                <a:ea typeface="Arial"/>
                <a:cs typeface="Arial"/>
                <a:sym typeface="Arial"/>
              </a:rPr>
              <a:t>L</a:t>
            </a:r>
            <a:r>
              <a:rPr b="0" baseline="-25000" i="0" lang="en-IN">
                <a:latin typeface="Arial"/>
                <a:ea typeface="Arial"/>
                <a:cs typeface="Arial"/>
                <a:sym typeface="Arial"/>
              </a:rPr>
              <a:t>0</a:t>
            </a:r>
            <a:r>
              <a:rPr b="0" i="0" lang="en-IN">
                <a:latin typeface="Arial"/>
                <a:ea typeface="Arial"/>
                <a:cs typeface="Arial"/>
                <a:sym typeface="Arial"/>
              </a:rPr>
              <a:t>​ is the original loss without regularization (e.g., mean squared error for regression, cross-entropy for classification).</a:t>
            </a:r>
            <a:endParaRPr/>
          </a:p>
          <a:p>
            <a:pPr indent="-228600" lvl="0" marL="228600" rtl="0" algn="l">
              <a:lnSpc>
                <a:spcPct val="90000"/>
              </a:lnSpc>
              <a:spcBef>
                <a:spcPts val="1000"/>
              </a:spcBef>
              <a:spcAft>
                <a:spcPts val="0"/>
              </a:spcAft>
              <a:buClr>
                <a:schemeClr val="dk1"/>
              </a:buClr>
              <a:buSzPct val="100000"/>
              <a:buFont typeface="Arial"/>
              <a:buChar char="•"/>
            </a:pPr>
            <a:r>
              <a:rPr b="0" i="1" lang="en-IN">
                <a:latin typeface="Arial"/>
                <a:ea typeface="Arial"/>
                <a:cs typeface="Arial"/>
                <a:sym typeface="Arial"/>
              </a:rPr>
              <a:t>λ</a:t>
            </a:r>
            <a:r>
              <a:rPr b="0" i="0" lang="en-IN">
                <a:latin typeface="Arial"/>
                <a:ea typeface="Arial"/>
                <a:cs typeface="Arial"/>
                <a:sym typeface="Arial"/>
              </a:rPr>
              <a:t> is the weight decay coefficient or regularization strength. A larger value of </a:t>
            </a:r>
            <a:r>
              <a:rPr b="0" i="1" lang="en-IN">
                <a:latin typeface="Arial"/>
                <a:ea typeface="Arial"/>
                <a:cs typeface="Arial"/>
                <a:sym typeface="Arial"/>
              </a:rPr>
              <a:t>λ</a:t>
            </a:r>
            <a:r>
              <a:rPr b="0" i="0" lang="en-IN">
                <a:latin typeface="Arial"/>
                <a:ea typeface="Arial"/>
                <a:cs typeface="Arial"/>
                <a:sym typeface="Arial"/>
              </a:rPr>
              <a:t> applies more penalty to the weights.</a:t>
            </a:r>
            <a:endParaRPr/>
          </a:p>
          <a:p>
            <a:pPr indent="-228600" lvl="0" marL="228600" rtl="0" algn="l">
              <a:lnSpc>
                <a:spcPct val="90000"/>
              </a:lnSpc>
              <a:spcBef>
                <a:spcPts val="1000"/>
              </a:spcBef>
              <a:spcAft>
                <a:spcPts val="0"/>
              </a:spcAft>
              <a:buClr>
                <a:schemeClr val="dk1"/>
              </a:buClr>
              <a:buSzPct val="100000"/>
              <a:buFont typeface="Arial"/>
              <a:buChar char="•"/>
            </a:pPr>
            <a:r>
              <a:rPr b="0" i="1" lang="en-IN">
                <a:latin typeface="Arial"/>
                <a:ea typeface="Arial"/>
                <a:cs typeface="Arial"/>
                <a:sym typeface="Arial"/>
              </a:rPr>
              <a:t>w</a:t>
            </a:r>
            <a:r>
              <a:rPr b="0" baseline="-25000" i="1" lang="en-IN">
                <a:latin typeface="Arial"/>
                <a:ea typeface="Arial"/>
                <a:cs typeface="Arial"/>
                <a:sym typeface="Arial"/>
              </a:rPr>
              <a:t>i</a:t>
            </a:r>
            <a:r>
              <a:rPr b="0" i="0" lang="en-IN">
                <a:latin typeface="Arial"/>
                <a:ea typeface="Arial"/>
                <a:cs typeface="Arial"/>
                <a:sym typeface="Arial"/>
              </a:rPr>
              <a:t>​ represents each weight in the model.</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Benefits of Weight Decay</a:t>
            </a:r>
            <a:endParaRPr/>
          </a:p>
        </p:txBody>
      </p:sp>
      <p:sp>
        <p:nvSpPr>
          <p:cNvPr id="355" name="Google Shape;355;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1" i="0" lang="en-IN">
                <a:latin typeface="Arial"/>
                <a:ea typeface="Arial"/>
                <a:cs typeface="Arial"/>
                <a:sym typeface="Arial"/>
              </a:rPr>
              <a:t>Prevents Overfitting</a:t>
            </a:r>
            <a:r>
              <a:rPr b="0" i="0" lang="en-IN">
                <a:latin typeface="Arial"/>
                <a:ea typeface="Arial"/>
                <a:cs typeface="Arial"/>
                <a:sym typeface="Arial"/>
              </a:rPr>
              <a:t>: By penalizing large weights, weight decay can prevent the model from fitting noise in the training data.</a:t>
            </a:r>
            <a:endParaRPr/>
          </a:p>
          <a:p>
            <a:pPr indent="-228600" lvl="0" marL="228600" rtl="0" algn="l">
              <a:lnSpc>
                <a:spcPct val="90000"/>
              </a:lnSpc>
              <a:spcBef>
                <a:spcPts val="1000"/>
              </a:spcBef>
              <a:spcAft>
                <a:spcPts val="0"/>
              </a:spcAft>
              <a:buClr>
                <a:schemeClr val="dk1"/>
              </a:buClr>
              <a:buSzPts val="2800"/>
              <a:buFont typeface="Calibri"/>
              <a:buAutoNum type="arabicPeriod"/>
            </a:pPr>
            <a:r>
              <a:rPr b="1" i="0" lang="en-IN">
                <a:latin typeface="Arial"/>
                <a:ea typeface="Arial"/>
                <a:cs typeface="Arial"/>
                <a:sym typeface="Arial"/>
              </a:rPr>
              <a:t>Stabilizes Training</a:t>
            </a:r>
            <a:r>
              <a:rPr b="0" i="0" lang="en-IN">
                <a:latin typeface="Arial"/>
                <a:ea typeface="Arial"/>
                <a:cs typeface="Arial"/>
                <a:sym typeface="Arial"/>
              </a:rPr>
              <a:t>: Weight decay can also stabilize the training process by preventing weights from growing very large and leading to exploding gradients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How to Use</a:t>
            </a:r>
            <a:endParaRPr/>
          </a:p>
        </p:txBody>
      </p:sp>
      <p:sp>
        <p:nvSpPr>
          <p:cNvPr id="361" name="Google Shape;361;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0" i="0" lang="en-IN">
                <a:latin typeface="Arial"/>
                <a:ea typeface="Arial"/>
                <a:cs typeface="Arial"/>
                <a:sym typeface="Arial"/>
              </a:rPr>
              <a:t>layers.Conv2D(32, kernel_size=(3, 3), activation="relu", kernel_regularizer=regularizers.l2(0.01))</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Loss Functions</a:t>
            </a:r>
            <a:endParaRPr/>
          </a:p>
        </p:txBody>
      </p:sp>
      <p:sp>
        <p:nvSpPr>
          <p:cNvPr id="367" name="Google Shape;367;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Mean Squared Error (MSE) Loss:</a:t>
            </a:r>
            <a:endParaRPr/>
          </a:p>
        </p:txBody>
      </p:sp>
      <p:sp>
        <p:nvSpPr>
          <p:cNvPr id="373" name="Google Shape;373;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0" lang="en-IN">
                <a:latin typeface="Arial"/>
                <a:ea typeface="Arial"/>
                <a:cs typeface="Arial"/>
                <a:sym typeface="Arial"/>
              </a:rPr>
              <a:t>Usage</a:t>
            </a:r>
            <a:r>
              <a:rPr b="0" i="0" lang="en-IN">
                <a:latin typeface="Arial"/>
                <a:ea typeface="Arial"/>
                <a:cs typeface="Arial"/>
                <a:sym typeface="Arial"/>
              </a:rPr>
              <a:t>: Regression tasks.</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Formula</a:t>
            </a:r>
            <a:r>
              <a:rPr b="0" i="0" lang="en-IN">
                <a:latin typeface="Arial"/>
                <a:ea typeface="Arial"/>
                <a:cs typeface="Arial"/>
                <a:sym typeface="Arial"/>
              </a:rPr>
              <a:t>: </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Explanation</a:t>
            </a:r>
            <a:r>
              <a:rPr b="0" i="0" lang="en-IN">
                <a:latin typeface="Arial"/>
                <a:ea typeface="Arial"/>
                <a:cs typeface="Arial"/>
                <a:sym typeface="Arial"/>
              </a:rPr>
              <a:t>: It calculates the average of the squared differences between the predicted values (�^</a:t>
            </a:r>
            <a:r>
              <a:rPr b="0" i="1" lang="en-IN">
                <a:latin typeface="Arial"/>
                <a:ea typeface="Arial"/>
                <a:cs typeface="Arial"/>
                <a:sym typeface="Arial"/>
              </a:rPr>
              <a:t>y</a:t>
            </a:r>
            <a:r>
              <a:rPr b="0" i="0" lang="en-IN">
                <a:latin typeface="Arial"/>
                <a:ea typeface="Arial"/>
                <a:cs typeface="Arial"/>
                <a:sym typeface="Arial"/>
              </a:rPr>
              <a:t>^​) and the actual values (y). The goal is to minimize this average squared error.</a:t>
            </a:r>
            <a:endParaRPr/>
          </a:p>
          <a:p>
            <a:pPr indent="-228600" lvl="0" marL="228600" rtl="0" algn="l">
              <a:lnSpc>
                <a:spcPct val="90000"/>
              </a:lnSpc>
              <a:spcBef>
                <a:spcPts val="1000"/>
              </a:spcBef>
              <a:spcAft>
                <a:spcPts val="0"/>
              </a:spcAft>
              <a:buClr>
                <a:schemeClr val="dk1"/>
              </a:buClr>
              <a:buSzPts val="2800"/>
              <a:buChar char="•"/>
            </a:pPr>
            <a:r>
              <a:rPr b="1" i="0" lang="en-IN">
                <a:latin typeface="Arial"/>
                <a:ea typeface="Arial"/>
                <a:cs typeface="Arial"/>
                <a:sym typeface="Arial"/>
              </a:rPr>
              <a:t>Example</a:t>
            </a:r>
            <a:r>
              <a:rPr b="0" i="0" lang="en-IN">
                <a:latin typeface="Arial"/>
                <a:ea typeface="Arial"/>
                <a:cs typeface="Arial"/>
                <a:sym typeface="Arial"/>
              </a:rPr>
              <a:t>: Predicting house prices based on images of houses. The difference between the predicted and actual price for each house is squared and then averaged over all houses.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A symbol with a star and a mathematical equation&#10;&#10;Description automatically generated" id="374" name="Google Shape;374;p49"/>
          <p:cNvPicPr preferRelativeResize="0"/>
          <p:nvPr/>
        </p:nvPicPr>
        <p:blipFill rotWithShape="1">
          <a:blip r:embed="rId3">
            <a:alphaModFix/>
          </a:blip>
          <a:srcRect b="0" l="0" r="0" t="0"/>
          <a:stretch/>
        </p:blipFill>
        <p:spPr>
          <a:xfrm>
            <a:off x="2643511" y="2360094"/>
            <a:ext cx="3242282" cy="44788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Cross-Entropy Loss (Log Loss)</a:t>
            </a:r>
            <a:endParaRPr/>
          </a:p>
        </p:txBody>
      </p:sp>
      <p:sp>
        <p:nvSpPr>
          <p:cNvPr id="380" name="Google Shape;380;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800"/>
              <a:buChar char="•"/>
            </a:pPr>
            <a:r>
              <a:rPr b="1" i="0" lang="en-IN">
                <a:solidFill>
                  <a:srgbClr val="374151"/>
                </a:solidFill>
                <a:latin typeface="Arial"/>
                <a:ea typeface="Arial"/>
                <a:cs typeface="Arial"/>
                <a:sym typeface="Arial"/>
              </a:rPr>
              <a:t>Usage</a:t>
            </a:r>
            <a:r>
              <a:rPr b="0" i="0" lang="en-IN">
                <a:solidFill>
                  <a:srgbClr val="374151"/>
                </a:solidFill>
                <a:latin typeface="Arial"/>
                <a:ea typeface="Arial"/>
                <a:cs typeface="Arial"/>
                <a:sym typeface="Arial"/>
              </a:rPr>
              <a:t>: Binary and multi-class classification tasks.</a:t>
            </a:r>
            <a:endParaRPr/>
          </a:p>
          <a:p>
            <a:pPr indent="-228600" lvl="0" marL="228600" rtl="0" algn="l">
              <a:lnSpc>
                <a:spcPct val="90000"/>
              </a:lnSpc>
              <a:spcBef>
                <a:spcPts val="1000"/>
              </a:spcBef>
              <a:spcAft>
                <a:spcPts val="0"/>
              </a:spcAft>
              <a:buClr>
                <a:srgbClr val="374151"/>
              </a:buClr>
              <a:buSzPts val="2800"/>
              <a:buFont typeface="Arial"/>
              <a:buChar char="•"/>
            </a:pPr>
            <a:r>
              <a:rPr b="1" i="0" lang="en-IN">
                <a:solidFill>
                  <a:srgbClr val="374151"/>
                </a:solidFill>
                <a:latin typeface="Arial"/>
                <a:ea typeface="Arial"/>
                <a:cs typeface="Arial"/>
                <a:sym typeface="Arial"/>
              </a:rPr>
              <a:t>Formula</a:t>
            </a:r>
            <a:r>
              <a:rPr b="0" i="0" lang="en-IN">
                <a:solidFill>
                  <a:srgbClr val="374151"/>
                </a:solidFill>
                <a:latin typeface="Arial"/>
                <a:ea typeface="Arial"/>
                <a:cs typeface="Arial"/>
                <a:sym typeface="Arial"/>
              </a:rPr>
              <a:t> (Binary Classification):</a:t>
            </a:r>
            <a:endParaRPr/>
          </a:p>
          <a:p>
            <a:pPr indent="-228600" lvl="0" marL="228600" rtl="0" algn="l">
              <a:lnSpc>
                <a:spcPct val="90000"/>
              </a:lnSpc>
              <a:spcBef>
                <a:spcPts val="1000"/>
              </a:spcBef>
              <a:spcAft>
                <a:spcPts val="0"/>
              </a:spcAft>
              <a:buClr>
                <a:srgbClr val="374151"/>
              </a:buClr>
              <a:buSzPts val="2800"/>
              <a:buFont typeface="Arial"/>
              <a:buChar char="•"/>
            </a:pPr>
            <a:r>
              <a:rPr b="1" i="0" lang="en-IN">
                <a:solidFill>
                  <a:srgbClr val="374151"/>
                </a:solidFill>
                <a:latin typeface="Arial"/>
                <a:ea typeface="Arial"/>
                <a:cs typeface="Arial"/>
                <a:sym typeface="Arial"/>
              </a:rPr>
              <a:t>Explanation</a:t>
            </a:r>
            <a:r>
              <a:rPr b="0" i="0" lang="en-IN">
                <a:solidFill>
                  <a:srgbClr val="374151"/>
                </a:solidFill>
                <a:latin typeface="Arial"/>
                <a:ea typeface="Arial"/>
                <a:cs typeface="Arial"/>
                <a:sym typeface="Arial"/>
              </a:rPr>
              <a:t>: Measures the dissimilarity between the true label distribution and the predicted probabilities. It penalizes wrong confident predictions heavily.</a:t>
            </a:r>
            <a:endParaRPr/>
          </a:p>
          <a:p>
            <a:pPr indent="-228600" lvl="0" marL="228600" rtl="0" algn="l">
              <a:lnSpc>
                <a:spcPct val="90000"/>
              </a:lnSpc>
              <a:spcBef>
                <a:spcPts val="1000"/>
              </a:spcBef>
              <a:spcAft>
                <a:spcPts val="0"/>
              </a:spcAft>
              <a:buClr>
                <a:srgbClr val="374151"/>
              </a:buClr>
              <a:buSzPts val="2800"/>
              <a:buFont typeface="Arial"/>
              <a:buChar char="•"/>
            </a:pPr>
            <a:r>
              <a:rPr b="1" i="0" lang="en-IN">
                <a:solidFill>
                  <a:srgbClr val="374151"/>
                </a:solidFill>
                <a:latin typeface="Arial"/>
                <a:ea typeface="Arial"/>
                <a:cs typeface="Arial"/>
                <a:sym typeface="Arial"/>
              </a:rPr>
              <a:t>Example</a:t>
            </a:r>
            <a:r>
              <a:rPr b="0" i="0" lang="en-IN">
                <a:solidFill>
                  <a:srgbClr val="374151"/>
                </a:solidFill>
                <a:latin typeface="Arial"/>
                <a:ea typeface="Arial"/>
                <a:cs typeface="Arial"/>
                <a:sym typeface="Arial"/>
              </a:rPr>
              <a:t>: Classifying images of cats and dogs. For each image, the model predicts the probability of it being a cat. The loss measures how close these probabilities are to the actual labels (1 for cat, 0 for dog).</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81" name="Google Shape;381;p50"/>
          <p:cNvPicPr preferRelativeResize="0"/>
          <p:nvPr/>
        </p:nvPicPr>
        <p:blipFill rotWithShape="1">
          <a:blip r:embed="rId3">
            <a:alphaModFix/>
          </a:blip>
          <a:srcRect b="0" l="0" r="0" t="0"/>
          <a:stretch/>
        </p:blipFill>
        <p:spPr>
          <a:xfrm>
            <a:off x="5708135" y="2319992"/>
            <a:ext cx="6273800" cy="5588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Categorical Cross-Entropy Loss</a:t>
            </a:r>
            <a:endParaRPr/>
          </a:p>
        </p:txBody>
      </p:sp>
      <p:sp>
        <p:nvSpPr>
          <p:cNvPr id="387" name="Google Shape;387;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74151"/>
              </a:buClr>
              <a:buSzPts val="2800"/>
              <a:buFont typeface="Arial"/>
              <a:buChar char="•"/>
            </a:pPr>
            <a:r>
              <a:rPr b="1" i="0" lang="en-IN">
                <a:solidFill>
                  <a:srgbClr val="374151"/>
                </a:solidFill>
                <a:latin typeface="Arial"/>
                <a:ea typeface="Arial"/>
                <a:cs typeface="Arial"/>
                <a:sym typeface="Arial"/>
              </a:rPr>
              <a:t>Usage</a:t>
            </a:r>
            <a:r>
              <a:rPr b="0" i="0" lang="en-IN">
                <a:solidFill>
                  <a:srgbClr val="374151"/>
                </a:solidFill>
                <a:latin typeface="Arial"/>
                <a:ea typeface="Arial"/>
                <a:cs typeface="Arial"/>
                <a:sym typeface="Arial"/>
              </a:rPr>
              <a:t>: Multi-class classification tasks.</a:t>
            </a:r>
            <a:endParaRPr/>
          </a:p>
          <a:p>
            <a:pPr indent="-228600" lvl="0" marL="228600" rtl="0" algn="l">
              <a:lnSpc>
                <a:spcPct val="90000"/>
              </a:lnSpc>
              <a:spcBef>
                <a:spcPts val="1000"/>
              </a:spcBef>
              <a:spcAft>
                <a:spcPts val="0"/>
              </a:spcAft>
              <a:buClr>
                <a:srgbClr val="374151"/>
              </a:buClr>
              <a:buSzPts val="2800"/>
              <a:buFont typeface="Arial"/>
              <a:buChar char="•"/>
            </a:pPr>
            <a:r>
              <a:rPr b="1" i="0" lang="en-IN">
                <a:solidFill>
                  <a:srgbClr val="374151"/>
                </a:solidFill>
                <a:latin typeface="Arial"/>
                <a:ea typeface="Arial"/>
                <a:cs typeface="Arial"/>
                <a:sym typeface="Arial"/>
              </a:rPr>
              <a:t>Formula</a:t>
            </a:r>
            <a:r>
              <a:rPr b="0" i="0" lang="en-IN">
                <a:solidFill>
                  <a:srgbClr val="374151"/>
                </a:solidFill>
                <a:latin typeface="Arial"/>
                <a:ea typeface="Arial"/>
                <a:cs typeface="Arial"/>
                <a:sym typeface="Arial"/>
              </a:rPr>
              <a:t>:                                                   where </a:t>
            </a:r>
            <a:r>
              <a:rPr b="0" i="1" lang="en-IN">
                <a:solidFill>
                  <a:srgbClr val="374151"/>
                </a:solidFill>
                <a:latin typeface="Arial"/>
                <a:ea typeface="Arial"/>
                <a:cs typeface="Arial"/>
                <a:sym typeface="Arial"/>
              </a:rPr>
              <a:t>C</a:t>
            </a:r>
            <a:r>
              <a:rPr b="0" i="0" lang="en-IN">
                <a:solidFill>
                  <a:srgbClr val="374151"/>
                </a:solidFill>
                <a:latin typeface="Arial"/>
                <a:ea typeface="Arial"/>
                <a:cs typeface="Arial"/>
                <a:sym typeface="Arial"/>
              </a:rPr>
              <a:t> is the number of classes.</a:t>
            </a:r>
            <a:endParaRPr/>
          </a:p>
          <a:p>
            <a:pPr indent="-228600" lvl="0" marL="228600" rtl="0" algn="l">
              <a:lnSpc>
                <a:spcPct val="90000"/>
              </a:lnSpc>
              <a:spcBef>
                <a:spcPts val="1000"/>
              </a:spcBef>
              <a:spcAft>
                <a:spcPts val="0"/>
              </a:spcAft>
              <a:buClr>
                <a:srgbClr val="374151"/>
              </a:buClr>
              <a:buSzPts val="2800"/>
              <a:buFont typeface="Arial"/>
              <a:buChar char="•"/>
            </a:pPr>
            <a:r>
              <a:rPr b="1" i="0" lang="en-IN">
                <a:solidFill>
                  <a:srgbClr val="374151"/>
                </a:solidFill>
                <a:latin typeface="Arial"/>
                <a:ea typeface="Arial"/>
                <a:cs typeface="Arial"/>
                <a:sym typeface="Arial"/>
              </a:rPr>
              <a:t>Explanation</a:t>
            </a:r>
            <a:r>
              <a:rPr b="0" i="0" lang="en-IN">
                <a:solidFill>
                  <a:srgbClr val="374151"/>
                </a:solidFill>
                <a:latin typeface="Arial"/>
                <a:ea typeface="Arial"/>
                <a:cs typeface="Arial"/>
                <a:sym typeface="Arial"/>
              </a:rPr>
              <a:t>: An extension of binary cross-entropy for multiple classes. It measures the dissimilarity between the true label distribution and the predicted probabilities for each class.</a:t>
            </a:r>
            <a:endParaRPr/>
          </a:p>
          <a:p>
            <a:pPr indent="-228600" lvl="0" marL="228600" rtl="0" algn="l">
              <a:lnSpc>
                <a:spcPct val="90000"/>
              </a:lnSpc>
              <a:spcBef>
                <a:spcPts val="1000"/>
              </a:spcBef>
              <a:spcAft>
                <a:spcPts val="0"/>
              </a:spcAft>
              <a:buClr>
                <a:srgbClr val="374151"/>
              </a:buClr>
              <a:buSzPts val="2800"/>
              <a:buFont typeface="Arial"/>
              <a:buChar char="•"/>
            </a:pPr>
            <a:r>
              <a:rPr b="1" i="0" lang="en-IN">
                <a:solidFill>
                  <a:srgbClr val="374151"/>
                </a:solidFill>
                <a:latin typeface="Arial"/>
                <a:ea typeface="Arial"/>
                <a:cs typeface="Arial"/>
                <a:sym typeface="Arial"/>
              </a:rPr>
              <a:t>Example</a:t>
            </a:r>
            <a:r>
              <a:rPr b="0" i="0" lang="en-IN">
                <a:solidFill>
                  <a:srgbClr val="374151"/>
                </a:solidFill>
                <a:latin typeface="Arial"/>
                <a:ea typeface="Arial"/>
                <a:cs typeface="Arial"/>
                <a:sym typeface="Arial"/>
              </a:rPr>
              <a:t>: Classifying images into multiple categories (e.g., cars, bicycles, buses). The loss measures the model's accuracy in assigning probabilities to each class for every image.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88" name="Google Shape;388;p51"/>
          <p:cNvPicPr preferRelativeResize="0"/>
          <p:nvPr/>
        </p:nvPicPr>
        <p:blipFill rotWithShape="1">
          <a:blip r:embed="rId3">
            <a:alphaModFix/>
          </a:blip>
          <a:srcRect b="0" l="1352" r="0" t="-1779"/>
          <a:stretch/>
        </p:blipFill>
        <p:spPr>
          <a:xfrm>
            <a:off x="2526452" y="2363894"/>
            <a:ext cx="4021535" cy="43947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2023-10-21T02:07:06Z</dcterms:created>
  <dc:creator>Amit Pandey</dc:creator>
</cp:coreProperties>
</file>