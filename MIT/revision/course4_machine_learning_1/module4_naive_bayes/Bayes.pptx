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4"/>
    <p:restoredTop sz="94712"/>
  </p:normalViewPr>
  <p:slideViewPr>
    <p:cSldViewPr snapToGrid="0">
      <p:cViewPr varScale="1">
        <p:scale>
          <a:sx n="141" d="100"/>
          <a:sy n="141" d="100"/>
        </p:scale>
        <p:origin x="5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DA9B-930A-AAF5-94C7-86135B3FA2F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9985DAB-8202-D916-CA5A-93A2079D50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EF04598-E3E3-325A-F8EB-AD650467D9E2}"/>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38D5CB8E-9F88-28FF-E2A3-C133FDDFC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184A1B-71D9-C901-9086-AA2FAC72C3F1}"/>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963236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C514-83F0-32A5-A82E-5DB24BDCADB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CFEDA88-8C53-C0A6-301F-502E9FD70B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48B630-307D-7C85-9717-F8FEEAD5EEAD}"/>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1BA4E0B7-2848-0A7C-FB7A-AB1EA9C26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7BF95D-910D-AD51-A5E3-242A78CE18E7}"/>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465087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87AF-A8B8-FB99-3330-40320817470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0B9A757-8AA6-C43C-8A66-A5689F7308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A560AA5-B225-A84B-D763-3ED88548FF40}"/>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37512EEB-30CC-91F4-2995-47A2A7D2D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DEE55-00CB-77C2-1130-C8DDF00A9B27}"/>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859205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E28D1-AC2A-959A-2862-1045664B8B1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CB4770F-FCA6-ACE9-DA77-73A8C7F182B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726346A-5018-1BE1-E425-6830D837147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3F1E429-9031-7FEA-1C14-4DA24F67AAEB}"/>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6" name="Footer Placeholder 5">
            <a:extLst>
              <a:ext uri="{FF2B5EF4-FFF2-40B4-BE49-F238E27FC236}">
                <a16:creationId xmlns:a16="http://schemas.microsoft.com/office/drawing/2014/main" id="{09E557B0-9684-925D-2C5A-90661B0E9D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59FDB1-9CD8-B68D-696A-330187DC9C80}"/>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899454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1B055-307E-4459-325C-977F763D8E7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3256506-9785-2B96-2808-E6AE640BB1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49A4A10-C51E-762A-2FAA-621E6558A64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BA27E6F-F49D-5CFE-FD7F-B7199D9714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165239F-ED8E-2706-BE61-B25F723022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08ED16F-E2F4-C36F-313B-B9E77359B0B9}"/>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8" name="Footer Placeholder 7">
            <a:extLst>
              <a:ext uri="{FF2B5EF4-FFF2-40B4-BE49-F238E27FC236}">
                <a16:creationId xmlns:a16="http://schemas.microsoft.com/office/drawing/2014/main" id="{F3F8F7D6-A547-E9CD-E511-84BB7309DF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F8A902-B9B5-6DB2-BAF6-55006567C733}"/>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98988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78659-44F8-00AA-2FD8-C6F9CE422FB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2F61BAA-C331-C6B2-D2AF-65E4D2AE76DD}"/>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4" name="Footer Placeholder 3">
            <a:extLst>
              <a:ext uri="{FF2B5EF4-FFF2-40B4-BE49-F238E27FC236}">
                <a16:creationId xmlns:a16="http://schemas.microsoft.com/office/drawing/2014/main" id="{83B0BB27-085B-52C1-2860-12D9D8B3E9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9354DB-434E-0451-7C2A-2BB07692F765}"/>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131950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AF7C2E-BAA2-A209-8AFF-8D65C6E5F98E}"/>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3" name="Footer Placeholder 2">
            <a:extLst>
              <a:ext uri="{FF2B5EF4-FFF2-40B4-BE49-F238E27FC236}">
                <a16:creationId xmlns:a16="http://schemas.microsoft.com/office/drawing/2014/main" id="{481105AE-F1CA-A8FA-D385-2FE618B8F5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A6D75F-FF9D-8F46-EC5B-4E22111AE460}"/>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07382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63F6-5D23-DDBD-89FF-712E087C1E4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1328089-1E35-A41B-6FD0-B94D868CB1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DBE3BE-4CBC-2047-2A33-E18CDD796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F2BC36-A8A6-FBEB-4D63-38422772C469}"/>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6" name="Footer Placeholder 5">
            <a:extLst>
              <a:ext uri="{FF2B5EF4-FFF2-40B4-BE49-F238E27FC236}">
                <a16:creationId xmlns:a16="http://schemas.microsoft.com/office/drawing/2014/main" id="{5ED67648-7C95-89C3-C59E-3B39B0BB93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B02DF3-BC5B-52AF-5F02-EA7F6A0FE0AD}"/>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1653864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7D0CC-0F35-EC24-0C8D-07F0B5CF009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519A08A-16AE-D9BB-ABB9-A5318E3E7F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8F347F-90A1-D385-DDD4-851365285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1F0D8E-C9A0-D180-BA89-1555BA41C883}"/>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6" name="Footer Placeholder 5">
            <a:extLst>
              <a:ext uri="{FF2B5EF4-FFF2-40B4-BE49-F238E27FC236}">
                <a16:creationId xmlns:a16="http://schemas.microsoft.com/office/drawing/2014/main" id="{2C267DDE-4733-DB03-1E1F-F1288734C6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F3FEE1-B810-7A2A-D713-97B5A29497B4}"/>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3641878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A334C-C527-DF36-82BC-A32EFAC30B2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C3F38B-B3C0-D42D-16D8-248C9E6D9C1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2EA84A-A2ED-0B49-752F-2B997B6CE26C}"/>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1F630F32-C732-FB86-EC90-8F0E694C7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D93C4-A0C3-3D80-9E4A-4E3FBF90E222}"/>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1943427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D0263-32A3-0252-8950-4DB86940631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E365FF5-20C6-BF39-D490-65249168367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FBE8A3D-6E0C-6007-A9F0-F6FEDE4CE741}"/>
              </a:ext>
            </a:extLst>
          </p:cNvPr>
          <p:cNvSpPr>
            <a:spLocks noGrp="1"/>
          </p:cNvSpPr>
          <p:nvPr>
            <p:ph type="dt" sz="half" idx="10"/>
          </p:nvPr>
        </p:nvSpPr>
        <p:spPr/>
        <p:txBody>
          <a:body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74E580A8-6E19-4F1D-AE17-F2AC801F2E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2D96E-FA6B-71F8-024D-0FB91A00F243}"/>
              </a:ext>
            </a:extLst>
          </p:cNvPr>
          <p:cNvSpPr>
            <a:spLocks noGrp="1"/>
          </p:cNvSpPr>
          <p:nvPr>
            <p:ph type="sldNum" sz="quarter" idx="12"/>
          </p:nvPr>
        </p:nvSpPr>
        <p:spPr/>
        <p:txBody>
          <a:bodyPr/>
          <a:lstStyle/>
          <a:p>
            <a:fld id="{EAD8EE97-F61D-404B-B04F-ADE15869C723}" type="slidenum">
              <a:rPr lang="en-US" smtClean="0"/>
              <a:t>‹#›</a:t>
            </a:fld>
            <a:endParaRPr lang="en-US"/>
          </a:p>
        </p:txBody>
      </p:sp>
    </p:spTree>
    <p:extLst>
      <p:ext uri="{BB962C8B-B14F-4D97-AF65-F5344CB8AC3E}">
        <p14:creationId xmlns:p14="http://schemas.microsoft.com/office/powerpoint/2010/main" val="256004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0B6ABE-03E6-D9C7-E156-0DBC25240F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B41E81-02AA-93E6-8AE8-2C180B20E7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0A00F5-5272-D675-A115-B4E2436978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D70AD5-8BC7-364C-8F74-45ED99F4A346}" type="datetimeFigureOut">
              <a:rPr lang="en-US" smtClean="0"/>
              <a:t>7/13/24</a:t>
            </a:fld>
            <a:endParaRPr lang="en-US"/>
          </a:p>
        </p:txBody>
      </p:sp>
      <p:sp>
        <p:nvSpPr>
          <p:cNvPr id="5" name="Footer Placeholder 4">
            <a:extLst>
              <a:ext uri="{FF2B5EF4-FFF2-40B4-BE49-F238E27FC236}">
                <a16:creationId xmlns:a16="http://schemas.microsoft.com/office/drawing/2014/main" id="{3A28CD33-6417-76ED-0F9E-79A60E380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71DACA-5C5A-3471-5859-F668911BE1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8EE97-F61D-404B-B04F-ADE15869C723}" type="slidenum">
              <a:rPr lang="en-US" smtClean="0"/>
              <a:t>‹#›</a:t>
            </a:fld>
            <a:endParaRPr lang="en-US"/>
          </a:p>
        </p:txBody>
      </p:sp>
    </p:spTree>
    <p:extLst>
      <p:ext uri="{BB962C8B-B14F-4D97-AF65-F5344CB8AC3E}">
        <p14:creationId xmlns:p14="http://schemas.microsoft.com/office/powerpoint/2010/main" val="521785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40EB1-7218-6C1A-99C7-46F484A5172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14DFA1D-F2A6-01B3-DA87-1FBC7F88B47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70202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B830-8280-05AD-E4EA-55E05EA0AF2A}"/>
              </a:ext>
            </a:extLst>
          </p:cNvPr>
          <p:cNvSpPr>
            <a:spLocks noGrp="1"/>
          </p:cNvSpPr>
          <p:nvPr>
            <p:ph type="title"/>
          </p:nvPr>
        </p:nvSpPr>
        <p:spPr/>
        <p:txBody>
          <a:bodyPr/>
          <a:lstStyle/>
          <a:p>
            <a:r>
              <a:rPr lang="en-US" dirty="0"/>
              <a:t>Bayes’ Theorem</a:t>
            </a:r>
          </a:p>
        </p:txBody>
      </p:sp>
      <p:sp>
        <p:nvSpPr>
          <p:cNvPr id="3" name="Content Placeholder 2">
            <a:extLst>
              <a:ext uri="{FF2B5EF4-FFF2-40B4-BE49-F238E27FC236}">
                <a16:creationId xmlns:a16="http://schemas.microsoft.com/office/drawing/2014/main" id="{7BC1386A-B43C-6517-B121-025FF95B3309}"/>
              </a:ext>
            </a:extLst>
          </p:cNvPr>
          <p:cNvSpPr>
            <a:spLocks noGrp="1"/>
          </p:cNvSpPr>
          <p:nvPr>
            <p:ph idx="1"/>
          </p:nvPr>
        </p:nvSpPr>
        <p:spPr/>
        <p:txBody>
          <a:bodyPr>
            <a:normAutofit fontScale="92500" lnSpcReduction="20000"/>
          </a:bodyPr>
          <a:lstStyle/>
          <a:p>
            <a:pPr marL="0" indent="0">
              <a:buNone/>
            </a:pPr>
            <a:r>
              <a:rPr lang="en-IN" dirty="0"/>
              <a:t>Bayes' Theorem describes how to update the probability of a hypothesis based on new evidence.</a:t>
            </a:r>
          </a:p>
          <a:p>
            <a:pPr marL="0" indent="0">
              <a:buNone/>
            </a:pPr>
            <a:r>
              <a:rPr lang="en-IN" dirty="0"/>
              <a:t>The theorem is mathematically expressed as:</a:t>
            </a:r>
          </a:p>
          <a:p>
            <a:pPr marL="0" indent="0">
              <a:buNone/>
            </a:pPr>
            <a:endParaRPr lang="en-IN" dirty="0"/>
          </a:p>
          <a:p>
            <a:pPr marL="0" indent="0">
              <a:buNone/>
            </a:pPr>
            <a:endParaRPr lang="en-IN" dirty="0"/>
          </a:p>
          <a:p>
            <a:pPr>
              <a:buFont typeface="Arial" panose="020B0604020202020204" pitchFamily="34" charset="0"/>
              <a:buChar char="•"/>
            </a:pPr>
            <a:r>
              <a:rPr lang="en-IN" dirty="0"/>
              <a:t>P(A∣B) is the posterior probability: the probability of event A occurring given that B is true.</a:t>
            </a:r>
          </a:p>
          <a:p>
            <a:pPr>
              <a:buFont typeface="Arial" panose="020B0604020202020204" pitchFamily="34" charset="0"/>
              <a:buChar char="•"/>
            </a:pPr>
            <a:r>
              <a:rPr lang="en-IN" dirty="0"/>
              <a:t>P(B∣A) is the likelihood: the probability of event B occurring given that A is true.</a:t>
            </a:r>
          </a:p>
          <a:p>
            <a:pPr>
              <a:buFont typeface="Arial" panose="020B0604020202020204" pitchFamily="34" charset="0"/>
              <a:buChar char="•"/>
            </a:pPr>
            <a:r>
              <a:rPr lang="en-IN" dirty="0"/>
              <a:t>P(A) is the prior probability: the initial probability of event A occurring.</a:t>
            </a:r>
          </a:p>
          <a:p>
            <a:pPr>
              <a:buFont typeface="Arial" panose="020B0604020202020204" pitchFamily="34" charset="0"/>
              <a:buChar char="•"/>
            </a:pPr>
            <a:r>
              <a:rPr lang="en-IN" dirty="0"/>
              <a:t>P(B) is the marginal probability: the total probability of event B occurring.</a:t>
            </a:r>
          </a:p>
          <a:p>
            <a:pPr marL="0" indent="0">
              <a:buNone/>
            </a:pPr>
            <a:endParaRPr lang="en-IN" dirty="0"/>
          </a:p>
          <a:p>
            <a:endParaRPr lang="en-US" dirty="0"/>
          </a:p>
        </p:txBody>
      </p:sp>
      <p:pic>
        <p:nvPicPr>
          <p:cNvPr id="5" name="Picture 4" descr="A mathematical equation with black text&#10;&#10;Description automatically generated">
            <a:extLst>
              <a:ext uri="{FF2B5EF4-FFF2-40B4-BE49-F238E27FC236}">
                <a16:creationId xmlns:a16="http://schemas.microsoft.com/office/drawing/2014/main" id="{6825BAAB-565A-C829-FAEE-D92C1E044C9E}"/>
              </a:ext>
            </a:extLst>
          </p:cNvPr>
          <p:cNvPicPr>
            <a:picLocks noChangeAspect="1"/>
          </p:cNvPicPr>
          <p:nvPr/>
        </p:nvPicPr>
        <p:blipFill>
          <a:blip r:embed="rId2"/>
          <a:stretch>
            <a:fillRect/>
          </a:stretch>
        </p:blipFill>
        <p:spPr>
          <a:xfrm>
            <a:off x="4612947" y="2985376"/>
            <a:ext cx="2755900" cy="622300"/>
          </a:xfrm>
          <a:prstGeom prst="rect">
            <a:avLst/>
          </a:prstGeom>
        </p:spPr>
      </p:pic>
    </p:spTree>
    <p:extLst>
      <p:ext uri="{BB962C8B-B14F-4D97-AF65-F5344CB8AC3E}">
        <p14:creationId xmlns:p14="http://schemas.microsoft.com/office/powerpoint/2010/main" val="2212446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818D3-7252-2898-1B03-30758956364B}"/>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91F80F03-7CF0-8DEB-3DCA-BF36621407BB}"/>
              </a:ext>
            </a:extLst>
          </p:cNvPr>
          <p:cNvSpPr>
            <a:spLocks noGrp="1"/>
          </p:cNvSpPr>
          <p:nvPr>
            <p:ph idx="1"/>
          </p:nvPr>
        </p:nvSpPr>
        <p:spPr/>
        <p:txBody>
          <a:bodyPr/>
          <a:lstStyle/>
          <a:p>
            <a:r>
              <a:rPr lang="en-IN" b="1" dirty="0"/>
              <a:t>Medical Diagnosis</a:t>
            </a:r>
            <a:r>
              <a:rPr lang="en-IN" dirty="0"/>
              <a:t>: It is used to update the probability of a patient having a disease based on the results of diagnostic tests.</a:t>
            </a:r>
          </a:p>
          <a:p>
            <a:r>
              <a:rPr lang="en-IN" b="1" dirty="0"/>
              <a:t>Spam Filtering</a:t>
            </a:r>
            <a:r>
              <a:rPr lang="en-IN" dirty="0"/>
              <a:t>: It helps in determining the probability that an email is spam based on the presence of certain words or phrases.</a:t>
            </a:r>
          </a:p>
          <a:p>
            <a:r>
              <a:rPr lang="en-IN" b="1" dirty="0"/>
              <a:t>Machine Learning</a:t>
            </a:r>
            <a:r>
              <a:rPr lang="en-IN" dirty="0"/>
              <a:t>: Bayes' theorem underlies many machine learning algorithms, particularly in Bayesian networks and naive Bayes classifiers.</a:t>
            </a:r>
          </a:p>
          <a:p>
            <a:r>
              <a:rPr lang="en-IN" b="1" dirty="0"/>
              <a:t>Decision Making</a:t>
            </a:r>
            <a:r>
              <a:rPr lang="en-IN" dirty="0"/>
              <a:t>: It is used in various fields to make informed decisions by updating the probability of different outcomes as new information becomes available.</a:t>
            </a:r>
            <a:endParaRPr lang="en-US" dirty="0"/>
          </a:p>
        </p:txBody>
      </p:sp>
    </p:spTree>
    <p:extLst>
      <p:ext uri="{BB962C8B-B14F-4D97-AF65-F5344CB8AC3E}">
        <p14:creationId xmlns:p14="http://schemas.microsoft.com/office/powerpoint/2010/main" val="2065455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57F2-2782-85C1-427C-B8F62BA28E7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F3BDA4B-D466-6D32-AC32-2D21EC57D772}"/>
              </a:ext>
            </a:extLst>
          </p:cNvPr>
          <p:cNvSpPr>
            <a:spLocks noGrp="1"/>
          </p:cNvSpPr>
          <p:nvPr>
            <p:ph idx="1"/>
          </p:nvPr>
        </p:nvSpPr>
        <p:spPr/>
        <p:txBody>
          <a:bodyPr/>
          <a:lstStyle/>
          <a:p>
            <a:pPr marL="0" indent="0">
              <a:buNone/>
            </a:pPr>
            <a:r>
              <a:rPr lang="en-IN" dirty="0"/>
              <a:t>Suppose a medical test for a disease is 99% accurate (i.e., the probability of testing positive if you have the disease is 0.99, and the probability of testing negative if you don't have the disease is also 0.99). If 1% of the population has the disease, and you test positive, what is the probability that you actually have the disease?</a:t>
            </a:r>
          </a:p>
          <a:p>
            <a:pPr>
              <a:buFont typeface="Arial" panose="020B0604020202020204" pitchFamily="34" charset="0"/>
              <a:buChar char="•"/>
            </a:pPr>
            <a:r>
              <a:rPr lang="en-IN" dirty="0"/>
              <a:t>Let A be the event "having the disease".</a:t>
            </a:r>
          </a:p>
          <a:p>
            <a:pPr>
              <a:buFont typeface="Arial" panose="020B0604020202020204" pitchFamily="34" charset="0"/>
              <a:buChar char="•"/>
            </a:pPr>
            <a:r>
              <a:rPr lang="en-IN" dirty="0"/>
              <a:t>Let B be the event "testing positive".</a:t>
            </a:r>
          </a:p>
          <a:p>
            <a:endParaRPr lang="en-US" dirty="0"/>
          </a:p>
        </p:txBody>
      </p:sp>
    </p:spTree>
    <p:extLst>
      <p:ext uri="{BB962C8B-B14F-4D97-AF65-F5344CB8AC3E}">
        <p14:creationId xmlns:p14="http://schemas.microsoft.com/office/powerpoint/2010/main" val="3487348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6E42-4473-FC3C-5E53-91C1AA18D5A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6C66830-1D3C-37D7-3820-0480F52F80DB}"/>
              </a:ext>
            </a:extLst>
          </p:cNvPr>
          <p:cNvSpPr>
            <a:spLocks noGrp="1"/>
          </p:cNvSpPr>
          <p:nvPr>
            <p:ph idx="1"/>
          </p:nvPr>
        </p:nvSpPr>
        <p:spPr/>
        <p:txBody>
          <a:bodyPr>
            <a:normAutofit/>
          </a:bodyPr>
          <a:lstStyle/>
          <a:p>
            <a:pPr marL="0" indent="0">
              <a:buNone/>
            </a:pPr>
            <a:r>
              <a:rPr lang="en-IN" dirty="0"/>
              <a:t>Using Bayes' Theorem:</a:t>
            </a:r>
          </a:p>
          <a:p>
            <a:pPr marL="0" indent="0">
              <a:buNone/>
            </a:pPr>
            <a:endParaRPr lang="en-IN" dirty="0"/>
          </a:p>
          <a:p>
            <a:pPr marL="0" indent="0">
              <a:buNone/>
            </a:pPr>
            <a:endParaRPr lang="en-IN" dirty="0"/>
          </a:p>
          <a:p>
            <a:pPr>
              <a:buFont typeface="Arial" panose="020B0604020202020204" pitchFamily="34" charset="0"/>
              <a:buChar char="•"/>
            </a:pPr>
            <a:r>
              <a:rPr lang="en-IN" dirty="0"/>
              <a:t>P(A)=0.01 (prior probability of having the disease)</a:t>
            </a:r>
          </a:p>
          <a:p>
            <a:pPr>
              <a:buFont typeface="Arial" panose="020B0604020202020204" pitchFamily="34" charset="0"/>
              <a:buChar char="•"/>
            </a:pPr>
            <a:r>
              <a:rPr lang="en-IN" dirty="0"/>
              <a:t>P(B∣A)=0.99 (likelihood of testing positive if you have the disease)</a:t>
            </a:r>
          </a:p>
          <a:p>
            <a:pPr>
              <a:buFont typeface="Arial" panose="020B0604020202020204" pitchFamily="34" charset="0"/>
              <a:buChar char="•"/>
            </a:pPr>
            <a:r>
              <a:rPr lang="en-IN" dirty="0"/>
              <a:t>P(B) is the total probability of testing positive.</a:t>
            </a:r>
          </a:p>
          <a:p>
            <a:r>
              <a:rPr lang="en-IN" dirty="0"/>
              <a:t>P(B)=P(B∣A)⋅P(A)+P(B∣¬A)⋅P(¬A)</a:t>
            </a:r>
          </a:p>
          <a:p>
            <a:pPr lvl="1"/>
            <a:r>
              <a:rPr lang="en-IN" dirty="0"/>
              <a:t>Where ¬A is the event of not having the disease.</a:t>
            </a:r>
            <a:endParaRPr lang="en-US" dirty="0"/>
          </a:p>
        </p:txBody>
      </p:sp>
      <p:pic>
        <p:nvPicPr>
          <p:cNvPr id="4" name="Picture 3" descr="A mathematical equation with black text&#10;&#10;Description automatically generated">
            <a:extLst>
              <a:ext uri="{FF2B5EF4-FFF2-40B4-BE49-F238E27FC236}">
                <a16:creationId xmlns:a16="http://schemas.microsoft.com/office/drawing/2014/main" id="{F167FFDB-7D08-E7D9-02B7-8462C0520FE3}"/>
              </a:ext>
            </a:extLst>
          </p:cNvPr>
          <p:cNvPicPr>
            <a:picLocks noChangeAspect="1"/>
          </p:cNvPicPr>
          <p:nvPr/>
        </p:nvPicPr>
        <p:blipFill>
          <a:blip r:embed="rId2"/>
          <a:stretch>
            <a:fillRect/>
          </a:stretch>
        </p:blipFill>
        <p:spPr>
          <a:xfrm>
            <a:off x="3992837" y="2438838"/>
            <a:ext cx="2755900" cy="622300"/>
          </a:xfrm>
          <a:prstGeom prst="rect">
            <a:avLst/>
          </a:prstGeom>
        </p:spPr>
      </p:pic>
    </p:spTree>
    <p:extLst>
      <p:ext uri="{BB962C8B-B14F-4D97-AF65-F5344CB8AC3E}">
        <p14:creationId xmlns:p14="http://schemas.microsoft.com/office/powerpoint/2010/main" val="166817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05BD-3288-BDB3-EE45-1EB5749F98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7F0EECA-1189-9E66-F986-74C4A7ED1723}"/>
              </a:ext>
            </a:extLst>
          </p:cNvPr>
          <p:cNvSpPr>
            <a:spLocks noGrp="1"/>
          </p:cNvSpPr>
          <p:nvPr>
            <p:ph idx="1"/>
          </p:nvPr>
        </p:nvSpPr>
        <p:spPr/>
        <p:txBody>
          <a:bodyPr/>
          <a:lstStyle/>
          <a:p>
            <a:pPr marL="0" indent="0">
              <a:buNone/>
            </a:pPr>
            <a:r>
              <a:rPr lang="en-IN" dirty="0"/>
              <a:t>P(B)=0.99⋅0.01+0.01⋅0.99=0.0099+0.0099=0.0198</a:t>
            </a:r>
          </a:p>
          <a:p>
            <a:pPr marL="0" indent="0">
              <a:buNone/>
            </a:pPr>
            <a:r>
              <a:rPr lang="en-IN" dirty="0"/>
              <a:t>So, P(A∣B)=(0.99⋅0.01)/0.0198≈0.5</a:t>
            </a:r>
          </a:p>
          <a:p>
            <a:endParaRPr lang="en-IN" dirty="0"/>
          </a:p>
          <a:p>
            <a:pPr marL="0" indent="0">
              <a:buNone/>
            </a:pPr>
            <a:r>
              <a:rPr lang="en-IN" dirty="0"/>
              <a:t>This means that even if you test positive, there is only a 50% chance you actually have the disease, considering the low prior probability of having the disease in the population.</a:t>
            </a:r>
            <a:endParaRPr lang="en-US" dirty="0"/>
          </a:p>
        </p:txBody>
      </p:sp>
    </p:spTree>
    <p:extLst>
      <p:ext uri="{BB962C8B-B14F-4D97-AF65-F5344CB8AC3E}">
        <p14:creationId xmlns:p14="http://schemas.microsoft.com/office/powerpoint/2010/main" val="3956105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55BD-8163-29F9-BF27-9C5D023DE431}"/>
              </a:ext>
            </a:extLst>
          </p:cNvPr>
          <p:cNvSpPr>
            <a:spLocks noGrp="1"/>
          </p:cNvSpPr>
          <p:nvPr>
            <p:ph type="title"/>
          </p:nvPr>
        </p:nvSpPr>
        <p:spPr/>
        <p:txBody>
          <a:bodyPr/>
          <a:lstStyle/>
          <a:p>
            <a:r>
              <a:rPr lang="en-US" dirty="0"/>
              <a:t>Prior Probability</a:t>
            </a:r>
          </a:p>
        </p:txBody>
      </p:sp>
      <p:sp>
        <p:nvSpPr>
          <p:cNvPr id="3" name="Content Placeholder 2">
            <a:extLst>
              <a:ext uri="{FF2B5EF4-FFF2-40B4-BE49-F238E27FC236}">
                <a16:creationId xmlns:a16="http://schemas.microsoft.com/office/drawing/2014/main" id="{AE9C3DC2-0FB8-0B54-E975-8FDFF8BFC65D}"/>
              </a:ext>
            </a:extLst>
          </p:cNvPr>
          <p:cNvSpPr>
            <a:spLocks noGrp="1"/>
          </p:cNvSpPr>
          <p:nvPr>
            <p:ph idx="1"/>
          </p:nvPr>
        </p:nvSpPr>
        <p:spPr/>
        <p:txBody>
          <a:bodyPr/>
          <a:lstStyle/>
          <a:p>
            <a:r>
              <a:rPr lang="en-IN" dirty="0"/>
              <a:t>The prior probability, denoted as P(A) represents the initial belief or probability of an event or hypothesis A before considering any new evidence or data. It reflects what is known or assumed about A prior to obtaining additional information.</a:t>
            </a:r>
          </a:p>
          <a:p>
            <a:r>
              <a:rPr lang="en-IN" dirty="0"/>
              <a:t>For example, if we are assessing the probability of a person having a certain disease, the prior probability could be based on general population statistics or historical data indicating the prevalence of the disease.</a:t>
            </a:r>
          </a:p>
          <a:p>
            <a:endParaRPr lang="en-US" dirty="0"/>
          </a:p>
        </p:txBody>
      </p:sp>
    </p:spTree>
    <p:extLst>
      <p:ext uri="{BB962C8B-B14F-4D97-AF65-F5344CB8AC3E}">
        <p14:creationId xmlns:p14="http://schemas.microsoft.com/office/powerpoint/2010/main" val="2306764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3EFE-0135-C697-607E-2EE07DD09405}"/>
              </a:ext>
            </a:extLst>
          </p:cNvPr>
          <p:cNvSpPr>
            <a:spLocks noGrp="1"/>
          </p:cNvSpPr>
          <p:nvPr>
            <p:ph type="title"/>
          </p:nvPr>
        </p:nvSpPr>
        <p:spPr/>
        <p:txBody>
          <a:bodyPr/>
          <a:lstStyle/>
          <a:p>
            <a:r>
              <a:rPr lang="en-IN" dirty="0"/>
              <a:t>Posterior Probability</a:t>
            </a:r>
            <a:endParaRPr lang="en-US" dirty="0"/>
          </a:p>
        </p:txBody>
      </p:sp>
      <p:sp>
        <p:nvSpPr>
          <p:cNvPr id="3" name="Content Placeholder 2">
            <a:extLst>
              <a:ext uri="{FF2B5EF4-FFF2-40B4-BE49-F238E27FC236}">
                <a16:creationId xmlns:a16="http://schemas.microsoft.com/office/drawing/2014/main" id="{5B56CD37-6335-0DC7-C0B9-68D3F0A87406}"/>
              </a:ext>
            </a:extLst>
          </p:cNvPr>
          <p:cNvSpPr>
            <a:spLocks noGrp="1"/>
          </p:cNvSpPr>
          <p:nvPr>
            <p:ph idx="1"/>
          </p:nvPr>
        </p:nvSpPr>
        <p:spPr/>
        <p:txBody>
          <a:bodyPr>
            <a:normAutofit fontScale="92500" lnSpcReduction="10000"/>
          </a:bodyPr>
          <a:lstStyle/>
          <a:p>
            <a:r>
              <a:rPr lang="en-IN" dirty="0"/>
              <a:t>The posterior probability, denoted as P(A∣B), represents the updated probability of the event or hypothesis A after taking into account new evidence B. </a:t>
            </a:r>
          </a:p>
          <a:p>
            <a:r>
              <a:rPr lang="en-IN" dirty="0"/>
              <a:t>It combines the prior probability with the likelihood of the new evidence given the hypothesis.</a:t>
            </a:r>
          </a:p>
          <a:p>
            <a:endParaRPr lang="en-IN" dirty="0"/>
          </a:p>
          <a:p>
            <a:endParaRPr lang="en-IN" dirty="0"/>
          </a:p>
          <a:p>
            <a:r>
              <a:rPr lang="en-IN" dirty="0"/>
              <a:t>P(B∣A) is the likelihood: the probability of observing the evidence BBB if the hypothesis A is true.</a:t>
            </a:r>
          </a:p>
          <a:p>
            <a:r>
              <a:rPr lang="en-IN" dirty="0"/>
              <a:t>P(B) is the marginal probability: the total probability of observing the evidence B.</a:t>
            </a:r>
            <a:endParaRPr lang="en-US" dirty="0"/>
          </a:p>
        </p:txBody>
      </p:sp>
      <p:pic>
        <p:nvPicPr>
          <p:cNvPr id="5" name="Picture 4" descr="A black lines with a circle and a line of lines&#10;&#10;Description automatically generated with medium confidence">
            <a:extLst>
              <a:ext uri="{FF2B5EF4-FFF2-40B4-BE49-F238E27FC236}">
                <a16:creationId xmlns:a16="http://schemas.microsoft.com/office/drawing/2014/main" id="{A30F4A13-6CF6-2CAE-805E-214C7EA05314}"/>
              </a:ext>
            </a:extLst>
          </p:cNvPr>
          <p:cNvPicPr>
            <a:picLocks noChangeAspect="1"/>
          </p:cNvPicPr>
          <p:nvPr/>
        </p:nvPicPr>
        <p:blipFill>
          <a:blip r:embed="rId2"/>
          <a:stretch>
            <a:fillRect/>
          </a:stretch>
        </p:blipFill>
        <p:spPr>
          <a:xfrm>
            <a:off x="4437118" y="3658394"/>
            <a:ext cx="2540000" cy="685800"/>
          </a:xfrm>
          <a:prstGeom prst="rect">
            <a:avLst/>
          </a:prstGeom>
        </p:spPr>
      </p:pic>
    </p:spTree>
    <p:extLst>
      <p:ext uri="{BB962C8B-B14F-4D97-AF65-F5344CB8AC3E}">
        <p14:creationId xmlns:p14="http://schemas.microsoft.com/office/powerpoint/2010/main" val="3614489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156B2-A792-3F64-7311-79DBFA38A8B5}"/>
              </a:ext>
            </a:extLst>
          </p:cNvPr>
          <p:cNvSpPr>
            <a:spLocks noGrp="1"/>
          </p:cNvSpPr>
          <p:nvPr>
            <p:ph type="title"/>
          </p:nvPr>
        </p:nvSpPr>
        <p:spPr/>
        <p:txBody>
          <a:bodyPr/>
          <a:lstStyle/>
          <a:p>
            <a:r>
              <a:rPr lang="en-IN" dirty="0"/>
              <a:t>Example to Illustrate Prior and Posterior Probabilities</a:t>
            </a:r>
            <a:endParaRPr lang="en-US" dirty="0"/>
          </a:p>
        </p:txBody>
      </p:sp>
      <p:sp>
        <p:nvSpPr>
          <p:cNvPr id="3" name="Content Placeholder 2">
            <a:extLst>
              <a:ext uri="{FF2B5EF4-FFF2-40B4-BE49-F238E27FC236}">
                <a16:creationId xmlns:a16="http://schemas.microsoft.com/office/drawing/2014/main" id="{F87351B2-3FE9-90C6-973D-7AB1674968BB}"/>
              </a:ext>
            </a:extLst>
          </p:cNvPr>
          <p:cNvSpPr>
            <a:spLocks noGrp="1"/>
          </p:cNvSpPr>
          <p:nvPr>
            <p:ph idx="1"/>
          </p:nvPr>
        </p:nvSpPr>
        <p:spPr/>
        <p:txBody>
          <a:bodyPr/>
          <a:lstStyle/>
          <a:p>
            <a:pPr marL="0" indent="0">
              <a:buNone/>
            </a:pPr>
            <a:r>
              <a:rPr lang="en-IN" dirty="0"/>
              <a:t>Suppose we want to determine the probability that a patient has a certain disease after receiving a positive test result. We know:</a:t>
            </a:r>
          </a:p>
          <a:p>
            <a:pPr>
              <a:buFont typeface="Arial" panose="020B0604020202020204" pitchFamily="34" charset="0"/>
              <a:buChar char="•"/>
            </a:pPr>
            <a:r>
              <a:rPr lang="en-IN" dirty="0"/>
              <a:t>The prior probability P(A) of the disease is 1% (0.01).</a:t>
            </a:r>
          </a:p>
          <a:p>
            <a:pPr>
              <a:buFont typeface="Arial" panose="020B0604020202020204" pitchFamily="34" charset="0"/>
              <a:buChar char="•"/>
            </a:pPr>
            <a:r>
              <a:rPr lang="en-IN" dirty="0"/>
              <a:t>The test is 99% accurate, meaning the likelihood P(B∣A) of a positive test result if the patient has the disease is 99% (0.99).</a:t>
            </a:r>
          </a:p>
          <a:p>
            <a:pPr>
              <a:buFont typeface="Arial" panose="020B0604020202020204" pitchFamily="34" charset="0"/>
              <a:buChar char="•"/>
            </a:pPr>
            <a:r>
              <a:rPr lang="en-IN" dirty="0"/>
              <a:t>The test also has a 99% specificity, meaning the likelihood P(B∣¬A) of a positive test result if the patient does not have the disease is 1% (0.01).</a:t>
            </a:r>
          </a:p>
          <a:p>
            <a:endParaRPr lang="en-US" dirty="0"/>
          </a:p>
        </p:txBody>
      </p:sp>
    </p:spTree>
    <p:extLst>
      <p:ext uri="{BB962C8B-B14F-4D97-AF65-F5344CB8AC3E}">
        <p14:creationId xmlns:p14="http://schemas.microsoft.com/office/powerpoint/2010/main" val="2508258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BD8AD-1293-B831-EB11-E505E02D0CAA}"/>
              </a:ext>
            </a:extLst>
          </p:cNvPr>
          <p:cNvSpPr>
            <a:spLocks noGrp="1"/>
          </p:cNvSpPr>
          <p:nvPr>
            <p:ph type="title"/>
          </p:nvPr>
        </p:nvSpPr>
        <p:spPr/>
        <p:txBody>
          <a:bodyPr/>
          <a:lstStyle/>
          <a:p>
            <a:r>
              <a:rPr lang="en-IN" dirty="0"/>
              <a:t>Example to Illustrate Prior and Posterior Probabilities</a:t>
            </a:r>
            <a:endParaRPr lang="en-US" dirty="0"/>
          </a:p>
        </p:txBody>
      </p:sp>
      <p:sp>
        <p:nvSpPr>
          <p:cNvPr id="3" name="Content Placeholder 2">
            <a:extLst>
              <a:ext uri="{FF2B5EF4-FFF2-40B4-BE49-F238E27FC236}">
                <a16:creationId xmlns:a16="http://schemas.microsoft.com/office/drawing/2014/main" id="{F3F72354-42C2-3081-79D1-557B90C0CA62}"/>
              </a:ext>
            </a:extLst>
          </p:cNvPr>
          <p:cNvSpPr>
            <a:spLocks noGrp="1"/>
          </p:cNvSpPr>
          <p:nvPr>
            <p:ph idx="1"/>
          </p:nvPr>
        </p:nvSpPr>
        <p:spPr/>
        <p:txBody>
          <a:bodyPr/>
          <a:lstStyle/>
          <a:p>
            <a:pPr marL="0" indent="0">
              <a:buNone/>
            </a:pPr>
            <a:r>
              <a:rPr lang="en-IN" dirty="0"/>
              <a:t>To find the posterior probability P(A∣B) of the patient having the disease given the positive test result B:</a:t>
            </a:r>
          </a:p>
          <a:p>
            <a:r>
              <a:rPr lang="en-IN" dirty="0"/>
              <a:t>First, calculate the marginal probability P(B) :</a:t>
            </a:r>
          </a:p>
          <a:p>
            <a:pPr lvl="1"/>
            <a:r>
              <a:rPr lang="en-IN" dirty="0"/>
              <a:t>P(B)=P(B∣A)⋅P(A)+P(B∣¬A)⋅P(¬A) </a:t>
            </a:r>
          </a:p>
          <a:p>
            <a:pPr lvl="1"/>
            <a:r>
              <a:rPr lang="en-IN" dirty="0"/>
              <a:t>P(B)=0.99⋅0.01+0.01⋅0.99P(B) = 0.99 </a:t>
            </a:r>
          </a:p>
          <a:p>
            <a:pPr lvl="1"/>
            <a:r>
              <a:rPr lang="en-IN" dirty="0"/>
              <a:t>P(B)=0.0099+0.0099 </a:t>
            </a:r>
          </a:p>
          <a:p>
            <a:pPr lvl="1"/>
            <a:r>
              <a:rPr lang="en-IN" dirty="0"/>
              <a:t>P(B)=0.0198</a:t>
            </a:r>
          </a:p>
          <a:p>
            <a:pPr lvl="1"/>
            <a:endParaRPr lang="en-US" dirty="0"/>
          </a:p>
        </p:txBody>
      </p:sp>
    </p:spTree>
    <p:extLst>
      <p:ext uri="{BB962C8B-B14F-4D97-AF65-F5344CB8AC3E}">
        <p14:creationId xmlns:p14="http://schemas.microsoft.com/office/powerpoint/2010/main" val="251794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579EF-A00F-11F0-EFEB-6419600CFF38}"/>
              </a:ext>
            </a:extLst>
          </p:cNvPr>
          <p:cNvSpPr>
            <a:spLocks noGrp="1"/>
          </p:cNvSpPr>
          <p:nvPr>
            <p:ph type="title"/>
          </p:nvPr>
        </p:nvSpPr>
        <p:spPr/>
        <p:txBody>
          <a:bodyPr/>
          <a:lstStyle/>
          <a:p>
            <a:r>
              <a:rPr lang="en-IN" dirty="0"/>
              <a:t>Example to Illustrate Prior and Posterior Probabilities</a:t>
            </a:r>
            <a:endParaRPr lang="en-US" dirty="0"/>
          </a:p>
        </p:txBody>
      </p:sp>
      <p:sp>
        <p:nvSpPr>
          <p:cNvPr id="3" name="Content Placeholder 2">
            <a:extLst>
              <a:ext uri="{FF2B5EF4-FFF2-40B4-BE49-F238E27FC236}">
                <a16:creationId xmlns:a16="http://schemas.microsoft.com/office/drawing/2014/main" id="{4F28D9D6-BFD3-334E-1516-64308471CEBB}"/>
              </a:ext>
            </a:extLst>
          </p:cNvPr>
          <p:cNvSpPr>
            <a:spLocks noGrp="1"/>
          </p:cNvSpPr>
          <p:nvPr>
            <p:ph idx="1"/>
          </p:nvPr>
        </p:nvSpPr>
        <p:spPr/>
        <p:txBody>
          <a:bodyPr/>
          <a:lstStyle/>
          <a:p>
            <a:pPr marL="0" indent="0">
              <a:buNone/>
            </a:pPr>
            <a:r>
              <a:rPr lang="en-IN" dirty="0"/>
              <a:t>Then, use Bayes' Theorem to find the posterior probability:</a:t>
            </a:r>
          </a:p>
          <a:p>
            <a:pPr lvl="1"/>
            <a:r>
              <a:rPr lang="en-IN" dirty="0"/>
              <a:t>P(A∣B)=P(B)P(B∣A)⋅P(A)​ </a:t>
            </a:r>
          </a:p>
          <a:p>
            <a:pPr lvl="1"/>
            <a:r>
              <a:rPr lang="en-IN" dirty="0"/>
              <a:t>P(A∣B)=(0.99⋅0.010)/0198</a:t>
            </a:r>
          </a:p>
          <a:p>
            <a:pPr lvl="1"/>
            <a:r>
              <a:rPr lang="en-IN" dirty="0"/>
              <a:t>P(A∣B)≈0.5</a:t>
            </a:r>
          </a:p>
          <a:p>
            <a:pPr lvl="1"/>
            <a:endParaRPr lang="en-IN" dirty="0"/>
          </a:p>
          <a:p>
            <a:pPr marL="0" indent="0">
              <a:buNone/>
            </a:pPr>
            <a:r>
              <a:rPr lang="en-IN" dirty="0"/>
              <a:t>So, the posterior probability P(A∣B), or the updated probability of the patient having the disease after a positive test result, is approximately 50%. This significant update from the prior probability of 1% reflects the impact of the new evidence provided by the test result.</a:t>
            </a:r>
          </a:p>
        </p:txBody>
      </p:sp>
    </p:spTree>
    <p:extLst>
      <p:ext uri="{BB962C8B-B14F-4D97-AF65-F5344CB8AC3E}">
        <p14:creationId xmlns:p14="http://schemas.microsoft.com/office/powerpoint/2010/main" val="2685694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9D035-066B-1CA6-DBED-D27E3FC32F4E}"/>
              </a:ext>
            </a:extLst>
          </p:cNvPr>
          <p:cNvSpPr>
            <a:spLocks noGrp="1"/>
          </p:cNvSpPr>
          <p:nvPr>
            <p:ph type="title"/>
          </p:nvPr>
        </p:nvSpPr>
        <p:spPr/>
        <p:txBody>
          <a:bodyPr/>
          <a:lstStyle/>
          <a:p>
            <a:r>
              <a:rPr lang="en-IN" dirty="0"/>
              <a:t>The Problem of Zero Probability</a:t>
            </a:r>
            <a:endParaRPr lang="en-US" dirty="0"/>
          </a:p>
        </p:txBody>
      </p:sp>
      <p:sp>
        <p:nvSpPr>
          <p:cNvPr id="3" name="Content Placeholder 2">
            <a:extLst>
              <a:ext uri="{FF2B5EF4-FFF2-40B4-BE49-F238E27FC236}">
                <a16:creationId xmlns:a16="http://schemas.microsoft.com/office/drawing/2014/main" id="{E9D7454C-78BE-EDC2-EB64-C420AE0CCB0E}"/>
              </a:ext>
            </a:extLst>
          </p:cNvPr>
          <p:cNvSpPr>
            <a:spLocks noGrp="1"/>
          </p:cNvSpPr>
          <p:nvPr>
            <p:ph idx="1"/>
          </p:nvPr>
        </p:nvSpPr>
        <p:spPr/>
        <p:txBody>
          <a:bodyPr/>
          <a:lstStyle/>
          <a:p>
            <a:r>
              <a:rPr lang="en-IN" dirty="0"/>
              <a:t>In the context of the Naive Bayes classifier, handling zero probabilities is a common issue when a certain feature or event does not appear in the training data. </a:t>
            </a:r>
          </a:p>
          <a:p>
            <a:r>
              <a:rPr lang="en-IN" dirty="0"/>
              <a:t>This can lead to problems, as the probability of the entire product can become zero if any single term in the product is zero. </a:t>
            </a:r>
          </a:p>
          <a:p>
            <a:r>
              <a:rPr lang="en-IN" dirty="0"/>
              <a:t>Laplace smoothing solves this problem by adding a small value (typically 1) to each probability estimate to ensure that no probability is ever zero. This is done for both the numerator and the denominator to maintain a valid probability distribution.</a:t>
            </a:r>
            <a:endParaRPr lang="en-US" dirty="0"/>
          </a:p>
        </p:txBody>
      </p:sp>
    </p:spTree>
    <p:extLst>
      <p:ext uri="{BB962C8B-B14F-4D97-AF65-F5344CB8AC3E}">
        <p14:creationId xmlns:p14="http://schemas.microsoft.com/office/powerpoint/2010/main" val="4061091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3E2D-E6E7-7ACC-8A7E-9A6DE6B835C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D1B2A3D-AE6A-24F2-FA2F-1730037E7832}"/>
              </a:ext>
            </a:extLst>
          </p:cNvPr>
          <p:cNvSpPr>
            <a:spLocks noGrp="1"/>
          </p:cNvSpPr>
          <p:nvPr>
            <p:ph idx="1"/>
          </p:nvPr>
        </p:nvSpPr>
        <p:spPr/>
        <p:txBody>
          <a:bodyPr/>
          <a:lstStyle/>
          <a:p>
            <a:pPr marL="0" indent="0">
              <a:buNone/>
            </a:pPr>
            <a:r>
              <a:rPr lang="en-IN" dirty="0"/>
              <a:t>Let's say we are classifying emails as spam or not spam based on the presence of certain words. Suppose we want to calculate the probability that an email is spam given it contains the word "free". In our training data:</a:t>
            </a:r>
          </a:p>
          <a:p>
            <a:pPr>
              <a:buFont typeface="Arial" panose="020B0604020202020204" pitchFamily="34" charset="0"/>
              <a:buChar char="•"/>
            </a:pPr>
            <a:r>
              <a:rPr lang="en-IN" dirty="0"/>
              <a:t>There are 1000 emails, 100 of which are spam.</a:t>
            </a:r>
          </a:p>
          <a:p>
            <a:pPr>
              <a:buFont typeface="Arial" panose="020B0604020202020204" pitchFamily="34" charset="0"/>
              <a:buChar char="•"/>
            </a:pPr>
            <a:r>
              <a:rPr lang="en-IN" dirty="0"/>
              <a:t>The word "free" appears in 20 spam emails.</a:t>
            </a:r>
          </a:p>
          <a:p>
            <a:endParaRPr lang="en-US" dirty="0"/>
          </a:p>
        </p:txBody>
      </p:sp>
    </p:spTree>
    <p:extLst>
      <p:ext uri="{BB962C8B-B14F-4D97-AF65-F5344CB8AC3E}">
        <p14:creationId xmlns:p14="http://schemas.microsoft.com/office/powerpoint/2010/main" val="3583962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F8E7-F6FB-8166-2D5F-1287CC59EBB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A44369A-99D0-F990-6AB5-DB8DF12E1D6E}"/>
              </a:ext>
            </a:extLst>
          </p:cNvPr>
          <p:cNvSpPr>
            <a:spLocks noGrp="1"/>
          </p:cNvSpPr>
          <p:nvPr>
            <p:ph idx="1"/>
          </p:nvPr>
        </p:nvSpPr>
        <p:spPr/>
        <p:txBody>
          <a:bodyPr/>
          <a:lstStyle/>
          <a:p>
            <a:r>
              <a:rPr lang="en-US" dirty="0"/>
              <a:t>Without </a:t>
            </a:r>
            <a:r>
              <a:rPr lang="en-IN" dirty="0"/>
              <a:t>Laplace </a:t>
            </a:r>
            <a:r>
              <a:rPr lang="en-US" dirty="0"/>
              <a:t>Smoothing</a:t>
            </a:r>
          </a:p>
          <a:p>
            <a:endParaRPr lang="en-US" dirty="0"/>
          </a:p>
          <a:p>
            <a:endParaRPr lang="en-US" dirty="0"/>
          </a:p>
          <a:p>
            <a:endParaRPr lang="en-US" dirty="0"/>
          </a:p>
          <a:p>
            <a:r>
              <a:rPr lang="en-US" dirty="0"/>
              <a:t>With </a:t>
            </a:r>
            <a:r>
              <a:rPr lang="en-IN" dirty="0"/>
              <a:t>Laplace </a:t>
            </a:r>
            <a:r>
              <a:rPr lang="en-US" dirty="0"/>
              <a:t>Smoothing</a:t>
            </a:r>
          </a:p>
        </p:txBody>
      </p:sp>
      <p:pic>
        <p:nvPicPr>
          <p:cNvPr id="4" name="Content Placeholder 4">
            <a:extLst>
              <a:ext uri="{FF2B5EF4-FFF2-40B4-BE49-F238E27FC236}">
                <a16:creationId xmlns:a16="http://schemas.microsoft.com/office/drawing/2014/main" id="{884F8C44-E015-7B46-16EB-B548BA70FBB1}"/>
              </a:ext>
            </a:extLst>
          </p:cNvPr>
          <p:cNvPicPr>
            <a:picLocks noChangeAspect="1"/>
          </p:cNvPicPr>
          <p:nvPr/>
        </p:nvPicPr>
        <p:blipFill>
          <a:blip r:embed="rId2"/>
          <a:stretch>
            <a:fillRect/>
          </a:stretch>
        </p:blipFill>
        <p:spPr>
          <a:xfrm>
            <a:off x="1285326" y="2366266"/>
            <a:ext cx="5207000" cy="520700"/>
          </a:xfrm>
          <a:prstGeom prst="rect">
            <a:avLst/>
          </a:prstGeom>
        </p:spPr>
      </p:pic>
      <p:pic>
        <p:nvPicPr>
          <p:cNvPr id="6" name="Picture 5" descr="A black text on a white background&#10;&#10;Description automatically generated">
            <a:extLst>
              <a:ext uri="{FF2B5EF4-FFF2-40B4-BE49-F238E27FC236}">
                <a16:creationId xmlns:a16="http://schemas.microsoft.com/office/drawing/2014/main" id="{B8869E83-9DF4-B87D-A895-B13B1D714BBD}"/>
              </a:ext>
            </a:extLst>
          </p:cNvPr>
          <p:cNvPicPr>
            <a:picLocks noChangeAspect="1"/>
          </p:cNvPicPr>
          <p:nvPr/>
        </p:nvPicPr>
        <p:blipFill rotWithShape="1">
          <a:blip r:embed="rId3"/>
          <a:srcRect t="4651"/>
          <a:stretch/>
        </p:blipFill>
        <p:spPr>
          <a:xfrm>
            <a:off x="1222266" y="2906906"/>
            <a:ext cx="3175000" cy="520701"/>
          </a:xfrm>
          <a:prstGeom prst="rect">
            <a:avLst/>
          </a:prstGeom>
        </p:spPr>
      </p:pic>
      <p:pic>
        <p:nvPicPr>
          <p:cNvPr id="8" name="Picture 7" descr="A math equation with numbers and symbols&#10;&#10;Description automatically generated">
            <a:extLst>
              <a:ext uri="{FF2B5EF4-FFF2-40B4-BE49-F238E27FC236}">
                <a16:creationId xmlns:a16="http://schemas.microsoft.com/office/drawing/2014/main" id="{F1DBE49E-0B40-C588-875B-D247FA3725EC}"/>
              </a:ext>
            </a:extLst>
          </p:cNvPr>
          <p:cNvPicPr>
            <a:picLocks noChangeAspect="1"/>
          </p:cNvPicPr>
          <p:nvPr/>
        </p:nvPicPr>
        <p:blipFill>
          <a:blip r:embed="rId4"/>
          <a:stretch>
            <a:fillRect/>
          </a:stretch>
        </p:blipFill>
        <p:spPr>
          <a:xfrm>
            <a:off x="1222266" y="4499660"/>
            <a:ext cx="4495800" cy="812800"/>
          </a:xfrm>
          <a:prstGeom prst="rect">
            <a:avLst/>
          </a:prstGeom>
        </p:spPr>
      </p:pic>
    </p:spTree>
    <p:extLst>
      <p:ext uri="{BB962C8B-B14F-4D97-AF65-F5344CB8AC3E}">
        <p14:creationId xmlns:p14="http://schemas.microsoft.com/office/powerpoint/2010/main" val="9398454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TotalTime>
  <Words>1118</Words>
  <Application>Microsoft Macintosh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Bayes’ Theorem</vt:lpstr>
      <vt:lpstr>Applications</vt:lpstr>
      <vt:lpstr>Example</vt:lpstr>
      <vt:lpstr>Example</vt:lpstr>
      <vt:lpstr>Example</vt:lpstr>
      <vt:lpstr>Prior Probability</vt:lpstr>
      <vt:lpstr>Posterior Probability</vt:lpstr>
      <vt:lpstr>Example to Illustrate Prior and Posterior Probabilities</vt:lpstr>
      <vt:lpstr>Example to Illustrate Prior and Posterior Probabilities</vt:lpstr>
      <vt:lpstr>Example to Illustrate Prior and Posterior Probabilities</vt:lpstr>
      <vt:lpstr>The Problem of Zero Probability</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Amit Pandey</cp:lastModifiedBy>
  <cp:revision>3</cp:revision>
  <dcterms:created xsi:type="dcterms:W3CDTF">2024-07-12T20:52:04Z</dcterms:created>
  <dcterms:modified xsi:type="dcterms:W3CDTF">2024-07-13T03:50:26Z</dcterms:modified>
</cp:coreProperties>
</file>