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1"/>
    <p:restoredTop sz="94759"/>
  </p:normalViewPr>
  <p:slideViewPr>
    <p:cSldViewPr snapToGrid="0">
      <p:cViewPr varScale="1">
        <p:scale>
          <a:sx n="102" d="100"/>
          <a:sy n="102" d="100"/>
        </p:scale>
        <p:origin x="121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E3AEA-E056-76BF-0AD3-B0B8565533C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DBD22F3-0906-2679-1A5D-549B0B5CA9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C937F57-5309-C068-FD10-66D8CB84AABA}"/>
              </a:ext>
            </a:extLst>
          </p:cNvPr>
          <p:cNvSpPr>
            <a:spLocks noGrp="1"/>
          </p:cNvSpPr>
          <p:nvPr>
            <p:ph type="dt" sz="half" idx="10"/>
          </p:nvPr>
        </p:nvSpPr>
        <p:spPr/>
        <p:txBody>
          <a:bodyPr/>
          <a:lstStyle/>
          <a:p>
            <a:fld id="{5343FBE1-7395-DB48-8733-0A1311A73971}" type="datetimeFigureOut">
              <a:rPr lang="en-US" smtClean="0"/>
              <a:t>7/2/25</a:t>
            </a:fld>
            <a:endParaRPr lang="en-US"/>
          </a:p>
        </p:txBody>
      </p:sp>
      <p:sp>
        <p:nvSpPr>
          <p:cNvPr id="5" name="Footer Placeholder 4">
            <a:extLst>
              <a:ext uri="{FF2B5EF4-FFF2-40B4-BE49-F238E27FC236}">
                <a16:creationId xmlns:a16="http://schemas.microsoft.com/office/drawing/2014/main" id="{666E6BA5-535C-2922-E3C0-6BDFE3AD1B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8DDD3E-AEFB-76B2-CF8C-F548480BFB38}"/>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2348364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DCAA5-5ECE-8243-CEE2-9C65BF7377B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2B100C2-27F4-68F6-6B25-7E277541142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CDE305A-352D-C90E-7D33-C1A8E00093CC}"/>
              </a:ext>
            </a:extLst>
          </p:cNvPr>
          <p:cNvSpPr>
            <a:spLocks noGrp="1"/>
          </p:cNvSpPr>
          <p:nvPr>
            <p:ph type="dt" sz="half" idx="10"/>
          </p:nvPr>
        </p:nvSpPr>
        <p:spPr/>
        <p:txBody>
          <a:bodyPr/>
          <a:lstStyle/>
          <a:p>
            <a:fld id="{5343FBE1-7395-DB48-8733-0A1311A73971}" type="datetimeFigureOut">
              <a:rPr lang="en-US" smtClean="0"/>
              <a:t>7/2/25</a:t>
            </a:fld>
            <a:endParaRPr lang="en-US"/>
          </a:p>
        </p:txBody>
      </p:sp>
      <p:sp>
        <p:nvSpPr>
          <p:cNvPr id="5" name="Footer Placeholder 4">
            <a:extLst>
              <a:ext uri="{FF2B5EF4-FFF2-40B4-BE49-F238E27FC236}">
                <a16:creationId xmlns:a16="http://schemas.microsoft.com/office/drawing/2014/main" id="{2FA1BB45-9794-E242-8B79-7394DAE769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6BAE1-2FD9-7A48-6E44-2E10DD167CE9}"/>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3724193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A8333-4E76-D86A-6E94-F88854F359B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BAA32F5-9CD1-676C-A79F-C811FE0E56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C0E26E1-DFF1-FC35-4009-DF936D75783F}"/>
              </a:ext>
            </a:extLst>
          </p:cNvPr>
          <p:cNvSpPr>
            <a:spLocks noGrp="1"/>
          </p:cNvSpPr>
          <p:nvPr>
            <p:ph type="dt" sz="half" idx="10"/>
          </p:nvPr>
        </p:nvSpPr>
        <p:spPr/>
        <p:txBody>
          <a:bodyPr/>
          <a:lstStyle/>
          <a:p>
            <a:fld id="{5343FBE1-7395-DB48-8733-0A1311A73971}" type="datetimeFigureOut">
              <a:rPr lang="en-US" smtClean="0"/>
              <a:t>7/2/25</a:t>
            </a:fld>
            <a:endParaRPr lang="en-US"/>
          </a:p>
        </p:txBody>
      </p:sp>
      <p:sp>
        <p:nvSpPr>
          <p:cNvPr id="5" name="Footer Placeholder 4">
            <a:extLst>
              <a:ext uri="{FF2B5EF4-FFF2-40B4-BE49-F238E27FC236}">
                <a16:creationId xmlns:a16="http://schemas.microsoft.com/office/drawing/2014/main" id="{3EFE599E-4FC0-9335-3995-014651E953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D512FA-177C-7E96-2C1F-DAB6E1A713BE}"/>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4199008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CCC0-3CC1-6122-A565-867CF9D68B5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4E0458B-5015-D393-3B9F-C44CB2B0907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BC2686F-9B1B-0775-0803-BFBD451774B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F2DDDEF-E086-19A3-1BBD-5699046568D7}"/>
              </a:ext>
            </a:extLst>
          </p:cNvPr>
          <p:cNvSpPr>
            <a:spLocks noGrp="1"/>
          </p:cNvSpPr>
          <p:nvPr>
            <p:ph type="dt" sz="half" idx="10"/>
          </p:nvPr>
        </p:nvSpPr>
        <p:spPr/>
        <p:txBody>
          <a:bodyPr/>
          <a:lstStyle/>
          <a:p>
            <a:fld id="{5343FBE1-7395-DB48-8733-0A1311A73971}" type="datetimeFigureOut">
              <a:rPr lang="en-US" smtClean="0"/>
              <a:t>7/2/25</a:t>
            </a:fld>
            <a:endParaRPr lang="en-US"/>
          </a:p>
        </p:txBody>
      </p:sp>
      <p:sp>
        <p:nvSpPr>
          <p:cNvPr id="6" name="Footer Placeholder 5">
            <a:extLst>
              <a:ext uri="{FF2B5EF4-FFF2-40B4-BE49-F238E27FC236}">
                <a16:creationId xmlns:a16="http://schemas.microsoft.com/office/drawing/2014/main" id="{A084CB84-909D-8DBA-EC0D-5B8C4F306D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3CA177-2A96-06CE-C2D6-0607564AB2C4}"/>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58974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69E38-2B5F-9327-ADEE-24870F0A2DF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0C33F15-BFED-3510-BE9E-2E068AF9A1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1170AC6-A359-6B39-BD0C-4CFF8CDDD39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AAD6000-FA3E-C5FF-3C6C-3A88B9CEC7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B734963-4D77-2D7A-59EE-E1A3C13E08C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E5C59B2-E03A-1D96-C976-D28439A14BC2}"/>
              </a:ext>
            </a:extLst>
          </p:cNvPr>
          <p:cNvSpPr>
            <a:spLocks noGrp="1"/>
          </p:cNvSpPr>
          <p:nvPr>
            <p:ph type="dt" sz="half" idx="10"/>
          </p:nvPr>
        </p:nvSpPr>
        <p:spPr/>
        <p:txBody>
          <a:bodyPr/>
          <a:lstStyle/>
          <a:p>
            <a:fld id="{5343FBE1-7395-DB48-8733-0A1311A73971}" type="datetimeFigureOut">
              <a:rPr lang="en-US" smtClean="0"/>
              <a:t>7/2/25</a:t>
            </a:fld>
            <a:endParaRPr lang="en-US"/>
          </a:p>
        </p:txBody>
      </p:sp>
      <p:sp>
        <p:nvSpPr>
          <p:cNvPr id="8" name="Footer Placeholder 7">
            <a:extLst>
              <a:ext uri="{FF2B5EF4-FFF2-40B4-BE49-F238E27FC236}">
                <a16:creationId xmlns:a16="http://schemas.microsoft.com/office/drawing/2014/main" id="{1F525789-8586-5E9F-0E67-47EF1C9C98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918909-BF6A-0D8A-6E90-368287C94704}"/>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2577908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1854D-FD1D-A0AE-8817-9B66BB7C23E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02DE0F3-D585-9BE6-C68D-2CE1A5AC3440}"/>
              </a:ext>
            </a:extLst>
          </p:cNvPr>
          <p:cNvSpPr>
            <a:spLocks noGrp="1"/>
          </p:cNvSpPr>
          <p:nvPr>
            <p:ph type="dt" sz="half" idx="10"/>
          </p:nvPr>
        </p:nvSpPr>
        <p:spPr/>
        <p:txBody>
          <a:bodyPr/>
          <a:lstStyle/>
          <a:p>
            <a:fld id="{5343FBE1-7395-DB48-8733-0A1311A73971}" type="datetimeFigureOut">
              <a:rPr lang="en-US" smtClean="0"/>
              <a:t>7/2/25</a:t>
            </a:fld>
            <a:endParaRPr lang="en-US"/>
          </a:p>
        </p:txBody>
      </p:sp>
      <p:sp>
        <p:nvSpPr>
          <p:cNvPr id="4" name="Footer Placeholder 3">
            <a:extLst>
              <a:ext uri="{FF2B5EF4-FFF2-40B4-BE49-F238E27FC236}">
                <a16:creationId xmlns:a16="http://schemas.microsoft.com/office/drawing/2014/main" id="{0976ECE7-6BFB-997F-124E-DC5A258F3E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E107A0-F711-B05D-B857-963E5FD778F1}"/>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264943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D6DAAF-EF8F-E880-F529-6CAD0C7C0179}"/>
              </a:ext>
            </a:extLst>
          </p:cNvPr>
          <p:cNvSpPr>
            <a:spLocks noGrp="1"/>
          </p:cNvSpPr>
          <p:nvPr>
            <p:ph type="dt" sz="half" idx="10"/>
          </p:nvPr>
        </p:nvSpPr>
        <p:spPr/>
        <p:txBody>
          <a:bodyPr/>
          <a:lstStyle/>
          <a:p>
            <a:fld id="{5343FBE1-7395-DB48-8733-0A1311A73971}" type="datetimeFigureOut">
              <a:rPr lang="en-US" smtClean="0"/>
              <a:t>7/2/25</a:t>
            </a:fld>
            <a:endParaRPr lang="en-US"/>
          </a:p>
        </p:txBody>
      </p:sp>
      <p:sp>
        <p:nvSpPr>
          <p:cNvPr id="3" name="Footer Placeholder 2">
            <a:extLst>
              <a:ext uri="{FF2B5EF4-FFF2-40B4-BE49-F238E27FC236}">
                <a16:creationId xmlns:a16="http://schemas.microsoft.com/office/drawing/2014/main" id="{A8BF3413-152C-5AF2-00C0-4A1BC36651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104FA3-F5C7-DED5-CE11-6620258AFA8B}"/>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1184869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ED71B-1936-307B-E8D0-35F859277EE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A9796C9-0C4C-7948-AC50-9C69F190E0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AA4EFB2-0737-70AF-7FF5-8746C339C2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65C365-66E8-8FC1-3E13-4A4D7DB81EE2}"/>
              </a:ext>
            </a:extLst>
          </p:cNvPr>
          <p:cNvSpPr>
            <a:spLocks noGrp="1"/>
          </p:cNvSpPr>
          <p:nvPr>
            <p:ph type="dt" sz="half" idx="10"/>
          </p:nvPr>
        </p:nvSpPr>
        <p:spPr/>
        <p:txBody>
          <a:bodyPr/>
          <a:lstStyle/>
          <a:p>
            <a:fld id="{5343FBE1-7395-DB48-8733-0A1311A73971}" type="datetimeFigureOut">
              <a:rPr lang="en-US" smtClean="0"/>
              <a:t>7/2/25</a:t>
            </a:fld>
            <a:endParaRPr lang="en-US"/>
          </a:p>
        </p:txBody>
      </p:sp>
      <p:sp>
        <p:nvSpPr>
          <p:cNvPr id="6" name="Footer Placeholder 5">
            <a:extLst>
              <a:ext uri="{FF2B5EF4-FFF2-40B4-BE49-F238E27FC236}">
                <a16:creationId xmlns:a16="http://schemas.microsoft.com/office/drawing/2014/main" id="{19031F82-7681-9D1F-FA9B-09C74AD5A2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AF6BAB-A77D-6A9C-A13E-FD641FCBAAD2}"/>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1437929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ABE6A-9262-1C78-9D8B-6EE7A19E262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2D66456-1204-3BC1-1BF7-33DE67DCB9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0F11C4-45F0-52D8-762D-474966B50A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DEA8062-8D60-F609-6C7B-A5803E8C43E0}"/>
              </a:ext>
            </a:extLst>
          </p:cNvPr>
          <p:cNvSpPr>
            <a:spLocks noGrp="1"/>
          </p:cNvSpPr>
          <p:nvPr>
            <p:ph type="dt" sz="half" idx="10"/>
          </p:nvPr>
        </p:nvSpPr>
        <p:spPr/>
        <p:txBody>
          <a:bodyPr/>
          <a:lstStyle/>
          <a:p>
            <a:fld id="{5343FBE1-7395-DB48-8733-0A1311A73971}" type="datetimeFigureOut">
              <a:rPr lang="en-US" smtClean="0"/>
              <a:t>7/2/25</a:t>
            </a:fld>
            <a:endParaRPr lang="en-US"/>
          </a:p>
        </p:txBody>
      </p:sp>
      <p:sp>
        <p:nvSpPr>
          <p:cNvPr id="6" name="Footer Placeholder 5">
            <a:extLst>
              <a:ext uri="{FF2B5EF4-FFF2-40B4-BE49-F238E27FC236}">
                <a16:creationId xmlns:a16="http://schemas.microsoft.com/office/drawing/2014/main" id="{B51402E9-5275-B386-D576-F7536783DE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89A450-FB4B-C4F9-37C3-84D35A5A403E}"/>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517488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C5885-5EDB-4FB0-6330-10282CFEACC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D251DCD-D7FC-D7A8-379D-548F78916DE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2E8387B-DB3B-9C58-F4D6-21E14B3A5588}"/>
              </a:ext>
            </a:extLst>
          </p:cNvPr>
          <p:cNvSpPr>
            <a:spLocks noGrp="1"/>
          </p:cNvSpPr>
          <p:nvPr>
            <p:ph type="dt" sz="half" idx="10"/>
          </p:nvPr>
        </p:nvSpPr>
        <p:spPr/>
        <p:txBody>
          <a:bodyPr/>
          <a:lstStyle/>
          <a:p>
            <a:fld id="{5343FBE1-7395-DB48-8733-0A1311A73971}" type="datetimeFigureOut">
              <a:rPr lang="en-US" smtClean="0"/>
              <a:t>7/2/25</a:t>
            </a:fld>
            <a:endParaRPr lang="en-US"/>
          </a:p>
        </p:txBody>
      </p:sp>
      <p:sp>
        <p:nvSpPr>
          <p:cNvPr id="5" name="Footer Placeholder 4">
            <a:extLst>
              <a:ext uri="{FF2B5EF4-FFF2-40B4-BE49-F238E27FC236}">
                <a16:creationId xmlns:a16="http://schemas.microsoft.com/office/drawing/2014/main" id="{CECA3230-34D7-B526-D08E-EECE43AD67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62082D-C664-A3B0-9ECE-A62E7EF18ED5}"/>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361541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2A817F-84E3-86C0-054D-62999B35A29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4B8330-D5F9-09F1-EBFC-1BAEB7C1CBF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5CB070F-104F-9EEB-0682-217F9E9936E9}"/>
              </a:ext>
            </a:extLst>
          </p:cNvPr>
          <p:cNvSpPr>
            <a:spLocks noGrp="1"/>
          </p:cNvSpPr>
          <p:nvPr>
            <p:ph type="dt" sz="half" idx="10"/>
          </p:nvPr>
        </p:nvSpPr>
        <p:spPr/>
        <p:txBody>
          <a:bodyPr/>
          <a:lstStyle/>
          <a:p>
            <a:fld id="{5343FBE1-7395-DB48-8733-0A1311A73971}" type="datetimeFigureOut">
              <a:rPr lang="en-US" smtClean="0"/>
              <a:t>7/2/25</a:t>
            </a:fld>
            <a:endParaRPr lang="en-US"/>
          </a:p>
        </p:txBody>
      </p:sp>
      <p:sp>
        <p:nvSpPr>
          <p:cNvPr id="5" name="Footer Placeholder 4">
            <a:extLst>
              <a:ext uri="{FF2B5EF4-FFF2-40B4-BE49-F238E27FC236}">
                <a16:creationId xmlns:a16="http://schemas.microsoft.com/office/drawing/2014/main" id="{DB6B582B-A388-4E17-01B8-205327DEF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2B55E4-F82A-A5BF-0029-BC16EC4C3E74}"/>
              </a:ext>
            </a:extLst>
          </p:cNvPr>
          <p:cNvSpPr>
            <a:spLocks noGrp="1"/>
          </p:cNvSpPr>
          <p:nvPr>
            <p:ph type="sldNum" sz="quarter" idx="12"/>
          </p:nvPr>
        </p:nvSpPr>
        <p:spPr/>
        <p:txBody>
          <a:bodyPr/>
          <a:lstStyle/>
          <a:p>
            <a:fld id="{814B530C-3D51-B14C-A502-2096B4933979}" type="slidenum">
              <a:rPr lang="en-US" smtClean="0"/>
              <a:t>‹#›</a:t>
            </a:fld>
            <a:endParaRPr lang="en-US"/>
          </a:p>
        </p:txBody>
      </p:sp>
    </p:spTree>
    <p:extLst>
      <p:ext uri="{BB962C8B-B14F-4D97-AF65-F5344CB8AC3E}">
        <p14:creationId xmlns:p14="http://schemas.microsoft.com/office/powerpoint/2010/main" val="3314697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807BE-C6F9-C2DC-2C3C-0F8482EAA5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4212BE3-1583-880F-0119-C9784FBB49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019443-5D1F-487E-8E81-632DDCBA07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43FBE1-7395-DB48-8733-0A1311A73971}" type="datetimeFigureOut">
              <a:rPr lang="en-US" smtClean="0"/>
              <a:t>7/2/25</a:t>
            </a:fld>
            <a:endParaRPr lang="en-US"/>
          </a:p>
        </p:txBody>
      </p:sp>
      <p:sp>
        <p:nvSpPr>
          <p:cNvPr id="5" name="Footer Placeholder 4">
            <a:extLst>
              <a:ext uri="{FF2B5EF4-FFF2-40B4-BE49-F238E27FC236}">
                <a16:creationId xmlns:a16="http://schemas.microsoft.com/office/drawing/2014/main" id="{EC3DEFD7-41A5-69BF-C440-439448D03C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6E9C031-28A3-9B12-815D-371DD0B526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4B530C-3D51-B14C-A502-2096B4933979}" type="slidenum">
              <a:rPr lang="en-US" smtClean="0"/>
              <a:t>‹#›</a:t>
            </a:fld>
            <a:endParaRPr lang="en-US"/>
          </a:p>
        </p:txBody>
      </p:sp>
    </p:spTree>
    <p:extLst>
      <p:ext uri="{BB962C8B-B14F-4D97-AF65-F5344CB8AC3E}">
        <p14:creationId xmlns:p14="http://schemas.microsoft.com/office/powerpoint/2010/main" val="184837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BEF1E-EA52-B277-55FA-9C84E3E4B7E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6108977-6389-0A46-186A-AF81F4A6FBA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04607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85FC4-10B4-C64D-9908-BF00A6EF37A4}"/>
              </a:ext>
            </a:extLst>
          </p:cNvPr>
          <p:cNvSpPr>
            <a:spLocks noGrp="1"/>
          </p:cNvSpPr>
          <p:nvPr>
            <p:ph type="title"/>
          </p:nvPr>
        </p:nvSpPr>
        <p:spPr/>
        <p:txBody>
          <a:bodyPr/>
          <a:lstStyle/>
          <a:p>
            <a:r>
              <a:rPr lang="en-US" dirty="0"/>
              <a:t>Logistic Regression</a:t>
            </a:r>
          </a:p>
        </p:txBody>
      </p:sp>
      <p:sp>
        <p:nvSpPr>
          <p:cNvPr id="3" name="Content Placeholder 2">
            <a:extLst>
              <a:ext uri="{FF2B5EF4-FFF2-40B4-BE49-F238E27FC236}">
                <a16:creationId xmlns:a16="http://schemas.microsoft.com/office/drawing/2014/main" id="{4310215E-4927-D6CF-4DB4-AB93CF66BFE6}"/>
              </a:ext>
            </a:extLst>
          </p:cNvPr>
          <p:cNvSpPr>
            <a:spLocks noGrp="1"/>
          </p:cNvSpPr>
          <p:nvPr>
            <p:ph idx="1"/>
          </p:nvPr>
        </p:nvSpPr>
        <p:spPr/>
        <p:txBody>
          <a:bodyPr/>
          <a:lstStyle/>
          <a:p>
            <a:r>
              <a:rPr lang="en-IN" b="0" i="0" dirty="0">
                <a:solidFill>
                  <a:srgbClr val="0D0D0D"/>
                </a:solidFill>
                <a:effectLst/>
                <a:highlight>
                  <a:srgbClr val="FFFFFF"/>
                </a:highlight>
                <a:latin typeface="ui-sans-serif"/>
              </a:rPr>
              <a:t>Logistic regression is a statistical method used for binary classification that predicts the probability of a binary outcome (0 or 1) based on one or more predictor variables. Unlike linear regression, which is used for predicting continuous outcomes, logistic regression is specifically designed to handle situations where the response variable is categorical.</a:t>
            </a:r>
            <a:endParaRPr lang="en-US" dirty="0"/>
          </a:p>
        </p:txBody>
      </p:sp>
    </p:spTree>
    <p:extLst>
      <p:ext uri="{BB962C8B-B14F-4D97-AF65-F5344CB8AC3E}">
        <p14:creationId xmlns:p14="http://schemas.microsoft.com/office/powerpoint/2010/main" val="285295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4BE5-AD26-55B0-4C31-3EF08115ACB2}"/>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164CEEC3-0283-F38F-1444-CDD0B66AF98E}"/>
              </a:ext>
            </a:extLst>
          </p:cNvPr>
          <p:cNvSpPr>
            <a:spLocks noGrp="1"/>
          </p:cNvSpPr>
          <p:nvPr>
            <p:ph idx="1"/>
          </p:nvPr>
        </p:nvSpPr>
        <p:spPr/>
        <p:txBody>
          <a:bodyPr>
            <a:normAutofit lnSpcReduction="10000"/>
          </a:bodyPr>
          <a:lstStyle/>
          <a:p>
            <a:pPr algn="l">
              <a:buFont typeface="+mj-lt"/>
              <a:buAutoNum type="arabicPeriod"/>
            </a:pPr>
            <a:r>
              <a:rPr lang="en-IN" b="1" i="0" dirty="0">
                <a:solidFill>
                  <a:srgbClr val="0D0D0D"/>
                </a:solidFill>
                <a:effectLst/>
                <a:highlight>
                  <a:srgbClr val="FFFFFF"/>
                </a:highlight>
                <a:latin typeface="ui-sans-serif"/>
              </a:rPr>
              <a:t>Binary Classification</a:t>
            </a:r>
            <a:r>
              <a:rPr lang="en-IN" b="0" i="0" dirty="0">
                <a:solidFill>
                  <a:srgbClr val="0D0D0D"/>
                </a:solidFill>
                <a:effectLst/>
                <a:highlight>
                  <a:srgbClr val="FFFFFF"/>
                </a:highlight>
                <a:latin typeface="ui-sans-serif"/>
              </a:rPr>
              <a:t>: Logistic regression is typically used to classify observations into two distinct categories, such as yes/no, success/failure, or spam/ham.</a:t>
            </a:r>
          </a:p>
          <a:p>
            <a:pPr algn="l">
              <a:buFont typeface="+mj-lt"/>
              <a:buAutoNum type="arabicPeriod"/>
            </a:pPr>
            <a:r>
              <a:rPr lang="en-IN" b="1" i="0" dirty="0">
                <a:solidFill>
                  <a:srgbClr val="0D0D0D"/>
                </a:solidFill>
                <a:effectLst/>
                <a:highlight>
                  <a:srgbClr val="FFFFFF"/>
                </a:highlight>
                <a:latin typeface="ui-sans-serif"/>
              </a:rPr>
              <a:t>Logistic Function (Sigmoid Function)</a:t>
            </a:r>
            <a:r>
              <a:rPr lang="en-IN" b="0" i="0" dirty="0">
                <a:solidFill>
                  <a:srgbClr val="0D0D0D"/>
                </a:solidFill>
                <a:effectLst/>
                <a:highlight>
                  <a:srgbClr val="FFFFFF"/>
                </a:highlight>
                <a:latin typeface="ui-sans-serif"/>
              </a:rPr>
              <a:t>: The core of logistic regression is the logistic function, also known as the sigmoid function, which maps any real-valued number into a value between 0 and 1. The logistic function is defined as:</a:t>
            </a:r>
          </a:p>
          <a:p>
            <a:endParaRPr lang="en-US" dirty="0"/>
          </a:p>
          <a:p>
            <a:endParaRPr lang="en-US" dirty="0"/>
          </a:p>
          <a:p>
            <a:pPr marL="0" indent="0">
              <a:buNone/>
            </a:pPr>
            <a:r>
              <a:rPr lang="en-IN" b="0" i="0" dirty="0">
                <a:solidFill>
                  <a:srgbClr val="0D0D0D"/>
                </a:solidFill>
                <a:effectLst/>
                <a:highlight>
                  <a:srgbClr val="FFFFFF"/>
                </a:highlight>
                <a:latin typeface="ui-sans-serif"/>
              </a:rPr>
              <a:t>where </a:t>
            </a:r>
            <a:r>
              <a:rPr lang="en-IN" b="0" i="0" dirty="0">
                <a:solidFill>
                  <a:srgbClr val="0D0D0D"/>
                </a:solidFill>
                <a:effectLst/>
                <a:highlight>
                  <a:srgbClr val="FFFFFF"/>
                </a:highlight>
                <a:latin typeface="KaTeX_Main"/>
              </a:rPr>
              <a:t>𝑧</a:t>
            </a:r>
            <a:r>
              <a:rPr lang="en-IN" b="0" i="0" dirty="0">
                <a:solidFill>
                  <a:srgbClr val="0D0D0D"/>
                </a:solidFill>
                <a:effectLst/>
                <a:highlight>
                  <a:srgbClr val="FFFFFF"/>
                </a:highlight>
                <a:latin typeface="ui-sans-serif"/>
              </a:rPr>
              <a:t> is a linear combination of the input features.</a:t>
            </a:r>
            <a:endParaRPr lang="en-US" dirty="0"/>
          </a:p>
        </p:txBody>
      </p:sp>
      <p:pic>
        <p:nvPicPr>
          <p:cNvPr id="5" name="Picture 4" descr="A mathematical equation with numbers and symbols&#10;&#10;Description automatically generated">
            <a:extLst>
              <a:ext uri="{FF2B5EF4-FFF2-40B4-BE49-F238E27FC236}">
                <a16:creationId xmlns:a16="http://schemas.microsoft.com/office/drawing/2014/main" id="{A5F153B8-D20D-0657-BB83-6B01DD62104C}"/>
              </a:ext>
            </a:extLst>
          </p:cNvPr>
          <p:cNvPicPr>
            <a:picLocks noChangeAspect="1"/>
          </p:cNvPicPr>
          <p:nvPr/>
        </p:nvPicPr>
        <p:blipFill>
          <a:blip r:embed="rId2"/>
          <a:stretch>
            <a:fillRect/>
          </a:stretch>
        </p:blipFill>
        <p:spPr>
          <a:xfrm>
            <a:off x="4835019" y="4340424"/>
            <a:ext cx="2082800" cy="1003300"/>
          </a:xfrm>
          <a:prstGeom prst="rect">
            <a:avLst/>
          </a:prstGeom>
        </p:spPr>
      </p:pic>
    </p:spTree>
    <p:extLst>
      <p:ext uri="{BB962C8B-B14F-4D97-AF65-F5344CB8AC3E}">
        <p14:creationId xmlns:p14="http://schemas.microsoft.com/office/powerpoint/2010/main" val="2254610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A8DF2-8A36-2301-CD99-0DA2331257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77B923-4555-7A33-D046-8A52A2A74DF3}"/>
              </a:ext>
            </a:extLst>
          </p:cNvPr>
          <p:cNvSpPr>
            <a:spLocks noGrp="1"/>
          </p:cNvSpPr>
          <p:nvPr>
            <p:ph idx="1"/>
          </p:nvPr>
        </p:nvSpPr>
        <p:spPr/>
        <p:txBody>
          <a:bodyPr>
            <a:normAutofit fontScale="92500" lnSpcReduction="10000"/>
          </a:bodyPr>
          <a:lstStyle/>
          <a:p>
            <a:r>
              <a:rPr lang="en-IN" b="1" i="0" dirty="0">
                <a:solidFill>
                  <a:srgbClr val="0D0D0D"/>
                </a:solidFill>
                <a:effectLst/>
                <a:highlight>
                  <a:srgbClr val="FFFFFF"/>
                </a:highlight>
                <a:latin typeface="ui-sans-serif"/>
              </a:rPr>
              <a:t>Odds and Log-Odds</a:t>
            </a:r>
            <a:r>
              <a:rPr lang="en-IN" b="0" i="0" dirty="0">
                <a:solidFill>
                  <a:srgbClr val="0D0D0D"/>
                </a:solidFill>
                <a:effectLst/>
                <a:highlight>
                  <a:srgbClr val="FFFFFF"/>
                </a:highlight>
                <a:latin typeface="ui-sans-serif"/>
              </a:rPr>
              <a:t>: Logistic regression models the log-odds of the probability of the outcome as a linear combination of the predictor variables. The log-odds (or logit) function is given by:</a:t>
            </a:r>
          </a:p>
          <a:p>
            <a:endParaRPr lang="en-IN" dirty="0">
              <a:solidFill>
                <a:srgbClr val="0D0D0D"/>
              </a:solidFill>
              <a:highlight>
                <a:srgbClr val="FFFFFF"/>
              </a:highlight>
              <a:latin typeface="ui-sans-serif"/>
            </a:endParaRPr>
          </a:p>
          <a:p>
            <a:pPr marL="0" indent="0">
              <a:buNone/>
            </a:pPr>
            <a:endParaRPr lang="en-IN" b="0" i="0" dirty="0">
              <a:solidFill>
                <a:srgbClr val="0D0D0D"/>
              </a:solidFill>
              <a:effectLst/>
              <a:highlight>
                <a:srgbClr val="FFFFFF"/>
              </a:highlight>
              <a:latin typeface="ui-sans-serif"/>
            </a:endParaRPr>
          </a:p>
          <a:p>
            <a:pPr marL="0" indent="0">
              <a:buNone/>
            </a:pPr>
            <a:r>
              <a:rPr lang="en-IN" b="0" i="0" dirty="0">
                <a:solidFill>
                  <a:srgbClr val="0D0D0D"/>
                </a:solidFill>
                <a:effectLst/>
                <a:highlight>
                  <a:srgbClr val="FFFFFF"/>
                </a:highlight>
                <a:latin typeface="ui-sans-serif"/>
              </a:rPr>
              <a:t>where </a:t>
            </a:r>
            <a:r>
              <a:rPr lang="en-IN" b="0" i="0" dirty="0">
                <a:solidFill>
                  <a:srgbClr val="0D0D0D"/>
                </a:solidFill>
                <a:effectLst/>
                <a:highlight>
                  <a:srgbClr val="FFFFFF"/>
                </a:highlight>
                <a:latin typeface="KaTeX_Main"/>
              </a:rPr>
              <a:t>𝑝</a:t>
            </a:r>
            <a:r>
              <a:rPr lang="en-IN" b="0" i="0" dirty="0">
                <a:solidFill>
                  <a:srgbClr val="0D0D0D"/>
                </a:solidFill>
                <a:effectLst/>
                <a:highlight>
                  <a:srgbClr val="FFFFFF"/>
                </a:highlight>
                <a:latin typeface="ui-sans-serif"/>
              </a:rPr>
              <a:t> is the probability of the outcome being 1, and </a:t>
            </a:r>
            <a:r>
              <a:rPr lang="en-IN" b="0" i="0" dirty="0">
                <a:solidFill>
                  <a:srgbClr val="0D0D0D"/>
                </a:solidFill>
                <a:effectLst/>
                <a:highlight>
                  <a:srgbClr val="FFFFFF"/>
                </a:highlight>
                <a:latin typeface="KaTeX_Main"/>
              </a:rPr>
              <a:t>𝛽0,𝛽1,…,𝛽𝑛</a:t>
            </a:r>
            <a:r>
              <a:rPr lang="en-IN" b="0" i="0" dirty="0">
                <a:solidFill>
                  <a:srgbClr val="0D0D0D"/>
                </a:solidFill>
                <a:effectLst/>
                <a:highlight>
                  <a:srgbClr val="FFFFFF"/>
                </a:highlight>
                <a:latin typeface="ui-sans-serif"/>
              </a:rPr>
              <a:t> are the coefficients of the model.</a:t>
            </a:r>
          </a:p>
          <a:p>
            <a:r>
              <a:rPr lang="en-IN" b="1" i="0" dirty="0">
                <a:solidFill>
                  <a:srgbClr val="0D0D0D"/>
                </a:solidFill>
                <a:effectLst/>
                <a:highlight>
                  <a:srgbClr val="FFFFFF"/>
                </a:highlight>
                <a:latin typeface="ui-sans-serif"/>
              </a:rPr>
              <a:t>Maximum Likelihood Estimation (MLE)</a:t>
            </a:r>
            <a:r>
              <a:rPr lang="en-IN" b="0" i="0" dirty="0">
                <a:solidFill>
                  <a:srgbClr val="0D0D0D"/>
                </a:solidFill>
                <a:effectLst/>
                <a:highlight>
                  <a:srgbClr val="FFFFFF"/>
                </a:highlight>
                <a:latin typeface="ui-sans-serif"/>
              </a:rPr>
              <a:t>: The parameters (coefficients) of the logistic regression model are estimated using maximum likelihood estimation, which finds the values that maximize the likelihood of observing the given sample data.</a:t>
            </a:r>
          </a:p>
          <a:p>
            <a:pPr marL="0" indent="0">
              <a:buNone/>
            </a:pPr>
            <a:endParaRPr lang="en-US" dirty="0"/>
          </a:p>
        </p:txBody>
      </p:sp>
      <p:pic>
        <p:nvPicPr>
          <p:cNvPr id="5" name="Picture 4" descr="A black text on a white background&#10;&#10;Description automatically generated">
            <a:extLst>
              <a:ext uri="{FF2B5EF4-FFF2-40B4-BE49-F238E27FC236}">
                <a16:creationId xmlns:a16="http://schemas.microsoft.com/office/drawing/2014/main" id="{3EBEEAC6-5CF5-F1FF-2395-B71CE66F21A7}"/>
              </a:ext>
            </a:extLst>
          </p:cNvPr>
          <p:cNvPicPr>
            <a:picLocks noChangeAspect="1"/>
          </p:cNvPicPr>
          <p:nvPr/>
        </p:nvPicPr>
        <p:blipFill>
          <a:blip r:embed="rId2"/>
          <a:stretch>
            <a:fillRect/>
          </a:stretch>
        </p:blipFill>
        <p:spPr>
          <a:xfrm>
            <a:off x="2794000" y="2970985"/>
            <a:ext cx="6604000" cy="825500"/>
          </a:xfrm>
          <a:prstGeom prst="rect">
            <a:avLst/>
          </a:prstGeom>
        </p:spPr>
      </p:pic>
    </p:spTree>
    <p:extLst>
      <p:ext uri="{BB962C8B-B14F-4D97-AF65-F5344CB8AC3E}">
        <p14:creationId xmlns:p14="http://schemas.microsoft.com/office/powerpoint/2010/main" val="2463528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8435A-E0E8-244A-1239-FA27B8CE47BB}"/>
              </a:ext>
            </a:extLst>
          </p:cNvPr>
          <p:cNvSpPr>
            <a:spLocks noGrp="1"/>
          </p:cNvSpPr>
          <p:nvPr>
            <p:ph type="title"/>
          </p:nvPr>
        </p:nvSpPr>
        <p:spPr/>
        <p:txBody>
          <a:bodyPr/>
          <a:lstStyle/>
          <a:p>
            <a:r>
              <a:rPr lang="en-US" dirty="0"/>
              <a:t>Key Differences with Linear Regression</a:t>
            </a:r>
          </a:p>
        </p:txBody>
      </p:sp>
      <p:graphicFrame>
        <p:nvGraphicFramePr>
          <p:cNvPr id="4" name="Content Placeholder 3">
            <a:extLst>
              <a:ext uri="{FF2B5EF4-FFF2-40B4-BE49-F238E27FC236}">
                <a16:creationId xmlns:a16="http://schemas.microsoft.com/office/drawing/2014/main" id="{798C6110-AA30-BACE-2279-413E20417B15}"/>
              </a:ext>
            </a:extLst>
          </p:cNvPr>
          <p:cNvGraphicFramePr>
            <a:graphicFrameLocks noGrp="1"/>
          </p:cNvGraphicFramePr>
          <p:nvPr>
            <p:ph idx="1"/>
            <p:extLst>
              <p:ext uri="{D42A27DB-BD31-4B8C-83A1-F6EECF244321}">
                <p14:modId xmlns:p14="http://schemas.microsoft.com/office/powerpoint/2010/main" val="3348983021"/>
              </p:ext>
            </p:extLst>
          </p:nvPr>
        </p:nvGraphicFramePr>
        <p:xfrm>
          <a:off x="838200" y="1663568"/>
          <a:ext cx="10515600" cy="4369797"/>
        </p:xfrm>
        <a:graphic>
          <a:graphicData uri="http://schemas.openxmlformats.org/drawingml/2006/table">
            <a:tbl>
              <a:tblPr/>
              <a:tblGrid>
                <a:gridCol w="3505200">
                  <a:extLst>
                    <a:ext uri="{9D8B030D-6E8A-4147-A177-3AD203B41FA5}">
                      <a16:colId xmlns:a16="http://schemas.microsoft.com/office/drawing/2014/main" val="1004662635"/>
                    </a:ext>
                  </a:extLst>
                </a:gridCol>
                <a:gridCol w="3505200">
                  <a:extLst>
                    <a:ext uri="{9D8B030D-6E8A-4147-A177-3AD203B41FA5}">
                      <a16:colId xmlns:a16="http://schemas.microsoft.com/office/drawing/2014/main" val="3834945051"/>
                    </a:ext>
                  </a:extLst>
                </a:gridCol>
                <a:gridCol w="3505200">
                  <a:extLst>
                    <a:ext uri="{9D8B030D-6E8A-4147-A177-3AD203B41FA5}">
                      <a16:colId xmlns:a16="http://schemas.microsoft.com/office/drawing/2014/main" val="4256889006"/>
                    </a:ext>
                  </a:extLst>
                </a:gridCol>
              </a:tblGrid>
              <a:tr h="276275">
                <a:tc>
                  <a:txBody>
                    <a:bodyPr/>
                    <a:lstStyle/>
                    <a:p>
                      <a:pPr fontAlgn="b"/>
                      <a:r>
                        <a:rPr lang="en-IN" sz="1400" b="1">
                          <a:effectLst/>
                        </a:rPr>
                        <a:t>Feature</a:t>
                      </a:r>
                    </a:p>
                  </a:txBody>
                  <a:tcPr marL="69069" marR="69069" marT="34534" marB="34534" anchor="b">
                    <a:lnL w="9525" cap="flat" cmpd="sng" algn="ctr">
                      <a:solidFill>
                        <a:srgbClr val="00159F"/>
                      </a:solidFill>
                      <a:prstDash val="solid"/>
                      <a:round/>
                      <a:headEnd type="none" w="med" len="med"/>
                      <a:tailEnd type="none" w="med" len="med"/>
                    </a:lnL>
                    <a:lnR w="9525" cap="flat" cmpd="sng" algn="ctr">
                      <a:solidFill>
                        <a:srgbClr val="A0239F"/>
                      </a:solidFill>
                      <a:prstDash val="solid"/>
                      <a:round/>
                      <a:headEnd type="none" w="med" len="med"/>
                      <a:tailEnd type="none" w="med" len="med"/>
                    </a:lnR>
                    <a:lnT w="9525" cap="flat" cmpd="sng" algn="ctr">
                      <a:solidFill>
                        <a:srgbClr val="00159F"/>
                      </a:solidFill>
                      <a:prstDash val="solid"/>
                      <a:round/>
                      <a:headEnd type="none" w="med" len="med"/>
                      <a:tailEnd type="none" w="med" len="med"/>
                    </a:lnT>
                    <a:lnB w="12700" cap="flat" cmpd="sng" algn="ctr">
                      <a:solidFill>
                        <a:srgbClr val="603C9F"/>
                      </a:solidFill>
                      <a:prstDash val="solid"/>
                      <a:round/>
                      <a:headEnd type="none" w="med" len="med"/>
                      <a:tailEnd type="none" w="med" len="med"/>
                    </a:lnB>
                    <a:solidFill>
                      <a:srgbClr val="FFFFFF"/>
                    </a:solidFill>
                  </a:tcPr>
                </a:tc>
                <a:tc>
                  <a:txBody>
                    <a:bodyPr/>
                    <a:lstStyle/>
                    <a:p>
                      <a:pPr fontAlgn="b"/>
                      <a:r>
                        <a:rPr lang="en-IN" sz="1400" b="1">
                          <a:effectLst/>
                        </a:rPr>
                        <a:t>Linear Regression</a:t>
                      </a:r>
                    </a:p>
                  </a:txBody>
                  <a:tcPr marL="69069" marR="69069" marT="34534" marB="34534" anchor="b">
                    <a:lnL w="9525" cap="flat" cmpd="sng" algn="ctr">
                      <a:solidFill>
                        <a:srgbClr val="A0239F"/>
                      </a:solidFill>
                      <a:prstDash val="solid"/>
                      <a:round/>
                      <a:headEnd type="none" w="med" len="med"/>
                      <a:tailEnd type="none" w="med" len="med"/>
                    </a:lnL>
                    <a:lnR w="9525" cap="flat" cmpd="sng" algn="ctr">
                      <a:solidFill>
                        <a:srgbClr val="60069F"/>
                      </a:solidFill>
                      <a:prstDash val="solid"/>
                      <a:round/>
                      <a:headEnd type="none" w="med" len="med"/>
                      <a:tailEnd type="none" w="med" len="med"/>
                    </a:lnR>
                    <a:lnT w="9525" cap="flat" cmpd="sng" algn="ctr">
                      <a:solidFill>
                        <a:srgbClr val="A0239F"/>
                      </a:solidFill>
                      <a:prstDash val="solid"/>
                      <a:round/>
                      <a:headEnd type="none" w="med" len="med"/>
                      <a:tailEnd type="none" w="med" len="med"/>
                    </a:lnT>
                    <a:lnB w="12700" cap="flat" cmpd="sng" algn="ctr">
                      <a:solidFill>
                        <a:srgbClr val="80CA9F"/>
                      </a:solidFill>
                      <a:prstDash val="solid"/>
                      <a:round/>
                      <a:headEnd type="none" w="med" len="med"/>
                      <a:tailEnd type="none" w="med" len="med"/>
                    </a:lnB>
                    <a:solidFill>
                      <a:srgbClr val="FFFFFF"/>
                    </a:solidFill>
                  </a:tcPr>
                </a:tc>
                <a:tc>
                  <a:txBody>
                    <a:bodyPr/>
                    <a:lstStyle/>
                    <a:p>
                      <a:pPr fontAlgn="b"/>
                      <a:r>
                        <a:rPr lang="en-IN" sz="1400" b="1">
                          <a:effectLst/>
                        </a:rPr>
                        <a:t>Logistic Regression</a:t>
                      </a:r>
                    </a:p>
                  </a:txBody>
                  <a:tcPr marL="69069" marR="69069" marT="34534" marB="34534" anchor="b">
                    <a:lnL w="9525" cap="flat" cmpd="sng" algn="ctr">
                      <a:solidFill>
                        <a:srgbClr val="60069F"/>
                      </a:solidFill>
                      <a:prstDash val="solid"/>
                      <a:round/>
                      <a:headEnd type="none" w="med" len="med"/>
                      <a:tailEnd type="none" w="med" len="med"/>
                    </a:lnL>
                    <a:lnR w="9525" cap="flat" cmpd="sng" algn="ctr">
                      <a:solidFill>
                        <a:srgbClr val="60069F"/>
                      </a:solidFill>
                      <a:prstDash val="solid"/>
                      <a:round/>
                      <a:headEnd type="none" w="med" len="med"/>
                      <a:tailEnd type="none" w="med" len="med"/>
                    </a:lnR>
                    <a:lnT w="9525" cap="flat" cmpd="sng" algn="ctr">
                      <a:solidFill>
                        <a:srgbClr val="60069F"/>
                      </a:solidFill>
                      <a:prstDash val="solid"/>
                      <a:round/>
                      <a:headEnd type="none" w="med" len="med"/>
                      <a:tailEnd type="none" w="med" len="med"/>
                    </a:lnT>
                    <a:lnB w="12700" cap="flat" cmpd="sng" algn="ctr">
                      <a:solidFill>
                        <a:srgbClr val="A08B9D"/>
                      </a:solidFill>
                      <a:prstDash val="solid"/>
                      <a:round/>
                      <a:headEnd type="none" w="med" len="med"/>
                      <a:tailEnd type="none" w="med" len="med"/>
                    </a:lnB>
                    <a:solidFill>
                      <a:srgbClr val="FFFFFF"/>
                    </a:solidFill>
                  </a:tcPr>
                </a:tc>
                <a:extLst>
                  <a:ext uri="{0D108BD9-81ED-4DB2-BD59-A6C34878D82A}">
                    <a16:rowId xmlns:a16="http://schemas.microsoft.com/office/drawing/2014/main" val="1668330617"/>
                  </a:ext>
                </a:extLst>
              </a:tr>
              <a:tr h="276275">
                <a:tc>
                  <a:txBody>
                    <a:bodyPr/>
                    <a:lstStyle/>
                    <a:p>
                      <a:pPr fontAlgn="base"/>
                      <a:r>
                        <a:rPr lang="en-IN" sz="1400">
                          <a:effectLst/>
                        </a:rPr>
                        <a:t>Outcome Variable</a:t>
                      </a:r>
                    </a:p>
                  </a:txBody>
                  <a:tcPr marL="69069" marR="69069" marT="34534" marB="34534" anchor="ctr">
                    <a:lnL w="9525" cap="flat" cmpd="sng" algn="ctr">
                      <a:solidFill>
                        <a:srgbClr val="603C9F"/>
                      </a:solidFill>
                      <a:prstDash val="solid"/>
                      <a:round/>
                      <a:headEnd type="none" w="med" len="med"/>
                      <a:tailEnd type="none" w="med" len="med"/>
                    </a:lnL>
                    <a:lnR w="9525" cap="flat" cmpd="sng" algn="ctr">
                      <a:solidFill>
                        <a:srgbClr val="80CA9F"/>
                      </a:solidFill>
                      <a:prstDash val="solid"/>
                      <a:round/>
                      <a:headEnd type="none" w="med" len="med"/>
                      <a:tailEnd type="none" w="med" len="med"/>
                    </a:lnR>
                    <a:lnT w="12700" cap="flat" cmpd="sng" algn="ctr">
                      <a:solidFill>
                        <a:srgbClr val="603C9F"/>
                      </a:solidFill>
                      <a:prstDash val="solid"/>
                      <a:round/>
                      <a:headEnd type="none" w="med" len="med"/>
                      <a:tailEnd type="none" w="med" len="med"/>
                    </a:lnT>
                    <a:lnB w="12700" cap="flat" cmpd="sng" algn="ctr">
                      <a:solidFill>
                        <a:srgbClr val="308C9C"/>
                      </a:solidFill>
                      <a:prstDash val="solid"/>
                      <a:round/>
                      <a:headEnd type="none" w="med" len="med"/>
                      <a:tailEnd type="none" w="med" len="med"/>
                    </a:lnB>
                    <a:solidFill>
                      <a:srgbClr val="FFFFFF"/>
                    </a:solidFill>
                  </a:tcPr>
                </a:tc>
                <a:tc>
                  <a:txBody>
                    <a:bodyPr/>
                    <a:lstStyle/>
                    <a:p>
                      <a:pPr fontAlgn="base"/>
                      <a:r>
                        <a:rPr lang="en-IN" sz="1400">
                          <a:effectLst/>
                        </a:rPr>
                        <a:t>Continuous</a:t>
                      </a:r>
                    </a:p>
                  </a:txBody>
                  <a:tcPr marL="69069" marR="69069" marT="34534" marB="34534" anchor="ctr">
                    <a:lnL w="9525" cap="flat" cmpd="sng" algn="ctr">
                      <a:solidFill>
                        <a:srgbClr val="80CA9F"/>
                      </a:solidFill>
                      <a:prstDash val="solid"/>
                      <a:round/>
                      <a:headEnd type="none" w="med" len="med"/>
                      <a:tailEnd type="none" w="med" len="med"/>
                    </a:lnL>
                    <a:lnR w="9525" cap="flat" cmpd="sng" algn="ctr">
                      <a:solidFill>
                        <a:srgbClr val="A08B9D"/>
                      </a:solidFill>
                      <a:prstDash val="solid"/>
                      <a:round/>
                      <a:headEnd type="none" w="med" len="med"/>
                      <a:tailEnd type="none" w="med" len="med"/>
                    </a:lnR>
                    <a:lnT w="12700" cap="flat" cmpd="sng" algn="ctr">
                      <a:solidFill>
                        <a:srgbClr val="80CA9F"/>
                      </a:solidFill>
                      <a:prstDash val="solid"/>
                      <a:round/>
                      <a:headEnd type="none" w="med" len="med"/>
                      <a:tailEnd type="none" w="med" len="med"/>
                    </a:lnT>
                    <a:lnB w="12700" cap="flat" cmpd="sng" algn="ctr">
                      <a:solidFill>
                        <a:srgbClr val="90B69C"/>
                      </a:solidFill>
                      <a:prstDash val="solid"/>
                      <a:round/>
                      <a:headEnd type="none" w="med" len="med"/>
                      <a:tailEnd type="none" w="med" len="med"/>
                    </a:lnB>
                    <a:solidFill>
                      <a:srgbClr val="FFFFFF"/>
                    </a:solidFill>
                  </a:tcPr>
                </a:tc>
                <a:tc>
                  <a:txBody>
                    <a:bodyPr/>
                    <a:lstStyle/>
                    <a:p>
                      <a:pPr fontAlgn="base"/>
                      <a:r>
                        <a:rPr lang="en-IN" sz="1400">
                          <a:effectLst/>
                        </a:rPr>
                        <a:t>Binary (0 or 1)</a:t>
                      </a:r>
                    </a:p>
                  </a:txBody>
                  <a:tcPr marL="69069" marR="69069" marT="34534" marB="34534" anchor="ctr">
                    <a:lnL w="9525" cap="flat" cmpd="sng" algn="ctr">
                      <a:solidFill>
                        <a:srgbClr val="A08B9D"/>
                      </a:solidFill>
                      <a:prstDash val="solid"/>
                      <a:round/>
                      <a:headEnd type="none" w="med" len="med"/>
                      <a:tailEnd type="none" w="med" len="med"/>
                    </a:lnL>
                    <a:lnR w="9525" cap="flat" cmpd="sng" algn="ctr">
                      <a:solidFill>
                        <a:srgbClr val="A08B9D"/>
                      </a:solidFill>
                      <a:prstDash val="solid"/>
                      <a:round/>
                      <a:headEnd type="none" w="med" len="med"/>
                      <a:tailEnd type="none" w="med" len="med"/>
                    </a:lnR>
                    <a:lnT w="12700" cap="flat" cmpd="sng" algn="ctr">
                      <a:solidFill>
                        <a:srgbClr val="A08B9D"/>
                      </a:solidFill>
                      <a:prstDash val="solid"/>
                      <a:round/>
                      <a:headEnd type="none" w="med" len="med"/>
                      <a:tailEnd type="none" w="med" len="med"/>
                    </a:lnT>
                    <a:lnB w="12700" cap="flat" cmpd="sng" algn="ctr">
                      <a:solidFill>
                        <a:srgbClr val="001B45"/>
                      </a:solidFill>
                      <a:prstDash val="solid"/>
                      <a:round/>
                      <a:headEnd type="none" w="med" len="med"/>
                      <a:tailEnd type="none" w="med" len="med"/>
                    </a:lnB>
                    <a:solidFill>
                      <a:srgbClr val="FFFFFF"/>
                    </a:solidFill>
                  </a:tcPr>
                </a:tc>
                <a:extLst>
                  <a:ext uri="{0D108BD9-81ED-4DB2-BD59-A6C34878D82A}">
                    <a16:rowId xmlns:a16="http://schemas.microsoft.com/office/drawing/2014/main" val="2745397851"/>
                  </a:ext>
                </a:extLst>
              </a:tr>
              <a:tr h="690689">
                <a:tc>
                  <a:txBody>
                    <a:bodyPr/>
                    <a:lstStyle/>
                    <a:p>
                      <a:pPr fontAlgn="base"/>
                      <a:r>
                        <a:rPr lang="en-IN" sz="1400">
                          <a:effectLst/>
                        </a:rPr>
                        <a:t>Model Equation</a:t>
                      </a:r>
                    </a:p>
                  </a:txBody>
                  <a:tcPr marL="69069" marR="69069" marT="34534" marB="34534" anchor="ctr">
                    <a:lnL w="9525" cap="flat" cmpd="sng" algn="ctr">
                      <a:solidFill>
                        <a:srgbClr val="308C9C"/>
                      </a:solidFill>
                      <a:prstDash val="solid"/>
                      <a:round/>
                      <a:headEnd type="none" w="med" len="med"/>
                      <a:tailEnd type="none" w="med" len="med"/>
                    </a:lnL>
                    <a:lnR w="9525" cap="flat" cmpd="sng" algn="ctr">
                      <a:solidFill>
                        <a:srgbClr val="90B69C"/>
                      </a:solidFill>
                      <a:prstDash val="solid"/>
                      <a:round/>
                      <a:headEnd type="none" w="med" len="med"/>
                      <a:tailEnd type="none" w="med" len="med"/>
                    </a:lnR>
                    <a:lnT w="12700" cap="flat" cmpd="sng" algn="ctr">
                      <a:solidFill>
                        <a:srgbClr val="308C9C"/>
                      </a:solidFill>
                      <a:prstDash val="solid"/>
                      <a:round/>
                      <a:headEnd type="none" w="med" len="med"/>
                      <a:tailEnd type="none" w="med" len="med"/>
                    </a:lnT>
                    <a:lnB w="12700" cap="flat" cmpd="sng" algn="ctr">
                      <a:solidFill>
                        <a:srgbClr val="903944"/>
                      </a:solidFill>
                      <a:prstDash val="solid"/>
                      <a:round/>
                      <a:headEnd type="none" w="med" len="med"/>
                      <a:tailEnd type="none" w="med" len="med"/>
                    </a:lnB>
                    <a:solidFill>
                      <a:srgbClr val="FFFFFF"/>
                    </a:solidFill>
                  </a:tcPr>
                </a:tc>
                <a:tc>
                  <a:txBody>
                    <a:bodyPr/>
                    <a:lstStyle/>
                    <a:p>
                      <a:pPr fontAlgn="base"/>
                      <a:r>
                        <a:rPr lang="en-IN" sz="1400" dirty="0">
                          <a:effectLst/>
                          <a:latin typeface="KaTeX_Main"/>
                        </a:rPr>
                        <a:t>𝑦=𝛽</a:t>
                      </a:r>
                      <a:r>
                        <a:rPr lang="en-IN" sz="1400" baseline="-25000" dirty="0">
                          <a:effectLst/>
                          <a:latin typeface="KaTeX_Main"/>
                        </a:rPr>
                        <a:t>0</a:t>
                      </a:r>
                      <a:r>
                        <a:rPr lang="en-IN" sz="1400" dirty="0">
                          <a:effectLst/>
                          <a:latin typeface="KaTeX_Main"/>
                        </a:rPr>
                        <a:t>+𝛽</a:t>
                      </a:r>
                      <a:r>
                        <a:rPr lang="en-IN" sz="1400" baseline="-25000" dirty="0">
                          <a:effectLst/>
                          <a:latin typeface="KaTeX_Main"/>
                        </a:rPr>
                        <a:t>1</a:t>
                      </a:r>
                      <a:r>
                        <a:rPr lang="en-IN" sz="1400" dirty="0">
                          <a:effectLst/>
                          <a:latin typeface="KaTeX_Main"/>
                        </a:rPr>
                        <a:t>𝑥</a:t>
                      </a:r>
                      <a:r>
                        <a:rPr lang="en-IN" sz="1400" baseline="-25000" dirty="0">
                          <a:effectLst/>
                          <a:latin typeface="KaTeX_Main"/>
                        </a:rPr>
                        <a:t>1</a:t>
                      </a:r>
                      <a:r>
                        <a:rPr lang="en-IN" sz="1400" dirty="0">
                          <a:effectLst/>
                          <a:latin typeface="KaTeX_Main"/>
                        </a:rPr>
                        <a:t>+…+𝛽</a:t>
                      </a:r>
                      <a:r>
                        <a:rPr lang="en-IN" sz="1400" baseline="-25000" dirty="0">
                          <a:effectLst/>
                          <a:latin typeface="KaTeX_Main"/>
                        </a:rPr>
                        <a:t>𝑛</a:t>
                      </a:r>
                      <a:r>
                        <a:rPr lang="en-IN" sz="1400" dirty="0">
                          <a:effectLst/>
                          <a:latin typeface="KaTeX_Main"/>
                        </a:rPr>
                        <a:t>𝑥</a:t>
                      </a:r>
                      <a:r>
                        <a:rPr lang="en-IN" sz="1400" baseline="-25000" dirty="0">
                          <a:effectLst/>
                          <a:latin typeface="KaTeX_Main"/>
                        </a:rPr>
                        <a:t>𝑛</a:t>
                      </a:r>
                      <a:endParaRPr lang="en-IN" sz="1400" baseline="-25000" dirty="0">
                        <a:effectLst/>
                      </a:endParaRPr>
                    </a:p>
                  </a:txBody>
                  <a:tcPr marL="69069" marR="69069" marT="34534" marB="34534" anchor="ctr">
                    <a:lnL w="9525" cap="flat" cmpd="sng" algn="ctr">
                      <a:solidFill>
                        <a:srgbClr val="90B69C"/>
                      </a:solidFill>
                      <a:prstDash val="solid"/>
                      <a:round/>
                      <a:headEnd type="none" w="med" len="med"/>
                      <a:tailEnd type="none" w="med" len="med"/>
                    </a:lnL>
                    <a:lnR w="9525" cap="flat" cmpd="sng" algn="ctr">
                      <a:solidFill>
                        <a:srgbClr val="001B45"/>
                      </a:solidFill>
                      <a:prstDash val="solid"/>
                      <a:round/>
                      <a:headEnd type="none" w="med" len="med"/>
                      <a:tailEnd type="none" w="med" len="med"/>
                    </a:lnR>
                    <a:lnT w="12700" cap="flat" cmpd="sng" algn="ctr">
                      <a:solidFill>
                        <a:srgbClr val="90B69C"/>
                      </a:solidFill>
                      <a:prstDash val="solid"/>
                      <a:round/>
                      <a:headEnd type="none" w="med" len="med"/>
                      <a:tailEnd type="none" w="med" len="med"/>
                    </a:lnT>
                    <a:lnB w="12700" cap="flat" cmpd="sng" algn="ctr">
                      <a:solidFill>
                        <a:srgbClr val="605B44"/>
                      </a:solidFill>
                      <a:prstDash val="solid"/>
                      <a:round/>
                      <a:headEnd type="none" w="med" len="med"/>
                      <a:tailEnd type="none" w="med" len="med"/>
                    </a:lnB>
                    <a:solidFill>
                      <a:srgbClr val="FFFFFF"/>
                    </a:solidFill>
                  </a:tcPr>
                </a:tc>
                <a:tc>
                  <a:txBody>
                    <a:bodyPr/>
                    <a:lstStyle/>
                    <a:p>
                      <a:pPr fontAlgn="base"/>
                      <a:r>
                        <a:rPr lang="en-IN" sz="1400" dirty="0">
                          <a:effectLst/>
                          <a:latin typeface="KaTeX_Main"/>
                        </a:rPr>
                        <a:t>log(𝑝/1−𝑝)=𝛽</a:t>
                      </a:r>
                      <a:r>
                        <a:rPr lang="en-IN" sz="1400" baseline="-25000" dirty="0">
                          <a:effectLst/>
                          <a:latin typeface="KaTeX_Main"/>
                        </a:rPr>
                        <a:t>0</a:t>
                      </a:r>
                      <a:r>
                        <a:rPr lang="en-IN" sz="1400" dirty="0">
                          <a:effectLst/>
                          <a:latin typeface="KaTeX_Main"/>
                        </a:rPr>
                        <a:t>+𝛽</a:t>
                      </a:r>
                      <a:r>
                        <a:rPr lang="en-IN" sz="1400" baseline="-25000" dirty="0">
                          <a:effectLst/>
                          <a:latin typeface="KaTeX_Main"/>
                        </a:rPr>
                        <a:t>1</a:t>
                      </a:r>
                      <a:r>
                        <a:rPr lang="en-IN" sz="1400" dirty="0">
                          <a:effectLst/>
                          <a:latin typeface="KaTeX_Main"/>
                        </a:rPr>
                        <a:t>𝑥</a:t>
                      </a:r>
                      <a:r>
                        <a:rPr lang="en-IN" sz="1400" baseline="-25000" dirty="0">
                          <a:effectLst/>
                          <a:latin typeface="KaTeX_Main"/>
                        </a:rPr>
                        <a:t>1</a:t>
                      </a:r>
                      <a:r>
                        <a:rPr lang="en-IN" sz="1400" dirty="0">
                          <a:effectLst/>
                          <a:latin typeface="KaTeX_Main"/>
                        </a:rPr>
                        <a:t>+…+𝛽</a:t>
                      </a:r>
                      <a:r>
                        <a:rPr lang="en-IN" sz="1400" baseline="-25000" dirty="0">
                          <a:effectLst/>
                          <a:latin typeface="KaTeX_Main"/>
                        </a:rPr>
                        <a:t>𝑛</a:t>
                      </a:r>
                      <a:r>
                        <a:rPr lang="en-IN" sz="1400" dirty="0">
                          <a:effectLst/>
                          <a:latin typeface="KaTeX_Main"/>
                        </a:rPr>
                        <a:t>𝑥</a:t>
                      </a:r>
                      <a:r>
                        <a:rPr lang="en-IN" sz="1400" baseline="-25000" dirty="0">
                          <a:effectLst/>
                          <a:latin typeface="KaTeX_Main"/>
                        </a:rPr>
                        <a:t>𝑛</a:t>
                      </a:r>
                      <a:endParaRPr lang="en-IN" sz="1400" baseline="-25000" dirty="0">
                        <a:effectLst/>
                      </a:endParaRPr>
                    </a:p>
                  </a:txBody>
                  <a:tcPr marL="69069" marR="69069" marT="34534" marB="34534" anchor="ctr">
                    <a:lnL w="9525" cap="flat" cmpd="sng" algn="ctr">
                      <a:solidFill>
                        <a:srgbClr val="001B45"/>
                      </a:solidFill>
                      <a:prstDash val="solid"/>
                      <a:round/>
                      <a:headEnd type="none" w="med" len="med"/>
                      <a:tailEnd type="none" w="med" len="med"/>
                    </a:lnL>
                    <a:lnR w="9525" cap="flat" cmpd="sng" algn="ctr">
                      <a:solidFill>
                        <a:srgbClr val="001B45"/>
                      </a:solidFill>
                      <a:prstDash val="solid"/>
                      <a:round/>
                      <a:headEnd type="none" w="med" len="med"/>
                      <a:tailEnd type="none" w="med" len="med"/>
                    </a:lnR>
                    <a:lnT w="12700" cap="flat" cmpd="sng" algn="ctr">
                      <a:solidFill>
                        <a:srgbClr val="001B45"/>
                      </a:solidFill>
                      <a:prstDash val="solid"/>
                      <a:round/>
                      <a:headEnd type="none" w="med" len="med"/>
                      <a:tailEnd type="none" w="med" len="med"/>
                    </a:lnT>
                    <a:lnB w="12700" cap="flat" cmpd="sng" algn="ctr">
                      <a:solidFill>
                        <a:srgbClr val="E09FBA"/>
                      </a:solidFill>
                      <a:prstDash val="solid"/>
                      <a:round/>
                      <a:headEnd type="none" w="med" len="med"/>
                      <a:tailEnd type="none" w="med" len="med"/>
                    </a:lnB>
                    <a:solidFill>
                      <a:srgbClr val="FFFFFF"/>
                    </a:solidFill>
                  </a:tcPr>
                </a:tc>
                <a:extLst>
                  <a:ext uri="{0D108BD9-81ED-4DB2-BD59-A6C34878D82A}">
                    <a16:rowId xmlns:a16="http://schemas.microsoft.com/office/drawing/2014/main" val="1496260360"/>
                  </a:ext>
                </a:extLst>
              </a:tr>
              <a:tr h="483482">
                <a:tc>
                  <a:txBody>
                    <a:bodyPr/>
                    <a:lstStyle/>
                    <a:p>
                      <a:pPr fontAlgn="base"/>
                      <a:r>
                        <a:rPr lang="en-IN" sz="1400">
                          <a:effectLst/>
                        </a:rPr>
                        <a:t>Output</a:t>
                      </a:r>
                    </a:p>
                  </a:txBody>
                  <a:tcPr marL="69069" marR="69069" marT="34534" marB="34534" anchor="ctr">
                    <a:lnL w="9525" cap="flat" cmpd="sng" algn="ctr">
                      <a:solidFill>
                        <a:srgbClr val="903944"/>
                      </a:solidFill>
                      <a:prstDash val="solid"/>
                      <a:round/>
                      <a:headEnd type="none" w="med" len="med"/>
                      <a:tailEnd type="none" w="med" len="med"/>
                    </a:lnL>
                    <a:lnR w="9525" cap="flat" cmpd="sng" algn="ctr">
                      <a:solidFill>
                        <a:srgbClr val="605B44"/>
                      </a:solidFill>
                      <a:prstDash val="solid"/>
                      <a:round/>
                      <a:headEnd type="none" w="med" len="med"/>
                      <a:tailEnd type="none" w="med" len="med"/>
                    </a:lnR>
                    <a:lnT w="12700" cap="flat" cmpd="sng" algn="ctr">
                      <a:solidFill>
                        <a:srgbClr val="903944"/>
                      </a:solidFill>
                      <a:prstDash val="solid"/>
                      <a:round/>
                      <a:headEnd type="none" w="med" len="med"/>
                      <a:tailEnd type="none" w="med" len="med"/>
                    </a:lnT>
                    <a:lnB w="12700" cap="flat" cmpd="sng" algn="ctr">
                      <a:solidFill>
                        <a:srgbClr val="202B6C"/>
                      </a:solidFill>
                      <a:prstDash val="solid"/>
                      <a:round/>
                      <a:headEnd type="none" w="med" len="med"/>
                      <a:tailEnd type="none" w="med" len="med"/>
                    </a:lnB>
                    <a:solidFill>
                      <a:srgbClr val="FFFFFF"/>
                    </a:solidFill>
                  </a:tcPr>
                </a:tc>
                <a:tc>
                  <a:txBody>
                    <a:bodyPr/>
                    <a:lstStyle/>
                    <a:p>
                      <a:pPr fontAlgn="base"/>
                      <a:r>
                        <a:rPr lang="en-IN" sz="1400">
                          <a:effectLst/>
                        </a:rPr>
                        <a:t>Continuous value</a:t>
                      </a:r>
                    </a:p>
                  </a:txBody>
                  <a:tcPr marL="69069" marR="69069" marT="34534" marB="34534" anchor="ctr">
                    <a:lnL w="9525" cap="flat" cmpd="sng" algn="ctr">
                      <a:solidFill>
                        <a:srgbClr val="605B44"/>
                      </a:solidFill>
                      <a:prstDash val="solid"/>
                      <a:round/>
                      <a:headEnd type="none" w="med" len="med"/>
                      <a:tailEnd type="none" w="med" len="med"/>
                    </a:lnL>
                    <a:lnR w="9525" cap="flat" cmpd="sng" algn="ctr">
                      <a:solidFill>
                        <a:srgbClr val="E09FBA"/>
                      </a:solidFill>
                      <a:prstDash val="solid"/>
                      <a:round/>
                      <a:headEnd type="none" w="med" len="med"/>
                      <a:tailEnd type="none" w="med" len="med"/>
                    </a:lnR>
                    <a:lnT w="12700" cap="flat" cmpd="sng" algn="ctr">
                      <a:solidFill>
                        <a:srgbClr val="605B44"/>
                      </a:solidFill>
                      <a:prstDash val="solid"/>
                      <a:round/>
                      <a:headEnd type="none" w="med" len="med"/>
                      <a:tailEnd type="none" w="med" len="med"/>
                    </a:lnT>
                    <a:lnB w="12700" cap="flat" cmpd="sng" algn="ctr">
                      <a:solidFill>
                        <a:srgbClr val="E0B1B8"/>
                      </a:solidFill>
                      <a:prstDash val="solid"/>
                      <a:round/>
                      <a:headEnd type="none" w="med" len="med"/>
                      <a:tailEnd type="none" w="med" len="med"/>
                    </a:lnB>
                    <a:solidFill>
                      <a:srgbClr val="FFFFFF"/>
                    </a:solidFill>
                  </a:tcPr>
                </a:tc>
                <a:tc>
                  <a:txBody>
                    <a:bodyPr/>
                    <a:lstStyle/>
                    <a:p>
                      <a:pPr fontAlgn="base"/>
                      <a:r>
                        <a:rPr lang="en-IN" sz="1400">
                          <a:effectLst/>
                        </a:rPr>
                        <a:t>Probability (between 0 and 1)</a:t>
                      </a:r>
                    </a:p>
                  </a:txBody>
                  <a:tcPr marL="69069" marR="69069" marT="34534" marB="34534" anchor="ctr">
                    <a:lnL w="9525" cap="flat" cmpd="sng" algn="ctr">
                      <a:solidFill>
                        <a:srgbClr val="E09FBA"/>
                      </a:solidFill>
                      <a:prstDash val="solid"/>
                      <a:round/>
                      <a:headEnd type="none" w="med" len="med"/>
                      <a:tailEnd type="none" w="med" len="med"/>
                    </a:lnL>
                    <a:lnR w="9525" cap="flat" cmpd="sng" algn="ctr">
                      <a:solidFill>
                        <a:srgbClr val="E09FBA"/>
                      </a:solidFill>
                      <a:prstDash val="solid"/>
                      <a:round/>
                      <a:headEnd type="none" w="med" len="med"/>
                      <a:tailEnd type="none" w="med" len="med"/>
                    </a:lnR>
                    <a:lnT w="12700" cap="flat" cmpd="sng" algn="ctr">
                      <a:solidFill>
                        <a:srgbClr val="E09FBA"/>
                      </a:solidFill>
                      <a:prstDash val="solid"/>
                      <a:round/>
                      <a:headEnd type="none" w="med" len="med"/>
                      <a:tailEnd type="none" w="med" len="med"/>
                    </a:lnT>
                    <a:lnB w="12700" cap="flat" cmpd="sng" algn="ctr">
                      <a:solidFill>
                        <a:srgbClr val="70FEB8"/>
                      </a:solidFill>
                      <a:prstDash val="solid"/>
                      <a:round/>
                      <a:headEnd type="none" w="med" len="med"/>
                      <a:tailEnd type="none" w="med" len="med"/>
                    </a:lnB>
                    <a:solidFill>
                      <a:srgbClr val="FFFFFF"/>
                    </a:solidFill>
                  </a:tcPr>
                </a:tc>
                <a:extLst>
                  <a:ext uri="{0D108BD9-81ED-4DB2-BD59-A6C34878D82A}">
                    <a16:rowId xmlns:a16="http://schemas.microsoft.com/office/drawing/2014/main" val="2413413676"/>
                  </a:ext>
                </a:extLst>
              </a:tr>
              <a:tr h="276275">
                <a:tc>
                  <a:txBody>
                    <a:bodyPr/>
                    <a:lstStyle/>
                    <a:p>
                      <a:pPr fontAlgn="base"/>
                      <a:r>
                        <a:rPr lang="en-IN" sz="1400">
                          <a:effectLst/>
                        </a:rPr>
                        <a:t>Link Function</a:t>
                      </a:r>
                    </a:p>
                  </a:txBody>
                  <a:tcPr marL="69069" marR="69069" marT="34534" marB="34534" anchor="ctr">
                    <a:lnL w="9525" cap="flat" cmpd="sng" algn="ctr">
                      <a:solidFill>
                        <a:srgbClr val="202B6C"/>
                      </a:solidFill>
                      <a:prstDash val="solid"/>
                      <a:round/>
                      <a:headEnd type="none" w="med" len="med"/>
                      <a:tailEnd type="none" w="med" len="med"/>
                    </a:lnL>
                    <a:lnR w="9525" cap="flat" cmpd="sng" algn="ctr">
                      <a:solidFill>
                        <a:srgbClr val="E0B1B8"/>
                      </a:solidFill>
                      <a:prstDash val="solid"/>
                      <a:round/>
                      <a:headEnd type="none" w="med" len="med"/>
                      <a:tailEnd type="none" w="med" len="med"/>
                    </a:lnR>
                    <a:lnT w="12700" cap="flat" cmpd="sng" algn="ctr">
                      <a:solidFill>
                        <a:srgbClr val="202B6C"/>
                      </a:solidFill>
                      <a:prstDash val="solid"/>
                      <a:round/>
                      <a:headEnd type="none" w="med" len="med"/>
                      <a:tailEnd type="none" w="med" len="med"/>
                    </a:lnT>
                    <a:lnB w="12700" cap="flat" cmpd="sng" algn="ctr">
                      <a:solidFill>
                        <a:srgbClr val="40E0BC"/>
                      </a:solidFill>
                      <a:prstDash val="solid"/>
                      <a:round/>
                      <a:headEnd type="none" w="med" len="med"/>
                      <a:tailEnd type="none" w="med" len="med"/>
                    </a:lnB>
                    <a:solidFill>
                      <a:srgbClr val="FFFFFF"/>
                    </a:solidFill>
                  </a:tcPr>
                </a:tc>
                <a:tc>
                  <a:txBody>
                    <a:bodyPr/>
                    <a:lstStyle/>
                    <a:p>
                      <a:pPr fontAlgn="base"/>
                      <a:r>
                        <a:rPr lang="en-IN" sz="1400">
                          <a:effectLst/>
                        </a:rPr>
                        <a:t>Identity</a:t>
                      </a:r>
                    </a:p>
                  </a:txBody>
                  <a:tcPr marL="69069" marR="69069" marT="34534" marB="34534" anchor="ctr">
                    <a:lnL w="9525" cap="flat" cmpd="sng" algn="ctr">
                      <a:solidFill>
                        <a:srgbClr val="E0B1B8"/>
                      </a:solidFill>
                      <a:prstDash val="solid"/>
                      <a:round/>
                      <a:headEnd type="none" w="med" len="med"/>
                      <a:tailEnd type="none" w="med" len="med"/>
                    </a:lnL>
                    <a:lnR w="9525" cap="flat" cmpd="sng" algn="ctr">
                      <a:solidFill>
                        <a:srgbClr val="70FEB8"/>
                      </a:solidFill>
                      <a:prstDash val="solid"/>
                      <a:round/>
                      <a:headEnd type="none" w="med" len="med"/>
                      <a:tailEnd type="none" w="med" len="med"/>
                    </a:lnR>
                    <a:lnT w="12700" cap="flat" cmpd="sng" algn="ctr">
                      <a:solidFill>
                        <a:srgbClr val="E0B1B8"/>
                      </a:solidFill>
                      <a:prstDash val="solid"/>
                      <a:round/>
                      <a:headEnd type="none" w="med" len="med"/>
                      <a:tailEnd type="none" w="med" len="med"/>
                    </a:lnT>
                    <a:lnB w="12700" cap="flat" cmpd="sng" algn="ctr">
                      <a:solidFill>
                        <a:srgbClr val="106946"/>
                      </a:solidFill>
                      <a:prstDash val="solid"/>
                      <a:round/>
                      <a:headEnd type="none" w="med" len="med"/>
                      <a:tailEnd type="none" w="med" len="med"/>
                    </a:lnB>
                    <a:solidFill>
                      <a:srgbClr val="FFFFFF"/>
                    </a:solidFill>
                  </a:tcPr>
                </a:tc>
                <a:tc>
                  <a:txBody>
                    <a:bodyPr/>
                    <a:lstStyle/>
                    <a:p>
                      <a:pPr fontAlgn="base"/>
                      <a:r>
                        <a:rPr lang="en-IN" sz="1400">
                          <a:effectLst/>
                        </a:rPr>
                        <a:t>Logistic (Sigmoid)</a:t>
                      </a:r>
                    </a:p>
                  </a:txBody>
                  <a:tcPr marL="69069" marR="69069" marT="34534" marB="34534" anchor="ctr">
                    <a:lnL w="9525" cap="flat" cmpd="sng" algn="ctr">
                      <a:solidFill>
                        <a:srgbClr val="70FEB8"/>
                      </a:solidFill>
                      <a:prstDash val="solid"/>
                      <a:round/>
                      <a:headEnd type="none" w="med" len="med"/>
                      <a:tailEnd type="none" w="med" len="med"/>
                    </a:lnL>
                    <a:lnR w="9525" cap="flat" cmpd="sng" algn="ctr">
                      <a:solidFill>
                        <a:srgbClr val="70FEB8"/>
                      </a:solidFill>
                      <a:prstDash val="solid"/>
                      <a:round/>
                      <a:headEnd type="none" w="med" len="med"/>
                      <a:tailEnd type="none" w="med" len="med"/>
                    </a:lnR>
                    <a:lnT w="12700" cap="flat" cmpd="sng" algn="ctr">
                      <a:solidFill>
                        <a:srgbClr val="70FEB8"/>
                      </a:solidFill>
                      <a:prstDash val="solid"/>
                      <a:round/>
                      <a:headEnd type="none" w="med" len="med"/>
                      <a:tailEnd type="none" w="med" len="med"/>
                    </a:lnT>
                    <a:lnB w="12700" cap="flat" cmpd="sng" algn="ctr">
                      <a:solidFill>
                        <a:srgbClr val="D05DBE"/>
                      </a:solidFill>
                      <a:prstDash val="solid"/>
                      <a:round/>
                      <a:headEnd type="none" w="med" len="med"/>
                      <a:tailEnd type="none" w="med" len="med"/>
                    </a:lnB>
                    <a:solidFill>
                      <a:srgbClr val="FFFFFF"/>
                    </a:solidFill>
                  </a:tcPr>
                </a:tc>
                <a:extLst>
                  <a:ext uri="{0D108BD9-81ED-4DB2-BD59-A6C34878D82A}">
                    <a16:rowId xmlns:a16="http://schemas.microsoft.com/office/drawing/2014/main" val="4276140607"/>
                  </a:ext>
                </a:extLst>
              </a:tr>
              <a:tr h="483482">
                <a:tc>
                  <a:txBody>
                    <a:bodyPr/>
                    <a:lstStyle/>
                    <a:p>
                      <a:pPr fontAlgn="base"/>
                      <a:r>
                        <a:rPr lang="en-IN" sz="1400">
                          <a:effectLst/>
                        </a:rPr>
                        <a:t>Error Structure</a:t>
                      </a:r>
                    </a:p>
                  </a:txBody>
                  <a:tcPr marL="69069" marR="69069" marT="34534" marB="34534" anchor="ctr">
                    <a:lnL w="9525" cap="flat" cmpd="sng" algn="ctr">
                      <a:solidFill>
                        <a:srgbClr val="40E0BC"/>
                      </a:solidFill>
                      <a:prstDash val="solid"/>
                      <a:round/>
                      <a:headEnd type="none" w="med" len="med"/>
                      <a:tailEnd type="none" w="med" len="med"/>
                    </a:lnL>
                    <a:lnR w="9525" cap="flat" cmpd="sng" algn="ctr">
                      <a:solidFill>
                        <a:srgbClr val="106946"/>
                      </a:solidFill>
                      <a:prstDash val="solid"/>
                      <a:round/>
                      <a:headEnd type="none" w="med" len="med"/>
                      <a:tailEnd type="none" w="med" len="med"/>
                    </a:lnR>
                    <a:lnT w="12700" cap="flat" cmpd="sng" algn="ctr">
                      <a:solidFill>
                        <a:srgbClr val="40E0BC"/>
                      </a:solidFill>
                      <a:prstDash val="solid"/>
                      <a:round/>
                      <a:headEnd type="none" w="med" len="med"/>
                      <a:tailEnd type="none" w="med" len="med"/>
                    </a:lnT>
                    <a:lnB w="12700" cap="flat" cmpd="sng" algn="ctr">
                      <a:solidFill>
                        <a:srgbClr val="50AEB0"/>
                      </a:solidFill>
                      <a:prstDash val="solid"/>
                      <a:round/>
                      <a:headEnd type="none" w="med" len="med"/>
                      <a:tailEnd type="none" w="med" len="med"/>
                    </a:lnB>
                    <a:solidFill>
                      <a:srgbClr val="FFFFFF"/>
                    </a:solidFill>
                  </a:tcPr>
                </a:tc>
                <a:tc>
                  <a:txBody>
                    <a:bodyPr/>
                    <a:lstStyle/>
                    <a:p>
                      <a:pPr fontAlgn="base"/>
                      <a:r>
                        <a:rPr lang="en-IN" sz="1400">
                          <a:effectLst/>
                        </a:rPr>
                        <a:t>Normally distributed residuals</a:t>
                      </a:r>
                    </a:p>
                  </a:txBody>
                  <a:tcPr marL="69069" marR="69069" marT="34534" marB="34534" anchor="ctr">
                    <a:lnL w="9525" cap="flat" cmpd="sng" algn="ctr">
                      <a:solidFill>
                        <a:srgbClr val="106946"/>
                      </a:solidFill>
                      <a:prstDash val="solid"/>
                      <a:round/>
                      <a:headEnd type="none" w="med" len="med"/>
                      <a:tailEnd type="none" w="med" len="med"/>
                    </a:lnL>
                    <a:lnR w="9525" cap="flat" cmpd="sng" algn="ctr">
                      <a:solidFill>
                        <a:srgbClr val="D05DBE"/>
                      </a:solidFill>
                      <a:prstDash val="solid"/>
                      <a:round/>
                      <a:headEnd type="none" w="med" len="med"/>
                      <a:tailEnd type="none" w="med" len="med"/>
                    </a:lnR>
                    <a:lnT w="12700" cap="flat" cmpd="sng" algn="ctr">
                      <a:solidFill>
                        <a:srgbClr val="106946"/>
                      </a:solidFill>
                      <a:prstDash val="solid"/>
                      <a:round/>
                      <a:headEnd type="none" w="med" len="med"/>
                      <a:tailEnd type="none" w="med" len="med"/>
                    </a:lnT>
                    <a:lnB w="12700" cap="flat" cmpd="sng" algn="ctr">
                      <a:solidFill>
                        <a:srgbClr val="E09346"/>
                      </a:solidFill>
                      <a:prstDash val="solid"/>
                      <a:round/>
                      <a:headEnd type="none" w="med" len="med"/>
                      <a:tailEnd type="none" w="med" len="med"/>
                    </a:lnB>
                    <a:solidFill>
                      <a:srgbClr val="FFFFFF"/>
                    </a:solidFill>
                  </a:tcPr>
                </a:tc>
                <a:tc>
                  <a:txBody>
                    <a:bodyPr/>
                    <a:lstStyle/>
                    <a:p>
                      <a:pPr fontAlgn="base"/>
                      <a:r>
                        <a:rPr lang="en-IN" sz="1400">
                          <a:effectLst/>
                        </a:rPr>
                        <a:t>Binomial distribution of the outcome</a:t>
                      </a:r>
                    </a:p>
                  </a:txBody>
                  <a:tcPr marL="69069" marR="69069" marT="34534" marB="34534" anchor="ctr">
                    <a:lnL w="9525" cap="flat" cmpd="sng" algn="ctr">
                      <a:solidFill>
                        <a:srgbClr val="D05DBE"/>
                      </a:solidFill>
                      <a:prstDash val="solid"/>
                      <a:round/>
                      <a:headEnd type="none" w="med" len="med"/>
                      <a:tailEnd type="none" w="med" len="med"/>
                    </a:lnL>
                    <a:lnR w="9525" cap="flat" cmpd="sng" algn="ctr">
                      <a:solidFill>
                        <a:srgbClr val="D05DBE"/>
                      </a:solidFill>
                      <a:prstDash val="solid"/>
                      <a:round/>
                      <a:headEnd type="none" w="med" len="med"/>
                      <a:tailEnd type="none" w="med" len="med"/>
                    </a:lnR>
                    <a:lnT w="12700" cap="flat" cmpd="sng" algn="ctr">
                      <a:solidFill>
                        <a:srgbClr val="D05DBE"/>
                      </a:solidFill>
                      <a:prstDash val="solid"/>
                      <a:round/>
                      <a:headEnd type="none" w="med" len="med"/>
                      <a:tailEnd type="none" w="med" len="med"/>
                    </a:lnT>
                    <a:lnB w="12700" cap="flat" cmpd="sng" algn="ctr">
                      <a:solidFill>
                        <a:srgbClr val="10E6B6"/>
                      </a:solidFill>
                      <a:prstDash val="solid"/>
                      <a:round/>
                      <a:headEnd type="none" w="med" len="med"/>
                      <a:tailEnd type="none" w="med" len="med"/>
                    </a:lnB>
                    <a:solidFill>
                      <a:srgbClr val="FFFFFF"/>
                    </a:solidFill>
                  </a:tcPr>
                </a:tc>
                <a:extLst>
                  <a:ext uri="{0D108BD9-81ED-4DB2-BD59-A6C34878D82A}">
                    <a16:rowId xmlns:a16="http://schemas.microsoft.com/office/drawing/2014/main" val="2625111585"/>
                  </a:ext>
                </a:extLst>
              </a:tr>
              <a:tr h="483482">
                <a:tc>
                  <a:txBody>
                    <a:bodyPr/>
                    <a:lstStyle/>
                    <a:p>
                      <a:pPr fontAlgn="base"/>
                      <a:r>
                        <a:rPr lang="en-IN" sz="1400">
                          <a:effectLst/>
                        </a:rPr>
                        <a:t>Objective Function</a:t>
                      </a:r>
                    </a:p>
                  </a:txBody>
                  <a:tcPr marL="69069" marR="69069" marT="34534" marB="34534" anchor="ctr">
                    <a:lnL w="9525" cap="flat" cmpd="sng" algn="ctr">
                      <a:solidFill>
                        <a:srgbClr val="50AEB0"/>
                      </a:solidFill>
                      <a:prstDash val="solid"/>
                      <a:round/>
                      <a:headEnd type="none" w="med" len="med"/>
                      <a:tailEnd type="none" w="med" len="med"/>
                    </a:lnL>
                    <a:lnR w="9525" cap="flat" cmpd="sng" algn="ctr">
                      <a:solidFill>
                        <a:srgbClr val="E09346"/>
                      </a:solidFill>
                      <a:prstDash val="solid"/>
                      <a:round/>
                      <a:headEnd type="none" w="med" len="med"/>
                      <a:tailEnd type="none" w="med" len="med"/>
                    </a:lnR>
                    <a:lnT w="12700" cap="flat" cmpd="sng" algn="ctr">
                      <a:solidFill>
                        <a:srgbClr val="50AEB0"/>
                      </a:solidFill>
                      <a:prstDash val="solid"/>
                      <a:round/>
                      <a:headEnd type="none" w="med" len="med"/>
                      <a:tailEnd type="none" w="med" len="med"/>
                    </a:lnT>
                    <a:lnB w="12700" cap="flat" cmpd="sng" algn="ctr">
                      <a:solidFill>
                        <a:srgbClr val="8028B7"/>
                      </a:solidFill>
                      <a:prstDash val="solid"/>
                      <a:round/>
                      <a:headEnd type="none" w="med" len="med"/>
                      <a:tailEnd type="none" w="med" len="med"/>
                    </a:lnB>
                    <a:solidFill>
                      <a:srgbClr val="FFFFFF"/>
                    </a:solidFill>
                  </a:tcPr>
                </a:tc>
                <a:tc>
                  <a:txBody>
                    <a:bodyPr/>
                    <a:lstStyle/>
                    <a:p>
                      <a:pPr fontAlgn="base"/>
                      <a:r>
                        <a:rPr lang="en-IN" sz="1400">
                          <a:effectLst/>
                        </a:rPr>
                        <a:t>Minimize sum of squared errors (SSE)</a:t>
                      </a:r>
                    </a:p>
                  </a:txBody>
                  <a:tcPr marL="69069" marR="69069" marT="34534" marB="34534" anchor="ctr">
                    <a:lnL w="9525" cap="flat" cmpd="sng" algn="ctr">
                      <a:solidFill>
                        <a:srgbClr val="E09346"/>
                      </a:solidFill>
                      <a:prstDash val="solid"/>
                      <a:round/>
                      <a:headEnd type="none" w="med" len="med"/>
                      <a:tailEnd type="none" w="med" len="med"/>
                    </a:lnL>
                    <a:lnR w="9525" cap="flat" cmpd="sng" algn="ctr">
                      <a:solidFill>
                        <a:srgbClr val="10E6B6"/>
                      </a:solidFill>
                      <a:prstDash val="solid"/>
                      <a:round/>
                      <a:headEnd type="none" w="med" len="med"/>
                      <a:tailEnd type="none" w="med" len="med"/>
                    </a:lnR>
                    <a:lnT w="12700" cap="flat" cmpd="sng" algn="ctr">
                      <a:solidFill>
                        <a:srgbClr val="E09346"/>
                      </a:solidFill>
                      <a:prstDash val="solid"/>
                      <a:round/>
                      <a:headEnd type="none" w="med" len="med"/>
                      <a:tailEnd type="none" w="med" len="med"/>
                    </a:lnT>
                    <a:lnB w="12700" cap="flat" cmpd="sng" algn="ctr">
                      <a:solidFill>
                        <a:srgbClr val="30C9B2"/>
                      </a:solidFill>
                      <a:prstDash val="solid"/>
                      <a:round/>
                      <a:headEnd type="none" w="med" len="med"/>
                      <a:tailEnd type="none" w="med" len="med"/>
                    </a:lnB>
                    <a:solidFill>
                      <a:srgbClr val="FFFFFF"/>
                    </a:solidFill>
                  </a:tcPr>
                </a:tc>
                <a:tc>
                  <a:txBody>
                    <a:bodyPr/>
                    <a:lstStyle/>
                    <a:p>
                      <a:pPr fontAlgn="base"/>
                      <a:r>
                        <a:rPr lang="en-IN" sz="1400">
                          <a:effectLst/>
                        </a:rPr>
                        <a:t>Maximize likelihood (MLE)</a:t>
                      </a:r>
                    </a:p>
                  </a:txBody>
                  <a:tcPr marL="69069" marR="69069" marT="34534" marB="34534" anchor="ctr">
                    <a:lnL w="9525" cap="flat" cmpd="sng" algn="ctr">
                      <a:solidFill>
                        <a:srgbClr val="10E6B6"/>
                      </a:solidFill>
                      <a:prstDash val="solid"/>
                      <a:round/>
                      <a:headEnd type="none" w="med" len="med"/>
                      <a:tailEnd type="none" w="med" len="med"/>
                    </a:lnL>
                    <a:lnR w="9525" cap="flat" cmpd="sng" algn="ctr">
                      <a:solidFill>
                        <a:srgbClr val="10E6B6"/>
                      </a:solidFill>
                      <a:prstDash val="solid"/>
                      <a:round/>
                      <a:headEnd type="none" w="med" len="med"/>
                      <a:tailEnd type="none" w="med" len="med"/>
                    </a:lnR>
                    <a:lnT w="12700" cap="flat" cmpd="sng" algn="ctr">
                      <a:solidFill>
                        <a:srgbClr val="10E6B6"/>
                      </a:solidFill>
                      <a:prstDash val="solid"/>
                      <a:round/>
                      <a:headEnd type="none" w="med" len="med"/>
                      <a:tailEnd type="none" w="med" len="med"/>
                    </a:lnT>
                    <a:lnB w="12700" cap="flat" cmpd="sng" algn="ctr">
                      <a:solidFill>
                        <a:srgbClr val="804AAD"/>
                      </a:solidFill>
                      <a:prstDash val="solid"/>
                      <a:round/>
                      <a:headEnd type="none" w="med" len="med"/>
                      <a:tailEnd type="none" w="med" len="med"/>
                    </a:lnB>
                    <a:solidFill>
                      <a:srgbClr val="FFFFFF"/>
                    </a:solidFill>
                  </a:tcPr>
                </a:tc>
                <a:extLst>
                  <a:ext uri="{0D108BD9-81ED-4DB2-BD59-A6C34878D82A}">
                    <a16:rowId xmlns:a16="http://schemas.microsoft.com/office/drawing/2014/main" val="3171523540"/>
                  </a:ext>
                </a:extLst>
              </a:tr>
              <a:tr h="690689">
                <a:tc>
                  <a:txBody>
                    <a:bodyPr/>
                    <a:lstStyle/>
                    <a:p>
                      <a:pPr fontAlgn="base"/>
                      <a:r>
                        <a:rPr lang="en-IN" sz="1400">
                          <a:effectLst/>
                        </a:rPr>
                        <a:t>Interpretation of Coefficients</a:t>
                      </a:r>
                    </a:p>
                  </a:txBody>
                  <a:tcPr marL="69069" marR="69069" marT="34534" marB="34534" anchor="ctr">
                    <a:lnL w="9525" cap="flat" cmpd="sng" algn="ctr">
                      <a:solidFill>
                        <a:srgbClr val="8028B7"/>
                      </a:solidFill>
                      <a:prstDash val="solid"/>
                      <a:round/>
                      <a:headEnd type="none" w="med" len="med"/>
                      <a:tailEnd type="none" w="med" len="med"/>
                    </a:lnL>
                    <a:lnR w="9525" cap="flat" cmpd="sng" algn="ctr">
                      <a:solidFill>
                        <a:srgbClr val="30C9B2"/>
                      </a:solidFill>
                      <a:prstDash val="solid"/>
                      <a:round/>
                      <a:headEnd type="none" w="med" len="med"/>
                      <a:tailEnd type="none" w="med" len="med"/>
                    </a:lnR>
                    <a:lnT w="12700" cap="flat" cmpd="sng" algn="ctr">
                      <a:solidFill>
                        <a:srgbClr val="8028B7"/>
                      </a:solidFill>
                      <a:prstDash val="solid"/>
                      <a:round/>
                      <a:headEnd type="none" w="med" len="med"/>
                      <a:tailEnd type="none" w="med" len="med"/>
                    </a:lnT>
                    <a:lnB w="12700" cap="flat" cmpd="sng" algn="ctr">
                      <a:solidFill>
                        <a:srgbClr val="60A450"/>
                      </a:solidFill>
                      <a:prstDash val="solid"/>
                      <a:round/>
                      <a:headEnd type="none" w="med" len="med"/>
                      <a:tailEnd type="none" w="med" len="med"/>
                    </a:lnB>
                    <a:solidFill>
                      <a:srgbClr val="FFFFFF"/>
                    </a:solidFill>
                  </a:tcPr>
                </a:tc>
                <a:tc>
                  <a:txBody>
                    <a:bodyPr/>
                    <a:lstStyle/>
                    <a:p>
                      <a:pPr fontAlgn="base"/>
                      <a:r>
                        <a:rPr lang="en-IN" sz="1400">
                          <a:effectLst/>
                        </a:rPr>
                        <a:t>Change in outcome per unit change in predictor</a:t>
                      </a:r>
                    </a:p>
                  </a:txBody>
                  <a:tcPr marL="69069" marR="69069" marT="34534" marB="34534" anchor="ctr">
                    <a:lnL w="9525" cap="flat" cmpd="sng" algn="ctr">
                      <a:solidFill>
                        <a:srgbClr val="30C9B2"/>
                      </a:solidFill>
                      <a:prstDash val="solid"/>
                      <a:round/>
                      <a:headEnd type="none" w="med" len="med"/>
                      <a:tailEnd type="none" w="med" len="med"/>
                    </a:lnL>
                    <a:lnR w="9525" cap="flat" cmpd="sng" algn="ctr">
                      <a:solidFill>
                        <a:srgbClr val="804AAD"/>
                      </a:solidFill>
                      <a:prstDash val="solid"/>
                      <a:round/>
                      <a:headEnd type="none" w="med" len="med"/>
                      <a:tailEnd type="none" w="med" len="med"/>
                    </a:lnR>
                    <a:lnT w="12700" cap="flat" cmpd="sng" algn="ctr">
                      <a:solidFill>
                        <a:srgbClr val="30C9B2"/>
                      </a:solidFill>
                      <a:prstDash val="solid"/>
                      <a:round/>
                      <a:headEnd type="none" w="med" len="med"/>
                      <a:tailEnd type="none" w="med" len="med"/>
                    </a:lnT>
                    <a:lnB w="12700" cap="flat" cmpd="sng" algn="ctr">
                      <a:solidFill>
                        <a:srgbClr val="40AFAF"/>
                      </a:solidFill>
                      <a:prstDash val="solid"/>
                      <a:round/>
                      <a:headEnd type="none" w="med" len="med"/>
                      <a:tailEnd type="none" w="med" len="med"/>
                    </a:lnB>
                    <a:solidFill>
                      <a:srgbClr val="FFFFFF"/>
                    </a:solidFill>
                  </a:tcPr>
                </a:tc>
                <a:tc>
                  <a:txBody>
                    <a:bodyPr/>
                    <a:lstStyle/>
                    <a:p>
                      <a:pPr fontAlgn="base"/>
                      <a:r>
                        <a:rPr lang="en-IN" sz="1400">
                          <a:effectLst/>
                        </a:rPr>
                        <a:t>Change in log-odds per unit change in predictor</a:t>
                      </a:r>
                    </a:p>
                  </a:txBody>
                  <a:tcPr marL="69069" marR="69069" marT="34534" marB="34534" anchor="ctr">
                    <a:lnL w="9525" cap="flat" cmpd="sng" algn="ctr">
                      <a:solidFill>
                        <a:srgbClr val="804AAD"/>
                      </a:solidFill>
                      <a:prstDash val="solid"/>
                      <a:round/>
                      <a:headEnd type="none" w="med" len="med"/>
                      <a:tailEnd type="none" w="med" len="med"/>
                    </a:lnL>
                    <a:lnR w="9525" cap="flat" cmpd="sng" algn="ctr">
                      <a:solidFill>
                        <a:srgbClr val="804AAD"/>
                      </a:solidFill>
                      <a:prstDash val="solid"/>
                      <a:round/>
                      <a:headEnd type="none" w="med" len="med"/>
                      <a:tailEnd type="none" w="med" len="med"/>
                    </a:lnR>
                    <a:lnT w="12700" cap="flat" cmpd="sng" algn="ctr">
                      <a:solidFill>
                        <a:srgbClr val="804AAD"/>
                      </a:solidFill>
                      <a:prstDash val="solid"/>
                      <a:round/>
                      <a:headEnd type="none" w="med" len="med"/>
                      <a:tailEnd type="none" w="med" len="med"/>
                    </a:lnT>
                    <a:lnB w="12700" cap="flat" cmpd="sng" algn="ctr">
                      <a:solidFill>
                        <a:srgbClr val="A0DD6D"/>
                      </a:solidFill>
                      <a:prstDash val="solid"/>
                      <a:round/>
                      <a:headEnd type="none" w="med" len="med"/>
                      <a:tailEnd type="none" w="med" len="med"/>
                    </a:lnB>
                    <a:solidFill>
                      <a:srgbClr val="FFFFFF"/>
                    </a:solidFill>
                  </a:tcPr>
                </a:tc>
                <a:extLst>
                  <a:ext uri="{0D108BD9-81ED-4DB2-BD59-A6C34878D82A}">
                    <a16:rowId xmlns:a16="http://schemas.microsoft.com/office/drawing/2014/main" val="55556689"/>
                  </a:ext>
                </a:extLst>
              </a:tr>
              <a:tr h="690689">
                <a:tc>
                  <a:txBody>
                    <a:bodyPr/>
                    <a:lstStyle/>
                    <a:p>
                      <a:pPr fontAlgn="base"/>
                      <a:r>
                        <a:rPr lang="en-IN" sz="1400">
                          <a:effectLst/>
                        </a:rPr>
                        <a:t>Applicability</a:t>
                      </a:r>
                    </a:p>
                  </a:txBody>
                  <a:tcPr marL="69069" marR="69069" marT="34534" marB="34534" anchor="ctr">
                    <a:lnL w="9525" cap="flat" cmpd="sng" algn="ctr">
                      <a:solidFill>
                        <a:srgbClr val="60A450"/>
                      </a:solidFill>
                      <a:prstDash val="solid"/>
                      <a:round/>
                      <a:headEnd type="none" w="med" len="med"/>
                      <a:tailEnd type="none" w="med" len="med"/>
                    </a:lnL>
                    <a:lnR w="9525" cap="flat" cmpd="sng" algn="ctr">
                      <a:solidFill>
                        <a:srgbClr val="40AFAF"/>
                      </a:solidFill>
                      <a:prstDash val="solid"/>
                      <a:round/>
                      <a:headEnd type="none" w="med" len="med"/>
                      <a:tailEnd type="none" w="med" len="med"/>
                    </a:lnR>
                    <a:lnT w="12700" cap="flat" cmpd="sng" algn="ctr">
                      <a:solidFill>
                        <a:srgbClr val="60A450"/>
                      </a:solidFill>
                      <a:prstDash val="solid"/>
                      <a:round/>
                      <a:headEnd type="none" w="med" len="med"/>
                      <a:tailEnd type="none" w="med" len="med"/>
                    </a:lnT>
                    <a:lnB w="9525" cap="flat" cmpd="sng" algn="ctr">
                      <a:solidFill>
                        <a:srgbClr val="60A450"/>
                      </a:solidFill>
                      <a:prstDash val="solid"/>
                      <a:round/>
                      <a:headEnd type="none" w="med" len="med"/>
                      <a:tailEnd type="none" w="med" len="med"/>
                    </a:lnB>
                    <a:solidFill>
                      <a:srgbClr val="FFFFFF"/>
                    </a:solidFill>
                  </a:tcPr>
                </a:tc>
                <a:tc>
                  <a:txBody>
                    <a:bodyPr/>
                    <a:lstStyle/>
                    <a:p>
                      <a:pPr fontAlgn="base"/>
                      <a:r>
                        <a:rPr lang="en-IN" sz="1400">
                          <a:effectLst/>
                        </a:rPr>
                        <a:t>Continuous, normally distributed outcomes</a:t>
                      </a:r>
                    </a:p>
                  </a:txBody>
                  <a:tcPr marL="69069" marR="69069" marT="34534" marB="34534" anchor="ctr">
                    <a:lnL w="9525" cap="flat" cmpd="sng" algn="ctr">
                      <a:solidFill>
                        <a:srgbClr val="40AFAF"/>
                      </a:solidFill>
                      <a:prstDash val="solid"/>
                      <a:round/>
                      <a:headEnd type="none" w="med" len="med"/>
                      <a:tailEnd type="none" w="med" len="med"/>
                    </a:lnL>
                    <a:lnR w="9525" cap="flat" cmpd="sng" algn="ctr">
                      <a:solidFill>
                        <a:srgbClr val="A0DD6D"/>
                      </a:solidFill>
                      <a:prstDash val="solid"/>
                      <a:round/>
                      <a:headEnd type="none" w="med" len="med"/>
                      <a:tailEnd type="none" w="med" len="med"/>
                    </a:lnR>
                    <a:lnT w="12700" cap="flat" cmpd="sng" algn="ctr">
                      <a:solidFill>
                        <a:srgbClr val="40AFAF"/>
                      </a:solidFill>
                      <a:prstDash val="solid"/>
                      <a:round/>
                      <a:headEnd type="none" w="med" len="med"/>
                      <a:tailEnd type="none" w="med" len="med"/>
                    </a:lnT>
                    <a:lnB w="9525" cap="flat" cmpd="sng" algn="ctr">
                      <a:solidFill>
                        <a:srgbClr val="40AFAF"/>
                      </a:solidFill>
                      <a:prstDash val="solid"/>
                      <a:round/>
                      <a:headEnd type="none" w="med" len="med"/>
                      <a:tailEnd type="none" w="med" len="med"/>
                    </a:lnB>
                    <a:solidFill>
                      <a:srgbClr val="FFFFFF"/>
                    </a:solidFill>
                  </a:tcPr>
                </a:tc>
                <a:tc>
                  <a:txBody>
                    <a:bodyPr/>
                    <a:lstStyle/>
                    <a:p>
                      <a:pPr fontAlgn="base"/>
                      <a:r>
                        <a:rPr lang="en-IN" sz="1400" dirty="0">
                          <a:effectLst/>
                        </a:rPr>
                        <a:t>Binary or categorical outcomes</a:t>
                      </a:r>
                    </a:p>
                  </a:txBody>
                  <a:tcPr marL="69069" marR="69069" marT="34534" marB="34534" anchor="ctr">
                    <a:lnL w="9525" cap="flat" cmpd="sng" algn="ctr">
                      <a:solidFill>
                        <a:srgbClr val="A0DD6D"/>
                      </a:solidFill>
                      <a:prstDash val="solid"/>
                      <a:round/>
                      <a:headEnd type="none" w="med" len="med"/>
                      <a:tailEnd type="none" w="med" len="med"/>
                    </a:lnL>
                    <a:lnR w="9525" cap="flat" cmpd="sng" algn="ctr">
                      <a:solidFill>
                        <a:srgbClr val="A0DD6D"/>
                      </a:solidFill>
                      <a:prstDash val="solid"/>
                      <a:round/>
                      <a:headEnd type="none" w="med" len="med"/>
                      <a:tailEnd type="none" w="med" len="med"/>
                    </a:lnR>
                    <a:lnT w="12700" cap="flat" cmpd="sng" algn="ctr">
                      <a:solidFill>
                        <a:srgbClr val="A0DD6D"/>
                      </a:solidFill>
                      <a:prstDash val="solid"/>
                      <a:round/>
                      <a:headEnd type="none" w="med" len="med"/>
                      <a:tailEnd type="none" w="med" len="med"/>
                    </a:lnT>
                    <a:lnB w="9525" cap="flat" cmpd="sng" algn="ctr">
                      <a:solidFill>
                        <a:srgbClr val="A0DD6D"/>
                      </a:solidFill>
                      <a:prstDash val="solid"/>
                      <a:round/>
                      <a:headEnd type="none" w="med" len="med"/>
                      <a:tailEnd type="none" w="med" len="med"/>
                    </a:lnB>
                    <a:solidFill>
                      <a:srgbClr val="FFFFFF"/>
                    </a:solidFill>
                  </a:tcPr>
                </a:tc>
                <a:extLst>
                  <a:ext uri="{0D108BD9-81ED-4DB2-BD59-A6C34878D82A}">
                    <a16:rowId xmlns:a16="http://schemas.microsoft.com/office/drawing/2014/main" val="4025621649"/>
                  </a:ext>
                </a:extLst>
              </a:tr>
            </a:tbl>
          </a:graphicData>
        </a:graphic>
      </p:graphicFrame>
    </p:spTree>
    <p:extLst>
      <p:ext uri="{BB962C8B-B14F-4D97-AF65-F5344CB8AC3E}">
        <p14:creationId xmlns:p14="http://schemas.microsoft.com/office/powerpoint/2010/main" val="895612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808D7-FF15-6680-19E9-87887579293A}"/>
              </a:ext>
            </a:extLst>
          </p:cNvPr>
          <p:cNvSpPr>
            <a:spLocks noGrp="1"/>
          </p:cNvSpPr>
          <p:nvPr>
            <p:ph type="title"/>
          </p:nvPr>
        </p:nvSpPr>
        <p:spPr/>
        <p:txBody>
          <a:bodyPr/>
          <a:lstStyle/>
          <a:p>
            <a:r>
              <a:rPr lang="en-US" dirty="0"/>
              <a:t>Binary Classification Problem</a:t>
            </a:r>
          </a:p>
        </p:txBody>
      </p:sp>
      <p:sp>
        <p:nvSpPr>
          <p:cNvPr id="3" name="Content Placeholder 2">
            <a:extLst>
              <a:ext uri="{FF2B5EF4-FFF2-40B4-BE49-F238E27FC236}">
                <a16:creationId xmlns:a16="http://schemas.microsoft.com/office/drawing/2014/main" id="{929C33EB-8527-6B76-6E9D-1791D4187DC4}"/>
              </a:ext>
            </a:extLst>
          </p:cNvPr>
          <p:cNvSpPr>
            <a:spLocks noGrp="1"/>
          </p:cNvSpPr>
          <p:nvPr>
            <p:ph idx="1"/>
          </p:nvPr>
        </p:nvSpPr>
        <p:spPr>
          <a:xfrm>
            <a:off x="925882" y="1975937"/>
            <a:ext cx="10515600" cy="4351338"/>
          </a:xfrm>
        </p:spPr>
        <p:txBody>
          <a:bodyPr/>
          <a:lstStyle/>
          <a:p>
            <a:pPr marL="0" indent="0">
              <a:buNone/>
            </a:pPr>
            <a:r>
              <a:rPr lang="en-IN" b="0" i="0" dirty="0">
                <a:solidFill>
                  <a:srgbClr val="0D0D0D"/>
                </a:solidFill>
                <a:effectLst/>
                <a:highlight>
                  <a:srgbClr val="FFFFFF"/>
                </a:highlight>
                <a:latin typeface="ui-sans-serif"/>
              </a:rPr>
              <a:t>A binary classification problem is a type of supervised learning task where the goal is to classify instances into one of two distinct classes. Each instance is represented by a set of features (input variables), and the objective is to predict the class label (output) for each instance based on these features. The two classes are typically denoted as 0 and 1, or negative and positive, or any other two distinct labels.</a:t>
            </a:r>
            <a:endParaRPr lang="en-US" dirty="0"/>
          </a:p>
        </p:txBody>
      </p:sp>
    </p:spTree>
    <p:extLst>
      <p:ext uri="{BB962C8B-B14F-4D97-AF65-F5344CB8AC3E}">
        <p14:creationId xmlns:p14="http://schemas.microsoft.com/office/powerpoint/2010/main" val="1308373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A3828-C5E0-C82A-361A-34E34CD058A6}"/>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8AA97282-6ECE-36C6-77FF-C98537214787}"/>
              </a:ext>
            </a:extLst>
          </p:cNvPr>
          <p:cNvSpPr>
            <a:spLocks noGrp="1"/>
          </p:cNvSpPr>
          <p:nvPr>
            <p:ph idx="1"/>
          </p:nvPr>
        </p:nvSpPr>
        <p:spPr/>
        <p:txBody>
          <a:bodyPr/>
          <a:lstStyle/>
          <a:p>
            <a:pPr algn="l"/>
            <a:r>
              <a:rPr lang="en-IN" b="1" i="0" dirty="0">
                <a:solidFill>
                  <a:srgbClr val="0D0D0D"/>
                </a:solidFill>
                <a:effectLst/>
                <a:highlight>
                  <a:srgbClr val="FFFFFF"/>
                </a:highlight>
                <a:latin typeface="ui-sans-serif"/>
              </a:rPr>
              <a:t>Probability Output</a:t>
            </a:r>
          </a:p>
          <a:p>
            <a:pPr lvl="1"/>
            <a:r>
              <a:rPr lang="en-IN" b="1" i="0" dirty="0">
                <a:solidFill>
                  <a:srgbClr val="0D0D0D"/>
                </a:solidFill>
                <a:effectLst/>
                <a:highlight>
                  <a:srgbClr val="FFFFFF"/>
                </a:highlight>
                <a:latin typeface="ui-sans-serif"/>
              </a:rPr>
              <a:t>Prediction of Probabilities</a:t>
            </a:r>
            <a:r>
              <a:rPr lang="en-IN" b="0" i="0" dirty="0">
                <a:solidFill>
                  <a:srgbClr val="0D0D0D"/>
                </a:solidFill>
                <a:effectLst/>
                <a:highlight>
                  <a:srgbClr val="FFFFFF"/>
                </a:highlight>
                <a:latin typeface="ui-sans-serif"/>
              </a:rPr>
              <a:t>: Logistic regression provides a probabilistic framework for binary classification. It outputs probabilities that an instance belongs to a particular class, which can then be converted into a binary decision using a threshold (e.g., 0.5). This is useful in scenarios where the certainty of the prediction is important.</a:t>
            </a:r>
          </a:p>
          <a:p>
            <a:pPr lvl="1"/>
            <a:r>
              <a:rPr lang="en-IN" b="1" i="0" dirty="0">
                <a:solidFill>
                  <a:srgbClr val="0D0D0D"/>
                </a:solidFill>
                <a:effectLst/>
                <a:highlight>
                  <a:srgbClr val="FFFFFF"/>
                </a:highlight>
                <a:latin typeface="ui-sans-serif"/>
              </a:rPr>
              <a:t>Interpretability</a:t>
            </a:r>
            <a:r>
              <a:rPr lang="en-IN" b="0" i="0" dirty="0">
                <a:solidFill>
                  <a:srgbClr val="0D0D0D"/>
                </a:solidFill>
                <a:effectLst/>
                <a:highlight>
                  <a:srgbClr val="FFFFFF"/>
                </a:highlight>
                <a:latin typeface="ui-sans-serif"/>
              </a:rPr>
              <a:t>: The probabilistic output is interpretable and can be used to understand the confidence of the model in its predictions.</a:t>
            </a:r>
          </a:p>
          <a:p>
            <a:endParaRPr lang="en-US" dirty="0"/>
          </a:p>
        </p:txBody>
      </p:sp>
    </p:spTree>
    <p:extLst>
      <p:ext uri="{BB962C8B-B14F-4D97-AF65-F5344CB8AC3E}">
        <p14:creationId xmlns:p14="http://schemas.microsoft.com/office/powerpoint/2010/main" val="1952063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A3828-C5E0-C82A-361A-34E34CD058A6}"/>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8AA97282-6ECE-36C6-77FF-C98537214787}"/>
              </a:ext>
            </a:extLst>
          </p:cNvPr>
          <p:cNvSpPr>
            <a:spLocks noGrp="1"/>
          </p:cNvSpPr>
          <p:nvPr>
            <p:ph idx="1"/>
          </p:nvPr>
        </p:nvSpPr>
        <p:spPr/>
        <p:txBody>
          <a:bodyPr/>
          <a:lstStyle/>
          <a:p>
            <a:pPr algn="l"/>
            <a:r>
              <a:rPr lang="en-IN" b="1" i="0" dirty="0">
                <a:solidFill>
                  <a:srgbClr val="0D0D0D"/>
                </a:solidFill>
                <a:effectLst/>
                <a:highlight>
                  <a:srgbClr val="FFFFFF"/>
                </a:highlight>
                <a:latin typeface="ui-sans-serif"/>
              </a:rPr>
              <a:t>Appropriate for Binary Outcomes</a:t>
            </a:r>
          </a:p>
          <a:p>
            <a:pPr lvl="1"/>
            <a:r>
              <a:rPr lang="en-IN" b="1" i="0" dirty="0">
                <a:solidFill>
                  <a:srgbClr val="0D0D0D"/>
                </a:solidFill>
                <a:effectLst/>
                <a:highlight>
                  <a:srgbClr val="FFFFFF"/>
                </a:highlight>
                <a:latin typeface="ui-sans-serif"/>
              </a:rPr>
              <a:t>Handling of Binary Outcomes</a:t>
            </a:r>
            <a:r>
              <a:rPr lang="en-IN" b="0" i="0" dirty="0">
                <a:solidFill>
                  <a:srgbClr val="0D0D0D"/>
                </a:solidFill>
                <a:effectLst/>
                <a:highlight>
                  <a:srgbClr val="FFFFFF"/>
                </a:highlight>
                <a:latin typeface="ui-sans-serif"/>
              </a:rPr>
              <a:t>: Logistic regression is specifically designed for binary outcomes, where the target variable is categorical with two possible values (e.g., 0 and 1). It models the log-odds of the probability of the positive class and is tailored to handle the properties of binary data.</a:t>
            </a:r>
          </a:p>
          <a:p>
            <a:pPr lvl="1"/>
            <a:r>
              <a:rPr lang="en-IN" b="1" i="0" dirty="0">
                <a:solidFill>
                  <a:srgbClr val="0D0D0D"/>
                </a:solidFill>
                <a:effectLst/>
                <a:highlight>
                  <a:srgbClr val="FFFFFF"/>
                </a:highlight>
                <a:latin typeface="ui-sans-serif"/>
              </a:rPr>
              <a:t>Direct </a:t>
            </a:r>
            <a:r>
              <a:rPr lang="en-IN" b="1" i="0" dirty="0" err="1">
                <a:solidFill>
                  <a:srgbClr val="0D0D0D"/>
                </a:solidFill>
                <a:effectLst/>
                <a:highlight>
                  <a:srgbClr val="FFFFFF"/>
                </a:highlight>
                <a:latin typeface="ui-sans-serif"/>
              </a:rPr>
              <a:t>Modeling</a:t>
            </a:r>
            <a:r>
              <a:rPr lang="en-IN" b="1" i="0" dirty="0">
                <a:solidFill>
                  <a:srgbClr val="0D0D0D"/>
                </a:solidFill>
                <a:effectLst/>
                <a:highlight>
                  <a:srgbClr val="FFFFFF"/>
                </a:highlight>
                <a:latin typeface="ui-sans-serif"/>
              </a:rPr>
              <a:t> of Binary Data</a:t>
            </a:r>
            <a:r>
              <a:rPr lang="en-IN" b="0" i="0" dirty="0">
                <a:solidFill>
                  <a:srgbClr val="0D0D0D"/>
                </a:solidFill>
                <a:effectLst/>
                <a:highlight>
                  <a:srgbClr val="FFFFFF"/>
                </a:highlight>
                <a:latin typeface="ui-sans-serif"/>
              </a:rPr>
              <a:t>: It is well-suited for tasks where the outcome is binary, unlike linear regression which assumes a continuous outcome and can produce nonsensical predictions when applied to binary data.</a:t>
            </a:r>
          </a:p>
        </p:txBody>
      </p:sp>
    </p:spTree>
    <p:extLst>
      <p:ext uri="{BB962C8B-B14F-4D97-AF65-F5344CB8AC3E}">
        <p14:creationId xmlns:p14="http://schemas.microsoft.com/office/powerpoint/2010/main" val="2876120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36D84-F4EB-6AC9-0C05-CB8D4E7D094D}"/>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81F26633-FF73-562B-64CE-0D8096DB678C}"/>
              </a:ext>
            </a:extLst>
          </p:cNvPr>
          <p:cNvSpPr>
            <a:spLocks noGrp="1"/>
          </p:cNvSpPr>
          <p:nvPr>
            <p:ph idx="1"/>
          </p:nvPr>
        </p:nvSpPr>
        <p:spPr/>
        <p:txBody>
          <a:bodyPr/>
          <a:lstStyle/>
          <a:p>
            <a:pPr algn="l"/>
            <a:r>
              <a:rPr lang="en-IN" b="1" i="0" dirty="0">
                <a:solidFill>
                  <a:srgbClr val="0D0D0D"/>
                </a:solidFill>
                <a:effectLst/>
                <a:highlight>
                  <a:srgbClr val="FFFFFF"/>
                </a:highlight>
                <a:latin typeface="ui-sans-serif"/>
              </a:rPr>
              <a:t>Log-Odds and Sigmoid Function</a:t>
            </a:r>
          </a:p>
          <a:p>
            <a:pPr lvl="1"/>
            <a:r>
              <a:rPr lang="en-IN" b="1" i="0" dirty="0">
                <a:solidFill>
                  <a:srgbClr val="0D0D0D"/>
                </a:solidFill>
                <a:effectLst/>
                <a:highlight>
                  <a:srgbClr val="FFFFFF"/>
                </a:highlight>
                <a:latin typeface="ui-sans-serif"/>
              </a:rPr>
              <a:t>Logistic Function</a:t>
            </a:r>
            <a:r>
              <a:rPr lang="en-IN" b="0" i="0" dirty="0">
                <a:solidFill>
                  <a:srgbClr val="0D0D0D"/>
                </a:solidFill>
                <a:effectLst/>
                <a:highlight>
                  <a:srgbClr val="FFFFFF"/>
                </a:highlight>
                <a:latin typeface="ui-sans-serif"/>
              </a:rPr>
              <a:t>: The logistic (sigmoid) function used in logistic regression maps any real-valued number into the (0, 1) interval, ensuring that the predicted probabilities are valid. This transformation is crucial for binary classification problems.</a:t>
            </a:r>
          </a:p>
          <a:p>
            <a:pPr lvl="1"/>
            <a:r>
              <a:rPr lang="en-IN" b="1" i="0" dirty="0">
                <a:solidFill>
                  <a:srgbClr val="0D0D0D"/>
                </a:solidFill>
                <a:effectLst/>
                <a:highlight>
                  <a:srgbClr val="FFFFFF"/>
                </a:highlight>
                <a:latin typeface="ui-sans-serif"/>
              </a:rPr>
              <a:t>Log-Odds Interpretation</a:t>
            </a:r>
            <a:r>
              <a:rPr lang="en-IN" b="0" i="0" dirty="0">
                <a:solidFill>
                  <a:srgbClr val="0D0D0D"/>
                </a:solidFill>
                <a:effectLst/>
                <a:highlight>
                  <a:srgbClr val="FFFFFF"/>
                </a:highlight>
                <a:latin typeface="ui-sans-serif"/>
              </a:rPr>
              <a:t>: Logistic regression models the relationship between the input features and the log-odds of the binary outcome, providing a clear interpretation of how each feature influences the probability of the outcome.</a:t>
            </a:r>
          </a:p>
          <a:p>
            <a:endParaRPr lang="en-US" dirty="0"/>
          </a:p>
        </p:txBody>
      </p:sp>
    </p:spTree>
    <p:extLst>
      <p:ext uri="{BB962C8B-B14F-4D97-AF65-F5344CB8AC3E}">
        <p14:creationId xmlns:p14="http://schemas.microsoft.com/office/powerpoint/2010/main" val="3444428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36D84-F4EB-6AC9-0C05-CB8D4E7D094D}"/>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81F26633-FF73-562B-64CE-0D8096DB678C}"/>
              </a:ext>
            </a:extLst>
          </p:cNvPr>
          <p:cNvSpPr>
            <a:spLocks noGrp="1"/>
          </p:cNvSpPr>
          <p:nvPr>
            <p:ph idx="1"/>
          </p:nvPr>
        </p:nvSpPr>
        <p:spPr/>
        <p:txBody>
          <a:bodyPr/>
          <a:lstStyle/>
          <a:p>
            <a:pPr algn="l"/>
            <a:r>
              <a:rPr lang="en-IN" b="1" i="0" dirty="0">
                <a:solidFill>
                  <a:srgbClr val="0D0D0D"/>
                </a:solidFill>
                <a:effectLst/>
                <a:highlight>
                  <a:srgbClr val="FFFFFF"/>
                </a:highlight>
                <a:latin typeface="ui-sans-serif"/>
              </a:rPr>
              <a:t>Linear Decision Boundary</a:t>
            </a:r>
          </a:p>
          <a:p>
            <a:pPr lvl="1"/>
            <a:r>
              <a:rPr lang="en-IN" b="1" i="0" dirty="0">
                <a:solidFill>
                  <a:srgbClr val="0D0D0D"/>
                </a:solidFill>
                <a:effectLst/>
                <a:highlight>
                  <a:srgbClr val="FFFFFF"/>
                </a:highlight>
                <a:latin typeface="ui-sans-serif"/>
              </a:rPr>
              <a:t>Linear Separability</a:t>
            </a:r>
            <a:r>
              <a:rPr lang="en-IN" b="0" i="0" dirty="0">
                <a:solidFill>
                  <a:srgbClr val="0D0D0D"/>
                </a:solidFill>
                <a:effectLst/>
                <a:highlight>
                  <a:srgbClr val="FFFFFF"/>
                </a:highlight>
                <a:latin typeface="ui-sans-serif"/>
              </a:rPr>
              <a:t>: Logistic regression finds a linear decision boundary in the feature space, making it simple and efficient for problems where classes are linearly separable. While it might not capture complex relationships as well as some other methods, its simplicity and efficiency make it a good starting point.</a:t>
            </a:r>
          </a:p>
        </p:txBody>
      </p:sp>
    </p:spTree>
    <p:extLst>
      <p:ext uri="{BB962C8B-B14F-4D97-AF65-F5344CB8AC3E}">
        <p14:creationId xmlns:p14="http://schemas.microsoft.com/office/powerpoint/2010/main" val="4231712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07289-21DF-5335-16E5-9FCD31C42A68}"/>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9F9A2D1A-26D6-62A9-58D7-E82FFFB15972}"/>
              </a:ext>
            </a:extLst>
          </p:cNvPr>
          <p:cNvSpPr>
            <a:spLocks noGrp="1"/>
          </p:cNvSpPr>
          <p:nvPr>
            <p:ph idx="1"/>
          </p:nvPr>
        </p:nvSpPr>
        <p:spPr/>
        <p:txBody>
          <a:bodyPr/>
          <a:lstStyle/>
          <a:p>
            <a:pPr algn="l"/>
            <a:r>
              <a:rPr lang="en-IN" b="1" i="0" dirty="0">
                <a:solidFill>
                  <a:srgbClr val="0D0D0D"/>
                </a:solidFill>
                <a:effectLst/>
                <a:highlight>
                  <a:srgbClr val="FFFFFF"/>
                </a:highlight>
                <a:latin typeface="ui-sans-serif"/>
              </a:rPr>
              <a:t>Well-Established Statistical Properties</a:t>
            </a:r>
          </a:p>
          <a:p>
            <a:pPr lvl="1"/>
            <a:r>
              <a:rPr lang="en-IN" b="1" i="0" dirty="0">
                <a:solidFill>
                  <a:srgbClr val="0D0D0D"/>
                </a:solidFill>
                <a:effectLst/>
                <a:highlight>
                  <a:srgbClr val="FFFFFF"/>
                </a:highlight>
                <a:latin typeface="ui-sans-serif"/>
              </a:rPr>
              <a:t>Maximum Likelihood Estimation (MLE)</a:t>
            </a:r>
            <a:r>
              <a:rPr lang="en-IN" b="0" i="0" dirty="0">
                <a:solidFill>
                  <a:srgbClr val="0D0D0D"/>
                </a:solidFill>
                <a:effectLst/>
                <a:highlight>
                  <a:srgbClr val="FFFFFF"/>
                </a:highlight>
                <a:latin typeface="ui-sans-serif"/>
              </a:rPr>
              <a:t>: Logistic regression uses MLE to estimate the model parameters, which has well-understood statistical properties. This provides a robust theoretical foundation for the model and helps in understanding the uncertainty associated with the parameter estimates.</a:t>
            </a:r>
          </a:p>
          <a:p>
            <a:pPr lvl="1"/>
            <a:r>
              <a:rPr lang="en-IN" b="1" i="0" dirty="0">
                <a:solidFill>
                  <a:srgbClr val="0D0D0D"/>
                </a:solidFill>
                <a:effectLst/>
                <a:highlight>
                  <a:srgbClr val="FFFFFF"/>
                </a:highlight>
                <a:latin typeface="ui-sans-serif"/>
              </a:rPr>
              <a:t>Hypothesis Testing</a:t>
            </a:r>
            <a:r>
              <a:rPr lang="en-IN" b="0" i="0" dirty="0">
                <a:solidFill>
                  <a:srgbClr val="0D0D0D"/>
                </a:solidFill>
                <a:effectLst/>
                <a:highlight>
                  <a:srgbClr val="FFFFFF"/>
                </a:highlight>
                <a:latin typeface="ui-sans-serif"/>
              </a:rPr>
              <a:t>: The framework allows for statistical hypothesis testing of the model coefficients, which can be used to assess the significance of each predictor variable.</a:t>
            </a:r>
          </a:p>
          <a:p>
            <a:endParaRPr lang="en-US" dirty="0"/>
          </a:p>
        </p:txBody>
      </p:sp>
    </p:spTree>
    <p:extLst>
      <p:ext uri="{BB962C8B-B14F-4D97-AF65-F5344CB8AC3E}">
        <p14:creationId xmlns:p14="http://schemas.microsoft.com/office/powerpoint/2010/main" val="3418987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B693F-33D8-1E6E-A7D9-B2F774C966C6}"/>
              </a:ext>
            </a:extLst>
          </p:cNvPr>
          <p:cNvSpPr>
            <a:spLocks noGrp="1"/>
          </p:cNvSpPr>
          <p:nvPr>
            <p:ph type="title"/>
          </p:nvPr>
        </p:nvSpPr>
        <p:spPr/>
        <p:txBody>
          <a:bodyPr/>
          <a:lstStyle/>
          <a:p>
            <a:r>
              <a:rPr lang="en-US" dirty="0"/>
              <a:t>Need for Logistic Regression</a:t>
            </a:r>
          </a:p>
        </p:txBody>
      </p:sp>
      <p:sp>
        <p:nvSpPr>
          <p:cNvPr id="3" name="Content Placeholder 2">
            <a:extLst>
              <a:ext uri="{FF2B5EF4-FFF2-40B4-BE49-F238E27FC236}">
                <a16:creationId xmlns:a16="http://schemas.microsoft.com/office/drawing/2014/main" id="{688A3182-BDA5-7B84-A152-102D884628AA}"/>
              </a:ext>
            </a:extLst>
          </p:cNvPr>
          <p:cNvSpPr>
            <a:spLocks noGrp="1"/>
          </p:cNvSpPr>
          <p:nvPr>
            <p:ph idx="1"/>
          </p:nvPr>
        </p:nvSpPr>
        <p:spPr/>
        <p:txBody>
          <a:bodyPr/>
          <a:lstStyle/>
          <a:p>
            <a:r>
              <a:rPr lang="en-IN" b="1" i="0" dirty="0">
                <a:solidFill>
                  <a:srgbClr val="0D0D0D"/>
                </a:solidFill>
                <a:effectLst/>
                <a:highlight>
                  <a:srgbClr val="FFFFFF"/>
                </a:highlight>
                <a:latin typeface="ui-sans-serif"/>
              </a:rPr>
              <a:t>Preventing Overfitting</a:t>
            </a:r>
            <a:r>
              <a:rPr lang="en-IN" b="0" i="0" dirty="0">
                <a:solidFill>
                  <a:srgbClr val="0D0D0D"/>
                </a:solidFill>
                <a:effectLst/>
                <a:highlight>
                  <a:srgbClr val="FFFFFF"/>
                </a:highlight>
                <a:latin typeface="ui-sans-serif"/>
              </a:rPr>
              <a:t>: Logistic regression can be extended with regularization techniques (like L1 and L2 regularization) to prevent overfitting, especially when dealing with high-dimensional data. Regularization adds a penalty for large coefficients, promoting simpler models that generalize better to new data.</a:t>
            </a:r>
          </a:p>
          <a:p>
            <a:endParaRPr lang="en-US" dirty="0"/>
          </a:p>
        </p:txBody>
      </p:sp>
    </p:spTree>
    <p:extLst>
      <p:ext uri="{BB962C8B-B14F-4D97-AF65-F5344CB8AC3E}">
        <p14:creationId xmlns:p14="http://schemas.microsoft.com/office/powerpoint/2010/main" val="2086938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B629-C58E-F1C9-9CF6-29422847BD2B}"/>
              </a:ext>
            </a:extLst>
          </p:cNvPr>
          <p:cNvSpPr>
            <a:spLocks noGrp="1"/>
          </p:cNvSpPr>
          <p:nvPr>
            <p:ph type="title"/>
          </p:nvPr>
        </p:nvSpPr>
        <p:spPr/>
        <p:txBody>
          <a:bodyPr/>
          <a:lstStyle/>
          <a:p>
            <a:r>
              <a:rPr lang="en-US" dirty="0"/>
              <a:t>Logistic Function and its Role</a:t>
            </a:r>
          </a:p>
        </p:txBody>
      </p:sp>
      <p:sp>
        <p:nvSpPr>
          <p:cNvPr id="3" name="Content Placeholder 2">
            <a:extLst>
              <a:ext uri="{FF2B5EF4-FFF2-40B4-BE49-F238E27FC236}">
                <a16:creationId xmlns:a16="http://schemas.microsoft.com/office/drawing/2014/main" id="{C0B70B91-13D7-81EA-6A61-CD416E4E7AEB}"/>
              </a:ext>
            </a:extLst>
          </p:cNvPr>
          <p:cNvSpPr>
            <a:spLocks noGrp="1"/>
          </p:cNvSpPr>
          <p:nvPr>
            <p:ph idx="1"/>
          </p:nvPr>
        </p:nvSpPr>
        <p:spPr/>
        <p:txBody>
          <a:bodyPr/>
          <a:lstStyle/>
          <a:p>
            <a:r>
              <a:rPr lang="en-IN" b="0" i="0" dirty="0">
                <a:solidFill>
                  <a:srgbClr val="0D0D0D"/>
                </a:solidFill>
                <a:effectLst/>
                <a:highlight>
                  <a:srgbClr val="FFFFFF"/>
                </a:highlight>
                <a:latin typeface="ui-sans-serif"/>
              </a:rPr>
              <a:t>It is used to map predicted values (which can range from negative to positive infinity) to a probability value between 0 and 1. This makes it ideal for binary classification tasks where the output needs to represent the probability of belonging to a specific class.</a:t>
            </a:r>
            <a:endParaRPr lang="en-US" dirty="0"/>
          </a:p>
        </p:txBody>
      </p:sp>
    </p:spTree>
    <p:extLst>
      <p:ext uri="{BB962C8B-B14F-4D97-AF65-F5344CB8AC3E}">
        <p14:creationId xmlns:p14="http://schemas.microsoft.com/office/powerpoint/2010/main" val="2822988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3B61B-DF60-0C18-FA74-1F10DBC66068}"/>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Properties of the Logistic Function</a:t>
            </a:r>
            <a:endParaRPr lang="en-US" dirty="0"/>
          </a:p>
        </p:txBody>
      </p:sp>
      <p:sp>
        <p:nvSpPr>
          <p:cNvPr id="3" name="Content Placeholder 2">
            <a:extLst>
              <a:ext uri="{FF2B5EF4-FFF2-40B4-BE49-F238E27FC236}">
                <a16:creationId xmlns:a16="http://schemas.microsoft.com/office/drawing/2014/main" id="{0360AA42-D29C-3961-76AE-CC7DCF932F0B}"/>
              </a:ext>
            </a:extLst>
          </p:cNvPr>
          <p:cNvSpPr>
            <a:spLocks noGrp="1"/>
          </p:cNvSpPr>
          <p:nvPr>
            <p:ph idx="1"/>
          </p:nvPr>
        </p:nvSpPr>
        <p:spPr/>
        <p:txBody>
          <a:bodyPr/>
          <a:lstStyle/>
          <a:p>
            <a:pPr algn="l">
              <a:buFont typeface="+mj-lt"/>
              <a:buAutoNum type="arabicPeriod"/>
            </a:pPr>
            <a:r>
              <a:rPr lang="en-IN" b="1" i="0" dirty="0">
                <a:solidFill>
                  <a:srgbClr val="0D0D0D"/>
                </a:solidFill>
                <a:effectLst/>
                <a:highlight>
                  <a:srgbClr val="FFFFFF"/>
                </a:highlight>
                <a:latin typeface="ui-sans-serif"/>
              </a:rPr>
              <a:t>Range</a:t>
            </a:r>
            <a:r>
              <a:rPr lang="en-IN" b="0" i="0" dirty="0">
                <a:solidFill>
                  <a:srgbClr val="0D0D0D"/>
                </a:solidFill>
                <a:effectLst/>
                <a:highlight>
                  <a:srgbClr val="FFFFFF"/>
                </a:highlight>
                <a:latin typeface="ui-sans-serif"/>
              </a:rPr>
              <a:t>: The logistic function outputs values between 0 and 1 for all input values from negative to positive infinity.</a:t>
            </a:r>
          </a:p>
          <a:p>
            <a:pPr algn="l">
              <a:buFont typeface="+mj-lt"/>
              <a:buAutoNum type="arabicPeriod"/>
            </a:pPr>
            <a:r>
              <a:rPr lang="en-IN" b="1" i="0" dirty="0">
                <a:solidFill>
                  <a:srgbClr val="0D0D0D"/>
                </a:solidFill>
                <a:effectLst/>
                <a:highlight>
                  <a:srgbClr val="FFFFFF"/>
                </a:highlight>
                <a:latin typeface="ui-sans-serif"/>
              </a:rPr>
              <a:t>S-Shape (Sigmoid Curve)</a:t>
            </a:r>
            <a:r>
              <a:rPr lang="en-IN" b="0" i="0" dirty="0">
                <a:solidFill>
                  <a:srgbClr val="0D0D0D"/>
                </a:solidFill>
                <a:effectLst/>
                <a:highlight>
                  <a:srgbClr val="FFFFFF"/>
                </a:highlight>
                <a:latin typeface="ui-sans-serif"/>
              </a:rPr>
              <a:t>: The function has an S-shaped curve, asymptotically approaching 0 as </a:t>
            </a:r>
            <a:r>
              <a:rPr lang="en-IN" b="0" i="0" dirty="0">
                <a:solidFill>
                  <a:srgbClr val="0D0D0D"/>
                </a:solidFill>
                <a:effectLst/>
                <a:highlight>
                  <a:srgbClr val="FFFFFF"/>
                </a:highlight>
                <a:latin typeface="KaTeX_Main"/>
              </a:rPr>
              <a:t>𝑧</a:t>
            </a:r>
            <a:r>
              <a:rPr lang="en-IN" b="0" i="0" dirty="0">
                <a:solidFill>
                  <a:srgbClr val="0D0D0D"/>
                </a:solidFill>
                <a:effectLst/>
                <a:highlight>
                  <a:srgbClr val="FFFFFF"/>
                </a:highlight>
                <a:latin typeface="ui-sans-serif"/>
              </a:rPr>
              <a:t> goes to negative infinity and approaching 1 as </a:t>
            </a:r>
            <a:r>
              <a:rPr lang="en-IN" b="0" i="0" dirty="0">
                <a:solidFill>
                  <a:srgbClr val="0D0D0D"/>
                </a:solidFill>
                <a:effectLst/>
                <a:highlight>
                  <a:srgbClr val="FFFFFF"/>
                </a:highlight>
                <a:latin typeface="KaTeX_Main"/>
              </a:rPr>
              <a:t>𝑧</a:t>
            </a:r>
            <a:r>
              <a:rPr lang="en-IN" b="0" i="0" dirty="0">
                <a:solidFill>
                  <a:srgbClr val="0D0D0D"/>
                </a:solidFill>
                <a:effectLst/>
                <a:highlight>
                  <a:srgbClr val="FFFFFF"/>
                </a:highlight>
                <a:latin typeface="ui-sans-serif"/>
              </a:rPr>
              <a:t> goes to positive infinity.</a:t>
            </a:r>
          </a:p>
          <a:p>
            <a:pPr algn="l">
              <a:buFont typeface="+mj-lt"/>
              <a:buAutoNum type="arabicPeriod"/>
            </a:pPr>
            <a:r>
              <a:rPr lang="en-IN" b="1" i="0" dirty="0">
                <a:solidFill>
                  <a:srgbClr val="0D0D0D"/>
                </a:solidFill>
                <a:effectLst/>
                <a:highlight>
                  <a:srgbClr val="FFFFFF"/>
                </a:highlight>
                <a:latin typeface="ui-sans-serif"/>
              </a:rPr>
              <a:t>Monotonic</a:t>
            </a:r>
            <a:r>
              <a:rPr lang="en-IN" b="0" i="0" dirty="0">
                <a:solidFill>
                  <a:srgbClr val="0D0D0D"/>
                </a:solidFill>
                <a:effectLst/>
                <a:highlight>
                  <a:srgbClr val="FFFFFF"/>
                </a:highlight>
                <a:latin typeface="ui-sans-serif"/>
              </a:rPr>
              <a:t>: The function is monotonically increasing, meaning as </a:t>
            </a:r>
            <a:r>
              <a:rPr lang="en-IN" b="0" i="0" dirty="0">
                <a:solidFill>
                  <a:srgbClr val="0D0D0D"/>
                </a:solidFill>
                <a:effectLst/>
                <a:highlight>
                  <a:srgbClr val="FFFFFF"/>
                </a:highlight>
                <a:latin typeface="KaTeX_Main"/>
              </a:rPr>
              <a:t>𝑧</a:t>
            </a:r>
            <a:r>
              <a:rPr lang="en-IN" b="0" i="0" dirty="0">
                <a:solidFill>
                  <a:srgbClr val="0D0D0D"/>
                </a:solidFill>
                <a:effectLst/>
                <a:highlight>
                  <a:srgbClr val="FFFFFF"/>
                </a:highlight>
                <a:latin typeface="ui-sans-serif"/>
              </a:rPr>
              <a:t> increases, the output of the logistic function also increases.</a:t>
            </a:r>
          </a:p>
          <a:p>
            <a:endParaRPr lang="en-US" dirty="0"/>
          </a:p>
        </p:txBody>
      </p:sp>
    </p:spTree>
    <p:extLst>
      <p:ext uri="{BB962C8B-B14F-4D97-AF65-F5344CB8AC3E}">
        <p14:creationId xmlns:p14="http://schemas.microsoft.com/office/powerpoint/2010/main" val="361099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B7B11-18B2-F92A-233F-51C5ACFD62FA}"/>
              </a:ext>
            </a:extLst>
          </p:cNvPr>
          <p:cNvSpPr>
            <a:spLocks noGrp="1"/>
          </p:cNvSpPr>
          <p:nvPr>
            <p:ph type="title"/>
          </p:nvPr>
        </p:nvSpPr>
        <p:spPr/>
        <p:txBody>
          <a:bodyPr>
            <a:normAutofit/>
          </a:bodyPr>
          <a:lstStyle/>
          <a:p>
            <a:r>
              <a:rPr lang="en-IN" b="1" i="0" dirty="0">
                <a:solidFill>
                  <a:srgbClr val="0D0D0D"/>
                </a:solidFill>
                <a:effectLst/>
                <a:highlight>
                  <a:srgbClr val="FFFFFF"/>
                </a:highlight>
                <a:latin typeface="ui-sans-serif"/>
              </a:rPr>
              <a:t>Role of the Logistic Function in Logistic Regression</a:t>
            </a:r>
            <a:endParaRPr lang="en-US" dirty="0"/>
          </a:p>
        </p:txBody>
      </p:sp>
      <p:sp>
        <p:nvSpPr>
          <p:cNvPr id="3" name="Content Placeholder 2">
            <a:extLst>
              <a:ext uri="{FF2B5EF4-FFF2-40B4-BE49-F238E27FC236}">
                <a16:creationId xmlns:a16="http://schemas.microsoft.com/office/drawing/2014/main" id="{0E2316CE-AEC8-EE92-CF51-E261F3CE2BFB}"/>
              </a:ext>
            </a:extLst>
          </p:cNvPr>
          <p:cNvSpPr>
            <a:spLocks noGrp="1"/>
          </p:cNvSpPr>
          <p:nvPr>
            <p:ph idx="1"/>
          </p:nvPr>
        </p:nvSpPr>
        <p:spPr/>
        <p:txBody>
          <a:bodyPr/>
          <a:lstStyle/>
          <a:p>
            <a:r>
              <a:rPr lang="en-IN" b="1" i="0" dirty="0">
                <a:solidFill>
                  <a:srgbClr val="0D0D0D"/>
                </a:solidFill>
                <a:effectLst/>
                <a:highlight>
                  <a:srgbClr val="FFFFFF"/>
                </a:highlight>
                <a:latin typeface="ui-sans-serif"/>
              </a:rPr>
              <a:t>Probability Mapping</a:t>
            </a:r>
            <a:r>
              <a:rPr lang="en-IN" b="0" i="0" dirty="0">
                <a:solidFill>
                  <a:srgbClr val="0D0D0D"/>
                </a:solidFill>
                <a:effectLst/>
                <a:highlight>
                  <a:srgbClr val="FFFFFF"/>
                </a:highlight>
                <a:latin typeface="ui-sans-serif"/>
              </a:rPr>
              <a:t>: In logistic regression, the logistic function maps the linear combination of input features to a probability value between 0 and 1. This probability represents the likelihood that the given instance belongs to the positive class (class 1).</a:t>
            </a:r>
          </a:p>
          <a:p>
            <a:endParaRPr lang="en-US" dirty="0"/>
          </a:p>
        </p:txBody>
      </p:sp>
      <p:pic>
        <p:nvPicPr>
          <p:cNvPr id="5" name="Picture 4" descr="A math equation with a plus and e&#10;&#10;Description automatically generated with medium confidence">
            <a:extLst>
              <a:ext uri="{FF2B5EF4-FFF2-40B4-BE49-F238E27FC236}">
                <a16:creationId xmlns:a16="http://schemas.microsoft.com/office/drawing/2014/main" id="{9B1B48F1-EE9F-7C6A-5CDC-7A298F44F047}"/>
              </a:ext>
            </a:extLst>
          </p:cNvPr>
          <p:cNvPicPr>
            <a:picLocks noChangeAspect="1"/>
          </p:cNvPicPr>
          <p:nvPr/>
        </p:nvPicPr>
        <p:blipFill>
          <a:blip r:embed="rId2"/>
          <a:stretch>
            <a:fillRect/>
          </a:stretch>
        </p:blipFill>
        <p:spPr>
          <a:xfrm>
            <a:off x="2889250" y="3525044"/>
            <a:ext cx="6413500" cy="952500"/>
          </a:xfrm>
          <a:prstGeom prst="rect">
            <a:avLst/>
          </a:prstGeom>
        </p:spPr>
      </p:pic>
    </p:spTree>
    <p:extLst>
      <p:ext uri="{BB962C8B-B14F-4D97-AF65-F5344CB8AC3E}">
        <p14:creationId xmlns:p14="http://schemas.microsoft.com/office/powerpoint/2010/main" val="105818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4170C-62AA-8E68-1B4A-49422B214285}"/>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Role of the Logistic Function in Logistic Regression</a:t>
            </a:r>
            <a:endParaRPr lang="en-US" dirty="0"/>
          </a:p>
        </p:txBody>
      </p:sp>
      <p:sp>
        <p:nvSpPr>
          <p:cNvPr id="3" name="Content Placeholder 2">
            <a:extLst>
              <a:ext uri="{FF2B5EF4-FFF2-40B4-BE49-F238E27FC236}">
                <a16:creationId xmlns:a16="http://schemas.microsoft.com/office/drawing/2014/main" id="{3B75EC24-C44C-70B8-CAC0-77567B44B920}"/>
              </a:ext>
            </a:extLst>
          </p:cNvPr>
          <p:cNvSpPr>
            <a:spLocks noGrp="1"/>
          </p:cNvSpPr>
          <p:nvPr>
            <p:ph idx="1"/>
          </p:nvPr>
        </p:nvSpPr>
        <p:spPr/>
        <p:txBody>
          <a:bodyPr/>
          <a:lstStyle/>
          <a:p>
            <a:r>
              <a:rPr lang="en-IN" b="1" i="0" dirty="0">
                <a:solidFill>
                  <a:srgbClr val="0D0D0D"/>
                </a:solidFill>
                <a:effectLst/>
                <a:highlight>
                  <a:srgbClr val="FFFFFF"/>
                </a:highlight>
                <a:latin typeface="ui-sans-serif"/>
              </a:rPr>
              <a:t>Log-Odds Transformation</a:t>
            </a:r>
            <a:r>
              <a:rPr lang="en-IN" b="0" i="0" dirty="0">
                <a:solidFill>
                  <a:srgbClr val="0D0D0D"/>
                </a:solidFill>
                <a:effectLst/>
                <a:highlight>
                  <a:srgbClr val="FFFFFF"/>
                </a:highlight>
                <a:latin typeface="ui-sans-serif"/>
              </a:rPr>
              <a:t>: The logistic regression model predicts the log-odds of the positive class as a linear combination of the input features. The log-odds (logit) are transformed into a probability using the logistic function.</a:t>
            </a:r>
          </a:p>
          <a:p>
            <a:endParaRPr lang="en-US" dirty="0"/>
          </a:p>
        </p:txBody>
      </p:sp>
      <p:pic>
        <p:nvPicPr>
          <p:cNvPr id="5" name="Picture 4" descr="A math equations with numbers&#10;&#10;Description automatically generated with medium confidence">
            <a:extLst>
              <a:ext uri="{FF2B5EF4-FFF2-40B4-BE49-F238E27FC236}">
                <a16:creationId xmlns:a16="http://schemas.microsoft.com/office/drawing/2014/main" id="{45970AB7-DCF0-047A-4BFE-59142020723A}"/>
              </a:ext>
            </a:extLst>
          </p:cNvPr>
          <p:cNvPicPr>
            <a:picLocks noChangeAspect="1"/>
          </p:cNvPicPr>
          <p:nvPr/>
        </p:nvPicPr>
        <p:blipFill>
          <a:blip r:embed="rId2"/>
          <a:stretch>
            <a:fillRect/>
          </a:stretch>
        </p:blipFill>
        <p:spPr>
          <a:xfrm>
            <a:off x="2724150" y="3850049"/>
            <a:ext cx="6743700" cy="1765300"/>
          </a:xfrm>
          <a:prstGeom prst="rect">
            <a:avLst/>
          </a:prstGeom>
        </p:spPr>
      </p:pic>
    </p:spTree>
    <p:extLst>
      <p:ext uri="{BB962C8B-B14F-4D97-AF65-F5344CB8AC3E}">
        <p14:creationId xmlns:p14="http://schemas.microsoft.com/office/powerpoint/2010/main" val="749878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31252-CC29-0020-3787-3CA0F1AAF610}"/>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Role of the Logistic Function in Logistic Regression</a:t>
            </a:r>
            <a:endParaRPr lang="en-US" dirty="0"/>
          </a:p>
        </p:txBody>
      </p:sp>
      <p:sp>
        <p:nvSpPr>
          <p:cNvPr id="3" name="Content Placeholder 2">
            <a:extLst>
              <a:ext uri="{FF2B5EF4-FFF2-40B4-BE49-F238E27FC236}">
                <a16:creationId xmlns:a16="http://schemas.microsoft.com/office/drawing/2014/main" id="{FD28792B-437A-AAF9-82B4-22094C744093}"/>
              </a:ext>
            </a:extLst>
          </p:cNvPr>
          <p:cNvSpPr>
            <a:spLocks noGrp="1"/>
          </p:cNvSpPr>
          <p:nvPr>
            <p:ph idx="1"/>
          </p:nvPr>
        </p:nvSpPr>
        <p:spPr/>
        <p:txBody>
          <a:bodyPr>
            <a:normAutofit lnSpcReduction="10000"/>
          </a:bodyPr>
          <a:lstStyle/>
          <a:p>
            <a:r>
              <a:rPr lang="en-IN" b="1" dirty="0">
                <a:effectLst/>
              </a:rPr>
              <a:t>Interpretation of Coefficients</a:t>
            </a:r>
            <a:r>
              <a:rPr lang="en-IN" dirty="0">
                <a:effectLst/>
              </a:rPr>
              <a:t>: The coefficients (</a:t>
            </a:r>
            <a:r>
              <a:rPr lang="en-IN" dirty="0">
                <a:effectLst/>
                <a:latin typeface="KaTeX_Main"/>
              </a:rPr>
              <a:t>𝛽</a:t>
            </a:r>
            <a:r>
              <a:rPr lang="el-GR" dirty="0">
                <a:effectLst/>
              </a:rPr>
              <a:t> </a:t>
            </a:r>
            <a:r>
              <a:rPr lang="en-IN" dirty="0">
                <a:effectLst/>
              </a:rPr>
              <a:t>values) in the logistic regression model represent the change in the log-odds of the outcome for a one-unit change in the corresponding predictor variable. By applying the logistic function to these log-odds, we get the corresponding probability.</a:t>
            </a:r>
          </a:p>
          <a:p>
            <a:r>
              <a:rPr lang="en-IN" b="1" dirty="0">
                <a:effectLst/>
              </a:rPr>
              <a:t>Decision Threshold</a:t>
            </a:r>
            <a:r>
              <a:rPr lang="en-IN" dirty="0">
                <a:effectLst/>
              </a:rPr>
              <a:t>: The output of the logistic function can be compared to a threshold (commonly 0.5) to make binary classification decisions. If the output probability is greater than or equal to the threshold, the instance is classified as the positive class; otherwise, it is classified as the negative class.</a:t>
            </a:r>
            <a:br>
              <a:rPr lang="en-IN" b="0" i="0" dirty="0">
                <a:solidFill>
                  <a:srgbClr val="0D0D0D"/>
                </a:solidFill>
                <a:effectLst/>
                <a:highlight>
                  <a:srgbClr val="FFFFFF"/>
                </a:highlight>
                <a:latin typeface="KaTeX_Main"/>
              </a:rPr>
            </a:br>
            <a:endParaRPr lang="en-IN" dirty="0">
              <a:effectLst/>
            </a:endParaRPr>
          </a:p>
          <a:p>
            <a:endParaRPr lang="en-US" dirty="0"/>
          </a:p>
        </p:txBody>
      </p:sp>
    </p:spTree>
    <p:extLst>
      <p:ext uri="{BB962C8B-B14F-4D97-AF65-F5344CB8AC3E}">
        <p14:creationId xmlns:p14="http://schemas.microsoft.com/office/powerpoint/2010/main" val="300964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3836C-697F-914B-655A-46BD88D7A29C}"/>
              </a:ext>
            </a:extLst>
          </p:cNvPr>
          <p:cNvSpPr>
            <a:spLocks noGrp="1"/>
          </p:cNvSpPr>
          <p:nvPr>
            <p:ph type="title"/>
          </p:nvPr>
        </p:nvSpPr>
        <p:spPr/>
        <p:txBody>
          <a:bodyPr/>
          <a:lstStyle/>
          <a:p>
            <a:r>
              <a:rPr lang="en-US" dirty="0"/>
              <a:t>Best-fit curve via coefficient adjustment</a:t>
            </a:r>
          </a:p>
        </p:txBody>
      </p:sp>
      <p:sp>
        <p:nvSpPr>
          <p:cNvPr id="3" name="Content Placeholder 2">
            <a:extLst>
              <a:ext uri="{FF2B5EF4-FFF2-40B4-BE49-F238E27FC236}">
                <a16:creationId xmlns:a16="http://schemas.microsoft.com/office/drawing/2014/main" id="{24C9AEC8-457C-B256-8A4B-59AFD730BE37}"/>
              </a:ext>
            </a:extLst>
          </p:cNvPr>
          <p:cNvSpPr>
            <a:spLocks noGrp="1"/>
          </p:cNvSpPr>
          <p:nvPr>
            <p:ph idx="1"/>
          </p:nvPr>
        </p:nvSpPr>
        <p:spPr/>
        <p:txBody>
          <a:bodyPr/>
          <a:lstStyle/>
          <a:p>
            <a:pPr marL="0" indent="0">
              <a:buNone/>
            </a:pPr>
            <a:r>
              <a:rPr lang="en-IN" b="0" i="0" dirty="0">
                <a:solidFill>
                  <a:srgbClr val="0D0D0D"/>
                </a:solidFill>
                <a:effectLst/>
                <a:highlight>
                  <a:srgbClr val="FFFFFF"/>
                </a:highlight>
                <a:latin typeface="ui-sans-serif"/>
              </a:rPr>
              <a:t>Finding the best-fit curve via coefficient adjustment in logistic regression involves determining the values of the coefficients (</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0</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,…,𝛽𝑛</a:t>
            </a:r>
            <a:r>
              <a:rPr lang="en-IN" b="0" i="0" dirty="0">
                <a:solidFill>
                  <a:srgbClr val="0D0D0D"/>
                </a:solidFill>
                <a:effectLst/>
                <a:highlight>
                  <a:srgbClr val="FFFFFF"/>
                </a:highlight>
                <a:latin typeface="ui-sans-serif"/>
              </a:rPr>
              <a:t>) that minimize the difference between the predicted probabilities and the actual outcomes in the training data. This process is typically done using a method called Maximum Likelihood Estimation (MLE).</a:t>
            </a:r>
            <a:endParaRPr lang="en-US" dirty="0"/>
          </a:p>
        </p:txBody>
      </p:sp>
    </p:spTree>
    <p:extLst>
      <p:ext uri="{BB962C8B-B14F-4D97-AF65-F5344CB8AC3E}">
        <p14:creationId xmlns:p14="http://schemas.microsoft.com/office/powerpoint/2010/main" val="3279869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B9ED-726D-8986-A72A-7AAEF4BBC96A}"/>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Steps to Find the Best-Fit Curve</a:t>
            </a:r>
            <a:endParaRPr lang="en-US" dirty="0"/>
          </a:p>
        </p:txBody>
      </p:sp>
      <p:sp>
        <p:nvSpPr>
          <p:cNvPr id="3" name="Content Placeholder 2">
            <a:extLst>
              <a:ext uri="{FF2B5EF4-FFF2-40B4-BE49-F238E27FC236}">
                <a16:creationId xmlns:a16="http://schemas.microsoft.com/office/drawing/2014/main" id="{C7F52112-84FC-2066-CC56-6FDEB0CA4715}"/>
              </a:ext>
            </a:extLst>
          </p:cNvPr>
          <p:cNvSpPr>
            <a:spLocks noGrp="1"/>
          </p:cNvSpPr>
          <p:nvPr>
            <p:ph idx="1"/>
          </p:nvPr>
        </p:nvSpPr>
        <p:spPr/>
        <p:txBody>
          <a:bodyPr/>
          <a:lstStyle/>
          <a:p>
            <a:r>
              <a:rPr lang="en-IN" b="1" i="0" dirty="0">
                <a:solidFill>
                  <a:srgbClr val="0D0D0D"/>
                </a:solidFill>
                <a:effectLst/>
                <a:highlight>
                  <a:srgbClr val="FFFFFF"/>
                </a:highlight>
                <a:latin typeface="ui-sans-serif"/>
              </a:rPr>
              <a:t>Model Specification</a:t>
            </a:r>
            <a:r>
              <a:rPr lang="en-IN" b="0" i="0" dirty="0">
                <a:solidFill>
                  <a:srgbClr val="0D0D0D"/>
                </a:solidFill>
                <a:effectLst/>
                <a:highlight>
                  <a:srgbClr val="FFFFFF"/>
                </a:highlight>
                <a:latin typeface="ui-sans-serif"/>
              </a:rPr>
              <a:t>: Define the logistic regression model, where the probability of the binary outcome is given by:</a:t>
            </a:r>
          </a:p>
          <a:p>
            <a:endParaRPr lang="en-IN" dirty="0">
              <a:solidFill>
                <a:srgbClr val="0D0D0D"/>
              </a:solidFill>
              <a:highlight>
                <a:srgbClr val="FFFFFF"/>
              </a:highlight>
              <a:latin typeface="ui-sans-serif"/>
            </a:endParaRPr>
          </a:p>
          <a:p>
            <a:endParaRPr lang="en-IN" dirty="0">
              <a:solidFill>
                <a:srgbClr val="0D0D0D"/>
              </a:solidFill>
              <a:highlight>
                <a:srgbClr val="FFFFFF"/>
              </a:highlight>
              <a:latin typeface="ui-sans-serif"/>
            </a:endParaRPr>
          </a:p>
          <a:p>
            <a:pPr marL="0" indent="0">
              <a:buNone/>
            </a:pPr>
            <a:r>
              <a:rPr lang="en-IN" b="0" i="0" dirty="0">
                <a:solidFill>
                  <a:srgbClr val="0D0D0D"/>
                </a:solidFill>
                <a:effectLst/>
                <a:highlight>
                  <a:srgbClr val="FFFFFF"/>
                </a:highlight>
                <a:latin typeface="ui-sans-serif"/>
              </a:rPr>
              <a:t>Here, </a:t>
            </a:r>
            <a:r>
              <a:rPr lang="en-IN" b="0" i="0" dirty="0">
                <a:solidFill>
                  <a:srgbClr val="0D0D0D"/>
                </a:solidFill>
                <a:effectLst/>
                <a:highlight>
                  <a:srgbClr val="FFFFFF"/>
                </a:highlight>
                <a:latin typeface="KaTeX_Main"/>
              </a:rPr>
              <a:t>𝑧</a:t>
            </a:r>
            <a:r>
              <a:rPr lang="en-IN" b="0" i="0" dirty="0">
                <a:solidFill>
                  <a:srgbClr val="0D0D0D"/>
                </a:solidFill>
                <a:effectLst/>
                <a:highlight>
                  <a:srgbClr val="FFFFFF"/>
                </a:highlight>
                <a:latin typeface="ui-sans-serif"/>
              </a:rPr>
              <a:t> is the linear combination of input features and their corresponding coefficients.</a:t>
            </a:r>
            <a:endParaRPr lang="en-US" dirty="0"/>
          </a:p>
        </p:txBody>
      </p:sp>
      <p:pic>
        <p:nvPicPr>
          <p:cNvPr id="5" name="Picture 4">
            <a:extLst>
              <a:ext uri="{FF2B5EF4-FFF2-40B4-BE49-F238E27FC236}">
                <a16:creationId xmlns:a16="http://schemas.microsoft.com/office/drawing/2014/main" id="{9CBEF7CB-5EC8-2ECF-C99F-5CCB03D527A0}"/>
              </a:ext>
            </a:extLst>
          </p:cNvPr>
          <p:cNvPicPr>
            <a:picLocks noChangeAspect="1"/>
          </p:cNvPicPr>
          <p:nvPr/>
        </p:nvPicPr>
        <p:blipFill>
          <a:blip r:embed="rId2"/>
          <a:stretch>
            <a:fillRect/>
          </a:stretch>
        </p:blipFill>
        <p:spPr>
          <a:xfrm>
            <a:off x="2906791" y="2849767"/>
            <a:ext cx="6070600" cy="723900"/>
          </a:xfrm>
          <a:prstGeom prst="rect">
            <a:avLst/>
          </a:prstGeom>
        </p:spPr>
      </p:pic>
    </p:spTree>
    <p:extLst>
      <p:ext uri="{BB962C8B-B14F-4D97-AF65-F5344CB8AC3E}">
        <p14:creationId xmlns:p14="http://schemas.microsoft.com/office/powerpoint/2010/main" val="3099293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B9ED-726D-8986-A72A-7AAEF4BBC96A}"/>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Steps to Find the Best-Fit Curve</a:t>
            </a:r>
            <a:endParaRPr lang="en-US" dirty="0"/>
          </a:p>
        </p:txBody>
      </p:sp>
      <p:sp>
        <p:nvSpPr>
          <p:cNvPr id="3" name="Content Placeholder 2">
            <a:extLst>
              <a:ext uri="{FF2B5EF4-FFF2-40B4-BE49-F238E27FC236}">
                <a16:creationId xmlns:a16="http://schemas.microsoft.com/office/drawing/2014/main" id="{C7F52112-84FC-2066-CC56-6FDEB0CA4715}"/>
              </a:ext>
            </a:extLst>
          </p:cNvPr>
          <p:cNvSpPr>
            <a:spLocks noGrp="1"/>
          </p:cNvSpPr>
          <p:nvPr>
            <p:ph idx="1"/>
          </p:nvPr>
        </p:nvSpPr>
        <p:spPr/>
        <p:txBody>
          <a:bodyPr>
            <a:normAutofit lnSpcReduction="10000"/>
          </a:bodyPr>
          <a:lstStyle/>
          <a:p>
            <a:r>
              <a:rPr lang="en-IN" b="1" i="0" dirty="0">
                <a:solidFill>
                  <a:srgbClr val="0D0D0D"/>
                </a:solidFill>
                <a:effectLst/>
                <a:highlight>
                  <a:srgbClr val="FFFFFF"/>
                </a:highlight>
                <a:latin typeface="ui-sans-serif"/>
              </a:rPr>
              <a:t>Likelihood Function</a:t>
            </a:r>
            <a:r>
              <a:rPr lang="en-IN" b="0" i="0" dirty="0">
                <a:solidFill>
                  <a:srgbClr val="0D0D0D"/>
                </a:solidFill>
                <a:effectLst/>
                <a:highlight>
                  <a:srgbClr val="FFFFFF"/>
                </a:highlight>
                <a:latin typeface="ui-sans-serif"/>
              </a:rPr>
              <a:t>: The likelihood function represents the probability of observing the given data as a function of the model parameters (coefficients). For logistic regression, the likelihood of the observed data is:</a:t>
            </a:r>
          </a:p>
          <a:p>
            <a:endParaRPr lang="en-IN" dirty="0">
              <a:solidFill>
                <a:srgbClr val="0D0D0D"/>
              </a:solidFill>
              <a:highlight>
                <a:srgbClr val="FFFFFF"/>
              </a:highlight>
              <a:latin typeface="ui-sans-serif"/>
            </a:endParaRPr>
          </a:p>
          <a:p>
            <a:endParaRPr lang="en-IN" dirty="0">
              <a:solidFill>
                <a:srgbClr val="0D0D0D"/>
              </a:solidFill>
              <a:highlight>
                <a:srgbClr val="FFFFFF"/>
              </a:highlight>
              <a:latin typeface="ui-sans-serif"/>
            </a:endParaRPr>
          </a:p>
          <a:p>
            <a:endParaRPr lang="en-IN" dirty="0">
              <a:solidFill>
                <a:srgbClr val="0D0D0D"/>
              </a:solidFill>
              <a:highlight>
                <a:srgbClr val="FFFFFF"/>
              </a:highlight>
              <a:latin typeface="ui-sans-serif"/>
            </a:endParaRPr>
          </a:p>
          <a:p>
            <a:pPr marL="0" indent="0">
              <a:buNone/>
            </a:pPr>
            <a:r>
              <a:rPr lang="en-IN" b="0" i="0" dirty="0">
                <a:solidFill>
                  <a:srgbClr val="0D0D0D"/>
                </a:solidFill>
                <a:effectLst/>
                <a:highlight>
                  <a:srgbClr val="FFFFFF"/>
                </a:highlight>
                <a:latin typeface="ui-sans-serif"/>
              </a:rPr>
              <a:t>where </a:t>
            </a:r>
            <a:r>
              <a:rPr lang="en-IN" b="0" i="0" dirty="0">
                <a:solidFill>
                  <a:srgbClr val="0D0D0D"/>
                </a:solidFill>
                <a:effectLst/>
                <a:highlight>
                  <a:srgbClr val="FFFFFF"/>
                </a:highlight>
                <a:latin typeface="KaTeX_Main"/>
              </a:rPr>
              <a:t>𝑚</a:t>
            </a:r>
            <a:r>
              <a:rPr lang="en-IN" b="0" i="0" dirty="0">
                <a:solidFill>
                  <a:srgbClr val="0D0D0D"/>
                </a:solidFill>
                <a:effectLst/>
                <a:highlight>
                  <a:srgbClr val="FFFFFF"/>
                </a:highlight>
                <a:latin typeface="ui-sans-serif"/>
              </a:rPr>
              <a:t> is the number of training examples, </a:t>
            </a:r>
            <a:r>
              <a:rPr lang="en-IN" b="0" i="0" dirty="0">
                <a:solidFill>
                  <a:srgbClr val="0D0D0D"/>
                </a:solidFill>
                <a:effectLst/>
                <a:highlight>
                  <a:srgbClr val="FFFFFF"/>
                </a:highlight>
                <a:latin typeface="KaTeX_Main"/>
              </a:rPr>
              <a:t>𝑦𝑖​</a:t>
            </a:r>
            <a:r>
              <a:rPr lang="en-IN" b="0" i="0" dirty="0">
                <a:solidFill>
                  <a:srgbClr val="0D0D0D"/>
                </a:solidFill>
                <a:effectLst/>
                <a:highlight>
                  <a:srgbClr val="FFFFFF"/>
                </a:highlight>
                <a:latin typeface="ui-sans-serif"/>
              </a:rPr>
              <a:t> is the actual outcome (0 or 1) for the </a:t>
            </a:r>
            <a:r>
              <a:rPr lang="en-IN" b="0" i="0" dirty="0">
                <a:solidFill>
                  <a:srgbClr val="0D0D0D"/>
                </a:solidFill>
                <a:effectLst/>
                <a:highlight>
                  <a:srgbClr val="FFFFFF"/>
                </a:highlight>
                <a:latin typeface="KaTeX_Main"/>
              </a:rPr>
              <a:t>𝑖</a:t>
            </a:r>
            <a:r>
              <a:rPr lang="en-IN" b="0" i="0" dirty="0">
                <a:solidFill>
                  <a:srgbClr val="0D0D0D"/>
                </a:solidFill>
                <a:effectLst/>
                <a:highlight>
                  <a:srgbClr val="FFFFFF"/>
                </a:highlight>
                <a:latin typeface="ui-sans-serif"/>
              </a:rPr>
              <a:t>-</a:t>
            </a:r>
            <a:r>
              <a:rPr lang="en-IN" b="0" i="0" dirty="0" err="1">
                <a:solidFill>
                  <a:srgbClr val="0D0D0D"/>
                </a:solidFill>
                <a:effectLst/>
                <a:highlight>
                  <a:srgbClr val="FFFFFF"/>
                </a:highlight>
                <a:latin typeface="ui-sans-serif"/>
              </a:rPr>
              <a:t>th</a:t>
            </a:r>
            <a:r>
              <a:rPr lang="en-IN" b="0" i="0" dirty="0">
                <a:solidFill>
                  <a:srgbClr val="0D0D0D"/>
                </a:solidFill>
                <a:effectLst/>
                <a:highlight>
                  <a:srgbClr val="FFFFFF"/>
                </a:highlight>
                <a:latin typeface="ui-sans-serif"/>
              </a:rPr>
              <a:t> instance, and </a:t>
            </a:r>
            <a:r>
              <a:rPr lang="en-IN" b="0" i="0" dirty="0">
                <a:solidFill>
                  <a:srgbClr val="0D0D0D"/>
                </a:solidFill>
                <a:effectLst/>
                <a:highlight>
                  <a:srgbClr val="FFFFFF"/>
                </a:highlight>
                <a:latin typeface="KaTeX_Main"/>
              </a:rPr>
              <a:t>𝑃(𝑦𝑖∣𝑋𝑖)</a:t>
            </a:r>
            <a:r>
              <a:rPr lang="en-IN" i="1" dirty="0">
                <a:solidFill>
                  <a:srgbClr val="0D0D0D"/>
                </a:solidFill>
                <a:highlight>
                  <a:srgbClr val="FFFFFF"/>
                </a:highlight>
                <a:latin typeface="KaTeX_Math"/>
              </a:rPr>
              <a:t> </a:t>
            </a:r>
            <a:r>
              <a:rPr lang="en-IN" b="0" i="0" dirty="0">
                <a:solidFill>
                  <a:srgbClr val="0D0D0D"/>
                </a:solidFill>
                <a:effectLst/>
                <a:highlight>
                  <a:srgbClr val="FFFFFF"/>
                </a:highlight>
                <a:latin typeface="ui-sans-serif"/>
              </a:rPr>
              <a:t>is the predicted probability for the </a:t>
            </a:r>
            <a:r>
              <a:rPr lang="en-IN" b="0" i="0" dirty="0">
                <a:solidFill>
                  <a:srgbClr val="0D0D0D"/>
                </a:solidFill>
                <a:effectLst/>
                <a:highlight>
                  <a:srgbClr val="FFFFFF"/>
                </a:highlight>
                <a:latin typeface="KaTeX_Main"/>
              </a:rPr>
              <a:t>𝑖</a:t>
            </a:r>
            <a:r>
              <a:rPr lang="en-IN" b="0" i="0" dirty="0">
                <a:solidFill>
                  <a:srgbClr val="0D0D0D"/>
                </a:solidFill>
                <a:effectLst/>
                <a:highlight>
                  <a:srgbClr val="FFFFFF"/>
                </a:highlight>
                <a:latin typeface="ui-sans-serif"/>
              </a:rPr>
              <a:t>-</a:t>
            </a:r>
            <a:r>
              <a:rPr lang="en-IN" b="0" i="0" dirty="0" err="1">
                <a:solidFill>
                  <a:srgbClr val="0D0D0D"/>
                </a:solidFill>
                <a:effectLst/>
                <a:highlight>
                  <a:srgbClr val="FFFFFF"/>
                </a:highlight>
                <a:latin typeface="ui-sans-serif"/>
              </a:rPr>
              <a:t>th</a:t>
            </a:r>
            <a:r>
              <a:rPr lang="en-IN" b="0" i="0" dirty="0">
                <a:solidFill>
                  <a:srgbClr val="0D0D0D"/>
                </a:solidFill>
                <a:effectLst/>
                <a:highlight>
                  <a:srgbClr val="FFFFFF"/>
                </a:highlight>
                <a:latin typeface="ui-sans-serif"/>
              </a:rPr>
              <a:t> instance.</a:t>
            </a:r>
            <a:endParaRPr lang="en-US" dirty="0"/>
          </a:p>
        </p:txBody>
      </p:sp>
      <p:pic>
        <p:nvPicPr>
          <p:cNvPr id="6" name="Picture 5" descr="A black text on a white background&#10;&#10;Description automatically generated">
            <a:extLst>
              <a:ext uri="{FF2B5EF4-FFF2-40B4-BE49-F238E27FC236}">
                <a16:creationId xmlns:a16="http://schemas.microsoft.com/office/drawing/2014/main" id="{E81DFFBA-94B6-2C02-5BA9-8CFA66EF4417}"/>
              </a:ext>
            </a:extLst>
          </p:cNvPr>
          <p:cNvPicPr>
            <a:picLocks noChangeAspect="1"/>
          </p:cNvPicPr>
          <p:nvPr/>
        </p:nvPicPr>
        <p:blipFill>
          <a:blip r:embed="rId2"/>
          <a:stretch>
            <a:fillRect/>
          </a:stretch>
        </p:blipFill>
        <p:spPr>
          <a:xfrm>
            <a:off x="2806700" y="3537744"/>
            <a:ext cx="6578600" cy="927100"/>
          </a:xfrm>
          <a:prstGeom prst="rect">
            <a:avLst/>
          </a:prstGeom>
        </p:spPr>
      </p:pic>
    </p:spTree>
    <p:extLst>
      <p:ext uri="{BB962C8B-B14F-4D97-AF65-F5344CB8AC3E}">
        <p14:creationId xmlns:p14="http://schemas.microsoft.com/office/powerpoint/2010/main" val="4291310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B9ED-726D-8986-A72A-7AAEF4BBC96A}"/>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Steps to Find the Best-Fit Curve</a:t>
            </a:r>
            <a:endParaRPr lang="en-US" dirty="0"/>
          </a:p>
        </p:txBody>
      </p:sp>
      <p:sp>
        <p:nvSpPr>
          <p:cNvPr id="3" name="Content Placeholder 2">
            <a:extLst>
              <a:ext uri="{FF2B5EF4-FFF2-40B4-BE49-F238E27FC236}">
                <a16:creationId xmlns:a16="http://schemas.microsoft.com/office/drawing/2014/main" id="{C7F52112-84FC-2066-CC56-6FDEB0CA4715}"/>
              </a:ext>
            </a:extLst>
          </p:cNvPr>
          <p:cNvSpPr>
            <a:spLocks noGrp="1"/>
          </p:cNvSpPr>
          <p:nvPr>
            <p:ph idx="1"/>
          </p:nvPr>
        </p:nvSpPr>
        <p:spPr/>
        <p:txBody>
          <a:bodyPr>
            <a:normAutofit/>
          </a:bodyPr>
          <a:lstStyle/>
          <a:p>
            <a:r>
              <a:rPr lang="en-IN" b="1" i="0" dirty="0">
                <a:solidFill>
                  <a:srgbClr val="0D0D0D"/>
                </a:solidFill>
                <a:effectLst/>
                <a:highlight>
                  <a:srgbClr val="FFFFFF"/>
                </a:highlight>
                <a:latin typeface="ui-sans-serif"/>
              </a:rPr>
              <a:t>Log-Likelihood Function</a:t>
            </a:r>
            <a:r>
              <a:rPr lang="en-IN" b="0" i="0" dirty="0">
                <a:solidFill>
                  <a:srgbClr val="0D0D0D"/>
                </a:solidFill>
                <a:effectLst/>
                <a:highlight>
                  <a:srgbClr val="FFFFFF"/>
                </a:highlight>
                <a:latin typeface="ui-sans-serif"/>
              </a:rPr>
              <a:t>: To simplify the computation, we usually work with the log-likelihood function, which is the natural logarithm of the likelihood function. This transformation converts the product into a sum:</a:t>
            </a:r>
            <a:endParaRPr lang="en-US" dirty="0"/>
          </a:p>
        </p:txBody>
      </p:sp>
      <p:pic>
        <p:nvPicPr>
          <p:cNvPr id="5" name="Picture 4">
            <a:extLst>
              <a:ext uri="{FF2B5EF4-FFF2-40B4-BE49-F238E27FC236}">
                <a16:creationId xmlns:a16="http://schemas.microsoft.com/office/drawing/2014/main" id="{69876DF3-D7EA-8DF2-A67F-C9966D31F31B}"/>
              </a:ext>
            </a:extLst>
          </p:cNvPr>
          <p:cNvPicPr>
            <a:picLocks noChangeAspect="1"/>
          </p:cNvPicPr>
          <p:nvPr/>
        </p:nvPicPr>
        <p:blipFill>
          <a:blip r:embed="rId2"/>
          <a:stretch>
            <a:fillRect/>
          </a:stretch>
        </p:blipFill>
        <p:spPr>
          <a:xfrm>
            <a:off x="2046335" y="3590024"/>
            <a:ext cx="7772400" cy="822539"/>
          </a:xfrm>
          <a:prstGeom prst="rect">
            <a:avLst/>
          </a:prstGeom>
        </p:spPr>
      </p:pic>
    </p:spTree>
    <p:extLst>
      <p:ext uri="{BB962C8B-B14F-4D97-AF65-F5344CB8AC3E}">
        <p14:creationId xmlns:p14="http://schemas.microsoft.com/office/powerpoint/2010/main" val="4201793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B9ED-726D-8986-A72A-7AAEF4BBC96A}"/>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Steps to Find the Best-Fit Curve</a:t>
            </a:r>
            <a:endParaRPr lang="en-US" dirty="0"/>
          </a:p>
        </p:txBody>
      </p:sp>
      <p:sp>
        <p:nvSpPr>
          <p:cNvPr id="3" name="Content Placeholder 2">
            <a:extLst>
              <a:ext uri="{FF2B5EF4-FFF2-40B4-BE49-F238E27FC236}">
                <a16:creationId xmlns:a16="http://schemas.microsoft.com/office/drawing/2014/main" id="{C7F52112-84FC-2066-CC56-6FDEB0CA4715}"/>
              </a:ext>
            </a:extLst>
          </p:cNvPr>
          <p:cNvSpPr>
            <a:spLocks noGrp="1"/>
          </p:cNvSpPr>
          <p:nvPr>
            <p:ph idx="1"/>
          </p:nvPr>
        </p:nvSpPr>
        <p:spPr/>
        <p:txBody>
          <a:bodyPr>
            <a:normAutofit/>
          </a:bodyPr>
          <a:lstStyle/>
          <a:p>
            <a:r>
              <a:rPr lang="en-IN" b="1" i="0" dirty="0">
                <a:solidFill>
                  <a:srgbClr val="0D0D0D"/>
                </a:solidFill>
                <a:effectLst/>
                <a:highlight>
                  <a:srgbClr val="FFFFFF"/>
                </a:highlight>
                <a:latin typeface="ui-sans-serif"/>
              </a:rPr>
              <a:t>Objective Function</a:t>
            </a:r>
            <a:r>
              <a:rPr lang="en-IN" b="0" i="0" dirty="0">
                <a:solidFill>
                  <a:srgbClr val="0D0D0D"/>
                </a:solidFill>
                <a:effectLst/>
                <a:highlight>
                  <a:srgbClr val="FFFFFF"/>
                </a:highlight>
                <a:latin typeface="ui-sans-serif"/>
              </a:rPr>
              <a:t>: The goal is to find the coefficients that maximize the log-likelihood function. This is equivalent to minimizing the negative log-likelihood (also known as the cost function or loss function):</a:t>
            </a:r>
          </a:p>
          <a:p>
            <a:endParaRPr lang="en-IN" dirty="0">
              <a:solidFill>
                <a:srgbClr val="0D0D0D"/>
              </a:solidFill>
              <a:highlight>
                <a:srgbClr val="FFFFFF"/>
              </a:highlight>
              <a:latin typeface="ui-sans-serif"/>
            </a:endParaRPr>
          </a:p>
          <a:p>
            <a:endParaRPr lang="en-US" dirty="0"/>
          </a:p>
        </p:txBody>
      </p:sp>
      <p:pic>
        <p:nvPicPr>
          <p:cNvPr id="6" name="Picture 5">
            <a:extLst>
              <a:ext uri="{FF2B5EF4-FFF2-40B4-BE49-F238E27FC236}">
                <a16:creationId xmlns:a16="http://schemas.microsoft.com/office/drawing/2014/main" id="{93477A44-2C35-2450-2045-C5599EF884B4}"/>
              </a:ext>
            </a:extLst>
          </p:cNvPr>
          <p:cNvPicPr>
            <a:picLocks noChangeAspect="1"/>
          </p:cNvPicPr>
          <p:nvPr/>
        </p:nvPicPr>
        <p:blipFill>
          <a:blip r:embed="rId2"/>
          <a:stretch>
            <a:fillRect/>
          </a:stretch>
        </p:blipFill>
        <p:spPr>
          <a:xfrm>
            <a:off x="1951902" y="3545790"/>
            <a:ext cx="7772400" cy="911008"/>
          </a:xfrm>
          <a:prstGeom prst="rect">
            <a:avLst/>
          </a:prstGeom>
        </p:spPr>
      </p:pic>
    </p:spTree>
    <p:extLst>
      <p:ext uri="{BB962C8B-B14F-4D97-AF65-F5344CB8AC3E}">
        <p14:creationId xmlns:p14="http://schemas.microsoft.com/office/powerpoint/2010/main" val="2169558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B406B-0C4B-05A4-03CD-A9F98015ED8A}"/>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Steps to Find the Best-Fit Curve</a:t>
            </a:r>
            <a:endParaRPr lang="en-US" dirty="0"/>
          </a:p>
        </p:txBody>
      </p:sp>
      <p:sp>
        <p:nvSpPr>
          <p:cNvPr id="3" name="Content Placeholder 2">
            <a:extLst>
              <a:ext uri="{FF2B5EF4-FFF2-40B4-BE49-F238E27FC236}">
                <a16:creationId xmlns:a16="http://schemas.microsoft.com/office/drawing/2014/main" id="{2DF8AD0B-B1BD-9C54-B687-40467A776AA8}"/>
              </a:ext>
            </a:extLst>
          </p:cNvPr>
          <p:cNvSpPr>
            <a:spLocks noGrp="1"/>
          </p:cNvSpPr>
          <p:nvPr>
            <p:ph idx="1"/>
          </p:nvPr>
        </p:nvSpPr>
        <p:spPr/>
        <p:txBody>
          <a:bodyPr/>
          <a:lstStyle/>
          <a:p>
            <a:pPr algn="l">
              <a:buFont typeface="Arial" panose="020B0604020202020204" pitchFamily="34" charset="0"/>
              <a:buChar char="•"/>
            </a:pPr>
            <a:r>
              <a:rPr lang="en-IN" b="1" i="0" dirty="0">
                <a:solidFill>
                  <a:srgbClr val="0D0D0D"/>
                </a:solidFill>
                <a:effectLst/>
                <a:highlight>
                  <a:srgbClr val="FFFFFF"/>
                </a:highlight>
                <a:latin typeface="ui-sans-serif"/>
              </a:rPr>
              <a:t>Gradient Descent</a:t>
            </a:r>
            <a:r>
              <a:rPr lang="en-IN" b="0" i="0" dirty="0">
                <a:solidFill>
                  <a:srgbClr val="0D0D0D"/>
                </a:solidFill>
                <a:effectLst/>
                <a:highlight>
                  <a:srgbClr val="FFFFFF"/>
                </a:highlight>
                <a:latin typeface="ui-sans-serif"/>
              </a:rPr>
              <a:t>: Iteratively updates the coefficients in the direction that reduces the cost function, using the gradient (partial derivatives) of the cost function with respect to each coefficient.</a:t>
            </a:r>
          </a:p>
          <a:p>
            <a:pPr algn="l">
              <a:buFont typeface="Arial" panose="020B0604020202020204" pitchFamily="34" charset="0"/>
              <a:buChar char="•"/>
            </a:pPr>
            <a:r>
              <a:rPr lang="en-IN" b="1" i="0" dirty="0">
                <a:solidFill>
                  <a:srgbClr val="0D0D0D"/>
                </a:solidFill>
                <a:effectLst/>
                <a:highlight>
                  <a:srgbClr val="FFFFFF"/>
                </a:highlight>
                <a:latin typeface="ui-sans-serif"/>
              </a:rPr>
              <a:t>Newton-Raphson Method</a:t>
            </a:r>
            <a:r>
              <a:rPr lang="en-IN" b="0" i="0" dirty="0">
                <a:solidFill>
                  <a:srgbClr val="0D0D0D"/>
                </a:solidFill>
                <a:effectLst/>
                <a:highlight>
                  <a:srgbClr val="FFFFFF"/>
                </a:highlight>
                <a:latin typeface="ui-sans-serif"/>
              </a:rPr>
              <a:t>: An iterative optimization algorithm that uses both the gradient and the Hessian matrix (second-order derivatives) to find the coefficients that maximize the log-likelihood.</a:t>
            </a:r>
          </a:p>
        </p:txBody>
      </p:sp>
    </p:spTree>
    <p:extLst>
      <p:ext uri="{BB962C8B-B14F-4D97-AF65-F5344CB8AC3E}">
        <p14:creationId xmlns:p14="http://schemas.microsoft.com/office/powerpoint/2010/main" val="455206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6061-E84A-7B2E-D5BD-6D9ABFF53F38}"/>
              </a:ext>
            </a:extLst>
          </p:cNvPr>
          <p:cNvSpPr>
            <a:spLocks noGrp="1"/>
          </p:cNvSpPr>
          <p:nvPr>
            <p:ph type="title"/>
          </p:nvPr>
        </p:nvSpPr>
        <p:spPr/>
        <p:txBody>
          <a:bodyPr>
            <a:normAutofit/>
          </a:bodyPr>
          <a:lstStyle/>
          <a:p>
            <a:r>
              <a:rPr lang="en-US" dirty="0"/>
              <a:t>Odds, Log Odds, and Probabilities</a:t>
            </a:r>
          </a:p>
        </p:txBody>
      </p:sp>
      <p:sp>
        <p:nvSpPr>
          <p:cNvPr id="3" name="Content Placeholder 2">
            <a:extLst>
              <a:ext uri="{FF2B5EF4-FFF2-40B4-BE49-F238E27FC236}">
                <a16:creationId xmlns:a16="http://schemas.microsoft.com/office/drawing/2014/main" id="{2BF1C755-36D2-0B92-65CD-3E6EAA8C975D}"/>
              </a:ext>
            </a:extLst>
          </p:cNvPr>
          <p:cNvSpPr>
            <a:spLocks noGrp="1"/>
          </p:cNvSpPr>
          <p:nvPr>
            <p:ph idx="1"/>
          </p:nvPr>
        </p:nvSpPr>
        <p:spPr/>
        <p:txBody>
          <a:bodyPr/>
          <a:lstStyle/>
          <a:p>
            <a:pPr marL="0" indent="0" algn="l">
              <a:buNone/>
            </a:pPr>
            <a:r>
              <a:rPr lang="en-IN" b="1" i="0" dirty="0">
                <a:solidFill>
                  <a:srgbClr val="0D0D0D"/>
                </a:solidFill>
                <a:effectLst/>
                <a:highlight>
                  <a:srgbClr val="FFFFFF"/>
                </a:highlight>
                <a:latin typeface="ui-sans-serif"/>
              </a:rPr>
              <a:t>Probability</a:t>
            </a:r>
            <a:r>
              <a:rPr lang="en-IN" b="0" i="0" dirty="0">
                <a:solidFill>
                  <a:srgbClr val="0D0D0D"/>
                </a:solidFill>
                <a:effectLst/>
                <a:highlight>
                  <a:srgbClr val="FFFFFF"/>
                </a:highlight>
                <a:latin typeface="ui-sans-serif"/>
              </a:rPr>
              <a:t> is a measure of the likelihood that a particular event will occur. In the context of logistic regression for binary classification, the probability (</a:t>
            </a:r>
            <a:r>
              <a:rPr lang="en-IN" b="0" i="0" dirty="0">
                <a:solidFill>
                  <a:srgbClr val="0D0D0D"/>
                </a:solidFill>
                <a:effectLst/>
                <a:highlight>
                  <a:srgbClr val="FFFFFF"/>
                </a:highlight>
                <a:latin typeface="KaTeX_Main"/>
              </a:rPr>
              <a:t>𝑝</a:t>
            </a:r>
            <a:r>
              <a:rPr lang="en-IN" b="0" i="0" dirty="0">
                <a:solidFill>
                  <a:srgbClr val="0D0D0D"/>
                </a:solidFill>
                <a:effectLst/>
                <a:highlight>
                  <a:srgbClr val="FFFFFF"/>
                </a:highlight>
                <a:latin typeface="ui-sans-serif"/>
              </a:rPr>
              <a:t>) represents the likelihood that a given instance belongs to the positive class (e.g., class 1).</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𝑝=0</a:t>
            </a:r>
            <a:r>
              <a:rPr lang="en-IN" b="0" i="0" dirty="0">
                <a:solidFill>
                  <a:srgbClr val="0D0D0D"/>
                </a:solidFill>
                <a:effectLst/>
                <a:highlight>
                  <a:srgbClr val="FFFFFF"/>
                </a:highlight>
                <a:latin typeface="ui-sans-serif"/>
              </a:rPr>
              <a:t>, the event is certain not to occur.</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𝑝=1</a:t>
            </a:r>
            <a:r>
              <a:rPr lang="en-IN" b="0" i="0" dirty="0">
                <a:solidFill>
                  <a:srgbClr val="0D0D0D"/>
                </a:solidFill>
                <a:effectLst/>
                <a:highlight>
                  <a:srgbClr val="FFFFFF"/>
                </a:highlight>
                <a:latin typeface="ui-sans-serif"/>
              </a:rPr>
              <a:t>, the event is certain to occur.</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𝑝=0.5</a:t>
            </a:r>
            <a:r>
              <a:rPr lang="en-IN" b="0" i="0" dirty="0">
                <a:solidFill>
                  <a:srgbClr val="0D0D0D"/>
                </a:solidFill>
                <a:effectLst/>
                <a:highlight>
                  <a:srgbClr val="FFFFFF"/>
                </a:highlight>
                <a:latin typeface="ui-sans-serif"/>
              </a:rPr>
              <a:t>, the event is equally likely to occur or not occur.</a:t>
            </a:r>
          </a:p>
          <a:p>
            <a:endParaRPr lang="en-US" dirty="0"/>
          </a:p>
        </p:txBody>
      </p:sp>
    </p:spTree>
    <p:extLst>
      <p:ext uri="{BB962C8B-B14F-4D97-AF65-F5344CB8AC3E}">
        <p14:creationId xmlns:p14="http://schemas.microsoft.com/office/powerpoint/2010/main" val="3760406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6061-E84A-7B2E-D5BD-6D9ABFF53F38}"/>
              </a:ext>
            </a:extLst>
          </p:cNvPr>
          <p:cNvSpPr>
            <a:spLocks noGrp="1"/>
          </p:cNvSpPr>
          <p:nvPr>
            <p:ph type="title"/>
          </p:nvPr>
        </p:nvSpPr>
        <p:spPr/>
        <p:txBody>
          <a:bodyPr>
            <a:normAutofit/>
          </a:bodyPr>
          <a:lstStyle/>
          <a:p>
            <a:r>
              <a:rPr lang="en-US" dirty="0"/>
              <a:t>Odds, Log Odds, and Probabilities</a:t>
            </a:r>
          </a:p>
        </p:txBody>
      </p:sp>
      <p:sp>
        <p:nvSpPr>
          <p:cNvPr id="3" name="Content Placeholder 2">
            <a:extLst>
              <a:ext uri="{FF2B5EF4-FFF2-40B4-BE49-F238E27FC236}">
                <a16:creationId xmlns:a16="http://schemas.microsoft.com/office/drawing/2014/main" id="{2BF1C755-36D2-0B92-65CD-3E6EAA8C975D}"/>
              </a:ext>
            </a:extLst>
          </p:cNvPr>
          <p:cNvSpPr>
            <a:spLocks noGrp="1"/>
          </p:cNvSpPr>
          <p:nvPr>
            <p:ph idx="1"/>
          </p:nvPr>
        </p:nvSpPr>
        <p:spPr/>
        <p:txBody>
          <a:bodyPr>
            <a:normAutofit fontScale="92500" lnSpcReduction="20000"/>
          </a:bodyPr>
          <a:lstStyle/>
          <a:p>
            <a:pPr marL="0" indent="0" algn="l">
              <a:buNone/>
            </a:pPr>
            <a:r>
              <a:rPr lang="en-IN" b="1" i="0" dirty="0">
                <a:solidFill>
                  <a:srgbClr val="0D0D0D"/>
                </a:solidFill>
                <a:effectLst/>
                <a:highlight>
                  <a:srgbClr val="FFFFFF"/>
                </a:highlight>
                <a:latin typeface="ui-sans-serif"/>
              </a:rPr>
              <a:t>Odds</a:t>
            </a:r>
            <a:r>
              <a:rPr lang="en-IN" b="0" i="0" dirty="0">
                <a:solidFill>
                  <a:srgbClr val="0D0D0D"/>
                </a:solidFill>
                <a:effectLst/>
                <a:highlight>
                  <a:srgbClr val="FFFFFF"/>
                </a:highlight>
                <a:latin typeface="ui-sans-serif"/>
              </a:rPr>
              <a:t> provide a different way to express probabilities. The odds of an event are defined as the ratio of the probability that the event will occur to the probability that it will not occur. Mathematically, the odds (</a:t>
            </a:r>
            <a:r>
              <a:rPr lang="en-IN" b="0" i="0" dirty="0">
                <a:solidFill>
                  <a:srgbClr val="0D0D0D"/>
                </a:solidFill>
                <a:effectLst/>
                <a:highlight>
                  <a:srgbClr val="FFFFFF"/>
                </a:highlight>
                <a:latin typeface="KaTeX_Main"/>
              </a:rPr>
              <a:t>𝑂</a:t>
            </a:r>
            <a:r>
              <a:rPr lang="en-IN" b="0" i="0" dirty="0">
                <a:solidFill>
                  <a:srgbClr val="0D0D0D"/>
                </a:solidFill>
                <a:effectLst/>
                <a:highlight>
                  <a:srgbClr val="FFFFFF"/>
                </a:highlight>
                <a:latin typeface="ui-sans-serif"/>
              </a:rPr>
              <a:t>) are given by:</a:t>
            </a:r>
          </a:p>
          <a:p>
            <a:pPr marL="0" indent="0" algn="l">
              <a:buNone/>
            </a:pPr>
            <a:endParaRPr lang="en-IN" dirty="0">
              <a:solidFill>
                <a:srgbClr val="0D0D0D"/>
              </a:solidFill>
              <a:highlight>
                <a:srgbClr val="FFFFFF"/>
              </a:highlight>
              <a:latin typeface="ui-sans-serif"/>
            </a:endParaRPr>
          </a:p>
          <a:p>
            <a:pPr marL="0" indent="0" algn="l">
              <a:buNone/>
            </a:pPr>
            <a:endParaRPr lang="en-IN" b="0" i="0" dirty="0">
              <a:solidFill>
                <a:srgbClr val="0D0D0D"/>
              </a:solidFill>
              <a:effectLst/>
              <a:highlight>
                <a:srgbClr val="FFFFFF"/>
              </a:highlight>
              <a:latin typeface="ui-sans-serif"/>
            </a:endParaRPr>
          </a:p>
          <a:p>
            <a:pPr marL="0" indent="0" algn="l">
              <a:buNone/>
            </a:pPr>
            <a:r>
              <a:rPr lang="en-IN" b="0" i="0" dirty="0">
                <a:solidFill>
                  <a:srgbClr val="0D0D0D"/>
                </a:solidFill>
                <a:effectLst/>
                <a:highlight>
                  <a:srgbClr val="FFFFFF"/>
                </a:highlight>
                <a:latin typeface="ui-sans-serif"/>
              </a:rPr>
              <a:t>where </a:t>
            </a:r>
            <a:r>
              <a:rPr lang="en-IN" b="0" i="0" dirty="0">
                <a:solidFill>
                  <a:srgbClr val="0D0D0D"/>
                </a:solidFill>
                <a:effectLst/>
                <a:highlight>
                  <a:srgbClr val="FFFFFF"/>
                </a:highlight>
                <a:latin typeface="KaTeX_Main"/>
              </a:rPr>
              <a:t>𝑝</a:t>
            </a:r>
            <a:r>
              <a:rPr lang="en-IN" b="0" i="0" dirty="0">
                <a:solidFill>
                  <a:srgbClr val="0D0D0D"/>
                </a:solidFill>
                <a:effectLst/>
                <a:highlight>
                  <a:srgbClr val="FFFFFF"/>
                </a:highlight>
                <a:latin typeface="ui-sans-serif"/>
              </a:rPr>
              <a:t> is the probability of the event occurring.</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𝑝=0.5</a:t>
            </a:r>
            <a:r>
              <a:rPr lang="en-IN" b="0" i="0" dirty="0">
                <a:solidFill>
                  <a:srgbClr val="0D0D0D"/>
                </a:solidFill>
                <a:effectLst/>
                <a:highlight>
                  <a:srgbClr val="FFFFFF"/>
                </a:highlight>
                <a:latin typeface="ui-sans-serif"/>
              </a:rPr>
              <a:t>, the odds are 1:1 (or simply 1), meaning the event is equally likely to occur as not occur.</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𝑝=0.75</a:t>
            </a:r>
            <a:r>
              <a:rPr lang="en-IN" b="0" i="0" dirty="0">
                <a:solidFill>
                  <a:srgbClr val="0D0D0D"/>
                </a:solidFill>
                <a:effectLst/>
                <a:highlight>
                  <a:srgbClr val="FFFFFF"/>
                </a:highlight>
                <a:latin typeface="ui-sans-serif"/>
              </a:rPr>
              <a:t>, the odds are 3:1, meaning the event is three times as likely to occur as not occur.</a:t>
            </a:r>
          </a:p>
          <a:p>
            <a:pPr algn="l">
              <a:buFont typeface="Arial" panose="020B0604020202020204" pitchFamily="34" charset="0"/>
              <a:buChar char="•"/>
            </a:pPr>
            <a:r>
              <a:rPr lang="en-IN" b="0" i="0" dirty="0">
                <a:solidFill>
                  <a:srgbClr val="0D0D0D"/>
                </a:solidFill>
                <a:effectLst/>
                <a:highlight>
                  <a:srgbClr val="FFFFFF"/>
                </a:highlight>
                <a:latin typeface="ui-sans-serif"/>
              </a:rPr>
              <a:t>If </a:t>
            </a:r>
            <a:r>
              <a:rPr lang="en-IN" b="0" i="0" dirty="0">
                <a:solidFill>
                  <a:srgbClr val="0D0D0D"/>
                </a:solidFill>
                <a:effectLst/>
                <a:highlight>
                  <a:srgbClr val="FFFFFF"/>
                </a:highlight>
                <a:latin typeface="KaTeX_Main"/>
              </a:rPr>
              <a:t>𝑝=0.25</a:t>
            </a:r>
            <a:r>
              <a:rPr lang="en-IN" b="0" i="0" dirty="0">
                <a:solidFill>
                  <a:srgbClr val="0D0D0D"/>
                </a:solidFill>
                <a:effectLst/>
                <a:highlight>
                  <a:srgbClr val="FFFFFF"/>
                </a:highlight>
                <a:latin typeface="ui-sans-serif"/>
              </a:rPr>
              <a:t>, the odds are 1:3, meaning the event is one-third as likely to occur as not occur.</a:t>
            </a:r>
          </a:p>
          <a:p>
            <a:pPr marL="0" indent="0" algn="l">
              <a:buNone/>
            </a:pPr>
            <a:endParaRPr lang="en-IN" b="0" i="0" dirty="0">
              <a:solidFill>
                <a:srgbClr val="0D0D0D"/>
              </a:solidFill>
              <a:effectLst/>
              <a:highlight>
                <a:srgbClr val="FFFFFF"/>
              </a:highlight>
              <a:latin typeface="ui-sans-serif"/>
            </a:endParaRPr>
          </a:p>
        </p:txBody>
      </p:sp>
      <p:pic>
        <p:nvPicPr>
          <p:cNvPr id="5" name="Picture 4" descr="A black and white math equation&#10;&#10;Description automatically generated">
            <a:extLst>
              <a:ext uri="{FF2B5EF4-FFF2-40B4-BE49-F238E27FC236}">
                <a16:creationId xmlns:a16="http://schemas.microsoft.com/office/drawing/2014/main" id="{E4A28A8E-9A94-75E9-E27C-C0AEF148EB96}"/>
              </a:ext>
            </a:extLst>
          </p:cNvPr>
          <p:cNvPicPr>
            <a:picLocks noChangeAspect="1"/>
          </p:cNvPicPr>
          <p:nvPr/>
        </p:nvPicPr>
        <p:blipFill>
          <a:blip r:embed="rId2"/>
          <a:stretch>
            <a:fillRect/>
          </a:stretch>
        </p:blipFill>
        <p:spPr>
          <a:xfrm>
            <a:off x="4826755" y="2677812"/>
            <a:ext cx="1778000" cy="787400"/>
          </a:xfrm>
          <a:prstGeom prst="rect">
            <a:avLst/>
          </a:prstGeom>
        </p:spPr>
      </p:pic>
    </p:spTree>
    <p:extLst>
      <p:ext uri="{BB962C8B-B14F-4D97-AF65-F5344CB8AC3E}">
        <p14:creationId xmlns:p14="http://schemas.microsoft.com/office/powerpoint/2010/main" val="2889311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6061-E84A-7B2E-D5BD-6D9ABFF53F38}"/>
              </a:ext>
            </a:extLst>
          </p:cNvPr>
          <p:cNvSpPr>
            <a:spLocks noGrp="1"/>
          </p:cNvSpPr>
          <p:nvPr>
            <p:ph type="title"/>
          </p:nvPr>
        </p:nvSpPr>
        <p:spPr/>
        <p:txBody>
          <a:bodyPr>
            <a:normAutofit/>
          </a:bodyPr>
          <a:lstStyle/>
          <a:p>
            <a:r>
              <a:rPr lang="en-US" dirty="0"/>
              <a:t>Odds, Log Odds, and Probabilities</a:t>
            </a:r>
          </a:p>
        </p:txBody>
      </p:sp>
      <p:sp>
        <p:nvSpPr>
          <p:cNvPr id="3" name="Content Placeholder 2">
            <a:extLst>
              <a:ext uri="{FF2B5EF4-FFF2-40B4-BE49-F238E27FC236}">
                <a16:creationId xmlns:a16="http://schemas.microsoft.com/office/drawing/2014/main" id="{2BF1C755-36D2-0B92-65CD-3E6EAA8C975D}"/>
              </a:ext>
            </a:extLst>
          </p:cNvPr>
          <p:cNvSpPr>
            <a:spLocks noGrp="1"/>
          </p:cNvSpPr>
          <p:nvPr>
            <p:ph idx="1"/>
          </p:nvPr>
        </p:nvSpPr>
        <p:spPr/>
        <p:txBody>
          <a:bodyPr>
            <a:normAutofit/>
          </a:bodyPr>
          <a:lstStyle/>
          <a:p>
            <a:pPr marL="0" indent="0" algn="l">
              <a:buNone/>
            </a:pPr>
            <a:r>
              <a:rPr lang="en-IN" b="1" i="0" dirty="0">
                <a:solidFill>
                  <a:srgbClr val="0D0D0D"/>
                </a:solidFill>
                <a:effectLst/>
                <a:highlight>
                  <a:srgbClr val="FFFFFF"/>
                </a:highlight>
                <a:latin typeface="ui-sans-serif"/>
              </a:rPr>
              <a:t>Log-Odds (Logit)</a:t>
            </a:r>
          </a:p>
          <a:p>
            <a:pPr algn="l"/>
            <a:r>
              <a:rPr lang="en-IN" b="0" i="0" dirty="0">
                <a:solidFill>
                  <a:srgbClr val="0D0D0D"/>
                </a:solidFill>
                <a:effectLst/>
                <a:highlight>
                  <a:srgbClr val="FFFFFF"/>
                </a:highlight>
                <a:latin typeface="ui-sans-serif"/>
              </a:rPr>
              <a:t>In logistic regression, the model predicts the log-odds (also called the logit) of the probability of the positive class. The log-odds are the natural logarithm of the odds:</a:t>
            </a:r>
          </a:p>
          <a:p>
            <a:pPr algn="l"/>
            <a:endParaRPr lang="en-IN" dirty="0">
              <a:solidFill>
                <a:srgbClr val="0D0D0D"/>
              </a:solidFill>
              <a:highlight>
                <a:srgbClr val="FFFFFF"/>
              </a:highlight>
              <a:latin typeface="ui-sans-serif"/>
            </a:endParaRPr>
          </a:p>
          <a:p>
            <a:pPr algn="l"/>
            <a:endParaRPr lang="en-IN" b="0" i="0" dirty="0">
              <a:solidFill>
                <a:srgbClr val="0D0D0D"/>
              </a:solidFill>
              <a:effectLst/>
              <a:highlight>
                <a:srgbClr val="FFFFFF"/>
              </a:highlight>
              <a:latin typeface="ui-sans-serif"/>
            </a:endParaRPr>
          </a:p>
          <a:p>
            <a:pPr marL="0" indent="0" algn="l">
              <a:buNone/>
            </a:pPr>
            <a:r>
              <a:rPr lang="en-IN" b="0" i="0" dirty="0">
                <a:solidFill>
                  <a:srgbClr val="0D0D0D"/>
                </a:solidFill>
                <a:effectLst/>
                <a:highlight>
                  <a:srgbClr val="FFFFFF"/>
                </a:highlight>
                <a:latin typeface="ui-sans-serif"/>
              </a:rPr>
              <a:t>The log-odds transform the bounded probability values (0 to 1) to an unbounded scale (-∞ to +∞), which is more suitable for </a:t>
            </a:r>
            <a:r>
              <a:rPr lang="en-IN" b="0" i="0" dirty="0" err="1">
                <a:solidFill>
                  <a:srgbClr val="0D0D0D"/>
                </a:solidFill>
                <a:effectLst/>
                <a:highlight>
                  <a:srgbClr val="FFFFFF"/>
                </a:highlight>
                <a:latin typeface="ui-sans-serif"/>
              </a:rPr>
              <a:t>modeling</a:t>
            </a:r>
            <a:r>
              <a:rPr lang="en-IN" b="0" i="0" dirty="0">
                <a:solidFill>
                  <a:srgbClr val="0D0D0D"/>
                </a:solidFill>
                <a:effectLst/>
                <a:highlight>
                  <a:srgbClr val="FFFFFF"/>
                </a:highlight>
                <a:latin typeface="ui-sans-serif"/>
              </a:rPr>
              <a:t> with linear functions.</a:t>
            </a:r>
          </a:p>
          <a:p>
            <a:pPr marL="0" indent="0" algn="l">
              <a:buNone/>
            </a:pPr>
            <a:endParaRPr lang="en-IN" b="0" i="0" dirty="0">
              <a:solidFill>
                <a:srgbClr val="0D0D0D"/>
              </a:solidFill>
              <a:effectLst/>
              <a:highlight>
                <a:srgbClr val="FFFFFF"/>
              </a:highlight>
              <a:latin typeface="ui-sans-serif"/>
            </a:endParaRPr>
          </a:p>
        </p:txBody>
      </p:sp>
      <p:pic>
        <p:nvPicPr>
          <p:cNvPr id="6" name="Picture 5" descr="A mathematical equation with numbers and symbols&#10;&#10;Description automatically generated">
            <a:extLst>
              <a:ext uri="{FF2B5EF4-FFF2-40B4-BE49-F238E27FC236}">
                <a16:creationId xmlns:a16="http://schemas.microsoft.com/office/drawing/2014/main" id="{71349514-F328-F4F0-B8A3-C026832B8E0C}"/>
              </a:ext>
            </a:extLst>
          </p:cNvPr>
          <p:cNvPicPr>
            <a:picLocks noChangeAspect="1"/>
          </p:cNvPicPr>
          <p:nvPr/>
        </p:nvPicPr>
        <p:blipFill>
          <a:blip r:embed="rId2"/>
          <a:stretch>
            <a:fillRect/>
          </a:stretch>
        </p:blipFill>
        <p:spPr>
          <a:xfrm>
            <a:off x="4417273" y="3512344"/>
            <a:ext cx="2959100" cy="977900"/>
          </a:xfrm>
          <a:prstGeom prst="rect">
            <a:avLst/>
          </a:prstGeom>
        </p:spPr>
      </p:pic>
    </p:spTree>
    <p:extLst>
      <p:ext uri="{BB962C8B-B14F-4D97-AF65-F5344CB8AC3E}">
        <p14:creationId xmlns:p14="http://schemas.microsoft.com/office/powerpoint/2010/main" val="4259559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96061-E84A-7B2E-D5BD-6D9ABFF53F38}"/>
              </a:ext>
            </a:extLst>
          </p:cNvPr>
          <p:cNvSpPr>
            <a:spLocks noGrp="1"/>
          </p:cNvSpPr>
          <p:nvPr>
            <p:ph type="title"/>
          </p:nvPr>
        </p:nvSpPr>
        <p:spPr/>
        <p:txBody>
          <a:bodyPr>
            <a:normAutofit/>
          </a:bodyPr>
          <a:lstStyle/>
          <a:p>
            <a:r>
              <a:rPr lang="en-US" dirty="0"/>
              <a:t>Odds, Log Odds, and Probabilities</a:t>
            </a:r>
          </a:p>
        </p:txBody>
      </p:sp>
      <p:sp>
        <p:nvSpPr>
          <p:cNvPr id="3" name="Content Placeholder 2">
            <a:extLst>
              <a:ext uri="{FF2B5EF4-FFF2-40B4-BE49-F238E27FC236}">
                <a16:creationId xmlns:a16="http://schemas.microsoft.com/office/drawing/2014/main" id="{2BF1C755-36D2-0B92-65CD-3E6EAA8C975D}"/>
              </a:ext>
            </a:extLst>
          </p:cNvPr>
          <p:cNvSpPr>
            <a:spLocks noGrp="1"/>
          </p:cNvSpPr>
          <p:nvPr>
            <p:ph idx="1"/>
          </p:nvPr>
        </p:nvSpPr>
        <p:spPr/>
        <p:txBody>
          <a:bodyPr>
            <a:normAutofit/>
          </a:bodyPr>
          <a:lstStyle/>
          <a:p>
            <a:pPr marL="0" indent="0" algn="l">
              <a:buNone/>
            </a:pPr>
            <a:r>
              <a:rPr lang="en-IN" b="1" i="0" dirty="0">
                <a:solidFill>
                  <a:srgbClr val="0D0D0D"/>
                </a:solidFill>
                <a:effectLst/>
                <a:highlight>
                  <a:srgbClr val="FFFFFF"/>
                </a:highlight>
                <a:latin typeface="ui-sans-serif"/>
              </a:rPr>
              <a:t>Logistic Regression Model</a:t>
            </a:r>
          </a:p>
          <a:p>
            <a:pPr marL="0" indent="0">
              <a:buNone/>
            </a:pPr>
            <a:r>
              <a:rPr lang="en-IN" dirty="0">
                <a:effectLst/>
              </a:rPr>
              <a:t>The logistic regression model is formulated in terms of the log-odds. It expresses the log-odds as a linear combination of the input features:</a:t>
            </a:r>
          </a:p>
          <a:p>
            <a:pPr marL="0" indent="0">
              <a:buNone/>
            </a:pPr>
            <a:endParaRPr lang="en-IN" dirty="0">
              <a:effectLst/>
              <a:latin typeface="KaTeX_Main"/>
            </a:endParaRPr>
          </a:p>
          <a:p>
            <a:pPr marL="0" indent="0">
              <a:buNone/>
            </a:pPr>
            <a:endParaRPr lang="en-IN" dirty="0">
              <a:latin typeface="KaTeX_Main"/>
            </a:endParaRPr>
          </a:p>
          <a:p>
            <a:pPr marL="0" indent="0">
              <a:buNone/>
            </a:pPr>
            <a:r>
              <a:rPr lang="en-IN" b="0" i="0" dirty="0">
                <a:solidFill>
                  <a:srgbClr val="0D0D0D"/>
                </a:solidFill>
                <a:effectLst/>
                <a:highlight>
                  <a:srgbClr val="FFFFFF"/>
                </a:highlight>
                <a:latin typeface="ui-sans-serif"/>
              </a:rPr>
              <a:t>Here, </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0</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,…,𝛽</a:t>
            </a:r>
            <a:r>
              <a:rPr lang="en-IN" b="0" i="0" baseline="-25000" dirty="0">
                <a:solidFill>
                  <a:srgbClr val="0D0D0D"/>
                </a:solidFill>
                <a:effectLst/>
                <a:highlight>
                  <a:srgbClr val="FFFFFF"/>
                </a:highlight>
                <a:latin typeface="KaTeX_Main"/>
              </a:rPr>
              <a:t>𝑛</a:t>
            </a:r>
            <a:r>
              <a:rPr lang="en-IN" b="0" i="0" dirty="0">
                <a:solidFill>
                  <a:srgbClr val="0D0D0D"/>
                </a:solidFill>
                <a:effectLst/>
                <a:highlight>
                  <a:srgbClr val="FFFFFF"/>
                </a:highlight>
                <a:latin typeface="KaTeX_Main"/>
              </a:rPr>
              <a:t> </a:t>
            </a:r>
            <a:r>
              <a:rPr lang="en-IN" b="0" i="0" dirty="0">
                <a:solidFill>
                  <a:srgbClr val="0D0D0D"/>
                </a:solidFill>
                <a:effectLst/>
                <a:highlight>
                  <a:srgbClr val="FFFFFF"/>
                </a:highlight>
                <a:latin typeface="ui-sans-serif"/>
              </a:rPr>
              <a:t>are the coefficients of the model, and </a:t>
            </a:r>
            <a:r>
              <a:rPr lang="en-IN" b="0" i="0" dirty="0">
                <a:solidFill>
                  <a:srgbClr val="0D0D0D"/>
                </a:solidFill>
                <a:effectLst/>
                <a:highlight>
                  <a:srgbClr val="FFFFFF"/>
                </a:highlight>
                <a:latin typeface="KaTeX_Main"/>
              </a:rPr>
              <a:t>𝑥</a:t>
            </a:r>
            <a:r>
              <a:rPr lang="en-IN" b="0" i="0" baseline="-25000" dirty="0">
                <a:solidFill>
                  <a:srgbClr val="0D0D0D"/>
                </a:solidFill>
                <a:effectLst/>
                <a:highlight>
                  <a:srgbClr val="FFFFFF"/>
                </a:highlight>
                <a:latin typeface="KaTeX_Main"/>
              </a:rPr>
              <a:t>1</a:t>
            </a:r>
            <a:r>
              <a:rPr lang="en-IN" b="0" i="0" dirty="0">
                <a:solidFill>
                  <a:srgbClr val="0D0D0D"/>
                </a:solidFill>
                <a:effectLst/>
                <a:highlight>
                  <a:srgbClr val="FFFFFF"/>
                </a:highlight>
                <a:latin typeface="KaTeX_Main"/>
              </a:rPr>
              <a:t>,𝑥</a:t>
            </a:r>
            <a:r>
              <a:rPr lang="en-IN" b="0" i="0" baseline="-25000" dirty="0">
                <a:solidFill>
                  <a:srgbClr val="0D0D0D"/>
                </a:solidFill>
                <a:effectLst/>
                <a:highlight>
                  <a:srgbClr val="FFFFFF"/>
                </a:highlight>
                <a:latin typeface="KaTeX_Main"/>
              </a:rPr>
              <a:t>2</a:t>
            </a:r>
            <a:r>
              <a:rPr lang="en-IN" b="0" i="0" dirty="0">
                <a:solidFill>
                  <a:srgbClr val="0D0D0D"/>
                </a:solidFill>
                <a:effectLst/>
                <a:highlight>
                  <a:srgbClr val="FFFFFF"/>
                </a:highlight>
                <a:latin typeface="KaTeX_Main"/>
              </a:rPr>
              <a:t>,…,𝑥</a:t>
            </a:r>
            <a:r>
              <a:rPr lang="en-IN" b="0" i="0" baseline="-25000" dirty="0">
                <a:solidFill>
                  <a:srgbClr val="0D0D0D"/>
                </a:solidFill>
                <a:effectLst/>
                <a:highlight>
                  <a:srgbClr val="FFFFFF"/>
                </a:highlight>
                <a:latin typeface="KaTeX_Main"/>
              </a:rPr>
              <a:t>𝑛</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ui-sans-serif"/>
              </a:rPr>
              <a:t> are the input features.</a:t>
            </a:r>
            <a:br>
              <a:rPr lang="en-IN" dirty="0">
                <a:effectLst/>
                <a:latin typeface="KaTeX_Main"/>
              </a:rPr>
            </a:br>
            <a:endParaRPr lang="en-IN" dirty="0">
              <a:effectLst/>
            </a:endParaRPr>
          </a:p>
          <a:p>
            <a:pPr marL="0" indent="0" algn="l">
              <a:buNone/>
            </a:pPr>
            <a:endParaRPr lang="en-IN" b="0" i="0" dirty="0">
              <a:solidFill>
                <a:srgbClr val="0D0D0D"/>
              </a:solidFill>
              <a:effectLst/>
              <a:highlight>
                <a:srgbClr val="FFFFFF"/>
              </a:highlight>
              <a:latin typeface="ui-sans-serif"/>
            </a:endParaRPr>
          </a:p>
        </p:txBody>
      </p:sp>
      <p:pic>
        <p:nvPicPr>
          <p:cNvPr id="5" name="Picture 4" descr="A math equations on a white background&#10;&#10;Description automatically generated">
            <a:extLst>
              <a:ext uri="{FF2B5EF4-FFF2-40B4-BE49-F238E27FC236}">
                <a16:creationId xmlns:a16="http://schemas.microsoft.com/office/drawing/2014/main" id="{DF7833A8-1579-FC9A-FD61-1144F387DB42}"/>
              </a:ext>
            </a:extLst>
          </p:cNvPr>
          <p:cNvPicPr>
            <a:picLocks noChangeAspect="1"/>
          </p:cNvPicPr>
          <p:nvPr/>
        </p:nvPicPr>
        <p:blipFill>
          <a:blip r:embed="rId2"/>
          <a:stretch>
            <a:fillRect/>
          </a:stretch>
        </p:blipFill>
        <p:spPr>
          <a:xfrm>
            <a:off x="2806700" y="3417683"/>
            <a:ext cx="6578600" cy="876300"/>
          </a:xfrm>
          <a:prstGeom prst="rect">
            <a:avLst/>
          </a:prstGeom>
        </p:spPr>
      </p:pic>
    </p:spTree>
    <p:extLst>
      <p:ext uri="{BB962C8B-B14F-4D97-AF65-F5344CB8AC3E}">
        <p14:creationId xmlns:p14="http://schemas.microsoft.com/office/powerpoint/2010/main" val="3171065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E6543-76C5-4B33-4DBC-FB636491B12B}"/>
              </a:ext>
            </a:extLst>
          </p:cNvPr>
          <p:cNvSpPr>
            <a:spLocks noGrp="1"/>
          </p:cNvSpPr>
          <p:nvPr>
            <p:ph type="title"/>
          </p:nvPr>
        </p:nvSpPr>
        <p:spPr/>
        <p:txBody>
          <a:bodyPr/>
          <a:lstStyle/>
          <a:p>
            <a:r>
              <a:rPr lang="en-US" dirty="0"/>
              <a:t>Odds, Log Odds, and Probabilities</a:t>
            </a:r>
          </a:p>
        </p:txBody>
      </p:sp>
      <p:sp>
        <p:nvSpPr>
          <p:cNvPr id="3" name="Content Placeholder 2">
            <a:extLst>
              <a:ext uri="{FF2B5EF4-FFF2-40B4-BE49-F238E27FC236}">
                <a16:creationId xmlns:a16="http://schemas.microsoft.com/office/drawing/2014/main" id="{92BA11F6-A407-D166-2110-400859C5FAD4}"/>
              </a:ext>
            </a:extLst>
          </p:cNvPr>
          <p:cNvSpPr>
            <a:spLocks noGrp="1"/>
          </p:cNvSpPr>
          <p:nvPr>
            <p:ph idx="1"/>
          </p:nvPr>
        </p:nvSpPr>
        <p:spPr/>
        <p:txBody>
          <a:bodyPr/>
          <a:lstStyle/>
          <a:p>
            <a:pPr marL="0" indent="0">
              <a:buNone/>
            </a:pPr>
            <a:r>
              <a:rPr lang="en-IN" b="1" i="0" dirty="0">
                <a:solidFill>
                  <a:srgbClr val="0D0D0D"/>
                </a:solidFill>
                <a:effectLst/>
                <a:highlight>
                  <a:srgbClr val="FFFFFF"/>
                </a:highlight>
                <a:latin typeface="ui-sans-serif"/>
              </a:rPr>
              <a:t>Converting Log-Odds Back to Probability</a:t>
            </a:r>
          </a:p>
          <a:p>
            <a:pPr marL="0" indent="0">
              <a:buNone/>
            </a:pPr>
            <a:r>
              <a:rPr lang="en-IN" b="0" i="0" dirty="0">
                <a:solidFill>
                  <a:srgbClr val="0D0D0D"/>
                </a:solidFill>
                <a:effectLst/>
                <a:highlight>
                  <a:srgbClr val="FFFFFF"/>
                </a:highlight>
                <a:latin typeface="ui-sans-serif"/>
              </a:rPr>
              <a:t>To convert the log-odds back to a probability, we use the logistic (sigmoid) function:</a:t>
            </a:r>
            <a:endParaRPr lang="en-IN" b="1" i="0" dirty="0">
              <a:solidFill>
                <a:srgbClr val="0D0D0D"/>
              </a:solidFill>
              <a:effectLst/>
              <a:highlight>
                <a:srgbClr val="FFFFFF"/>
              </a:highlight>
              <a:latin typeface="ui-sans-serif"/>
            </a:endParaRPr>
          </a:p>
          <a:p>
            <a:endParaRPr lang="en-US" dirty="0"/>
          </a:p>
          <a:p>
            <a:endParaRPr lang="en-US" dirty="0"/>
          </a:p>
          <a:p>
            <a:pPr marL="0" indent="0">
              <a:buNone/>
            </a:pPr>
            <a:r>
              <a:rPr lang="en-IN" b="0" i="0" dirty="0">
                <a:solidFill>
                  <a:srgbClr val="0D0D0D"/>
                </a:solidFill>
                <a:effectLst/>
                <a:highlight>
                  <a:srgbClr val="FFFFFF"/>
                </a:highlight>
                <a:latin typeface="ui-sans-serif"/>
              </a:rPr>
              <a:t>This function maps the linear combination of input features to a value between 0 and 1, representing the predicted probability of the positive class.</a:t>
            </a:r>
            <a:endParaRPr lang="en-US" dirty="0"/>
          </a:p>
        </p:txBody>
      </p:sp>
      <p:pic>
        <p:nvPicPr>
          <p:cNvPr id="5" name="Picture 4" descr="A black text with a black line and a black line&#10;&#10;Description automatically generated with medium confidence">
            <a:extLst>
              <a:ext uri="{FF2B5EF4-FFF2-40B4-BE49-F238E27FC236}">
                <a16:creationId xmlns:a16="http://schemas.microsoft.com/office/drawing/2014/main" id="{45B57E50-095C-BB47-92E7-9D4F8EFFF427}"/>
              </a:ext>
            </a:extLst>
          </p:cNvPr>
          <p:cNvPicPr>
            <a:picLocks noChangeAspect="1"/>
          </p:cNvPicPr>
          <p:nvPr/>
        </p:nvPicPr>
        <p:blipFill>
          <a:blip r:embed="rId2"/>
          <a:stretch>
            <a:fillRect/>
          </a:stretch>
        </p:blipFill>
        <p:spPr>
          <a:xfrm>
            <a:off x="3333750" y="3240700"/>
            <a:ext cx="5524500" cy="901700"/>
          </a:xfrm>
          <a:prstGeom prst="rect">
            <a:avLst/>
          </a:prstGeom>
        </p:spPr>
      </p:pic>
    </p:spTree>
    <p:extLst>
      <p:ext uri="{BB962C8B-B14F-4D97-AF65-F5344CB8AC3E}">
        <p14:creationId xmlns:p14="http://schemas.microsoft.com/office/powerpoint/2010/main" val="2294291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5FCBD-161D-A60F-D99A-4F1047B3EF15}"/>
              </a:ext>
            </a:extLst>
          </p:cNvPr>
          <p:cNvSpPr>
            <a:spLocks noGrp="1"/>
          </p:cNvSpPr>
          <p:nvPr>
            <p:ph type="title"/>
          </p:nvPr>
        </p:nvSpPr>
        <p:spPr/>
        <p:txBody>
          <a:bodyPr/>
          <a:lstStyle/>
          <a:p>
            <a:r>
              <a:rPr lang="en-US" dirty="0"/>
              <a:t>Selection of Threshold</a:t>
            </a:r>
          </a:p>
        </p:txBody>
      </p:sp>
      <p:sp>
        <p:nvSpPr>
          <p:cNvPr id="3" name="Content Placeholder 2">
            <a:extLst>
              <a:ext uri="{FF2B5EF4-FFF2-40B4-BE49-F238E27FC236}">
                <a16:creationId xmlns:a16="http://schemas.microsoft.com/office/drawing/2014/main" id="{C8FA9FBB-45FD-60E4-C2C8-CEDC6387E127}"/>
              </a:ext>
            </a:extLst>
          </p:cNvPr>
          <p:cNvSpPr>
            <a:spLocks noGrp="1"/>
          </p:cNvSpPr>
          <p:nvPr>
            <p:ph idx="1"/>
          </p:nvPr>
        </p:nvSpPr>
        <p:spPr/>
        <p:txBody>
          <a:bodyPr>
            <a:normAutofit fontScale="85000" lnSpcReduction="20000"/>
          </a:bodyPr>
          <a:lstStyle/>
          <a:p>
            <a:pPr marL="0" indent="0" algn="l">
              <a:buNone/>
            </a:pPr>
            <a:r>
              <a:rPr lang="en-IN" b="1" i="0" dirty="0">
                <a:solidFill>
                  <a:srgbClr val="0D0D0D"/>
                </a:solidFill>
                <a:effectLst/>
                <a:highlight>
                  <a:srgbClr val="FFFFFF"/>
                </a:highlight>
                <a:latin typeface="ui-sans-serif"/>
              </a:rPr>
              <a:t>Factors Influencing Threshold Selection</a:t>
            </a:r>
          </a:p>
          <a:p>
            <a:pPr algn="l">
              <a:buFont typeface="+mj-lt"/>
              <a:buAutoNum type="arabicPeriod"/>
            </a:pPr>
            <a:r>
              <a:rPr lang="en-IN" b="1" i="0" dirty="0">
                <a:solidFill>
                  <a:srgbClr val="0D0D0D"/>
                </a:solidFill>
                <a:effectLst/>
                <a:highlight>
                  <a:srgbClr val="FFFFFF"/>
                </a:highlight>
                <a:latin typeface="ui-sans-serif"/>
              </a:rPr>
              <a:t>Class Imbalance</a:t>
            </a:r>
            <a:r>
              <a:rPr lang="en-IN" b="0" i="0" dirty="0">
                <a:solidFill>
                  <a:srgbClr val="0D0D0D"/>
                </a:solidFill>
                <a:effectLst/>
                <a:highlight>
                  <a:srgbClr val="FFFFFF"/>
                </a:highlight>
                <a:latin typeface="ui-sans-serif"/>
              </a:rPr>
              <a:t>:</a:t>
            </a:r>
          </a:p>
          <a:p>
            <a:pPr marL="742950" lvl="1" indent="-285750" algn="l">
              <a:buFont typeface="+mj-lt"/>
              <a:buAutoNum type="arabicPeriod"/>
            </a:pPr>
            <a:r>
              <a:rPr lang="en-IN" b="0" i="0" dirty="0">
                <a:solidFill>
                  <a:srgbClr val="0D0D0D"/>
                </a:solidFill>
                <a:effectLst/>
                <a:highlight>
                  <a:srgbClr val="FFFFFF"/>
                </a:highlight>
                <a:latin typeface="ui-sans-serif"/>
              </a:rPr>
              <a:t>In cases where the classes are imbalanced (one class is much more frequent than the other), using a 0.5 threshold may not be appropriate. For instance, in medical diagnostics where the occurrence of a disease is rare, a lower threshold might be chosen to ensure that more positive cases are detected.</a:t>
            </a:r>
          </a:p>
          <a:p>
            <a:pPr algn="l">
              <a:buFont typeface="+mj-lt"/>
              <a:buAutoNum type="arabicPeriod"/>
            </a:pPr>
            <a:r>
              <a:rPr lang="en-IN" b="1" i="0" dirty="0">
                <a:solidFill>
                  <a:srgbClr val="0D0D0D"/>
                </a:solidFill>
                <a:effectLst/>
                <a:highlight>
                  <a:srgbClr val="FFFFFF"/>
                </a:highlight>
                <a:latin typeface="ui-sans-serif"/>
              </a:rPr>
              <a:t>Costs of False Positives and False Negatives</a:t>
            </a:r>
            <a:r>
              <a:rPr lang="en-IN" b="0" i="0" dirty="0">
                <a:solidFill>
                  <a:srgbClr val="0D0D0D"/>
                </a:solidFill>
                <a:effectLst/>
                <a:highlight>
                  <a:srgbClr val="FFFFFF"/>
                </a:highlight>
                <a:latin typeface="ui-sans-serif"/>
              </a:rPr>
              <a:t>:</a:t>
            </a:r>
          </a:p>
          <a:p>
            <a:pPr marL="742950" lvl="1" indent="-285750" algn="l">
              <a:buFont typeface="+mj-lt"/>
              <a:buAutoNum type="arabicPeriod"/>
            </a:pPr>
            <a:r>
              <a:rPr lang="en-IN" b="0" i="0" dirty="0">
                <a:solidFill>
                  <a:srgbClr val="0D0D0D"/>
                </a:solidFill>
                <a:effectLst/>
                <a:highlight>
                  <a:srgbClr val="FFFFFF"/>
                </a:highlight>
                <a:latin typeface="ui-sans-serif"/>
              </a:rPr>
              <a:t>The consequences of misclassifications can significantly influence the threshold choice. If the cost of a false negative (failing to detect a positive case) is higher than a false positive (incorrectly predicting a positive case), a lower threshold might be chosen to reduce false negatives. Conversely, if false positives are more costly, a higher threshold might be used.</a:t>
            </a:r>
          </a:p>
          <a:p>
            <a:pPr algn="l">
              <a:buFont typeface="+mj-lt"/>
              <a:buAutoNum type="arabicPeriod"/>
            </a:pPr>
            <a:r>
              <a:rPr lang="en-IN" b="1" i="0" dirty="0">
                <a:solidFill>
                  <a:srgbClr val="0D0D0D"/>
                </a:solidFill>
                <a:effectLst/>
                <a:highlight>
                  <a:srgbClr val="FFFFFF"/>
                </a:highlight>
                <a:latin typeface="ui-sans-serif"/>
              </a:rPr>
              <a:t>Precision and Recall</a:t>
            </a:r>
            <a:r>
              <a:rPr lang="en-IN" b="0" i="0" dirty="0">
                <a:solidFill>
                  <a:srgbClr val="0D0D0D"/>
                </a:solidFill>
                <a:effectLst/>
                <a:highlight>
                  <a:srgbClr val="FFFFFF"/>
                </a:highlight>
                <a:latin typeface="ui-sans-serif"/>
              </a:rPr>
              <a:t>:</a:t>
            </a:r>
          </a:p>
          <a:p>
            <a:pPr marL="742950" lvl="1" indent="-285750" algn="l">
              <a:buFont typeface="+mj-lt"/>
              <a:buAutoNum type="arabicPeriod"/>
            </a:pPr>
            <a:r>
              <a:rPr lang="en-IN" b="0" i="0" dirty="0">
                <a:solidFill>
                  <a:srgbClr val="0D0D0D"/>
                </a:solidFill>
                <a:effectLst/>
                <a:highlight>
                  <a:srgbClr val="FFFFFF"/>
                </a:highlight>
                <a:latin typeface="ui-sans-serif"/>
              </a:rPr>
              <a:t>Precision and recall are metrics that can guide threshold selection. Precision measures the proportion of true positive predictions among all positive predictions, while recall measures the proportion of true positive predictions among all actual positives. Depending on whether precision or recall is more important, the threshold can be adjusted accordingly.</a:t>
            </a:r>
          </a:p>
        </p:txBody>
      </p:sp>
    </p:spTree>
    <p:extLst>
      <p:ext uri="{BB962C8B-B14F-4D97-AF65-F5344CB8AC3E}">
        <p14:creationId xmlns:p14="http://schemas.microsoft.com/office/powerpoint/2010/main" val="57116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E991F-DEB9-00DB-ED0D-60620DE4D348}"/>
              </a:ext>
            </a:extLst>
          </p:cNvPr>
          <p:cNvSpPr>
            <a:spLocks noGrp="1"/>
          </p:cNvSpPr>
          <p:nvPr>
            <p:ph type="title"/>
          </p:nvPr>
        </p:nvSpPr>
        <p:spPr/>
        <p:txBody>
          <a:bodyPr>
            <a:normAutofit/>
          </a:bodyPr>
          <a:lstStyle/>
          <a:p>
            <a:r>
              <a:rPr lang="en-IN" b="1" i="0" dirty="0">
                <a:solidFill>
                  <a:srgbClr val="0D0D0D"/>
                </a:solidFill>
                <a:effectLst/>
                <a:highlight>
                  <a:srgbClr val="FFFFFF"/>
                </a:highlight>
                <a:latin typeface="ui-sans-serif"/>
              </a:rPr>
              <a:t>Techniques for Determining Optimal Threshold</a:t>
            </a:r>
            <a:endParaRPr lang="en-US" dirty="0"/>
          </a:p>
        </p:txBody>
      </p:sp>
      <p:sp>
        <p:nvSpPr>
          <p:cNvPr id="3" name="Content Placeholder 2">
            <a:extLst>
              <a:ext uri="{FF2B5EF4-FFF2-40B4-BE49-F238E27FC236}">
                <a16:creationId xmlns:a16="http://schemas.microsoft.com/office/drawing/2014/main" id="{9230B1BD-17F2-5E6D-C293-32F4DE7058E0}"/>
              </a:ext>
            </a:extLst>
          </p:cNvPr>
          <p:cNvSpPr>
            <a:spLocks noGrp="1"/>
          </p:cNvSpPr>
          <p:nvPr>
            <p:ph idx="1"/>
          </p:nvPr>
        </p:nvSpPr>
        <p:spPr/>
        <p:txBody>
          <a:bodyPr>
            <a:normAutofit fontScale="85000" lnSpcReduction="20000"/>
          </a:bodyPr>
          <a:lstStyle/>
          <a:p>
            <a:r>
              <a:rPr lang="en-IN" b="1" i="0" dirty="0">
                <a:solidFill>
                  <a:srgbClr val="0D0D0D"/>
                </a:solidFill>
                <a:effectLst/>
                <a:highlight>
                  <a:srgbClr val="FFFFFF"/>
                </a:highlight>
                <a:latin typeface="ui-sans-serif"/>
              </a:rPr>
              <a:t>Receiver Operating Characteristic (ROC) Curve</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The ROC curve plots the true positive rate (recall) against the false positive rate for different threshold values. The Area Under the ROC Curve (AUC) is a measure of the model's performance. By </a:t>
            </a:r>
            <a:r>
              <a:rPr lang="en-IN" b="0" i="0" dirty="0" err="1">
                <a:solidFill>
                  <a:srgbClr val="0D0D0D"/>
                </a:solidFill>
                <a:effectLst/>
                <a:highlight>
                  <a:srgbClr val="FFFFFF"/>
                </a:highlight>
                <a:latin typeface="ui-sans-serif"/>
              </a:rPr>
              <a:t>analyzing</a:t>
            </a:r>
            <a:r>
              <a:rPr lang="en-IN" b="0" i="0" dirty="0">
                <a:solidFill>
                  <a:srgbClr val="0D0D0D"/>
                </a:solidFill>
                <a:effectLst/>
                <a:highlight>
                  <a:srgbClr val="FFFFFF"/>
                </a:highlight>
                <a:latin typeface="ui-sans-serif"/>
              </a:rPr>
              <a:t> the ROC curve, one can select a threshold that balances the trade-off between true positives and false positives.</a:t>
            </a:r>
          </a:p>
          <a:p>
            <a:r>
              <a:rPr lang="en-IN" b="1" i="0" dirty="0">
                <a:solidFill>
                  <a:srgbClr val="0D0D0D"/>
                </a:solidFill>
                <a:effectLst/>
                <a:highlight>
                  <a:srgbClr val="FFFFFF"/>
                </a:highlight>
                <a:latin typeface="ui-sans-serif"/>
              </a:rPr>
              <a:t>Precision-Recall (PR) Curve</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The PR curve plots precision against recall for different thresholds. This is particularly useful for imbalanced datasets. The optimal threshold can be chosen based on the desired balance between precision and recall.</a:t>
            </a:r>
          </a:p>
          <a:p>
            <a:r>
              <a:rPr lang="en-IN" b="1" i="0" dirty="0">
                <a:solidFill>
                  <a:srgbClr val="0D0D0D"/>
                </a:solidFill>
                <a:effectLst/>
                <a:highlight>
                  <a:srgbClr val="FFFFFF"/>
                </a:highlight>
                <a:latin typeface="ui-sans-serif"/>
              </a:rPr>
              <a:t>F1 Score</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The F1 score is the harmonic mean of precision and recall. It provides a single metric to evaluate the balance between precision and recall. The threshold that maximizes the F1 score can be chosen to balance these two metrics.</a:t>
            </a:r>
          </a:p>
          <a:p>
            <a:r>
              <a:rPr lang="en-IN" b="1" i="0" dirty="0">
                <a:solidFill>
                  <a:srgbClr val="0D0D0D"/>
                </a:solidFill>
                <a:effectLst/>
                <a:highlight>
                  <a:srgbClr val="FFFFFF"/>
                </a:highlight>
                <a:latin typeface="ui-sans-serif"/>
              </a:rPr>
              <a:t>Cost-Benefit Analysis</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A cost-benefit analysis can be performed by assigning specific costs to false positives and false negatives. The optimal threshold can then be chosen to minimize the total cost.</a:t>
            </a:r>
          </a:p>
          <a:p>
            <a:endParaRPr lang="en-US" dirty="0"/>
          </a:p>
        </p:txBody>
      </p:sp>
    </p:spTree>
    <p:extLst>
      <p:ext uri="{BB962C8B-B14F-4D97-AF65-F5344CB8AC3E}">
        <p14:creationId xmlns:p14="http://schemas.microsoft.com/office/powerpoint/2010/main" val="3854751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9DA4E-2A80-6FAC-6AEC-1DC1497C71CB}"/>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Impact on Performance Metrics</a:t>
            </a:r>
            <a:endParaRPr lang="en-US" dirty="0"/>
          </a:p>
        </p:txBody>
      </p:sp>
      <p:sp>
        <p:nvSpPr>
          <p:cNvPr id="3" name="Content Placeholder 2">
            <a:extLst>
              <a:ext uri="{FF2B5EF4-FFF2-40B4-BE49-F238E27FC236}">
                <a16:creationId xmlns:a16="http://schemas.microsoft.com/office/drawing/2014/main" id="{9DCA120F-5F80-15ED-F1BD-9D6913A8C8CE}"/>
              </a:ext>
            </a:extLst>
          </p:cNvPr>
          <p:cNvSpPr>
            <a:spLocks noGrp="1"/>
          </p:cNvSpPr>
          <p:nvPr>
            <p:ph idx="1"/>
          </p:nvPr>
        </p:nvSpPr>
        <p:spPr/>
        <p:txBody>
          <a:bodyPr/>
          <a:lstStyle/>
          <a:p>
            <a:pPr marL="0" indent="0" algn="l">
              <a:buNone/>
            </a:pPr>
            <a:r>
              <a:rPr lang="en-IN" b="1" i="0" dirty="0">
                <a:solidFill>
                  <a:srgbClr val="0D0D0D"/>
                </a:solidFill>
                <a:effectLst/>
                <a:highlight>
                  <a:srgbClr val="FFFFFF"/>
                </a:highlight>
                <a:latin typeface="ui-sans-serif"/>
              </a:rPr>
              <a:t>Accuracy</a:t>
            </a:r>
            <a:r>
              <a:rPr lang="en-IN" b="0" i="0" dirty="0">
                <a:solidFill>
                  <a:srgbClr val="0D0D0D"/>
                </a:solidFill>
                <a:effectLst/>
                <a:highlight>
                  <a:srgbClr val="FFFFFF"/>
                </a:highlight>
                <a:latin typeface="ui-sans-serif"/>
              </a:rPr>
              <a:t>:</a:t>
            </a:r>
          </a:p>
          <a:p>
            <a:r>
              <a:rPr lang="en-IN" b="0" i="0" dirty="0">
                <a:solidFill>
                  <a:srgbClr val="0D0D0D"/>
                </a:solidFill>
                <a:effectLst/>
                <a:highlight>
                  <a:srgbClr val="FFFFFF"/>
                </a:highlight>
                <a:latin typeface="ui-sans-serif"/>
              </a:rPr>
              <a:t>Accuracy measures the proportion of correctly classified instances (both true positives and true negatives) out of the total instances. Changing the threshold can alter the balance between true positives, true negatives, false positives, and false negatives, thus impacting accuracy.</a:t>
            </a:r>
          </a:p>
          <a:p>
            <a:r>
              <a:rPr lang="en-IN" b="0" i="0" dirty="0">
                <a:solidFill>
                  <a:srgbClr val="0D0D0D"/>
                </a:solidFill>
                <a:effectLst/>
                <a:highlight>
                  <a:srgbClr val="FFFFFF"/>
                </a:highlight>
                <a:latin typeface="ui-sans-serif"/>
              </a:rPr>
              <a:t>In imbalanced datasets, accuracy may be misleading. For instance, with a heavily imbalanced dataset where one class is much more frequent, a high threshold might yield high accuracy simply by predicting the majority class more often.</a:t>
            </a:r>
          </a:p>
          <a:p>
            <a:endParaRPr lang="en-US" dirty="0"/>
          </a:p>
        </p:txBody>
      </p:sp>
    </p:spTree>
    <p:extLst>
      <p:ext uri="{BB962C8B-B14F-4D97-AF65-F5344CB8AC3E}">
        <p14:creationId xmlns:p14="http://schemas.microsoft.com/office/powerpoint/2010/main" val="37641528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586BC-BFA5-670C-A910-131672E8BDB4}"/>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Impact on Performance Metrics</a:t>
            </a:r>
            <a:endParaRPr lang="en-US" dirty="0"/>
          </a:p>
        </p:txBody>
      </p:sp>
      <p:sp>
        <p:nvSpPr>
          <p:cNvPr id="3" name="Content Placeholder 2">
            <a:extLst>
              <a:ext uri="{FF2B5EF4-FFF2-40B4-BE49-F238E27FC236}">
                <a16:creationId xmlns:a16="http://schemas.microsoft.com/office/drawing/2014/main" id="{C2334017-BB5B-B40E-CF3E-9FB0A6ED49D5}"/>
              </a:ext>
            </a:extLst>
          </p:cNvPr>
          <p:cNvSpPr>
            <a:spLocks noGrp="1"/>
          </p:cNvSpPr>
          <p:nvPr>
            <p:ph idx="1"/>
          </p:nvPr>
        </p:nvSpPr>
        <p:spPr/>
        <p:txBody>
          <a:bodyPr/>
          <a:lstStyle/>
          <a:p>
            <a:pPr marL="0" indent="0">
              <a:buNone/>
            </a:pPr>
            <a:r>
              <a:rPr lang="en-IN" b="1" i="0" dirty="0">
                <a:solidFill>
                  <a:srgbClr val="0D0D0D"/>
                </a:solidFill>
                <a:effectLst/>
                <a:highlight>
                  <a:srgbClr val="FFFFFF"/>
                </a:highlight>
                <a:latin typeface="ui-sans-serif"/>
              </a:rPr>
              <a:t>Precision</a:t>
            </a:r>
          </a:p>
          <a:p>
            <a:pPr algn="l">
              <a:buFont typeface="Arial" panose="020B0604020202020204" pitchFamily="34" charset="0"/>
              <a:buChar char="•"/>
            </a:pPr>
            <a:r>
              <a:rPr lang="en-IN" b="0" i="0" dirty="0">
                <a:solidFill>
                  <a:srgbClr val="0D0D0D"/>
                </a:solidFill>
                <a:effectLst/>
                <a:highlight>
                  <a:srgbClr val="FFFFFF"/>
                </a:highlight>
                <a:latin typeface="ui-sans-serif"/>
              </a:rPr>
              <a:t>Precision, also known as positive predictive value, is the proportion of true positive predictions among all positive predictions.</a:t>
            </a:r>
          </a:p>
          <a:p>
            <a:pPr algn="l">
              <a:buFont typeface="Arial" panose="020B0604020202020204" pitchFamily="34" charset="0"/>
              <a:buChar char="•"/>
            </a:pPr>
            <a:r>
              <a:rPr lang="en-IN" b="0" i="0" dirty="0">
                <a:solidFill>
                  <a:srgbClr val="0D0D0D"/>
                </a:solidFill>
                <a:effectLst/>
                <a:highlight>
                  <a:srgbClr val="FFFFFF"/>
                </a:highlight>
                <a:latin typeface="ui-sans-serif"/>
              </a:rPr>
              <a:t>Lowering the threshold typically increases the number of positive predictions (including both true and false positives), which can decrease precision if many of these additional positive predictions are incorrect.</a:t>
            </a:r>
          </a:p>
          <a:p>
            <a:pPr algn="l">
              <a:buFont typeface="Arial" panose="020B0604020202020204" pitchFamily="34" charset="0"/>
              <a:buChar char="•"/>
            </a:pPr>
            <a:r>
              <a:rPr lang="en-IN" b="0" i="0" dirty="0">
                <a:solidFill>
                  <a:srgbClr val="0D0D0D"/>
                </a:solidFill>
                <a:effectLst/>
                <a:highlight>
                  <a:srgbClr val="FFFFFF"/>
                </a:highlight>
                <a:latin typeface="ui-sans-serif"/>
              </a:rPr>
              <a:t>Increasing the threshold usually increases precision by reducing false positives, but it may also reduce the number of true positives.</a:t>
            </a:r>
          </a:p>
          <a:p>
            <a:pPr marL="0" indent="0">
              <a:buNone/>
            </a:pPr>
            <a:endParaRPr lang="en-US" dirty="0"/>
          </a:p>
        </p:txBody>
      </p:sp>
    </p:spTree>
    <p:extLst>
      <p:ext uri="{BB962C8B-B14F-4D97-AF65-F5344CB8AC3E}">
        <p14:creationId xmlns:p14="http://schemas.microsoft.com/office/powerpoint/2010/main" val="3181702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197F-A96C-07B7-4706-33AB9B165F8B}"/>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Impact on Performance Metrics</a:t>
            </a:r>
            <a:endParaRPr lang="en-US" dirty="0"/>
          </a:p>
        </p:txBody>
      </p:sp>
      <p:sp>
        <p:nvSpPr>
          <p:cNvPr id="3" name="Content Placeholder 2">
            <a:extLst>
              <a:ext uri="{FF2B5EF4-FFF2-40B4-BE49-F238E27FC236}">
                <a16:creationId xmlns:a16="http://schemas.microsoft.com/office/drawing/2014/main" id="{0D700C48-8FC3-F9A4-585D-BA8AF3C4430A}"/>
              </a:ext>
            </a:extLst>
          </p:cNvPr>
          <p:cNvSpPr>
            <a:spLocks noGrp="1"/>
          </p:cNvSpPr>
          <p:nvPr>
            <p:ph idx="1"/>
          </p:nvPr>
        </p:nvSpPr>
        <p:spPr/>
        <p:txBody>
          <a:bodyPr/>
          <a:lstStyle/>
          <a:p>
            <a:pPr marL="0" indent="0">
              <a:buNone/>
            </a:pPr>
            <a:r>
              <a:rPr lang="en-IN" b="1" i="0" dirty="0">
                <a:solidFill>
                  <a:srgbClr val="0D0D0D"/>
                </a:solidFill>
                <a:effectLst/>
                <a:highlight>
                  <a:srgbClr val="FFFFFF"/>
                </a:highlight>
                <a:latin typeface="ui-sans-serif"/>
              </a:rPr>
              <a:t>Recall (Sensitivity or True Positive Rate)</a:t>
            </a:r>
            <a:r>
              <a:rPr lang="en-IN" b="0" i="0" dirty="0">
                <a:solidFill>
                  <a:srgbClr val="0D0D0D"/>
                </a:solidFill>
                <a:effectLst/>
                <a:highlight>
                  <a:srgbClr val="FFFFFF"/>
                </a:highlight>
                <a:latin typeface="ui-sans-serif"/>
              </a:rPr>
              <a:t>:</a:t>
            </a:r>
          </a:p>
          <a:p>
            <a:pPr algn="l">
              <a:buFont typeface="Arial" panose="020B0604020202020204" pitchFamily="34" charset="0"/>
              <a:buChar char="•"/>
            </a:pPr>
            <a:r>
              <a:rPr lang="en-IN" b="0" i="0" dirty="0">
                <a:solidFill>
                  <a:srgbClr val="0D0D0D"/>
                </a:solidFill>
                <a:effectLst/>
                <a:highlight>
                  <a:srgbClr val="FFFFFF"/>
                </a:highlight>
                <a:latin typeface="ui-sans-serif"/>
              </a:rPr>
              <a:t>Recall is the proportion of actual positives that are correctly identified by the model.</a:t>
            </a:r>
          </a:p>
          <a:p>
            <a:pPr algn="l">
              <a:buFont typeface="Arial" panose="020B0604020202020204" pitchFamily="34" charset="0"/>
              <a:buChar char="•"/>
            </a:pPr>
            <a:r>
              <a:rPr lang="en-IN" b="0" i="0" dirty="0">
                <a:solidFill>
                  <a:srgbClr val="0D0D0D"/>
                </a:solidFill>
                <a:effectLst/>
                <a:highlight>
                  <a:srgbClr val="FFFFFF"/>
                </a:highlight>
                <a:latin typeface="ui-sans-serif"/>
              </a:rPr>
              <a:t>Lowering the threshold generally increases recall by capturing more true positives, but it may also increase the number of false positives.</a:t>
            </a:r>
          </a:p>
          <a:p>
            <a:pPr algn="l">
              <a:buFont typeface="Arial" panose="020B0604020202020204" pitchFamily="34" charset="0"/>
              <a:buChar char="•"/>
            </a:pPr>
            <a:r>
              <a:rPr lang="en-IN" b="0" i="0" dirty="0">
                <a:solidFill>
                  <a:srgbClr val="0D0D0D"/>
                </a:solidFill>
                <a:effectLst/>
                <a:highlight>
                  <a:srgbClr val="FFFFFF"/>
                </a:highlight>
                <a:latin typeface="ui-sans-serif"/>
              </a:rPr>
              <a:t>Raising the threshold usually reduces recall because fewer instances are classified as positive, potentially missing true positives.</a:t>
            </a:r>
          </a:p>
          <a:p>
            <a:pPr marL="0" indent="0">
              <a:buNone/>
            </a:pPr>
            <a:endParaRPr lang="en-US" dirty="0"/>
          </a:p>
        </p:txBody>
      </p:sp>
    </p:spTree>
    <p:extLst>
      <p:ext uri="{BB962C8B-B14F-4D97-AF65-F5344CB8AC3E}">
        <p14:creationId xmlns:p14="http://schemas.microsoft.com/office/powerpoint/2010/main" val="506716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056D0-F10F-A66A-9D26-59F3E2458EEC}"/>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Impact on Performance Metrics</a:t>
            </a:r>
            <a:endParaRPr lang="en-US" dirty="0"/>
          </a:p>
        </p:txBody>
      </p:sp>
      <p:sp>
        <p:nvSpPr>
          <p:cNvPr id="3" name="Content Placeholder 2">
            <a:extLst>
              <a:ext uri="{FF2B5EF4-FFF2-40B4-BE49-F238E27FC236}">
                <a16:creationId xmlns:a16="http://schemas.microsoft.com/office/drawing/2014/main" id="{BDA43D17-69DF-20CC-A13A-DF158CE93CC2}"/>
              </a:ext>
            </a:extLst>
          </p:cNvPr>
          <p:cNvSpPr>
            <a:spLocks noGrp="1"/>
          </p:cNvSpPr>
          <p:nvPr>
            <p:ph idx="1"/>
          </p:nvPr>
        </p:nvSpPr>
        <p:spPr/>
        <p:txBody>
          <a:bodyPr/>
          <a:lstStyle/>
          <a:p>
            <a:pPr marL="0" indent="0">
              <a:buNone/>
            </a:pPr>
            <a:r>
              <a:rPr lang="en-IN" b="1" i="0" dirty="0">
                <a:solidFill>
                  <a:srgbClr val="0D0D0D"/>
                </a:solidFill>
                <a:effectLst/>
                <a:highlight>
                  <a:srgbClr val="FFFFFF"/>
                </a:highlight>
                <a:latin typeface="ui-sans-serif"/>
              </a:rPr>
              <a:t>F1 Score</a:t>
            </a:r>
            <a:r>
              <a:rPr lang="en-IN" b="0" i="0" dirty="0">
                <a:solidFill>
                  <a:srgbClr val="0D0D0D"/>
                </a:solidFill>
                <a:effectLst/>
                <a:highlight>
                  <a:srgbClr val="FFFFFF"/>
                </a:highlight>
                <a:latin typeface="ui-sans-serif"/>
              </a:rPr>
              <a:t>:</a:t>
            </a:r>
          </a:p>
          <a:p>
            <a:pPr algn="l">
              <a:buFont typeface="Arial" panose="020B0604020202020204" pitchFamily="34" charset="0"/>
              <a:buChar char="•"/>
            </a:pPr>
            <a:r>
              <a:rPr lang="en-IN" b="0" i="0" dirty="0">
                <a:solidFill>
                  <a:srgbClr val="0D0D0D"/>
                </a:solidFill>
                <a:effectLst/>
                <a:highlight>
                  <a:srgbClr val="FFFFFF"/>
                </a:highlight>
                <a:latin typeface="ui-sans-serif"/>
              </a:rPr>
              <a:t>The F1 score is the harmonic mean of precision and recall. It provides a single metric that balances the trade-off between precision and recall.</a:t>
            </a:r>
          </a:p>
          <a:p>
            <a:pPr algn="l">
              <a:buFont typeface="Arial" panose="020B0604020202020204" pitchFamily="34" charset="0"/>
              <a:buChar char="•"/>
            </a:pPr>
            <a:r>
              <a:rPr lang="en-IN" b="0" i="0" dirty="0">
                <a:solidFill>
                  <a:srgbClr val="0D0D0D"/>
                </a:solidFill>
                <a:effectLst/>
                <a:highlight>
                  <a:srgbClr val="FFFFFF"/>
                </a:highlight>
                <a:latin typeface="ui-sans-serif"/>
              </a:rPr>
              <a:t>Changing the threshold affects both precision and recall, thereby impacting the F1 score. The optimal threshold for the F1 score is where the balance between precision and recall is most effective.</a:t>
            </a:r>
          </a:p>
          <a:p>
            <a:pPr marL="0" indent="0">
              <a:buNone/>
            </a:pPr>
            <a:endParaRPr lang="en-US" dirty="0"/>
          </a:p>
        </p:txBody>
      </p:sp>
    </p:spTree>
    <p:extLst>
      <p:ext uri="{BB962C8B-B14F-4D97-AF65-F5344CB8AC3E}">
        <p14:creationId xmlns:p14="http://schemas.microsoft.com/office/powerpoint/2010/main" val="2892495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DDB0D-D812-F82A-24F9-A8073F3262DF}"/>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Impact on Performance Metrics</a:t>
            </a:r>
            <a:endParaRPr lang="en-US" dirty="0"/>
          </a:p>
        </p:txBody>
      </p:sp>
      <p:sp>
        <p:nvSpPr>
          <p:cNvPr id="3" name="Content Placeholder 2">
            <a:extLst>
              <a:ext uri="{FF2B5EF4-FFF2-40B4-BE49-F238E27FC236}">
                <a16:creationId xmlns:a16="http://schemas.microsoft.com/office/drawing/2014/main" id="{E5D7CAC6-A3FF-EAF1-2390-2F8950F65823}"/>
              </a:ext>
            </a:extLst>
          </p:cNvPr>
          <p:cNvSpPr>
            <a:spLocks noGrp="1"/>
          </p:cNvSpPr>
          <p:nvPr>
            <p:ph idx="1"/>
          </p:nvPr>
        </p:nvSpPr>
        <p:spPr/>
        <p:txBody>
          <a:bodyPr/>
          <a:lstStyle/>
          <a:p>
            <a:pPr marL="0" indent="0">
              <a:buNone/>
            </a:pPr>
            <a:r>
              <a:rPr lang="en-IN" b="1" i="0" dirty="0">
                <a:solidFill>
                  <a:srgbClr val="0D0D0D"/>
                </a:solidFill>
                <a:effectLst/>
                <a:highlight>
                  <a:srgbClr val="FFFFFF"/>
                </a:highlight>
                <a:latin typeface="ui-sans-serif"/>
              </a:rPr>
              <a:t>False Positives and False Negatives</a:t>
            </a:r>
            <a:r>
              <a:rPr lang="en-IN" b="0" i="0" dirty="0">
                <a:solidFill>
                  <a:srgbClr val="0D0D0D"/>
                </a:solidFill>
                <a:effectLst/>
                <a:highlight>
                  <a:srgbClr val="FFFFFF"/>
                </a:highlight>
                <a:latin typeface="ui-sans-serif"/>
              </a:rPr>
              <a:t>:</a:t>
            </a:r>
          </a:p>
          <a:p>
            <a:pPr algn="l">
              <a:buFont typeface="Arial" panose="020B0604020202020204" pitchFamily="34" charset="0"/>
              <a:buChar char="•"/>
            </a:pPr>
            <a:r>
              <a:rPr lang="en-IN" b="1" i="0" dirty="0">
                <a:solidFill>
                  <a:srgbClr val="0D0D0D"/>
                </a:solidFill>
                <a:effectLst/>
                <a:highlight>
                  <a:srgbClr val="FFFFFF"/>
                </a:highlight>
                <a:latin typeface="ui-sans-serif"/>
              </a:rPr>
              <a:t>False Positives (Type I Error)</a:t>
            </a:r>
            <a:r>
              <a:rPr lang="en-IN" b="0" i="0" dirty="0">
                <a:solidFill>
                  <a:srgbClr val="0D0D0D"/>
                </a:solidFill>
                <a:effectLst/>
                <a:highlight>
                  <a:srgbClr val="FFFFFF"/>
                </a:highlight>
                <a:latin typeface="ui-sans-serif"/>
              </a:rPr>
              <a:t>: Instances incorrectly classified as positive. Lowering the threshold increases false positives.</a:t>
            </a:r>
          </a:p>
          <a:p>
            <a:pPr algn="l">
              <a:buFont typeface="Arial" panose="020B0604020202020204" pitchFamily="34" charset="0"/>
              <a:buChar char="•"/>
            </a:pPr>
            <a:r>
              <a:rPr lang="en-IN" b="1" i="0" dirty="0">
                <a:solidFill>
                  <a:srgbClr val="0D0D0D"/>
                </a:solidFill>
                <a:effectLst/>
                <a:highlight>
                  <a:srgbClr val="FFFFFF"/>
                </a:highlight>
                <a:latin typeface="ui-sans-serif"/>
              </a:rPr>
              <a:t>False Negatives (Type II Error)</a:t>
            </a:r>
            <a:r>
              <a:rPr lang="en-IN" b="0" i="0" dirty="0">
                <a:solidFill>
                  <a:srgbClr val="0D0D0D"/>
                </a:solidFill>
                <a:effectLst/>
                <a:highlight>
                  <a:srgbClr val="FFFFFF"/>
                </a:highlight>
                <a:latin typeface="ui-sans-serif"/>
              </a:rPr>
              <a:t>: Instances incorrectly classified as negative. Raising the threshold increases false negatives.</a:t>
            </a:r>
          </a:p>
          <a:p>
            <a:pPr marL="0" indent="0">
              <a:buNone/>
            </a:pPr>
            <a:endParaRPr lang="en-IN" dirty="0">
              <a:solidFill>
                <a:srgbClr val="0D0D0D"/>
              </a:solidFill>
              <a:highlight>
                <a:srgbClr val="FFFFFF"/>
              </a:highlight>
              <a:latin typeface="ui-sans-serif"/>
            </a:endParaRPr>
          </a:p>
        </p:txBody>
      </p:sp>
    </p:spTree>
    <p:extLst>
      <p:ext uri="{BB962C8B-B14F-4D97-AF65-F5344CB8AC3E}">
        <p14:creationId xmlns:p14="http://schemas.microsoft.com/office/powerpoint/2010/main" val="342018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066FF-4CB1-5F7A-2B9C-71C9FC7A1737}"/>
              </a:ext>
            </a:extLst>
          </p:cNvPr>
          <p:cNvSpPr>
            <a:spLocks noGrp="1"/>
          </p:cNvSpPr>
          <p:nvPr>
            <p:ph type="title"/>
          </p:nvPr>
        </p:nvSpPr>
        <p:spPr/>
        <p:txBody>
          <a:bodyPr/>
          <a:lstStyle/>
          <a:p>
            <a:r>
              <a:rPr lang="en-US" dirty="0"/>
              <a:t>Selection of Threshold – Trade-offs</a:t>
            </a:r>
          </a:p>
        </p:txBody>
      </p:sp>
      <p:sp>
        <p:nvSpPr>
          <p:cNvPr id="3" name="Content Placeholder 2">
            <a:extLst>
              <a:ext uri="{FF2B5EF4-FFF2-40B4-BE49-F238E27FC236}">
                <a16:creationId xmlns:a16="http://schemas.microsoft.com/office/drawing/2014/main" id="{40DC440C-7E9F-0E4C-7B4A-2EF33DEC3798}"/>
              </a:ext>
            </a:extLst>
          </p:cNvPr>
          <p:cNvSpPr>
            <a:spLocks noGrp="1"/>
          </p:cNvSpPr>
          <p:nvPr>
            <p:ph idx="1"/>
          </p:nvPr>
        </p:nvSpPr>
        <p:spPr/>
        <p:txBody>
          <a:bodyPr>
            <a:normAutofit/>
          </a:bodyPr>
          <a:lstStyle/>
          <a:p>
            <a:r>
              <a:rPr lang="en-IN" b="1" i="0" dirty="0">
                <a:solidFill>
                  <a:srgbClr val="0D0D0D"/>
                </a:solidFill>
                <a:effectLst/>
                <a:highlight>
                  <a:srgbClr val="FFFFFF"/>
                </a:highlight>
                <a:latin typeface="ui-sans-serif"/>
              </a:rPr>
              <a:t>Lower Threshold</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Pros: Higher recall, capturing more true positives.</a:t>
            </a:r>
          </a:p>
          <a:p>
            <a:pPr lvl="1"/>
            <a:r>
              <a:rPr lang="en-IN" b="0" i="0" dirty="0">
                <a:solidFill>
                  <a:srgbClr val="0D0D0D"/>
                </a:solidFill>
                <a:effectLst/>
                <a:highlight>
                  <a:srgbClr val="FFFFFF"/>
                </a:highlight>
                <a:latin typeface="ui-sans-serif"/>
              </a:rPr>
              <a:t>Cons: Lower precision, higher false positive rate.</a:t>
            </a:r>
          </a:p>
          <a:p>
            <a:pPr lvl="1"/>
            <a:r>
              <a:rPr lang="en-IN" b="0" i="0" dirty="0">
                <a:solidFill>
                  <a:srgbClr val="0D0D0D"/>
                </a:solidFill>
                <a:effectLst/>
                <a:highlight>
                  <a:srgbClr val="FFFFFF"/>
                </a:highlight>
                <a:latin typeface="ui-sans-serif"/>
              </a:rPr>
              <a:t>Use Case: When missing positive cases is more critical, such as in medical diagnoses (e.g., detecting a rare disease).</a:t>
            </a:r>
          </a:p>
          <a:p>
            <a:r>
              <a:rPr lang="en-IN" b="1" i="0" dirty="0">
                <a:solidFill>
                  <a:srgbClr val="0D0D0D"/>
                </a:solidFill>
                <a:effectLst/>
                <a:highlight>
                  <a:srgbClr val="FFFFFF"/>
                </a:highlight>
                <a:latin typeface="ui-sans-serif"/>
              </a:rPr>
              <a:t>Higher Threshold</a:t>
            </a:r>
            <a:r>
              <a:rPr lang="en-IN" b="0" i="0" dirty="0">
                <a:solidFill>
                  <a:srgbClr val="0D0D0D"/>
                </a:solidFill>
                <a:effectLst/>
                <a:highlight>
                  <a:srgbClr val="FFFFFF"/>
                </a:highlight>
                <a:latin typeface="ui-sans-serif"/>
              </a:rPr>
              <a:t>:</a:t>
            </a:r>
          </a:p>
          <a:p>
            <a:pPr lvl="1"/>
            <a:r>
              <a:rPr lang="en-IN" b="0" i="0" dirty="0">
                <a:solidFill>
                  <a:srgbClr val="0D0D0D"/>
                </a:solidFill>
                <a:effectLst/>
                <a:highlight>
                  <a:srgbClr val="FFFFFF"/>
                </a:highlight>
                <a:latin typeface="ui-sans-serif"/>
              </a:rPr>
              <a:t>Pros: Higher precision, lower false positive rate.</a:t>
            </a:r>
          </a:p>
          <a:p>
            <a:pPr lvl="1"/>
            <a:r>
              <a:rPr lang="en-IN" b="0" i="0" dirty="0">
                <a:solidFill>
                  <a:srgbClr val="0D0D0D"/>
                </a:solidFill>
                <a:effectLst/>
                <a:highlight>
                  <a:srgbClr val="FFFFFF"/>
                </a:highlight>
                <a:latin typeface="ui-sans-serif"/>
              </a:rPr>
              <a:t>Cons: Lower recall, higher false negative rate.</a:t>
            </a:r>
          </a:p>
          <a:p>
            <a:pPr lvl="1"/>
            <a:r>
              <a:rPr lang="en-IN" b="0" i="0" dirty="0">
                <a:solidFill>
                  <a:srgbClr val="0D0D0D"/>
                </a:solidFill>
                <a:effectLst/>
                <a:highlight>
                  <a:srgbClr val="FFFFFF"/>
                </a:highlight>
                <a:latin typeface="ui-sans-serif"/>
              </a:rPr>
              <a:t>Use Case: When false positives are costly, such as in spam detection (reducing the number of legitimate emails marked as spam).</a:t>
            </a:r>
          </a:p>
          <a:p>
            <a:endParaRPr lang="en-US" dirty="0"/>
          </a:p>
        </p:txBody>
      </p:sp>
    </p:spTree>
    <p:extLst>
      <p:ext uri="{BB962C8B-B14F-4D97-AF65-F5344CB8AC3E}">
        <p14:creationId xmlns:p14="http://schemas.microsoft.com/office/powerpoint/2010/main" val="37635370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B97F8-7634-869A-9970-6C0BB62016D7}"/>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Binary Logistic Regression</a:t>
            </a:r>
            <a:endParaRPr lang="en-US" dirty="0"/>
          </a:p>
        </p:txBody>
      </p:sp>
      <p:sp>
        <p:nvSpPr>
          <p:cNvPr id="3" name="Content Placeholder 2">
            <a:extLst>
              <a:ext uri="{FF2B5EF4-FFF2-40B4-BE49-F238E27FC236}">
                <a16:creationId xmlns:a16="http://schemas.microsoft.com/office/drawing/2014/main" id="{7DB45925-A276-1CD1-0964-6131799B7039}"/>
              </a:ext>
            </a:extLst>
          </p:cNvPr>
          <p:cNvSpPr>
            <a:spLocks noGrp="1"/>
          </p:cNvSpPr>
          <p:nvPr>
            <p:ph idx="1"/>
          </p:nvPr>
        </p:nvSpPr>
        <p:spPr/>
        <p:txBody>
          <a:bodyPr/>
          <a:lstStyle/>
          <a:p>
            <a:pPr marL="0" indent="0" algn="l">
              <a:buNone/>
            </a:pPr>
            <a:r>
              <a:rPr lang="en-IN" b="0" i="0" dirty="0">
                <a:solidFill>
                  <a:srgbClr val="0D0D0D"/>
                </a:solidFill>
                <a:effectLst/>
                <a:highlight>
                  <a:srgbClr val="FFFFFF"/>
                </a:highlight>
                <a:latin typeface="ui-sans-serif"/>
              </a:rPr>
              <a:t>Binary logistic regression is used when the dependent variable is dichotomous, meaning it has two possible outcomes. This is the most common form of logistic regression.</a:t>
            </a:r>
          </a:p>
          <a:p>
            <a:pPr marL="0" indent="0" algn="l">
              <a:buNone/>
            </a:pPr>
            <a:r>
              <a:rPr lang="en-IN" b="1" i="0" dirty="0">
                <a:solidFill>
                  <a:srgbClr val="0D0D0D"/>
                </a:solidFill>
                <a:effectLst/>
                <a:highlight>
                  <a:srgbClr val="FFFFFF"/>
                </a:highlight>
                <a:latin typeface="ui-sans-serif"/>
              </a:rPr>
              <a:t>Use Cases</a:t>
            </a:r>
            <a:r>
              <a:rPr lang="en-IN" b="0" i="0" dirty="0">
                <a:solidFill>
                  <a:srgbClr val="0D0D0D"/>
                </a:solidFill>
                <a:effectLst/>
                <a:highlight>
                  <a:srgbClr val="FFFFFF"/>
                </a:highlight>
                <a:latin typeface="ui-sans-serif"/>
              </a:rPr>
              <a:t>:</a:t>
            </a:r>
          </a:p>
          <a:p>
            <a:pPr algn="l">
              <a:buFont typeface="Arial" panose="020B0604020202020204" pitchFamily="34" charset="0"/>
              <a:buChar char="•"/>
            </a:pPr>
            <a:r>
              <a:rPr lang="en-IN" b="0" i="0" dirty="0">
                <a:solidFill>
                  <a:srgbClr val="0D0D0D"/>
                </a:solidFill>
                <a:effectLst/>
                <a:highlight>
                  <a:srgbClr val="FFFFFF"/>
                </a:highlight>
                <a:latin typeface="ui-sans-serif"/>
              </a:rPr>
              <a:t>Predicting whether a customer will purchase a product (yes/no).</a:t>
            </a:r>
          </a:p>
          <a:p>
            <a:pPr algn="l">
              <a:buFont typeface="Arial" panose="020B0604020202020204" pitchFamily="34" charset="0"/>
              <a:buChar char="•"/>
            </a:pPr>
            <a:r>
              <a:rPr lang="en-IN" b="0" i="0" dirty="0">
                <a:solidFill>
                  <a:srgbClr val="0D0D0D"/>
                </a:solidFill>
                <a:effectLst/>
                <a:highlight>
                  <a:srgbClr val="FFFFFF"/>
                </a:highlight>
                <a:latin typeface="ui-sans-serif"/>
              </a:rPr>
              <a:t>Determining whether an email is spam or not (spam/not spam).</a:t>
            </a:r>
          </a:p>
          <a:p>
            <a:pPr algn="l">
              <a:buFont typeface="Arial" panose="020B0604020202020204" pitchFamily="34" charset="0"/>
              <a:buChar char="•"/>
            </a:pPr>
            <a:r>
              <a:rPr lang="en-IN" b="0" i="0" dirty="0">
                <a:solidFill>
                  <a:srgbClr val="0D0D0D"/>
                </a:solidFill>
                <a:effectLst/>
                <a:highlight>
                  <a:srgbClr val="FFFFFF"/>
                </a:highlight>
                <a:latin typeface="ui-sans-serif"/>
              </a:rPr>
              <a:t>Diagnosing whether a patient has a disease (present/absent).</a:t>
            </a:r>
          </a:p>
          <a:p>
            <a:endParaRPr lang="en-US" dirty="0"/>
          </a:p>
        </p:txBody>
      </p:sp>
    </p:spTree>
    <p:extLst>
      <p:ext uri="{BB962C8B-B14F-4D97-AF65-F5344CB8AC3E}">
        <p14:creationId xmlns:p14="http://schemas.microsoft.com/office/powerpoint/2010/main" val="3566158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6CB3-38FA-8C0F-D842-C03709C87E01}"/>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435D7C48-0342-B4AF-7286-0DC69A5A0C12}"/>
              </a:ext>
            </a:extLst>
          </p:cNvPr>
          <p:cNvSpPr>
            <a:spLocks noGrp="1"/>
          </p:cNvSpPr>
          <p:nvPr>
            <p:ph idx="1"/>
          </p:nvPr>
        </p:nvSpPr>
        <p:spPr/>
        <p:txBody>
          <a:bodyPr>
            <a:normAutofit/>
          </a:bodyPr>
          <a:lstStyle/>
          <a:p>
            <a:pPr marL="0" indent="0">
              <a:buNone/>
            </a:pPr>
            <a:r>
              <a:rPr lang="en-IN" b="0" i="0" dirty="0">
                <a:solidFill>
                  <a:srgbClr val="0D0D0D"/>
                </a:solidFill>
                <a:effectLst/>
                <a:highlight>
                  <a:srgbClr val="FFFFFF"/>
                </a:highlight>
                <a:latin typeface="ui-sans-serif"/>
              </a:rPr>
              <a:t>Multinomial logistic regression is used when the dependent variable has three or more categories that are not ordered. This type of logistic regression can model the probabilities of different outcomes.</a:t>
            </a:r>
          </a:p>
          <a:p>
            <a:pPr marL="0" indent="0" algn="l">
              <a:buNone/>
            </a:pPr>
            <a:r>
              <a:rPr lang="en-IN" b="1" i="0" dirty="0">
                <a:solidFill>
                  <a:srgbClr val="0D0D0D"/>
                </a:solidFill>
                <a:effectLst/>
                <a:highlight>
                  <a:srgbClr val="FFFFFF"/>
                </a:highlight>
                <a:latin typeface="ui-sans-serif"/>
              </a:rPr>
              <a:t>Use Cases</a:t>
            </a:r>
            <a:r>
              <a:rPr lang="en-IN" b="0" i="0" dirty="0">
                <a:solidFill>
                  <a:srgbClr val="0D0D0D"/>
                </a:solidFill>
                <a:effectLst/>
                <a:highlight>
                  <a:srgbClr val="FFFFFF"/>
                </a:highlight>
                <a:latin typeface="ui-sans-serif"/>
              </a:rPr>
              <a:t>:</a:t>
            </a:r>
          </a:p>
          <a:p>
            <a:pPr algn="l">
              <a:buFont typeface="Arial" panose="020B0604020202020204" pitchFamily="34" charset="0"/>
              <a:buChar char="•"/>
            </a:pPr>
            <a:r>
              <a:rPr lang="en-IN" b="0" i="0" dirty="0">
                <a:solidFill>
                  <a:srgbClr val="0D0D0D"/>
                </a:solidFill>
                <a:effectLst/>
                <a:highlight>
                  <a:srgbClr val="FFFFFF"/>
                </a:highlight>
                <a:latin typeface="ui-sans-serif"/>
              </a:rPr>
              <a:t>Predicting the type of transportation chosen by an individual (car, bus, bike, walk).</a:t>
            </a:r>
          </a:p>
          <a:p>
            <a:pPr algn="l">
              <a:buFont typeface="Arial" panose="020B0604020202020204" pitchFamily="34" charset="0"/>
              <a:buChar char="•"/>
            </a:pPr>
            <a:r>
              <a:rPr lang="en-IN" b="0" i="0" dirty="0">
                <a:solidFill>
                  <a:srgbClr val="0D0D0D"/>
                </a:solidFill>
                <a:effectLst/>
                <a:highlight>
                  <a:srgbClr val="FFFFFF"/>
                </a:highlight>
                <a:latin typeface="ui-sans-serif"/>
              </a:rPr>
              <a:t>Classifying types of customer feedback (positive, neutral, negative).</a:t>
            </a:r>
          </a:p>
          <a:p>
            <a:pPr algn="l">
              <a:buFont typeface="Arial" panose="020B0604020202020204" pitchFamily="34" charset="0"/>
              <a:buChar char="•"/>
            </a:pPr>
            <a:r>
              <a:rPr lang="en-IN" b="0" i="0" dirty="0">
                <a:solidFill>
                  <a:srgbClr val="0D0D0D"/>
                </a:solidFill>
                <a:effectLst/>
                <a:highlight>
                  <a:srgbClr val="FFFFFF"/>
                </a:highlight>
                <a:latin typeface="ui-sans-serif"/>
              </a:rPr>
              <a:t>Determining the political party a voter will choose (Party A, Party B, Party C).</a:t>
            </a:r>
          </a:p>
          <a:p>
            <a:pPr marL="0" indent="0">
              <a:buNone/>
            </a:pPr>
            <a:endParaRPr lang="en-US" dirty="0"/>
          </a:p>
        </p:txBody>
      </p:sp>
    </p:spTree>
    <p:extLst>
      <p:ext uri="{BB962C8B-B14F-4D97-AF65-F5344CB8AC3E}">
        <p14:creationId xmlns:p14="http://schemas.microsoft.com/office/powerpoint/2010/main" val="2104583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E5802-F41F-CF5F-AC95-5239CF173357}"/>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6D62E446-152A-C070-D447-F921E420F9BA}"/>
              </a:ext>
            </a:extLst>
          </p:cNvPr>
          <p:cNvSpPr>
            <a:spLocks noGrp="1"/>
          </p:cNvSpPr>
          <p:nvPr>
            <p:ph idx="1"/>
          </p:nvPr>
        </p:nvSpPr>
        <p:spPr/>
        <p:txBody>
          <a:bodyPr/>
          <a:lstStyle/>
          <a:p>
            <a:pPr marL="0" indent="0" algn="l">
              <a:buNone/>
            </a:pPr>
            <a:r>
              <a:rPr lang="en-IN" b="0" i="0" dirty="0">
                <a:solidFill>
                  <a:srgbClr val="0D0D0D"/>
                </a:solidFill>
                <a:effectLst/>
                <a:highlight>
                  <a:srgbClr val="FFFFFF"/>
                </a:highlight>
                <a:latin typeface="ui-sans-serif"/>
              </a:rPr>
              <a:t>Let's consider an example where we want to predict the type of transportation a person chooses based on their income and distance to work. The transportation options (classes) are:</a:t>
            </a:r>
          </a:p>
          <a:p>
            <a:pPr algn="l">
              <a:buFont typeface="+mj-lt"/>
              <a:buAutoNum type="arabicPeriod"/>
            </a:pPr>
            <a:r>
              <a:rPr lang="en-IN" b="0" i="0" dirty="0">
                <a:solidFill>
                  <a:srgbClr val="0D0D0D"/>
                </a:solidFill>
                <a:effectLst/>
                <a:highlight>
                  <a:srgbClr val="FFFFFF"/>
                </a:highlight>
                <a:latin typeface="ui-sans-serif"/>
              </a:rPr>
              <a:t>Car</a:t>
            </a:r>
          </a:p>
          <a:p>
            <a:pPr algn="l">
              <a:buFont typeface="+mj-lt"/>
              <a:buAutoNum type="arabicPeriod"/>
            </a:pPr>
            <a:r>
              <a:rPr lang="en-IN" b="0" i="0" dirty="0">
                <a:solidFill>
                  <a:srgbClr val="0D0D0D"/>
                </a:solidFill>
                <a:effectLst/>
                <a:highlight>
                  <a:srgbClr val="FFFFFF"/>
                </a:highlight>
                <a:latin typeface="ui-sans-serif"/>
              </a:rPr>
              <a:t>Bus</a:t>
            </a:r>
          </a:p>
          <a:p>
            <a:pPr algn="l">
              <a:buFont typeface="+mj-lt"/>
              <a:buAutoNum type="arabicPeriod"/>
            </a:pPr>
            <a:r>
              <a:rPr lang="en-IN" b="0" i="0" dirty="0">
                <a:solidFill>
                  <a:srgbClr val="0D0D0D"/>
                </a:solidFill>
                <a:effectLst/>
                <a:highlight>
                  <a:srgbClr val="FFFFFF"/>
                </a:highlight>
                <a:latin typeface="ui-sans-serif"/>
              </a:rPr>
              <a:t>Bike</a:t>
            </a:r>
          </a:p>
          <a:p>
            <a:endParaRPr lang="en-US" dirty="0"/>
          </a:p>
        </p:txBody>
      </p:sp>
    </p:spTree>
    <p:extLst>
      <p:ext uri="{BB962C8B-B14F-4D97-AF65-F5344CB8AC3E}">
        <p14:creationId xmlns:p14="http://schemas.microsoft.com/office/powerpoint/2010/main" val="1105853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CAD75-0F9F-6681-EBCF-88808BD3D295}"/>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E5EBCEA2-374E-D439-46E3-418D9E665E55}"/>
              </a:ext>
            </a:extLst>
          </p:cNvPr>
          <p:cNvSpPr>
            <a:spLocks noGrp="1"/>
          </p:cNvSpPr>
          <p:nvPr>
            <p:ph idx="1"/>
          </p:nvPr>
        </p:nvSpPr>
        <p:spPr/>
        <p:txBody>
          <a:bodyPr/>
          <a:lstStyle/>
          <a:p>
            <a:pPr marL="0" indent="0" algn="l">
              <a:buNone/>
            </a:pPr>
            <a:r>
              <a:rPr lang="en-IN" b="1" i="0" dirty="0">
                <a:solidFill>
                  <a:srgbClr val="0D0D0D"/>
                </a:solidFill>
                <a:effectLst/>
                <a:highlight>
                  <a:srgbClr val="FFFFFF"/>
                </a:highlight>
                <a:latin typeface="ui-sans-serif"/>
              </a:rPr>
              <a:t>Steps in Multinomial Logistic Regression</a:t>
            </a:r>
          </a:p>
          <a:p>
            <a:pPr algn="l">
              <a:buFont typeface="+mj-lt"/>
              <a:buAutoNum type="arabicPeriod"/>
            </a:pPr>
            <a:r>
              <a:rPr lang="en-IN" b="1" i="0" dirty="0">
                <a:solidFill>
                  <a:srgbClr val="0D0D0D"/>
                </a:solidFill>
                <a:effectLst/>
                <a:highlight>
                  <a:srgbClr val="FFFFFF"/>
                </a:highlight>
                <a:latin typeface="ui-sans-serif"/>
              </a:rPr>
              <a:t>Choose a Baseline Class</a:t>
            </a:r>
            <a:r>
              <a:rPr lang="en-IN" b="0" i="0" dirty="0">
                <a:solidFill>
                  <a:srgbClr val="0D0D0D"/>
                </a:solidFill>
                <a:effectLst/>
                <a:highlight>
                  <a:srgbClr val="FFFFFF"/>
                </a:highlight>
                <a:latin typeface="ui-sans-serif"/>
              </a:rPr>
              <a:t>: Typically, one of the classes is chosen as the baseline class. Let's choose "Car" as the baseline class.</a:t>
            </a:r>
          </a:p>
          <a:p>
            <a:pPr algn="l">
              <a:buFont typeface="+mj-lt"/>
              <a:buAutoNum type="arabicPeriod"/>
            </a:pPr>
            <a:r>
              <a:rPr lang="en-IN" b="1" i="0" dirty="0">
                <a:solidFill>
                  <a:srgbClr val="0D0D0D"/>
                </a:solidFill>
                <a:effectLst/>
                <a:highlight>
                  <a:srgbClr val="FFFFFF"/>
                </a:highlight>
                <a:latin typeface="ui-sans-serif"/>
              </a:rPr>
              <a:t>Model Equations</a:t>
            </a:r>
            <a:r>
              <a:rPr lang="en-IN" b="0" i="0" dirty="0">
                <a:solidFill>
                  <a:srgbClr val="0D0D0D"/>
                </a:solidFill>
                <a:effectLst/>
                <a:highlight>
                  <a:srgbClr val="FFFFFF"/>
                </a:highlight>
                <a:latin typeface="ui-sans-serif"/>
              </a:rPr>
              <a:t>: We need to create logistic regression equations for each of the other classes (Bus and Bike) relative to the baseline class (Car).</a:t>
            </a:r>
          </a:p>
          <a:p>
            <a:pPr algn="l">
              <a:buFont typeface="+mj-lt"/>
              <a:buAutoNum type="arabicPeriod"/>
            </a:pPr>
            <a:r>
              <a:rPr lang="en-IN" b="1" i="0" dirty="0">
                <a:solidFill>
                  <a:srgbClr val="0D0D0D"/>
                </a:solidFill>
                <a:effectLst/>
                <a:highlight>
                  <a:srgbClr val="FFFFFF"/>
                </a:highlight>
                <a:latin typeface="ui-sans-serif"/>
              </a:rPr>
              <a:t>Log-Odds Equations</a:t>
            </a:r>
            <a:r>
              <a:rPr lang="en-IN" b="0" i="0" dirty="0">
                <a:solidFill>
                  <a:srgbClr val="0D0D0D"/>
                </a:solidFill>
                <a:effectLst/>
                <a:highlight>
                  <a:srgbClr val="FFFFFF"/>
                </a:highlight>
                <a:latin typeface="ui-sans-serif"/>
              </a:rPr>
              <a:t>: The log-odds for each class relative to the baseline class are </a:t>
            </a:r>
            <a:r>
              <a:rPr lang="en-IN" b="0" i="0" dirty="0" err="1">
                <a:solidFill>
                  <a:srgbClr val="0D0D0D"/>
                </a:solidFill>
                <a:effectLst/>
                <a:highlight>
                  <a:srgbClr val="FFFFFF"/>
                </a:highlight>
                <a:latin typeface="ui-sans-serif"/>
              </a:rPr>
              <a:t>modeled</a:t>
            </a:r>
            <a:r>
              <a:rPr lang="en-IN" b="0" i="0" dirty="0">
                <a:solidFill>
                  <a:srgbClr val="0D0D0D"/>
                </a:solidFill>
                <a:effectLst/>
                <a:highlight>
                  <a:srgbClr val="FFFFFF"/>
                </a:highlight>
                <a:latin typeface="ui-sans-serif"/>
              </a:rPr>
              <a:t> as linear combinations of the input features (income and distance to work).</a:t>
            </a:r>
          </a:p>
          <a:p>
            <a:pPr marL="0" indent="0">
              <a:buNone/>
            </a:pPr>
            <a:endParaRPr lang="en-US" dirty="0"/>
          </a:p>
        </p:txBody>
      </p:sp>
    </p:spTree>
    <p:extLst>
      <p:ext uri="{BB962C8B-B14F-4D97-AF65-F5344CB8AC3E}">
        <p14:creationId xmlns:p14="http://schemas.microsoft.com/office/powerpoint/2010/main" val="2555567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CAD75-0F9F-6681-EBCF-88808BD3D295}"/>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E5EBCEA2-374E-D439-46E3-418D9E665E55}"/>
              </a:ext>
            </a:extLst>
          </p:cNvPr>
          <p:cNvSpPr>
            <a:spLocks noGrp="1"/>
          </p:cNvSpPr>
          <p:nvPr>
            <p:ph idx="1"/>
          </p:nvPr>
        </p:nvSpPr>
        <p:spPr/>
        <p:txBody>
          <a:bodyPr/>
          <a:lstStyle/>
          <a:p>
            <a:pPr marL="0" indent="0">
              <a:buNone/>
            </a:pPr>
            <a:r>
              <a:rPr lang="en-IN" b="0" i="0" dirty="0">
                <a:solidFill>
                  <a:srgbClr val="0D0D0D"/>
                </a:solidFill>
                <a:effectLst/>
                <a:highlight>
                  <a:srgbClr val="FFFFFF"/>
                </a:highlight>
                <a:latin typeface="ui-sans-serif"/>
              </a:rPr>
              <a:t>For our three classes (Car, Bus, Bike), with Car as the baseline, we have the following log-odds equations:</a:t>
            </a:r>
          </a:p>
          <a:p>
            <a:pPr marL="0" indent="0">
              <a:buNone/>
            </a:pPr>
            <a:endParaRPr lang="en-IN" dirty="0">
              <a:solidFill>
                <a:srgbClr val="0D0D0D"/>
              </a:solidFill>
              <a:highlight>
                <a:srgbClr val="FFFFFF"/>
              </a:highlight>
              <a:latin typeface="ui-sans-serif"/>
            </a:endParaRPr>
          </a:p>
          <a:p>
            <a:pPr marL="0" indent="0">
              <a:buNone/>
            </a:pPr>
            <a:endParaRPr lang="en-US" dirty="0"/>
          </a:p>
        </p:txBody>
      </p:sp>
      <p:pic>
        <p:nvPicPr>
          <p:cNvPr id="5" name="Picture 4" descr="A black text on a white background&#10;&#10;Description automatically generated">
            <a:extLst>
              <a:ext uri="{FF2B5EF4-FFF2-40B4-BE49-F238E27FC236}">
                <a16:creationId xmlns:a16="http://schemas.microsoft.com/office/drawing/2014/main" id="{08247BE3-FAD7-0CDE-4314-28064001E6A1}"/>
              </a:ext>
            </a:extLst>
          </p:cNvPr>
          <p:cNvPicPr>
            <a:picLocks noChangeAspect="1"/>
          </p:cNvPicPr>
          <p:nvPr/>
        </p:nvPicPr>
        <p:blipFill>
          <a:blip r:embed="rId2"/>
          <a:stretch>
            <a:fillRect/>
          </a:stretch>
        </p:blipFill>
        <p:spPr>
          <a:xfrm>
            <a:off x="2838450" y="2959100"/>
            <a:ext cx="6515100" cy="939800"/>
          </a:xfrm>
          <a:prstGeom prst="rect">
            <a:avLst/>
          </a:prstGeom>
        </p:spPr>
      </p:pic>
      <p:pic>
        <p:nvPicPr>
          <p:cNvPr id="7" name="Picture 6" descr="A black text on a white background&#10;&#10;Description automatically generated">
            <a:extLst>
              <a:ext uri="{FF2B5EF4-FFF2-40B4-BE49-F238E27FC236}">
                <a16:creationId xmlns:a16="http://schemas.microsoft.com/office/drawing/2014/main" id="{9CEB8CD9-F546-7AF4-A0EA-E17C40D5BAFC}"/>
              </a:ext>
            </a:extLst>
          </p:cNvPr>
          <p:cNvPicPr>
            <a:picLocks noChangeAspect="1"/>
          </p:cNvPicPr>
          <p:nvPr/>
        </p:nvPicPr>
        <p:blipFill>
          <a:blip r:embed="rId3"/>
          <a:stretch>
            <a:fillRect/>
          </a:stretch>
        </p:blipFill>
        <p:spPr>
          <a:xfrm>
            <a:off x="2811291" y="3898900"/>
            <a:ext cx="7264400" cy="1066800"/>
          </a:xfrm>
          <a:prstGeom prst="rect">
            <a:avLst/>
          </a:prstGeom>
        </p:spPr>
      </p:pic>
    </p:spTree>
    <p:extLst>
      <p:ext uri="{BB962C8B-B14F-4D97-AF65-F5344CB8AC3E}">
        <p14:creationId xmlns:p14="http://schemas.microsoft.com/office/powerpoint/2010/main" val="16232038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CAD75-0F9F-6681-EBCF-88808BD3D295}"/>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E5EBCEA2-374E-D439-46E3-418D9E665E55}"/>
              </a:ext>
            </a:extLst>
          </p:cNvPr>
          <p:cNvSpPr>
            <a:spLocks noGrp="1"/>
          </p:cNvSpPr>
          <p:nvPr>
            <p:ph idx="1"/>
          </p:nvPr>
        </p:nvSpPr>
        <p:spPr/>
        <p:txBody>
          <a:bodyPr/>
          <a:lstStyle/>
          <a:p>
            <a:pPr marL="0" indent="0">
              <a:buNone/>
            </a:pPr>
            <a:r>
              <a:rPr lang="en-IN" b="0" i="0" dirty="0">
                <a:solidFill>
                  <a:srgbClr val="0D0D0D"/>
                </a:solidFill>
                <a:effectLst/>
                <a:highlight>
                  <a:srgbClr val="FFFFFF"/>
                </a:highlight>
                <a:latin typeface="ui-sans-serif"/>
              </a:rPr>
              <a:t>The probabilities of each class are calculated using the </a:t>
            </a:r>
            <a:r>
              <a:rPr lang="en-IN" b="0" i="0" dirty="0" err="1">
                <a:solidFill>
                  <a:srgbClr val="0D0D0D"/>
                </a:solidFill>
                <a:effectLst/>
                <a:highlight>
                  <a:srgbClr val="FFFFFF"/>
                </a:highlight>
                <a:latin typeface="ui-sans-serif"/>
              </a:rPr>
              <a:t>softmax</a:t>
            </a:r>
            <a:r>
              <a:rPr lang="en-IN" b="0" i="0" dirty="0">
                <a:solidFill>
                  <a:srgbClr val="0D0D0D"/>
                </a:solidFill>
                <a:effectLst/>
                <a:highlight>
                  <a:srgbClr val="FFFFFF"/>
                </a:highlight>
                <a:latin typeface="ui-sans-serif"/>
              </a:rPr>
              <a:t> function. The probability of each class is given by:</a:t>
            </a:r>
            <a:endParaRPr lang="en-US" dirty="0"/>
          </a:p>
        </p:txBody>
      </p:sp>
      <p:pic>
        <p:nvPicPr>
          <p:cNvPr id="6" name="Picture 5" descr="A math equations on a white background&#10;&#10;Description automatically generated">
            <a:extLst>
              <a:ext uri="{FF2B5EF4-FFF2-40B4-BE49-F238E27FC236}">
                <a16:creationId xmlns:a16="http://schemas.microsoft.com/office/drawing/2014/main" id="{6141DE8E-FADA-E9FA-E840-7638E436FC7D}"/>
              </a:ext>
            </a:extLst>
          </p:cNvPr>
          <p:cNvPicPr>
            <a:picLocks noChangeAspect="1"/>
          </p:cNvPicPr>
          <p:nvPr/>
        </p:nvPicPr>
        <p:blipFill>
          <a:blip r:embed="rId2"/>
          <a:stretch>
            <a:fillRect/>
          </a:stretch>
        </p:blipFill>
        <p:spPr>
          <a:xfrm>
            <a:off x="1801640" y="2839320"/>
            <a:ext cx="7772400" cy="2323947"/>
          </a:xfrm>
          <a:prstGeom prst="rect">
            <a:avLst/>
          </a:prstGeom>
        </p:spPr>
      </p:pic>
    </p:spTree>
    <p:extLst>
      <p:ext uri="{BB962C8B-B14F-4D97-AF65-F5344CB8AC3E}">
        <p14:creationId xmlns:p14="http://schemas.microsoft.com/office/powerpoint/2010/main" val="16140656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5A7D-80FB-1905-6396-DF9871B8E587}"/>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94D708C3-3FE8-6593-E248-B57D3A048742}"/>
              </a:ext>
            </a:extLst>
          </p:cNvPr>
          <p:cNvSpPr>
            <a:spLocks noGrp="1"/>
          </p:cNvSpPr>
          <p:nvPr>
            <p:ph idx="1"/>
          </p:nvPr>
        </p:nvSpPr>
        <p:spPr/>
        <p:txBody>
          <a:bodyPr/>
          <a:lstStyle/>
          <a:p>
            <a:pPr algn="l">
              <a:buFont typeface="Arial" panose="020B0604020202020204" pitchFamily="34" charset="0"/>
              <a:buChar char="•"/>
            </a:pPr>
            <a:r>
              <a:rPr lang="en-IN" b="0" i="1" dirty="0" err="1">
                <a:solidFill>
                  <a:srgbClr val="0D0D0D"/>
                </a:solidFill>
                <a:effectLst/>
                <a:highlight>
                  <a:srgbClr val="FFFFFF"/>
                </a:highlight>
                <a:latin typeface="KaTeX_Math"/>
              </a:rPr>
              <a:t>p</a:t>
            </a:r>
            <a:r>
              <a:rPr lang="en-IN" b="0" i="0" dirty="0" err="1">
                <a:solidFill>
                  <a:srgbClr val="0D0D0D"/>
                </a:solidFill>
                <a:effectLst/>
                <a:highlight>
                  <a:srgbClr val="FFFFFF"/>
                </a:highlight>
                <a:latin typeface="KaTeX_Main"/>
              </a:rPr>
              <a:t>Car</a:t>
            </a:r>
            <a:r>
              <a:rPr lang="en-IN" b="0" i="0" dirty="0">
                <a:solidFill>
                  <a:srgbClr val="0D0D0D"/>
                </a:solidFill>
                <a:effectLst/>
                <a:highlight>
                  <a:srgbClr val="FFFFFF"/>
                </a:highlight>
                <a:latin typeface="KaTeX_Main"/>
              </a:rPr>
              <a:t>​</a:t>
            </a:r>
            <a:r>
              <a:rPr lang="en-IN" b="0" i="0" dirty="0">
                <a:solidFill>
                  <a:srgbClr val="0D0D0D"/>
                </a:solidFill>
                <a:effectLst/>
                <a:highlight>
                  <a:srgbClr val="FFFFFF"/>
                </a:highlight>
                <a:latin typeface="ui-sans-serif"/>
              </a:rPr>
              <a:t> is the probability that a person chooses a car.</a:t>
            </a:r>
          </a:p>
          <a:p>
            <a:pPr algn="l">
              <a:buFont typeface="Arial" panose="020B0604020202020204" pitchFamily="34" charset="0"/>
              <a:buChar char="•"/>
            </a:pPr>
            <a:r>
              <a:rPr lang="en-IN" b="0" i="0" dirty="0">
                <a:solidFill>
                  <a:srgbClr val="0D0D0D"/>
                </a:solidFill>
                <a:effectLst/>
                <a:highlight>
                  <a:srgbClr val="FFFFFF"/>
                </a:highlight>
                <a:latin typeface="KaTeX_Main"/>
              </a:rPr>
              <a:t>𝑝Bus​</a:t>
            </a:r>
            <a:r>
              <a:rPr lang="en-IN" b="0" i="0" dirty="0">
                <a:solidFill>
                  <a:srgbClr val="0D0D0D"/>
                </a:solidFill>
                <a:effectLst/>
                <a:highlight>
                  <a:srgbClr val="FFFFFF"/>
                </a:highlight>
                <a:latin typeface="ui-sans-serif"/>
              </a:rPr>
              <a:t> is the probability that a person chooses a bus.</a:t>
            </a:r>
          </a:p>
          <a:p>
            <a:pPr algn="l">
              <a:buFont typeface="Arial" panose="020B0604020202020204" pitchFamily="34" charset="0"/>
              <a:buChar char="•"/>
            </a:pPr>
            <a:r>
              <a:rPr lang="en-IN" b="0" i="0" dirty="0">
                <a:solidFill>
                  <a:srgbClr val="0D0D0D"/>
                </a:solidFill>
                <a:effectLst/>
                <a:highlight>
                  <a:srgbClr val="FFFFFF"/>
                </a:highlight>
                <a:latin typeface="KaTeX_Main"/>
              </a:rPr>
              <a:t>𝑝Bike</a:t>
            </a:r>
            <a:r>
              <a:rPr lang="en-IN" b="0" i="0" dirty="0">
                <a:solidFill>
                  <a:srgbClr val="0D0D0D"/>
                </a:solidFill>
                <a:effectLst/>
                <a:highlight>
                  <a:srgbClr val="FFFFFF"/>
                </a:highlight>
                <a:latin typeface="ui-sans-serif"/>
              </a:rPr>
              <a:t> is the probability that a person chooses a bike.</a:t>
            </a:r>
          </a:p>
          <a:p>
            <a:endParaRPr lang="en-US" dirty="0"/>
          </a:p>
        </p:txBody>
      </p:sp>
    </p:spTree>
    <p:extLst>
      <p:ext uri="{BB962C8B-B14F-4D97-AF65-F5344CB8AC3E}">
        <p14:creationId xmlns:p14="http://schemas.microsoft.com/office/powerpoint/2010/main" val="33007890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5A7D-80FB-1905-6396-DF9871B8E587}"/>
              </a:ext>
            </a:extLst>
          </p:cNvPr>
          <p:cNvSpPr>
            <a:spLocks noGrp="1"/>
          </p:cNvSpPr>
          <p:nvPr>
            <p:ph type="title"/>
          </p:nvPr>
        </p:nvSpPr>
        <p:spPr/>
        <p:txBody>
          <a:bodyPr/>
          <a:lstStyle/>
          <a:p>
            <a:r>
              <a:rPr lang="en-IN" b="1" i="0" dirty="0">
                <a:solidFill>
                  <a:srgbClr val="0D0D0D"/>
                </a:solidFill>
                <a:effectLst/>
                <a:highlight>
                  <a:srgbClr val="FFFFFF"/>
                </a:highlight>
                <a:latin typeface="ui-sans-serif"/>
              </a:rPr>
              <a:t>Multinomial Logistic Regression</a:t>
            </a:r>
            <a:endParaRPr lang="en-US" dirty="0"/>
          </a:p>
        </p:txBody>
      </p:sp>
      <p:sp>
        <p:nvSpPr>
          <p:cNvPr id="3" name="Content Placeholder 2">
            <a:extLst>
              <a:ext uri="{FF2B5EF4-FFF2-40B4-BE49-F238E27FC236}">
                <a16:creationId xmlns:a16="http://schemas.microsoft.com/office/drawing/2014/main" id="{94D708C3-3FE8-6593-E248-B57D3A048742}"/>
              </a:ext>
            </a:extLst>
          </p:cNvPr>
          <p:cNvSpPr>
            <a:spLocks noGrp="1"/>
          </p:cNvSpPr>
          <p:nvPr>
            <p:ph idx="1"/>
          </p:nvPr>
        </p:nvSpPr>
        <p:spPr/>
        <p:txBody>
          <a:bodyPr/>
          <a:lstStyle/>
          <a:p>
            <a:pPr marL="0" indent="0" algn="l">
              <a:buNone/>
            </a:pPr>
            <a:r>
              <a:rPr lang="en-IN" b="0" i="0" dirty="0">
                <a:solidFill>
                  <a:srgbClr val="0D0D0D"/>
                </a:solidFill>
                <a:effectLst/>
                <a:highlight>
                  <a:srgbClr val="FFFFFF"/>
                </a:highlight>
                <a:latin typeface="ui-sans-serif"/>
              </a:rPr>
              <a:t>In multinomial logistic regression:</a:t>
            </a:r>
          </a:p>
          <a:p>
            <a:pPr algn="l">
              <a:buFont typeface="Arial" panose="020B0604020202020204" pitchFamily="34" charset="0"/>
              <a:buChar char="•"/>
            </a:pPr>
            <a:r>
              <a:rPr lang="en-IN" b="0" i="0" dirty="0">
                <a:solidFill>
                  <a:srgbClr val="0D0D0D"/>
                </a:solidFill>
                <a:effectLst/>
                <a:highlight>
                  <a:srgbClr val="FFFFFF"/>
                </a:highlight>
                <a:latin typeface="ui-sans-serif"/>
              </a:rPr>
              <a:t>You choose one class as the baseline.</a:t>
            </a:r>
          </a:p>
          <a:p>
            <a:pPr algn="l">
              <a:buFont typeface="Arial" panose="020B0604020202020204" pitchFamily="34" charset="0"/>
              <a:buChar char="•"/>
            </a:pPr>
            <a:r>
              <a:rPr lang="en-IN" b="0" i="0" dirty="0">
                <a:solidFill>
                  <a:srgbClr val="0D0D0D"/>
                </a:solidFill>
                <a:effectLst/>
                <a:highlight>
                  <a:srgbClr val="FFFFFF"/>
                </a:highlight>
                <a:latin typeface="ui-sans-serif"/>
              </a:rPr>
              <a:t>You create logistic regression equations for each of the other classes relative to the baseline class.</a:t>
            </a:r>
          </a:p>
          <a:p>
            <a:pPr algn="l">
              <a:buFont typeface="Arial" panose="020B0604020202020204" pitchFamily="34" charset="0"/>
              <a:buChar char="•"/>
            </a:pPr>
            <a:r>
              <a:rPr lang="en-IN" b="0" i="0" dirty="0">
                <a:solidFill>
                  <a:srgbClr val="0D0D0D"/>
                </a:solidFill>
                <a:effectLst/>
                <a:highlight>
                  <a:srgbClr val="FFFFFF"/>
                </a:highlight>
                <a:latin typeface="ui-sans-serif"/>
              </a:rPr>
              <a:t>You use the </a:t>
            </a:r>
            <a:r>
              <a:rPr lang="en-IN" b="0" i="0" dirty="0" err="1">
                <a:solidFill>
                  <a:srgbClr val="0D0D0D"/>
                </a:solidFill>
                <a:effectLst/>
                <a:highlight>
                  <a:srgbClr val="FFFFFF"/>
                </a:highlight>
                <a:latin typeface="ui-sans-serif"/>
              </a:rPr>
              <a:t>softmax</a:t>
            </a:r>
            <a:r>
              <a:rPr lang="en-IN" b="0" i="0" dirty="0">
                <a:solidFill>
                  <a:srgbClr val="0D0D0D"/>
                </a:solidFill>
                <a:effectLst/>
                <a:highlight>
                  <a:srgbClr val="FFFFFF"/>
                </a:highlight>
                <a:latin typeface="ui-sans-serif"/>
              </a:rPr>
              <a:t> function to convert the log-odds into probabilities for each class.</a:t>
            </a:r>
          </a:p>
        </p:txBody>
      </p:sp>
    </p:spTree>
    <p:extLst>
      <p:ext uri="{BB962C8B-B14F-4D97-AF65-F5344CB8AC3E}">
        <p14:creationId xmlns:p14="http://schemas.microsoft.com/office/powerpoint/2010/main" val="84118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83812-58FD-22DD-E0C9-0F34E89575B7}"/>
              </a:ext>
            </a:extLst>
          </p:cNvPr>
          <p:cNvSpPr>
            <a:spLocks noGrp="1"/>
          </p:cNvSpPr>
          <p:nvPr>
            <p:ph type="title"/>
          </p:nvPr>
        </p:nvSpPr>
        <p:spPr/>
        <p:txBody>
          <a:bodyPr/>
          <a:lstStyle/>
          <a:p>
            <a:r>
              <a:rPr lang="en-US" dirty="0"/>
              <a:t>Odds Ratio</a:t>
            </a:r>
          </a:p>
        </p:txBody>
      </p:sp>
      <p:sp>
        <p:nvSpPr>
          <p:cNvPr id="3" name="Content Placeholder 2">
            <a:extLst>
              <a:ext uri="{FF2B5EF4-FFF2-40B4-BE49-F238E27FC236}">
                <a16:creationId xmlns:a16="http://schemas.microsoft.com/office/drawing/2014/main" id="{80D01122-A645-A8E9-9A25-53B7EBB87F00}"/>
              </a:ext>
            </a:extLst>
          </p:cNvPr>
          <p:cNvSpPr>
            <a:spLocks noGrp="1"/>
          </p:cNvSpPr>
          <p:nvPr>
            <p:ph idx="1"/>
          </p:nvPr>
        </p:nvSpPr>
        <p:spPr/>
        <p:txBody>
          <a:bodyPr/>
          <a:lstStyle/>
          <a:p>
            <a:pPr marL="0" indent="0">
              <a:buNone/>
            </a:pPr>
            <a:r>
              <a:rPr lang="en-IN" b="0" i="0" dirty="0">
                <a:solidFill>
                  <a:srgbClr val="0D0D0D"/>
                </a:solidFill>
                <a:effectLst/>
                <a:highlight>
                  <a:srgbClr val="FFFFFF"/>
                </a:highlight>
                <a:latin typeface="ui-sans-serif"/>
              </a:rPr>
              <a:t>The odds ratio is a measure of association between a predictor variable and an outcome in logistic regression and other statistical models. It quantifies how the odds of the outcome change with a one-unit change in the predictor variable.</a:t>
            </a:r>
          </a:p>
          <a:p>
            <a:pPr marL="0" indent="0">
              <a:buNone/>
            </a:pPr>
            <a:endParaRPr lang="en-IN" dirty="0">
              <a:solidFill>
                <a:srgbClr val="0D0D0D"/>
              </a:solidFill>
              <a:highlight>
                <a:srgbClr val="FFFFFF"/>
              </a:highlight>
              <a:latin typeface="ui-sans-serif"/>
            </a:endParaRPr>
          </a:p>
          <a:p>
            <a:pPr marL="0" indent="0">
              <a:buNone/>
            </a:pPr>
            <a:r>
              <a:rPr lang="en-IN" b="0" i="0" dirty="0">
                <a:solidFill>
                  <a:srgbClr val="0D0D0D"/>
                </a:solidFill>
                <a:effectLst/>
                <a:highlight>
                  <a:srgbClr val="FFFFFF"/>
                </a:highlight>
                <a:latin typeface="ui-sans-serif"/>
              </a:rPr>
              <a:t>The odds ratio (OR) for a predictor variable </a:t>
            </a:r>
            <a:r>
              <a:rPr lang="en-IN" b="0" i="0" dirty="0">
                <a:solidFill>
                  <a:srgbClr val="0D0D0D"/>
                </a:solidFill>
                <a:effectLst/>
                <a:highlight>
                  <a:srgbClr val="FFFFFF"/>
                </a:highlight>
                <a:latin typeface="KaTeX_Main"/>
              </a:rPr>
              <a:t>𝑥𝑖</a:t>
            </a:r>
            <a:r>
              <a:rPr lang="en-IN" b="0" i="0" dirty="0">
                <a:solidFill>
                  <a:srgbClr val="0D0D0D"/>
                </a:solidFill>
                <a:effectLst/>
                <a:highlight>
                  <a:srgbClr val="FFFFFF"/>
                </a:highlight>
                <a:latin typeface="ui-sans-serif"/>
              </a:rPr>
              <a:t> is calculated by exponentiating the corresponding coefficient </a:t>
            </a:r>
            <a:r>
              <a:rPr lang="en-IN" b="0" i="0" dirty="0">
                <a:solidFill>
                  <a:srgbClr val="0D0D0D"/>
                </a:solidFill>
                <a:effectLst/>
                <a:highlight>
                  <a:srgbClr val="FFFFFF"/>
                </a:highlight>
                <a:latin typeface="KaTeX_Main"/>
              </a:rPr>
              <a:t>𝛽𝑖​</a:t>
            </a:r>
            <a:r>
              <a:rPr lang="en-IN" b="0" i="0" dirty="0">
                <a:solidFill>
                  <a:srgbClr val="0D0D0D"/>
                </a:solidFill>
                <a:effectLst/>
                <a:highlight>
                  <a:srgbClr val="FFFFFF"/>
                </a:highlight>
                <a:latin typeface="ui-sans-serif"/>
              </a:rPr>
              <a:t> from the logistic regression model:</a:t>
            </a:r>
            <a:endParaRPr lang="en-US" dirty="0"/>
          </a:p>
        </p:txBody>
      </p:sp>
      <p:pic>
        <p:nvPicPr>
          <p:cNvPr id="5" name="Picture 4" descr="A black math equation with a white background&#10;&#10;Description automatically generated">
            <a:extLst>
              <a:ext uri="{FF2B5EF4-FFF2-40B4-BE49-F238E27FC236}">
                <a16:creationId xmlns:a16="http://schemas.microsoft.com/office/drawing/2014/main" id="{A19F35B3-5B4C-6B64-BCA3-32EE6FC63429}"/>
              </a:ext>
            </a:extLst>
          </p:cNvPr>
          <p:cNvPicPr>
            <a:picLocks noChangeAspect="1"/>
          </p:cNvPicPr>
          <p:nvPr/>
        </p:nvPicPr>
        <p:blipFill>
          <a:blip r:embed="rId2"/>
          <a:stretch>
            <a:fillRect/>
          </a:stretch>
        </p:blipFill>
        <p:spPr>
          <a:xfrm>
            <a:off x="4924834" y="5414726"/>
            <a:ext cx="1473200" cy="609600"/>
          </a:xfrm>
          <a:prstGeom prst="rect">
            <a:avLst/>
          </a:prstGeom>
        </p:spPr>
      </p:pic>
    </p:spTree>
    <p:extLst>
      <p:ext uri="{BB962C8B-B14F-4D97-AF65-F5344CB8AC3E}">
        <p14:creationId xmlns:p14="http://schemas.microsoft.com/office/powerpoint/2010/main" val="32244871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80E91-C21F-5BB9-8A40-89DA04D6FEFC}"/>
              </a:ext>
            </a:extLst>
          </p:cNvPr>
          <p:cNvSpPr>
            <a:spLocks noGrp="1"/>
          </p:cNvSpPr>
          <p:nvPr>
            <p:ph type="title"/>
          </p:nvPr>
        </p:nvSpPr>
        <p:spPr/>
        <p:txBody>
          <a:bodyPr/>
          <a:lstStyle/>
          <a:p>
            <a:r>
              <a:rPr lang="en-US" dirty="0"/>
              <a:t>Odds Ratio</a:t>
            </a:r>
          </a:p>
        </p:txBody>
      </p:sp>
      <p:sp>
        <p:nvSpPr>
          <p:cNvPr id="3" name="Content Placeholder 2">
            <a:extLst>
              <a:ext uri="{FF2B5EF4-FFF2-40B4-BE49-F238E27FC236}">
                <a16:creationId xmlns:a16="http://schemas.microsoft.com/office/drawing/2014/main" id="{CBE97309-2C1D-AE65-3C86-54F86EB284A4}"/>
              </a:ext>
            </a:extLst>
          </p:cNvPr>
          <p:cNvSpPr>
            <a:spLocks noGrp="1"/>
          </p:cNvSpPr>
          <p:nvPr>
            <p:ph idx="1"/>
          </p:nvPr>
        </p:nvSpPr>
        <p:spPr/>
        <p:txBody>
          <a:bodyPr/>
          <a:lstStyle/>
          <a:p>
            <a:pPr algn="l">
              <a:buFont typeface="Arial" panose="020B0604020202020204" pitchFamily="34" charset="0"/>
              <a:buChar char="•"/>
            </a:pPr>
            <a:r>
              <a:rPr lang="en-IN" b="1" i="0" dirty="0">
                <a:solidFill>
                  <a:srgbClr val="0D0D0D"/>
                </a:solidFill>
                <a:effectLst/>
                <a:highlight>
                  <a:srgbClr val="FFFFFF"/>
                </a:highlight>
                <a:latin typeface="ui-sans-serif"/>
              </a:rPr>
              <a:t>OR &gt; 1</a:t>
            </a:r>
            <a:r>
              <a:rPr lang="en-IN" b="0" i="0" dirty="0">
                <a:solidFill>
                  <a:srgbClr val="0D0D0D"/>
                </a:solidFill>
                <a:effectLst/>
                <a:highlight>
                  <a:srgbClr val="FFFFFF"/>
                </a:highlight>
                <a:latin typeface="ui-sans-serif"/>
              </a:rPr>
              <a:t>: Indicates that as the predictor variable increases, the odds of the outcome occurring increase. For example, an odds ratio of 2 means that for a one-unit increase in the predictor variable, the odds of the outcome occurring are twice as large.</a:t>
            </a:r>
          </a:p>
          <a:p>
            <a:pPr algn="l">
              <a:buFont typeface="Arial" panose="020B0604020202020204" pitchFamily="34" charset="0"/>
              <a:buChar char="•"/>
            </a:pPr>
            <a:r>
              <a:rPr lang="en-IN" b="1" i="0" dirty="0">
                <a:solidFill>
                  <a:srgbClr val="0D0D0D"/>
                </a:solidFill>
                <a:effectLst/>
                <a:highlight>
                  <a:srgbClr val="FFFFFF"/>
                </a:highlight>
                <a:latin typeface="ui-sans-serif"/>
              </a:rPr>
              <a:t>OR = 1</a:t>
            </a:r>
            <a:r>
              <a:rPr lang="en-IN" b="0" i="0" dirty="0">
                <a:solidFill>
                  <a:srgbClr val="0D0D0D"/>
                </a:solidFill>
                <a:effectLst/>
                <a:highlight>
                  <a:srgbClr val="FFFFFF"/>
                </a:highlight>
                <a:latin typeface="ui-sans-serif"/>
              </a:rPr>
              <a:t>: Indicates that the predictor variable has no effect on the odds of the outcome occurring.</a:t>
            </a:r>
          </a:p>
          <a:p>
            <a:pPr algn="l">
              <a:buFont typeface="Arial" panose="020B0604020202020204" pitchFamily="34" charset="0"/>
              <a:buChar char="•"/>
            </a:pPr>
            <a:r>
              <a:rPr lang="en-IN" b="1" i="0" dirty="0">
                <a:solidFill>
                  <a:srgbClr val="0D0D0D"/>
                </a:solidFill>
                <a:effectLst/>
                <a:highlight>
                  <a:srgbClr val="FFFFFF"/>
                </a:highlight>
                <a:latin typeface="ui-sans-serif"/>
              </a:rPr>
              <a:t>OR &lt; 1</a:t>
            </a:r>
            <a:r>
              <a:rPr lang="en-IN" b="0" i="0" dirty="0">
                <a:solidFill>
                  <a:srgbClr val="0D0D0D"/>
                </a:solidFill>
                <a:effectLst/>
                <a:highlight>
                  <a:srgbClr val="FFFFFF"/>
                </a:highlight>
                <a:latin typeface="ui-sans-serif"/>
              </a:rPr>
              <a:t>: Indicates that as the predictor variable increases, the odds of the outcome occurring decrease. For example, an odds ratio of 0.5 means that for a one-unit increase in the predictor variable, the odds of the outcome occurring are halved.</a:t>
            </a:r>
          </a:p>
          <a:p>
            <a:endParaRPr lang="en-US" dirty="0"/>
          </a:p>
        </p:txBody>
      </p:sp>
    </p:spTree>
    <p:extLst>
      <p:ext uri="{BB962C8B-B14F-4D97-AF65-F5344CB8AC3E}">
        <p14:creationId xmlns:p14="http://schemas.microsoft.com/office/powerpoint/2010/main" val="10086395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B6398-697C-07A6-8366-24FF38D5E048}"/>
              </a:ext>
            </a:extLst>
          </p:cNvPr>
          <p:cNvSpPr>
            <a:spLocks noGrp="1"/>
          </p:cNvSpPr>
          <p:nvPr>
            <p:ph type="title"/>
          </p:nvPr>
        </p:nvSpPr>
        <p:spPr/>
        <p:txBody>
          <a:bodyPr/>
          <a:lstStyle/>
          <a:p>
            <a:r>
              <a:rPr lang="en-US" dirty="0"/>
              <a:t>Odds Ratio</a:t>
            </a:r>
          </a:p>
        </p:txBody>
      </p:sp>
      <p:sp>
        <p:nvSpPr>
          <p:cNvPr id="3" name="Content Placeholder 2">
            <a:extLst>
              <a:ext uri="{FF2B5EF4-FFF2-40B4-BE49-F238E27FC236}">
                <a16:creationId xmlns:a16="http://schemas.microsoft.com/office/drawing/2014/main" id="{AD745B74-B9F4-AAC3-F52A-DA9BA8FB2C1F}"/>
              </a:ext>
            </a:extLst>
          </p:cNvPr>
          <p:cNvSpPr>
            <a:spLocks noGrp="1"/>
          </p:cNvSpPr>
          <p:nvPr>
            <p:ph idx="1"/>
          </p:nvPr>
        </p:nvSpPr>
        <p:spPr/>
        <p:txBody>
          <a:bodyPr>
            <a:normAutofit fontScale="85000" lnSpcReduction="20000"/>
          </a:bodyPr>
          <a:lstStyle/>
          <a:p>
            <a:pPr marL="0" indent="0" algn="l">
              <a:buNone/>
            </a:pPr>
            <a:r>
              <a:rPr lang="en-IN" b="0" i="0" dirty="0">
                <a:solidFill>
                  <a:srgbClr val="0D0D0D"/>
                </a:solidFill>
                <a:effectLst/>
                <a:highlight>
                  <a:srgbClr val="FFFFFF"/>
                </a:highlight>
                <a:latin typeface="ui-sans-serif"/>
              </a:rPr>
              <a:t>Suppose the coefficients are:</a:t>
            </a:r>
          </a:p>
          <a:p>
            <a:pPr algn="l">
              <a:buFont typeface="Arial" panose="020B0604020202020204" pitchFamily="34" charset="0"/>
              <a:buChar char="•"/>
            </a:pPr>
            <a:r>
              <a:rPr lang="en-IN" b="0" i="0" dirty="0">
                <a:solidFill>
                  <a:srgbClr val="0D0D0D"/>
                </a:solidFill>
                <a:effectLst/>
                <a:highlight>
                  <a:srgbClr val="FFFFFF"/>
                </a:highlight>
                <a:latin typeface="KaTeX_Main"/>
              </a:rPr>
              <a:t>𝛽1=0.04</a:t>
            </a:r>
            <a:r>
              <a:rPr lang="el-GR" b="0" i="0" dirty="0">
                <a:solidFill>
                  <a:srgbClr val="0D0D0D"/>
                </a:solidFill>
                <a:effectLst/>
                <a:highlight>
                  <a:srgbClr val="FFFFFF"/>
                </a:highlight>
                <a:latin typeface="ui-sans-serif"/>
              </a:rPr>
              <a:t> </a:t>
            </a:r>
            <a:r>
              <a:rPr lang="en-IN" b="0" i="0" dirty="0">
                <a:solidFill>
                  <a:srgbClr val="0D0D0D"/>
                </a:solidFill>
                <a:effectLst/>
                <a:highlight>
                  <a:srgbClr val="FFFFFF"/>
                </a:highlight>
                <a:latin typeface="ui-sans-serif"/>
              </a:rPr>
              <a:t>for age</a:t>
            </a:r>
          </a:p>
          <a:p>
            <a:pPr algn="l">
              <a:buFont typeface="Arial" panose="020B0604020202020204" pitchFamily="34" charset="0"/>
              <a:buChar char="•"/>
            </a:pPr>
            <a:r>
              <a:rPr lang="en-IN" b="0" i="0" dirty="0">
                <a:solidFill>
                  <a:srgbClr val="0D0D0D"/>
                </a:solidFill>
                <a:effectLst/>
                <a:highlight>
                  <a:srgbClr val="FFFFFF"/>
                </a:highlight>
                <a:latin typeface="KaTeX_Main"/>
              </a:rPr>
              <a:t>𝛽2=1.5</a:t>
            </a:r>
            <a:r>
              <a:rPr lang="el-GR" b="0" i="0" dirty="0">
                <a:solidFill>
                  <a:srgbClr val="0D0D0D"/>
                </a:solidFill>
                <a:effectLst/>
                <a:highlight>
                  <a:srgbClr val="FFFFFF"/>
                </a:highlight>
                <a:latin typeface="ui-sans-serif"/>
              </a:rPr>
              <a:t> </a:t>
            </a:r>
            <a:r>
              <a:rPr lang="en-IN" b="0" i="0" dirty="0">
                <a:solidFill>
                  <a:srgbClr val="0D0D0D"/>
                </a:solidFill>
                <a:effectLst/>
                <a:highlight>
                  <a:srgbClr val="FFFFFF"/>
                </a:highlight>
                <a:latin typeface="ui-sans-serif"/>
              </a:rPr>
              <a:t>for smoking status</a:t>
            </a:r>
          </a:p>
          <a:p>
            <a:pPr marL="0" indent="0" algn="l">
              <a:buNone/>
            </a:pPr>
            <a:r>
              <a:rPr lang="en-IN" b="0" i="0" dirty="0">
                <a:solidFill>
                  <a:srgbClr val="0D0D0D"/>
                </a:solidFill>
                <a:effectLst/>
                <a:highlight>
                  <a:srgbClr val="FFFFFF"/>
                </a:highlight>
                <a:latin typeface="ui-sans-serif"/>
              </a:rPr>
              <a:t>The odds ratios are:</a:t>
            </a:r>
          </a:p>
          <a:p>
            <a:pPr algn="l">
              <a:buFont typeface="Arial" panose="020B0604020202020204" pitchFamily="34" charset="0"/>
              <a:buChar char="•"/>
            </a:pPr>
            <a:r>
              <a:rPr lang="en-IN" b="0" i="0" dirty="0">
                <a:solidFill>
                  <a:srgbClr val="0D0D0D"/>
                </a:solidFill>
                <a:effectLst/>
                <a:highlight>
                  <a:srgbClr val="FFFFFF"/>
                </a:highlight>
                <a:latin typeface="ui-sans-serif"/>
              </a:rPr>
              <a:t>For age: </a:t>
            </a:r>
            <a:r>
              <a:rPr lang="en-IN" b="0" i="0" dirty="0" err="1">
                <a:solidFill>
                  <a:srgbClr val="0D0D0D"/>
                </a:solidFill>
                <a:effectLst/>
                <a:highlight>
                  <a:srgbClr val="FFFFFF"/>
                </a:highlight>
                <a:latin typeface="KaTeX_Main"/>
              </a:rPr>
              <a:t>OR</a:t>
            </a:r>
            <a:r>
              <a:rPr lang="en-IN" b="0" i="0" baseline="-25000" dirty="0" err="1">
                <a:solidFill>
                  <a:srgbClr val="0D0D0D"/>
                </a:solidFill>
                <a:effectLst/>
                <a:highlight>
                  <a:srgbClr val="FFFFFF"/>
                </a:highlight>
                <a:latin typeface="KaTeX_Main"/>
              </a:rPr>
              <a:t>age</a:t>
            </a:r>
            <a:r>
              <a:rPr lang="en-IN" b="0" i="0" dirty="0">
                <a:solidFill>
                  <a:srgbClr val="0D0D0D"/>
                </a:solidFill>
                <a:effectLst/>
                <a:highlight>
                  <a:srgbClr val="FFFFFF"/>
                </a:highlight>
                <a:latin typeface="KaTeX_Main"/>
              </a:rPr>
              <a:t>=𝑒</a:t>
            </a:r>
            <a:r>
              <a:rPr lang="en-IN" b="0" i="0" baseline="30000" dirty="0">
                <a:solidFill>
                  <a:srgbClr val="0D0D0D"/>
                </a:solidFill>
                <a:effectLst/>
                <a:highlight>
                  <a:srgbClr val="FFFFFF"/>
                </a:highlight>
                <a:latin typeface="KaTeX_Main"/>
              </a:rPr>
              <a:t>0.04</a:t>
            </a:r>
            <a:r>
              <a:rPr lang="en-IN" b="0" i="0" dirty="0">
                <a:solidFill>
                  <a:srgbClr val="0D0D0D"/>
                </a:solidFill>
                <a:effectLst/>
                <a:highlight>
                  <a:srgbClr val="FFFFFF"/>
                </a:highlight>
                <a:latin typeface="KaTeX_Main"/>
              </a:rPr>
              <a:t>≈1.04</a:t>
            </a:r>
            <a:endParaRPr lang="en-IN" b="0" i="0" dirty="0">
              <a:solidFill>
                <a:srgbClr val="0D0D0D"/>
              </a:solidFill>
              <a:effectLst/>
              <a:highlight>
                <a:srgbClr val="FFFFFF"/>
              </a:highlight>
              <a:latin typeface="ui-sans-serif"/>
            </a:endParaRPr>
          </a:p>
          <a:p>
            <a:pPr algn="l">
              <a:buFont typeface="Arial" panose="020B0604020202020204" pitchFamily="34" charset="0"/>
              <a:buChar char="•"/>
            </a:pPr>
            <a:r>
              <a:rPr lang="en-IN" b="0" i="0" dirty="0">
                <a:solidFill>
                  <a:srgbClr val="0D0D0D"/>
                </a:solidFill>
                <a:effectLst/>
                <a:highlight>
                  <a:srgbClr val="FFFFFF"/>
                </a:highlight>
                <a:latin typeface="ui-sans-serif"/>
              </a:rPr>
              <a:t>For smoking: </a:t>
            </a:r>
            <a:r>
              <a:rPr lang="en-IN" b="0" i="0" dirty="0" err="1">
                <a:solidFill>
                  <a:srgbClr val="0D0D0D"/>
                </a:solidFill>
                <a:effectLst/>
                <a:highlight>
                  <a:srgbClr val="FFFFFF"/>
                </a:highlight>
                <a:latin typeface="KaTeX_Main"/>
              </a:rPr>
              <a:t>OR</a:t>
            </a:r>
            <a:r>
              <a:rPr lang="en-IN" b="0" i="0" baseline="-25000" dirty="0" err="1">
                <a:solidFill>
                  <a:srgbClr val="0D0D0D"/>
                </a:solidFill>
                <a:effectLst/>
                <a:highlight>
                  <a:srgbClr val="FFFFFF"/>
                </a:highlight>
                <a:latin typeface="KaTeX_Main"/>
              </a:rPr>
              <a:t>smoke</a:t>
            </a:r>
            <a:r>
              <a:rPr lang="en-IN" b="0" i="0" dirty="0">
                <a:solidFill>
                  <a:srgbClr val="0D0D0D"/>
                </a:solidFill>
                <a:effectLst/>
                <a:highlight>
                  <a:srgbClr val="FFFFFF"/>
                </a:highlight>
                <a:latin typeface="KaTeX_Main"/>
              </a:rPr>
              <a:t>=𝑒</a:t>
            </a:r>
            <a:r>
              <a:rPr lang="en-IN" b="0" i="0" baseline="30000" dirty="0">
                <a:solidFill>
                  <a:srgbClr val="0D0D0D"/>
                </a:solidFill>
                <a:effectLst/>
                <a:highlight>
                  <a:srgbClr val="FFFFFF"/>
                </a:highlight>
                <a:latin typeface="KaTeX_Main"/>
              </a:rPr>
              <a:t>1.5</a:t>
            </a:r>
            <a:r>
              <a:rPr lang="en-IN" b="0" i="0" dirty="0">
                <a:solidFill>
                  <a:srgbClr val="0D0D0D"/>
                </a:solidFill>
                <a:effectLst/>
                <a:highlight>
                  <a:srgbClr val="FFFFFF"/>
                </a:highlight>
                <a:latin typeface="KaTeX_Main"/>
              </a:rPr>
              <a:t>≈4.48</a:t>
            </a:r>
          </a:p>
          <a:p>
            <a:pPr algn="l">
              <a:buFont typeface="Arial" panose="020B0604020202020204" pitchFamily="34" charset="0"/>
              <a:buChar char="•"/>
            </a:pPr>
            <a:endParaRPr lang="en-IN" dirty="0">
              <a:solidFill>
                <a:srgbClr val="0D0D0D"/>
              </a:solidFill>
              <a:highlight>
                <a:srgbClr val="FFFFFF"/>
              </a:highlight>
              <a:latin typeface="KaTeX_Main"/>
            </a:endParaRPr>
          </a:p>
          <a:p>
            <a:pPr algn="l">
              <a:buFont typeface="Arial" panose="020B0604020202020204" pitchFamily="34" charset="0"/>
              <a:buChar char="•"/>
            </a:pPr>
            <a:r>
              <a:rPr lang="en-IN" b="1" i="0" dirty="0">
                <a:solidFill>
                  <a:srgbClr val="0D0D0D"/>
                </a:solidFill>
                <a:effectLst/>
                <a:highlight>
                  <a:srgbClr val="FFFFFF"/>
                </a:highlight>
                <a:latin typeface="ui-sans-serif"/>
              </a:rPr>
              <a:t>Age</a:t>
            </a:r>
            <a:r>
              <a:rPr lang="en-IN" b="0" i="0" dirty="0">
                <a:solidFill>
                  <a:srgbClr val="0D0D0D"/>
                </a:solidFill>
                <a:effectLst/>
                <a:highlight>
                  <a:srgbClr val="FFFFFF"/>
                </a:highlight>
                <a:latin typeface="ui-sans-serif"/>
              </a:rPr>
              <a:t>: An odds ratio of 1.04 for age means that each additional year of age increases the odds of having the disease by about 4%.</a:t>
            </a:r>
          </a:p>
          <a:p>
            <a:pPr algn="l">
              <a:buFont typeface="Arial" panose="020B0604020202020204" pitchFamily="34" charset="0"/>
              <a:buChar char="•"/>
            </a:pPr>
            <a:r>
              <a:rPr lang="en-IN" b="1" i="0" dirty="0">
                <a:solidFill>
                  <a:srgbClr val="0D0D0D"/>
                </a:solidFill>
                <a:effectLst/>
                <a:highlight>
                  <a:srgbClr val="FFFFFF"/>
                </a:highlight>
                <a:latin typeface="ui-sans-serif"/>
              </a:rPr>
              <a:t>Smoking</a:t>
            </a:r>
            <a:r>
              <a:rPr lang="en-IN" b="0" i="0" dirty="0">
                <a:solidFill>
                  <a:srgbClr val="0D0D0D"/>
                </a:solidFill>
                <a:effectLst/>
                <a:highlight>
                  <a:srgbClr val="FFFFFF"/>
                </a:highlight>
                <a:latin typeface="ui-sans-serif"/>
              </a:rPr>
              <a:t>: An odds ratio of 4.48 for smoking means that smokers have approximately 4.48 times the odds of having the disease compared to non-smokers.</a:t>
            </a:r>
          </a:p>
          <a:p>
            <a:pPr marL="0" indent="0" algn="l">
              <a:buNone/>
            </a:pPr>
            <a:endParaRPr lang="en-US" dirty="0"/>
          </a:p>
        </p:txBody>
      </p:sp>
    </p:spTree>
    <p:extLst>
      <p:ext uri="{BB962C8B-B14F-4D97-AF65-F5344CB8AC3E}">
        <p14:creationId xmlns:p14="http://schemas.microsoft.com/office/powerpoint/2010/main" val="16490927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9BE36-0827-22AD-FFC6-05415876515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EDCDF5D-2240-7D62-0DE4-40D9A74206DF}"/>
              </a:ext>
            </a:extLst>
          </p:cNvPr>
          <p:cNvSpPr>
            <a:spLocks noGrp="1"/>
          </p:cNvSpPr>
          <p:nvPr>
            <p:ph idx="1"/>
          </p:nvPr>
        </p:nvSpPr>
        <p:spPr/>
        <p:txBody>
          <a:bodyPr>
            <a:normAutofit fontScale="85000" lnSpcReduction="20000"/>
          </a:bodyPr>
          <a:lstStyle/>
          <a:p>
            <a:r>
              <a:rPr lang="en-IN" b="1" dirty="0"/>
              <a:t>Initialization:</a:t>
            </a:r>
            <a:r>
              <a:rPr lang="en-IN" dirty="0"/>
              <a:t> The algorithm starts with initial random values for the model's coefficients (also known as weights or parameters). These coefficients determine the importance of each input feature in predicting the outcome. </a:t>
            </a:r>
          </a:p>
          <a:p>
            <a:r>
              <a:rPr lang="en-IN" b="1" dirty="0"/>
              <a:t>Hypothesis Function:</a:t>
            </a:r>
            <a:r>
              <a:rPr lang="en-IN" dirty="0"/>
              <a:t> The logistic regression model uses a sigmoid function to map the linear combination of input features and coefficients to a probability value between 0 and 1. This probability represents the likelihood of the data point belonging to a particular class (e.g., "spam" or "not spam").</a:t>
            </a:r>
          </a:p>
          <a:p>
            <a:r>
              <a:rPr lang="en-IN" b="1" dirty="0"/>
              <a:t>Cost Function:</a:t>
            </a:r>
            <a:r>
              <a:rPr lang="en-IN" dirty="0"/>
              <a:t> The cost function (often the log-loss or cross-entropy loss) measures how well the model's predictions match the actual labels in the training data. The goal is to minimize this cost function. </a:t>
            </a:r>
          </a:p>
          <a:p>
            <a:r>
              <a:rPr lang="en-IN" b="1" dirty="0"/>
              <a:t>Gradient Descent:</a:t>
            </a:r>
            <a:r>
              <a:rPr lang="en-IN" dirty="0"/>
              <a:t> The algorithm employs an optimization technique like gradient descent to iteratively update the model's coefficients in the direction that reduces the cost function. This process continues until the cost function converges to a minimum or a predefined stopping criterion is met.</a:t>
            </a:r>
            <a:endParaRPr lang="en-US" dirty="0"/>
          </a:p>
        </p:txBody>
      </p:sp>
    </p:spTree>
    <p:extLst>
      <p:ext uri="{BB962C8B-B14F-4D97-AF65-F5344CB8AC3E}">
        <p14:creationId xmlns:p14="http://schemas.microsoft.com/office/powerpoint/2010/main" val="842019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447</TotalTime>
  <Words>3771</Words>
  <Application>Microsoft Macintosh PowerPoint</Application>
  <PresentationFormat>Widescreen</PresentationFormat>
  <Paragraphs>233</Paragraphs>
  <Slides>48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Aptos</vt:lpstr>
      <vt:lpstr>Aptos Display</vt:lpstr>
      <vt:lpstr>Arial</vt:lpstr>
      <vt:lpstr>KaTeX_Main</vt:lpstr>
      <vt:lpstr>KaTeX_Math</vt:lpstr>
      <vt:lpstr>ui-sans-serif</vt:lpstr>
      <vt:lpstr>Office Theme</vt:lpstr>
      <vt:lpstr>PowerPoint Presentation</vt:lpstr>
      <vt:lpstr>Logistic Regression</vt:lpstr>
      <vt:lpstr>Key Concepts</vt:lpstr>
      <vt:lpstr>PowerPoint Presentation</vt:lpstr>
      <vt:lpstr>Key Differences with Linear Regression</vt:lpstr>
      <vt:lpstr>Binary Classification Problem</vt:lpstr>
      <vt:lpstr>Need for Logistic Regression</vt:lpstr>
      <vt:lpstr>Need for Logistic Regression</vt:lpstr>
      <vt:lpstr>Need for Logistic Regression</vt:lpstr>
      <vt:lpstr>Need for Logistic Regression</vt:lpstr>
      <vt:lpstr>Need for Logistic Regression</vt:lpstr>
      <vt:lpstr>Need for Logistic Regression</vt:lpstr>
      <vt:lpstr>Logistic Function and its Role</vt:lpstr>
      <vt:lpstr>Properties of the Logistic Function</vt:lpstr>
      <vt:lpstr>Role of the Logistic Function in Logistic Regression</vt:lpstr>
      <vt:lpstr>Role of the Logistic Function in Logistic Regression</vt:lpstr>
      <vt:lpstr>Role of the Logistic Function in Logistic Regression</vt:lpstr>
      <vt:lpstr>Best-fit curve via coefficient adjustment</vt:lpstr>
      <vt:lpstr>Steps to Find the Best-Fit Curve</vt:lpstr>
      <vt:lpstr>Steps to Find the Best-Fit Curve</vt:lpstr>
      <vt:lpstr>Steps to Find the Best-Fit Curve</vt:lpstr>
      <vt:lpstr>Steps to Find the Best-Fit Curve</vt:lpstr>
      <vt:lpstr>Steps to Find the Best-Fit Curve</vt:lpstr>
      <vt:lpstr>Odds, Log Odds, and Probabilities</vt:lpstr>
      <vt:lpstr>Odds, Log Odds, and Probabilities</vt:lpstr>
      <vt:lpstr>Odds, Log Odds, and Probabilities</vt:lpstr>
      <vt:lpstr>Odds, Log Odds, and Probabilities</vt:lpstr>
      <vt:lpstr>Odds, Log Odds, and Probabilities</vt:lpstr>
      <vt:lpstr>Selection of Threshold</vt:lpstr>
      <vt:lpstr>Techniques for Determining Optimal Threshold</vt:lpstr>
      <vt:lpstr>Impact on Performance Metrics</vt:lpstr>
      <vt:lpstr>Impact on Performance Metrics</vt:lpstr>
      <vt:lpstr>Impact on Performance Metrics</vt:lpstr>
      <vt:lpstr>Impact on Performance Metrics</vt:lpstr>
      <vt:lpstr>Impact on Performance Metrics</vt:lpstr>
      <vt:lpstr>Selection of Threshold – Trade-offs</vt:lpstr>
      <vt:lpstr>Binary Logistic Regression</vt:lpstr>
      <vt:lpstr>Multinomial Logistic Regression</vt:lpstr>
      <vt:lpstr>Multinomial Logistic Regression</vt:lpstr>
      <vt:lpstr>Multinomial Logistic Regression</vt:lpstr>
      <vt:lpstr>Multinomial Logistic Regression</vt:lpstr>
      <vt:lpstr>Multinomial Logistic Regression</vt:lpstr>
      <vt:lpstr>Multinomial Logistic Regression</vt:lpstr>
      <vt:lpstr>Multinomial Logistic Regression</vt:lpstr>
      <vt:lpstr>Odds Ratio</vt:lpstr>
      <vt:lpstr>Odds Ratio</vt:lpstr>
      <vt:lpstr>Odds Ratio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Pandey</dc:creator>
  <cp:lastModifiedBy>Deven Kalra</cp:lastModifiedBy>
  <cp:revision>8</cp:revision>
  <dcterms:created xsi:type="dcterms:W3CDTF">2024-05-31T22:20:27Z</dcterms:created>
  <dcterms:modified xsi:type="dcterms:W3CDTF">2025-07-02T09:51:08Z</dcterms:modified>
</cp:coreProperties>
</file>