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7" r:id="rId23"/>
    <p:sldId id="278" r:id="rId24"/>
    <p:sldId id="280" r:id="rId25"/>
    <p:sldId id="287" r:id="rId26"/>
    <p:sldId id="279" r:id="rId27"/>
    <p:sldId id="281" r:id="rId28"/>
    <p:sldId id="282" r:id="rId29"/>
    <p:sldId id="284" r:id="rId30"/>
    <p:sldId id="283" r:id="rId31"/>
    <p:sldId id="285" r:id="rId32"/>
    <p:sldId id="286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66"/>
  </p:normalViewPr>
  <p:slideViewPr>
    <p:cSldViewPr snapToGrid="0">
      <p:cViewPr varScale="1">
        <p:scale>
          <a:sx n="118" d="100"/>
          <a:sy n="118" d="100"/>
        </p:scale>
        <p:origin x="208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CD71CC-9F6C-334E-8050-48C9E2B2CEF4}" type="doc">
      <dgm:prSet loTypeId="urn:microsoft.com/office/officeart/2005/8/layout/bProcess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7F0CC07-31AB-1242-8031-7D49FD637715}">
      <dgm:prSet phldrT="[Text]" custT="1"/>
      <dgm:spPr/>
      <dgm:t>
        <a:bodyPr/>
        <a:lstStyle/>
        <a:p>
          <a:r>
            <a:rPr lang="en-GB" sz="1400" b="1" dirty="0">
              <a:latin typeface="Roboto Mono" pitchFamily="49" charset="0"/>
              <a:ea typeface="Roboto Mono" pitchFamily="49" charset="0"/>
            </a:rPr>
            <a:t>FFCNN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Input-&gt; Dense Layers -&gt; Output</a:t>
          </a:r>
        </a:p>
      </dgm:t>
    </dgm:pt>
    <dgm:pt modelId="{366CFB60-C8F7-1245-877A-6940E7E761C1}" type="parTrans" cxnId="{6F7F0631-C99D-7042-9B14-33F5A43CAD00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1DBB12CF-C8C9-464B-93F1-C5DFDE6C5D92}" type="sibTrans" cxnId="{6F7F0631-C99D-7042-9B14-33F5A43CAD00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189D9D47-776E-B24A-8EEE-A239085583B8}">
      <dgm:prSet phldrT="[Text]" custT="1"/>
      <dgm:spPr/>
      <dgm:t>
        <a:bodyPr/>
        <a:lstStyle/>
        <a:p>
          <a:r>
            <a:rPr lang="en-GB" sz="1400" b="1" dirty="0">
              <a:latin typeface="Roboto Mono" pitchFamily="49" charset="0"/>
              <a:ea typeface="Roboto Mono" pitchFamily="49" charset="0"/>
            </a:rPr>
            <a:t>RNN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Input + Hidden State -&gt;Recurrent Cell </a:t>
          </a:r>
          <a:r>
            <a:rPr lang="en-GB" sz="1200" dirty="0" err="1">
              <a:latin typeface="Roboto Mono" pitchFamily="49" charset="0"/>
              <a:ea typeface="Roboto Mono" pitchFamily="49" charset="0"/>
            </a:rPr>
            <a:t>Ouput</a:t>
          </a:r>
          <a:endParaRPr lang="en-GB" sz="1200" dirty="0">
            <a:latin typeface="Roboto Mono" pitchFamily="49" charset="0"/>
            <a:ea typeface="Roboto Mono" pitchFamily="49" charset="0"/>
          </a:endParaRPr>
        </a:p>
      </dgm:t>
    </dgm:pt>
    <dgm:pt modelId="{DD3AC77D-434C-2349-83D8-3FB60D7526A0}" type="parTrans" cxnId="{DDE8E99C-B059-3F4C-9E32-F088746B25EA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E23F0514-6E10-C045-9D4B-02C9CD6DF479}" type="sibTrans" cxnId="{DDE8E99C-B059-3F4C-9E32-F088746B25EA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77E2DEB0-6B1F-3A4B-A97C-D40673596916}">
      <dgm:prSet phldrT="[Text]" custT="1"/>
      <dgm:spPr/>
      <dgm:t>
        <a:bodyPr/>
        <a:lstStyle/>
        <a:p>
          <a:r>
            <a:rPr lang="en-GB" sz="1400" b="1" dirty="0">
              <a:latin typeface="Roboto Mono" pitchFamily="49" charset="0"/>
              <a:ea typeface="Roboto Mono" pitchFamily="49" charset="0"/>
            </a:rPr>
            <a:t>LSTM/GRU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Input + Hidden State -&gt;Gated Cell (Forget, Input, Output Gates) Output</a:t>
          </a:r>
        </a:p>
      </dgm:t>
    </dgm:pt>
    <dgm:pt modelId="{934BE298-8586-C546-B100-50F9A1F73FB0}" type="parTrans" cxnId="{F61733B0-C4D0-C643-9640-448C56E74EC2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523A81EC-C4C2-6740-873C-31328C1A082F}" type="sibTrans" cxnId="{F61733B0-C4D0-C643-9640-448C56E74EC2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38C60B37-F519-CE4D-824A-90F31A25175D}">
      <dgm:prSet phldrT="[Text]" custT="1"/>
      <dgm:spPr/>
      <dgm:t>
        <a:bodyPr/>
        <a:lstStyle/>
        <a:p>
          <a:r>
            <a:rPr lang="en-GB" sz="1400" b="1" dirty="0">
              <a:latin typeface="Roboto Mono" pitchFamily="49" charset="0"/>
              <a:ea typeface="Roboto Mono" pitchFamily="49" charset="0"/>
            </a:rPr>
            <a:t>Seq2Seq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Encoder -&gt; Decoder 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(Optional Attention)</a:t>
          </a:r>
        </a:p>
        <a:p>
          <a:endParaRPr lang="en-GB" sz="1400" dirty="0">
            <a:latin typeface="Roboto Mono" pitchFamily="49" charset="0"/>
            <a:ea typeface="Roboto Mono" pitchFamily="49" charset="0"/>
          </a:endParaRPr>
        </a:p>
      </dgm:t>
    </dgm:pt>
    <dgm:pt modelId="{8C28DD61-8614-6548-8E9C-82C14F4D3DBD}" type="parTrans" cxnId="{F2BC575D-8E2A-914F-8086-E32B4D0529F4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D8579D58-8281-2B42-93BF-6AA9EA8A0A23}" type="sibTrans" cxnId="{F2BC575D-8E2A-914F-8086-E32B4D0529F4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7C6AC010-47AC-074B-BB3A-EE944124CA17}">
      <dgm:prSet phldrT="[Text]" custT="1"/>
      <dgm:spPr/>
      <dgm:t>
        <a:bodyPr/>
        <a:lstStyle/>
        <a:p>
          <a:r>
            <a:rPr lang="en-GB" sz="1400" b="1" dirty="0">
              <a:latin typeface="Roboto Mono" pitchFamily="49" charset="0"/>
              <a:ea typeface="Roboto Mono" pitchFamily="49" charset="0"/>
            </a:rPr>
            <a:t>Transformers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Multi-head &amp; Self Attention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Positional Encoding</a:t>
          </a:r>
        </a:p>
        <a:p>
          <a:r>
            <a:rPr lang="en-GB" sz="1200" dirty="0">
              <a:latin typeface="Roboto Mono" pitchFamily="49" charset="0"/>
              <a:ea typeface="Roboto Mono" pitchFamily="49" charset="0"/>
            </a:rPr>
            <a:t>Feed-forward Network</a:t>
          </a:r>
        </a:p>
      </dgm:t>
    </dgm:pt>
    <dgm:pt modelId="{471D07CD-5199-D840-A2C4-B4BB9D1C1011}" type="parTrans" cxnId="{44F4BFA5-B34C-4949-A6D4-B7F4E53A8006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0EF02F7A-166A-E94B-B5EB-96156DBDAEBF}" type="sibTrans" cxnId="{44F4BFA5-B34C-4949-A6D4-B7F4E53A8006}">
      <dgm:prSet/>
      <dgm:spPr/>
      <dgm:t>
        <a:bodyPr/>
        <a:lstStyle/>
        <a:p>
          <a:endParaRPr lang="en-GB">
            <a:latin typeface="Roboto Mono" pitchFamily="49" charset="0"/>
            <a:ea typeface="Roboto Mono" pitchFamily="49" charset="0"/>
          </a:endParaRPr>
        </a:p>
      </dgm:t>
    </dgm:pt>
    <dgm:pt modelId="{98C1A40E-EF71-4541-9AF2-A81B63E27BE4}" type="pres">
      <dgm:prSet presAssocID="{BFCD71CC-9F6C-334E-8050-48C9E2B2CEF4}" presName="Name0" presStyleCnt="0">
        <dgm:presLayoutVars>
          <dgm:dir/>
          <dgm:resizeHandles val="exact"/>
        </dgm:presLayoutVars>
      </dgm:prSet>
      <dgm:spPr/>
    </dgm:pt>
    <dgm:pt modelId="{8C190ACE-4457-6A46-9515-EFBDF1110122}" type="pres">
      <dgm:prSet presAssocID="{27F0CC07-31AB-1242-8031-7D49FD637715}" presName="node" presStyleLbl="node1" presStyleIdx="0" presStyleCnt="5">
        <dgm:presLayoutVars>
          <dgm:bulletEnabled val="1"/>
        </dgm:presLayoutVars>
      </dgm:prSet>
      <dgm:spPr/>
    </dgm:pt>
    <dgm:pt modelId="{A837BB73-DCDA-E240-9A95-C228D94A1BCF}" type="pres">
      <dgm:prSet presAssocID="{1DBB12CF-C8C9-464B-93F1-C5DFDE6C5D92}" presName="sibTrans" presStyleLbl="sibTrans1D1" presStyleIdx="0" presStyleCnt="4"/>
      <dgm:spPr/>
    </dgm:pt>
    <dgm:pt modelId="{BFE563A1-E12C-474A-8EB0-355FD9F571F5}" type="pres">
      <dgm:prSet presAssocID="{1DBB12CF-C8C9-464B-93F1-C5DFDE6C5D92}" presName="connectorText" presStyleLbl="sibTrans1D1" presStyleIdx="0" presStyleCnt="4"/>
      <dgm:spPr/>
    </dgm:pt>
    <dgm:pt modelId="{15D2AA9C-487D-4842-8B2E-A4918BE72CA1}" type="pres">
      <dgm:prSet presAssocID="{189D9D47-776E-B24A-8EEE-A239085583B8}" presName="node" presStyleLbl="node1" presStyleIdx="1" presStyleCnt="5">
        <dgm:presLayoutVars>
          <dgm:bulletEnabled val="1"/>
        </dgm:presLayoutVars>
      </dgm:prSet>
      <dgm:spPr/>
    </dgm:pt>
    <dgm:pt modelId="{2DCC0E43-1E0E-C74E-BCAE-A6077B66C1E5}" type="pres">
      <dgm:prSet presAssocID="{E23F0514-6E10-C045-9D4B-02C9CD6DF479}" presName="sibTrans" presStyleLbl="sibTrans1D1" presStyleIdx="1" presStyleCnt="4"/>
      <dgm:spPr/>
    </dgm:pt>
    <dgm:pt modelId="{03B82612-3B3D-114A-A39C-02ACDD456726}" type="pres">
      <dgm:prSet presAssocID="{E23F0514-6E10-C045-9D4B-02C9CD6DF479}" presName="connectorText" presStyleLbl="sibTrans1D1" presStyleIdx="1" presStyleCnt="4"/>
      <dgm:spPr/>
    </dgm:pt>
    <dgm:pt modelId="{32971C41-5A14-0543-92CC-50F3CC9FA39D}" type="pres">
      <dgm:prSet presAssocID="{77E2DEB0-6B1F-3A4B-A97C-D40673596916}" presName="node" presStyleLbl="node1" presStyleIdx="2" presStyleCnt="5">
        <dgm:presLayoutVars>
          <dgm:bulletEnabled val="1"/>
        </dgm:presLayoutVars>
      </dgm:prSet>
      <dgm:spPr/>
    </dgm:pt>
    <dgm:pt modelId="{952F9B83-5582-1E4E-BF16-2FEAA68675F0}" type="pres">
      <dgm:prSet presAssocID="{523A81EC-C4C2-6740-873C-31328C1A082F}" presName="sibTrans" presStyleLbl="sibTrans1D1" presStyleIdx="2" presStyleCnt="4"/>
      <dgm:spPr/>
    </dgm:pt>
    <dgm:pt modelId="{50C8CC2D-5D16-9640-A992-BEA0D241B5FB}" type="pres">
      <dgm:prSet presAssocID="{523A81EC-C4C2-6740-873C-31328C1A082F}" presName="connectorText" presStyleLbl="sibTrans1D1" presStyleIdx="2" presStyleCnt="4"/>
      <dgm:spPr/>
    </dgm:pt>
    <dgm:pt modelId="{852FB695-E035-F944-8CA7-ABA24A350A93}" type="pres">
      <dgm:prSet presAssocID="{38C60B37-F519-CE4D-824A-90F31A25175D}" presName="node" presStyleLbl="node1" presStyleIdx="3" presStyleCnt="5">
        <dgm:presLayoutVars>
          <dgm:bulletEnabled val="1"/>
        </dgm:presLayoutVars>
      </dgm:prSet>
      <dgm:spPr/>
    </dgm:pt>
    <dgm:pt modelId="{8C33B9F2-9454-1F46-AC89-1DE9282C3DF7}" type="pres">
      <dgm:prSet presAssocID="{D8579D58-8281-2B42-93BF-6AA9EA8A0A23}" presName="sibTrans" presStyleLbl="sibTrans1D1" presStyleIdx="3" presStyleCnt="4"/>
      <dgm:spPr/>
    </dgm:pt>
    <dgm:pt modelId="{1864014F-5FC5-684C-9782-7EF6C6C1A08B}" type="pres">
      <dgm:prSet presAssocID="{D8579D58-8281-2B42-93BF-6AA9EA8A0A23}" presName="connectorText" presStyleLbl="sibTrans1D1" presStyleIdx="3" presStyleCnt="4"/>
      <dgm:spPr/>
    </dgm:pt>
    <dgm:pt modelId="{5EE24856-B993-BC49-8DB8-6B2E54FACB6A}" type="pres">
      <dgm:prSet presAssocID="{7C6AC010-47AC-074B-BB3A-EE944124CA17}" presName="node" presStyleLbl="node1" presStyleIdx="4" presStyleCnt="5">
        <dgm:presLayoutVars>
          <dgm:bulletEnabled val="1"/>
        </dgm:presLayoutVars>
      </dgm:prSet>
      <dgm:spPr/>
    </dgm:pt>
  </dgm:ptLst>
  <dgm:cxnLst>
    <dgm:cxn modelId="{D8B9740D-FB07-D740-9944-47A44DE3CC70}" type="presOf" srcId="{D8579D58-8281-2B42-93BF-6AA9EA8A0A23}" destId="{1864014F-5FC5-684C-9782-7EF6C6C1A08B}" srcOrd="1" destOrd="0" presId="urn:microsoft.com/office/officeart/2005/8/layout/bProcess3"/>
    <dgm:cxn modelId="{ED353C13-2F1F-1E4A-8A07-1681FBD5376D}" type="presOf" srcId="{1DBB12CF-C8C9-464B-93F1-C5DFDE6C5D92}" destId="{A837BB73-DCDA-E240-9A95-C228D94A1BCF}" srcOrd="0" destOrd="0" presId="urn:microsoft.com/office/officeart/2005/8/layout/bProcess3"/>
    <dgm:cxn modelId="{B7422518-49B4-6A44-B156-9E408EB883AC}" type="presOf" srcId="{BFCD71CC-9F6C-334E-8050-48C9E2B2CEF4}" destId="{98C1A40E-EF71-4541-9AF2-A81B63E27BE4}" srcOrd="0" destOrd="0" presId="urn:microsoft.com/office/officeart/2005/8/layout/bProcess3"/>
    <dgm:cxn modelId="{A3839A1B-8662-084C-95E3-8A9B39E178EA}" type="presOf" srcId="{523A81EC-C4C2-6740-873C-31328C1A082F}" destId="{952F9B83-5582-1E4E-BF16-2FEAA68675F0}" srcOrd="0" destOrd="0" presId="urn:microsoft.com/office/officeart/2005/8/layout/bProcess3"/>
    <dgm:cxn modelId="{C5199F2C-5115-904A-BC34-BF9FE573BBD5}" type="presOf" srcId="{189D9D47-776E-B24A-8EEE-A239085583B8}" destId="{15D2AA9C-487D-4842-8B2E-A4918BE72CA1}" srcOrd="0" destOrd="0" presId="urn:microsoft.com/office/officeart/2005/8/layout/bProcess3"/>
    <dgm:cxn modelId="{6F7F0631-C99D-7042-9B14-33F5A43CAD00}" srcId="{BFCD71CC-9F6C-334E-8050-48C9E2B2CEF4}" destId="{27F0CC07-31AB-1242-8031-7D49FD637715}" srcOrd="0" destOrd="0" parTransId="{366CFB60-C8F7-1245-877A-6940E7E761C1}" sibTransId="{1DBB12CF-C8C9-464B-93F1-C5DFDE6C5D92}"/>
    <dgm:cxn modelId="{5041C531-7372-644E-9013-47D9C95F2D6A}" type="presOf" srcId="{7C6AC010-47AC-074B-BB3A-EE944124CA17}" destId="{5EE24856-B993-BC49-8DB8-6B2E54FACB6A}" srcOrd="0" destOrd="0" presId="urn:microsoft.com/office/officeart/2005/8/layout/bProcess3"/>
    <dgm:cxn modelId="{F2BC575D-8E2A-914F-8086-E32B4D0529F4}" srcId="{BFCD71CC-9F6C-334E-8050-48C9E2B2CEF4}" destId="{38C60B37-F519-CE4D-824A-90F31A25175D}" srcOrd="3" destOrd="0" parTransId="{8C28DD61-8614-6548-8E9C-82C14F4D3DBD}" sibTransId="{D8579D58-8281-2B42-93BF-6AA9EA8A0A23}"/>
    <dgm:cxn modelId="{554D5B65-0D55-994A-9FC9-CBB643BD2378}" type="presOf" srcId="{E23F0514-6E10-C045-9D4B-02C9CD6DF479}" destId="{03B82612-3B3D-114A-A39C-02ACDD456726}" srcOrd="1" destOrd="0" presId="urn:microsoft.com/office/officeart/2005/8/layout/bProcess3"/>
    <dgm:cxn modelId="{C15DC78C-E988-9749-973C-DF80782A7013}" type="presOf" srcId="{523A81EC-C4C2-6740-873C-31328C1A082F}" destId="{50C8CC2D-5D16-9640-A992-BEA0D241B5FB}" srcOrd="1" destOrd="0" presId="urn:microsoft.com/office/officeart/2005/8/layout/bProcess3"/>
    <dgm:cxn modelId="{BAF26097-F634-2C4E-98D6-6A3769F04447}" type="presOf" srcId="{1DBB12CF-C8C9-464B-93F1-C5DFDE6C5D92}" destId="{BFE563A1-E12C-474A-8EB0-355FD9F571F5}" srcOrd="1" destOrd="0" presId="urn:microsoft.com/office/officeart/2005/8/layout/bProcess3"/>
    <dgm:cxn modelId="{474EB397-B567-8C4A-9890-F684EC760FE4}" type="presOf" srcId="{D8579D58-8281-2B42-93BF-6AA9EA8A0A23}" destId="{8C33B9F2-9454-1F46-AC89-1DE9282C3DF7}" srcOrd="0" destOrd="0" presId="urn:microsoft.com/office/officeart/2005/8/layout/bProcess3"/>
    <dgm:cxn modelId="{DB191599-5763-C14F-A287-296237A82033}" type="presOf" srcId="{38C60B37-F519-CE4D-824A-90F31A25175D}" destId="{852FB695-E035-F944-8CA7-ABA24A350A93}" srcOrd="0" destOrd="0" presId="urn:microsoft.com/office/officeart/2005/8/layout/bProcess3"/>
    <dgm:cxn modelId="{DDE8E99C-B059-3F4C-9E32-F088746B25EA}" srcId="{BFCD71CC-9F6C-334E-8050-48C9E2B2CEF4}" destId="{189D9D47-776E-B24A-8EEE-A239085583B8}" srcOrd="1" destOrd="0" parTransId="{DD3AC77D-434C-2349-83D8-3FB60D7526A0}" sibTransId="{E23F0514-6E10-C045-9D4B-02C9CD6DF479}"/>
    <dgm:cxn modelId="{44F4BFA5-B34C-4949-A6D4-B7F4E53A8006}" srcId="{BFCD71CC-9F6C-334E-8050-48C9E2B2CEF4}" destId="{7C6AC010-47AC-074B-BB3A-EE944124CA17}" srcOrd="4" destOrd="0" parTransId="{471D07CD-5199-D840-A2C4-B4BB9D1C1011}" sibTransId="{0EF02F7A-166A-E94B-B5EB-96156DBDAEBF}"/>
    <dgm:cxn modelId="{79BDF5AF-0A68-6B4B-ADB4-0424E9611696}" type="presOf" srcId="{E23F0514-6E10-C045-9D4B-02C9CD6DF479}" destId="{2DCC0E43-1E0E-C74E-BCAE-A6077B66C1E5}" srcOrd="0" destOrd="0" presId="urn:microsoft.com/office/officeart/2005/8/layout/bProcess3"/>
    <dgm:cxn modelId="{F61733B0-C4D0-C643-9640-448C56E74EC2}" srcId="{BFCD71CC-9F6C-334E-8050-48C9E2B2CEF4}" destId="{77E2DEB0-6B1F-3A4B-A97C-D40673596916}" srcOrd="2" destOrd="0" parTransId="{934BE298-8586-C546-B100-50F9A1F73FB0}" sibTransId="{523A81EC-C4C2-6740-873C-31328C1A082F}"/>
    <dgm:cxn modelId="{B5BB4DC4-E046-2F48-9222-94F7C43A2A14}" type="presOf" srcId="{27F0CC07-31AB-1242-8031-7D49FD637715}" destId="{8C190ACE-4457-6A46-9515-EFBDF1110122}" srcOrd="0" destOrd="0" presId="urn:microsoft.com/office/officeart/2005/8/layout/bProcess3"/>
    <dgm:cxn modelId="{CCF249E6-F126-B94B-BD30-270B30774F18}" type="presOf" srcId="{77E2DEB0-6B1F-3A4B-A97C-D40673596916}" destId="{32971C41-5A14-0543-92CC-50F3CC9FA39D}" srcOrd="0" destOrd="0" presId="urn:microsoft.com/office/officeart/2005/8/layout/bProcess3"/>
    <dgm:cxn modelId="{E268E771-4FA4-9247-93D0-BEA2713F45F2}" type="presParOf" srcId="{98C1A40E-EF71-4541-9AF2-A81B63E27BE4}" destId="{8C190ACE-4457-6A46-9515-EFBDF1110122}" srcOrd="0" destOrd="0" presId="urn:microsoft.com/office/officeart/2005/8/layout/bProcess3"/>
    <dgm:cxn modelId="{8E2BFB1E-9EE2-1A4F-97B8-B6976989000C}" type="presParOf" srcId="{98C1A40E-EF71-4541-9AF2-A81B63E27BE4}" destId="{A837BB73-DCDA-E240-9A95-C228D94A1BCF}" srcOrd="1" destOrd="0" presId="urn:microsoft.com/office/officeart/2005/8/layout/bProcess3"/>
    <dgm:cxn modelId="{86E64C5C-B3DC-B346-84ED-5B8DD05F37EE}" type="presParOf" srcId="{A837BB73-DCDA-E240-9A95-C228D94A1BCF}" destId="{BFE563A1-E12C-474A-8EB0-355FD9F571F5}" srcOrd="0" destOrd="0" presId="urn:microsoft.com/office/officeart/2005/8/layout/bProcess3"/>
    <dgm:cxn modelId="{0D8E6510-FE68-6940-B9FB-F3DCA0E23AF9}" type="presParOf" srcId="{98C1A40E-EF71-4541-9AF2-A81B63E27BE4}" destId="{15D2AA9C-487D-4842-8B2E-A4918BE72CA1}" srcOrd="2" destOrd="0" presId="urn:microsoft.com/office/officeart/2005/8/layout/bProcess3"/>
    <dgm:cxn modelId="{F054A6BD-B24B-5B49-8179-7E4B05542AD0}" type="presParOf" srcId="{98C1A40E-EF71-4541-9AF2-A81B63E27BE4}" destId="{2DCC0E43-1E0E-C74E-BCAE-A6077B66C1E5}" srcOrd="3" destOrd="0" presId="urn:microsoft.com/office/officeart/2005/8/layout/bProcess3"/>
    <dgm:cxn modelId="{AEB9FC5A-7EE9-C249-82D1-0C6618B868FA}" type="presParOf" srcId="{2DCC0E43-1E0E-C74E-BCAE-A6077B66C1E5}" destId="{03B82612-3B3D-114A-A39C-02ACDD456726}" srcOrd="0" destOrd="0" presId="urn:microsoft.com/office/officeart/2005/8/layout/bProcess3"/>
    <dgm:cxn modelId="{6B6E6A8E-0DB3-FD47-82EB-B20DBCEDAF31}" type="presParOf" srcId="{98C1A40E-EF71-4541-9AF2-A81B63E27BE4}" destId="{32971C41-5A14-0543-92CC-50F3CC9FA39D}" srcOrd="4" destOrd="0" presId="urn:microsoft.com/office/officeart/2005/8/layout/bProcess3"/>
    <dgm:cxn modelId="{84CFF3C2-C26B-8247-B110-5F6AAE0FF6F3}" type="presParOf" srcId="{98C1A40E-EF71-4541-9AF2-A81B63E27BE4}" destId="{952F9B83-5582-1E4E-BF16-2FEAA68675F0}" srcOrd="5" destOrd="0" presId="urn:microsoft.com/office/officeart/2005/8/layout/bProcess3"/>
    <dgm:cxn modelId="{E48CB503-1A0A-4C41-B492-048753EDB6FC}" type="presParOf" srcId="{952F9B83-5582-1E4E-BF16-2FEAA68675F0}" destId="{50C8CC2D-5D16-9640-A992-BEA0D241B5FB}" srcOrd="0" destOrd="0" presId="urn:microsoft.com/office/officeart/2005/8/layout/bProcess3"/>
    <dgm:cxn modelId="{98C19D76-E925-0344-A5C4-415DD086EF95}" type="presParOf" srcId="{98C1A40E-EF71-4541-9AF2-A81B63E27BE4}" destId="{852FB695-E035-F944-8CA7-ABA24A350A93}" srcOrd="6" destOrd="0" presId="urn:microsoft.com/office/officeart/2005/8/layout/bProcess3"/>
    <dgm:cxn modelId="{33BAFF7B-D29D-F247-A39B-A0562E5A68CA}" type="presParOf" srcId="{98C1A40E-EF71-4541-9AF2-A81B63E27BE4}" destId="{8C33B9F2-9454-1F46-AC89-1DE9282C3DF7}" srcOrd="7" destOrd="0" presId="urn:microsoft.com/office/officeart/2005/8/layout/bProcess3"/>
    <dgm:cxn modelId="{D129D7D0-6F81-1348-BC61-E8D37C92A4D0}" type="presParOf" srcId="{8C33B9F2-9454-1F46-AC89-1DE9282C3DF7}" destId="{1864014F-5FC5-684C-9782-7EF6C6C1A08B}" srcOrd="0" destOrd="0" presId="urn:microsoft.com/office/officeart/2005/8/layout/bProcess3"/>
    <dgm:cxn modelId="{32F8DE1D-B695-EE46-B54C-25BA861CBB51}" type="presParOf" srcId="{98C1A40E-EF71-4541-9AF2-A81B63E27BE4}" destId="{5EE24856-B993-BC49-8DB8-6B2E54FACB6A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7BB73-DCDA-E240-9A95-C228D94A1BCF}">
      <dsp:nvSpPr>
        <dsp:cNvPr id="0" name=""/>
        <dsp:cNvSpPr/>
      </dsp:nvSpPr>
      <dsp:spPr>
        <a:xfrm>
          <a:off x="3259436" y="721703"/>
          <a:ext cx="55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>
            <a:latin typeface="Roboto Mono" pitchFamily="49" charset="0"/>
            <a:ea typeface="Roboto Mono" pitchFamily="49" charset="0"/>
          </a:endParaRPr>
        </a:p>
      </dsp:txBody>
      <dsp:txXfrm>
        <a:off x="3523387" y="764484"/>
        <a:ext cx="29394" cy="5878"/>
      </dsp:txXfrm>
    </dsp:sp>
    <dsp:sp modelId="{8C190ACE-4457-6A46-9515-EFBDF1110122}">
      <dsp:nvSpPr>
        <dsp:cNvPr id="0" name=""/>
        <dsp:cNvSpPr/>
      </dsp:nvSpPr>
      <dsp:spPr>
        <a:xfrm>
          <a:off x="705161" y="601"/>
          <a:ext cx="2556075" cy="1533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Roboto Mono" pitchFamily="49" charset="0"/>
              <a:ea typeface="Roboto Mono" pitchFamily="49" charset="0"/>
            </a:rPr>
            <a:t>FFCNN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Input-&gt; Dense Layers -&gt; Output</a:t>
          </a:r>
        </a:p>
      </dsp:txBody>
      <dsp:txXfrm>
        <a:off x="705161" y="601"/>
        <a:ext cx="2556075" cy="1533645"/>
      </dsp:txXfrm>
    </dsp:sp>
    <dsp:sp modelId="{2DCC0E43-1E0E-C74E-BCAE-A6077B66C1E5}">
      <dsp:nvSpPr>
        <dsp:cNvPr id="0" name=""/>
        <dsp:cNvSpPr/>
      </dsp:nvSpPr>
      <dsp:spPr>
        <a:xfrm>
          <a:off x="6403409" y="721703"/>
          <a:ext cx="55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>
            <a:latin typeface="Roboto Mono" pitchFamily="49" charset="0"/>
            <a:ea typeface="Roboto Mono" pitchFamily="49" charset="0"/>
          </a:endParaRPr>
        </a:p>
      </dsp:txBody>
      <dsp:txXfrm>
        <a:off x="6667360" y="764484"/>
        <a:ext cx="29394" cy="5878"/>
      </dsp:txXfrm>
    </dsp:sp>
    <dsp:sp modelId="{15D2AA9C-487D-4842-8B2E-A4918BE72CA1}">
      <dsp:nvSpPr>
        <dsp:cNvPr id="0" name=""/>
        <dsp:cNvSpPr/>
      </dsp:nvSpPr>
      <dsp:spPr>
        <a:xfrm>
          <a:off x="3849133" y="601"/>
          <a:ext cx="2556075" cy="1533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Roboto Mono" pitchFamily="49" charset="0"/>
              <a:ea typeface="Roboto Mono" pitchFamily="49" charset="0"/>
            </a:rPr>
            <a:t>RNN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Input + Hidden State -&gt;Recurrent Cell </a:t>
          </a:r>
          <a:r>
            <a:rPr lang="en-GB" sz="1200" kern="1200" dirty="0" err="1">
              <a:latin typeface="Roboto Mono" pitchFamily="49" charset="0"/>
              <a:ea typeface="Roboto Mono" pitchFamily="49" charset="0"/>
            </a:rPr>
            <a:t>Ouput</a:t>
          </a:r>
          <a:endParaRPr lang="en-GB" sz="1200" kern="1200" dirty="0">
            <a:latin typeface="Roboto Mono" pitchFamily="49" charset="0"/>
            <a:ea typeface="Roboto Mono" pitchFamily="49" charset="0"/>
          </a:endParaRPr>
        </a:p>
      </dsp:txBody>
      <dsp:txXfrm>
        <a:off x="3849133" y="601"/>
        <a:ext cx="2556075" cy="1533645"/>
      </dsp:txXfrm>
    </dsp:sp>
    <dsp:sp modelId="{952F9B83-5582-1E4E-BF16-2FEAA68675F0}">
      <dsp:nvSpPr>
        <dsp:cNvPr id="0" name=""/>
        <dsp:cNvSpPr/>
      </dsp:nvSpPr>
      <dsp:spPr>
        <a:xfrm>
          <a:off x="1983198" y="1532446"/>
          <a:ext cx="6287945" cy="557297"/>
        </a:xfrm>
        <a:custGeom>
          <a:avLst/>
          <a:gdLst/>
          <a:ahLst/>
          <a:cxnLst/>
          <a:rect l="0" t="0" r="0" b="0"/>
          <a:pathLst>
            <a:path>
              <a:moveTo>
                <a:pt x="6287945" y="0"/>
              </a:moveTo>
              <a:lnTo>
                <a:pt x="6287945" y="295748"/>
              </a:lnTo>
              <a:lnTo>
                <a:pt x="0" y="295748"/>
              </a:lnTo>
              <a:lnTo>
                <a:pt x="0" y="5572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>
            <a:latin typeface="Roboto Mono" pitchFamily="49" charset="0"/>
            <a:ea typeface="Roboto Mono" pitchFamily="49" charset="0"/>
          </a:endParaRPr>
        </a:p>
      </dsp:txBody>
      <dsp:txXfrm>
        <a:off x="4969287" y="1808155"/>
        <a:ext cx="315768" cy="5878"/>
      </dsp:txXfrm>
    </dsp:sp>
    <dsp:sp modelId="{32971C41-5A14-0543-92CC-50F3CC9FA39D}">
      <dsp:nvSpPr>
        <dsp:cNvPr id="0" name=""/>
        <dsp:cNvSpPr/>
      </dsp:nvSpPr>
      <dsp:spPr>
        <a:xfrm>
          <a:off x="6993106" y="601"/>
          <a:ext cx="2556075" cy="1533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Roboto Mono" pitchFamily="49" charset="0"/>
              <a:ea typeface="Roboto Mono" pitchFamily="49" charset="0"/>
            </a:rPr>
            <a:t>LSTM/GRU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Input + Hidden State -&gt;Gated Cell (Forget, Input, Output Gates) Output</a:t>
          </a:r>
        </a:p>
      </dsp:txBody>
      <dsp:txXfrm>
        <a:off x="6993106" y="601"/>
        <a:ext cx="2556075" cy="1533645"/>
      </dsp:txXfrm>
    </dsp:sp>
    <dsp:sp modelId="{8C33B9F2-9454-1F46-AC89-1DE9282C3DF7}">
      <dsp:nvSpPr>
        <dsp:cNvPr id="0" name=""/>
        <dsp:cNvSpPr/>
      </dsp:nvSpPr>
      <dsp:spPr>
        <a:xfrm>
          <a:off x="3259436" y="2843246"/>
          <a:ext cx="5572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72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>
            <a:latin typeface="Roboto Mono" pitchFamily="49" charset="0"/>
            <a:ea typeface="Roboto Mono" pitchFamily="49" charset="0"/>
          </a:endParaRPr>
        </a:p>
      </dsp:txBody>
      <dsp:txXfrm>
        <a:off x="3523387" y="2886026"/>
        <a:ext cx="29394" cy="5878"/>
      </dsp:txXfrm>
    </dsp:sp>
    <dsp:sp modelId="{852FB695-E035-F944-8CA7-ABA24A350A93}">
      <dsp:nvSpPr>
        <dsp:cNvPr id="0" name=""/>
        <dsp:cNvSpPr/>
      </dsp:nvSpPr>
      <dsp:spPr>
        <a:xfrm>
          <a:off x="705161" y="2122143"/>
          <a:ext cx="2556075" cy="1533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Roboto Mono" pitchFamily="49" charset="0"/>
              <a:ea typeface="Roboto Mono" pitchFamily="49" charset="0"/>
            </a:rPr>
            <a:t>Seq2Seq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Encoder -&gt; Decoder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(Optional Attention)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>
            <a:latin typeface="Roboto Mono" pitchFamily="49" charset="0"/>
            <a:ea typeface="Roboto Mono" pitchFamily="49" charset="0"/>
          </a:endParaRPr>
        </a:p>
      </dsp:txBody>
      <dsp:txXfrm>
        <a:off x="705161" y="2122143"/>
        <a:ext cx="2556075" cy="1533645"/>
      </dsp:txXfrm>
    </dsp:sp>
    <dsp:sp modelId="{5EE24856-B993-BC49-8DB8-6B2E54FACB6A}">
      <dsp:nvSpPr>
        <dsp:cNvPr id="0" name=""/>
        <dsp:cNvSpPr/>
      </dsp:nvSpPr>
      <dsp:spPr>
        <a:xfrm>
          <a:off x="3849133" y="2122143"/>
          <a:ext cx="2556075" cy="15336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Roboto Mono" pitchFamily="49" charset="0"/>
              <a:ea typeface="Roboto Mono" pitchFamily="49" charset="0"/>
            </a:rPr>
            <a:t>Transformers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Multi-head &amp; Self Attention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Positional Encoding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Roboto Mono" pitchFamily="49" charset="0"/>
              <a:ea typeface="Roboto Mono" pitchFamily="49" charset="0"/>
            </a:rPr>
            <a:t>Feed-forward Network</a:t>
          </a:r>
        </a:p>
      </dsp:txBody>
      <dsp:txXfrm>
        <a:off x="3849133" y="2122143"/>
        <a:ext cx="2556075" cy="1533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234C-3F2C-E2D4-94FA-DBD84F5E2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9DA77-14CB-1C93-07AD-29727E62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EF9A-178D-6B92-C4E3-B100C4B8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845AB-D71C-C1B2-BD5B-CD26657C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59647-F61B-846D-6685-DA6F595A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0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6237-682D-606E-AC2B-C1332CC6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243AE-F795-90BA-11DB-00693E773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3AD14-7ED8-FA7B-95A1-248AF465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8295-325D-0381-AA3B-C4BAC512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92A4F-D79C-1D41-9F9B-52AE1C9E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4D63-E910-1109-F827-F1594FFA2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9F469-3E74-4BE0-9533-8C012CA5B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73DED-DF79-8AA1-122D-FB6A6818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EA6E8-2E5B-D8A6-6A1A-B1A738C22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86D5C-0BF6-5F77-5DC3-0C63D32E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04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20ED-E4BF-E339-5ACB-EBD970EF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037AC-AE41-0050-7391-1EF2491CB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B9D1A-E5F6-ACEC-4B7C-95FD8BF01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E3530-A0D5-092D-8EC4-B7FC2F11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C7A90-C8E8-CC16-2603-B3561DDC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AEC10-4D7C-51BD-A32D-117481BE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2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E55A-CDED-3F9C-7AE1-405B69CD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78D4E-FBEC-091B-1289-A7CE17A18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2BF0E-1E5F-9AEF-0623-B7FEEDE0D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5D9F1-BFCE-58E0-0A70-90C915712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3CC62-5715-B719-6D98-CF38FAC8B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D03309-8D4B-7286-E212-37FFA4195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E4143-B99C-A1C8-5D68-DBF18468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8DAA4-96C6-C329-3712-557DB657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482CE-4AD6-3167-32DA-DC9D07DF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3F351-B9E5-2610-297D-AC631073C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1E039-B145-3404-D485-C5475ACB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9AE55-CAC6-2468-FB6A-ADA5866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5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A77F8-C4D6-6789-71E0-AC721E75F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71AA4-13E3-2DCE-2304-70F4A02B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9DE53-EC23-DF87-D261-E6C851FF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4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F6DC9-A37B-2D94-14E2-8ECC1FF67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E0009-A7A8-5AAC-E1C7-2EAB8CA4F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3BBEE-CE0E-E517-6A8E-CC8D16A0C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44EEB-6AA1-8A9A-FA83-0DB0686B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1FC30-10E3-538B-734B-2E0B352D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517C2-F5E9-D016-6442-7C4D15F0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4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75C8A-4AF8-50A3-84A9-16F23F3A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5CBFB-EF3C-B141-A2D5-23BE70873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F238A-C355-E581-281E-8038FD8BE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956B6-78DD-6624-9B5F-301BB572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07B59-BFEA-A92F-7A2A-83BEBD33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951EC-88A2-2164-7331-F8BE112E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099E-B8BA-0868-BA5F-8FD5630B1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956AE-BC3D-4AB5-70B8-6DA8B21F9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06266-76A2-8C26-87DA-A91854E7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A221D-930D-58C7-8168-BF2F7217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4B04-5B60-F03D-6183-3AD0A876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7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2ED62-AAB4-AED2-E8F4-0787A5B38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33E86-37B2-91D2-0A52-E9FB0DD52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3F02A-9A6D-2C28-AA45-6F93D9D8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0530-7991-1565-048F-E8243CC1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7507-4BFA-E493-C888-ADE82DE1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27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B4AA5-4EE9-38BB-CC6F-D22979C8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B0C44-B347-13E7-FFAC-4567E6B7C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83DC3-7EBD-663F-5EDE-1D0778650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E096D-9A5E-B84B-9445-B3D2A1078FAA}" type="datetimeFigureOut">
              <a:rPr lang="en-US" smtClean="0"/>
              <a:t>4/20/25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CE35E-2052-8077-EA27-AF8AE9A1F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47CDE-1592-B858-CD4B-B43E67EFB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3A4E7-71D0-3242-8B25-AAA3FDC75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7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1861-BC15-65EF-7BFE-660A357661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635AC-D464-A80D-E58D-CD5ADCC77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1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BA977-8668-7CEC-F307-62D8DCB5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</a:rPr>
              <a:t>B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asic FCFNN architecture not suitable for NLP tasks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8FA5-A480-EE9F-A551-F4CF9B43A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Words as “bags” of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What FCFNN “sees”: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If you one‑hot encode each word in a sentence and feed it in, the network just treats that vector as a fixed feature‑bag.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Missing the story: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It loses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order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—“dog bites man” and “man bites dog” look equally “present”—yet clearly mean very different things.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It’s like judging a recipe by the list of ingredients without knowing the steps or timing. You know what’s in there, but not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how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or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when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to combine them.</a:t>
            </a:r>
          </a:p>
          <a:p>
            <a:endParaRPr lang="en-US" sz="18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5025C8-894A-E1B4-2B92-C74CF444EF6E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06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D7278-0DAE-2922-9241-433DB790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93FC-603E-6DCC-FF16-18B71CA7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</a:rPr>
              <a:t>B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asic FCFNN architecture not suitable for NLP tasks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9457-8FC6-75AA-7A0C-C4A25EDF6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No notion of sequence or 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No recurrence or attention: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 pure feedforward layer has no mechanism to “remember” the previous word or look ahead at the next.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Language is contextual: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The meaning of “bank” in “river bank” vs. “bank account” depends entirely on nearby words.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Imagine listening to a story where you only ever hear one sentence at a time and then it gets erased. You can’t piece together the plot!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917492-EFCE-158C-356C-029A37A32A9C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53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DD7F-4471-0149-BB8B-689AB22D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B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asic FCFNN architecture not suitable for NLP tasks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E62D2-B5F3-862A-95AF-F9617FAA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Explosion of parameters for long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Fixed‑size input only: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To handle variable‑length sentences, you’d need a maximum length—and pad or truncate everything.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Huge weight matrices: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If your vocabulary is 50 000 words and you allow, say, 100 positions, you already have a 5 million‑dimensional input, each with its own weights.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Consequence: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Training becomes slow or impossible, and you can’t generalize to sentences longer than your hard limit.</a:t>
            </a:r>
          </a:p>
          <a:p>
            <a:endParaRPr lang="en-US" sz="18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0B1148-883C-34C7-E6E1-A70F98B97118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39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E37E1-BEAF-C0D8-0951-DA3BAFA00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AE26-33BE-8E0E-CC9A-FE4D1D84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B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asic FCFNN architecture not suitable for NLP tasks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25B02-4FBD-E7B7-932F-3A7B9D5CD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Sparsity and generalization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One‑hot vectors are mostly zeros: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Learning meaningful patterns out of extremely sparse inputs is hard.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No parameter sharing: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 given word in position 1 is treated entirely differently from that same word in position 2. You lose all the benefit of recognizing the same pattern in different places.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It’s like teaching a child that “cat” only means something if it appears as the third word in a sentence; if it shows up elsewhere, it’s “unknown.”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A7DEA6-BC59-E57C-7DA8-54CF551BF54B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70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C15A8E-4361-1F51-B28E-62881FD3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42BB7-7E12-EFA8-DFFD-8600AA50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B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asic FCFNN architecture not suitable for NLP tasks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8471-B4B6-7C5C-EA2F-CBFFA3F91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Claim: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Treats input as a fixed “bag” of features—can’t capture word order or context.</a:t>
            </a:r>
          </a:p>
          <a:p>
            <a:pPr>
              <a:buNone/>
            </a:pPr>
            <a:endParaRPr lang="en-IN" sz="1800" b="1" dirty="0">
              <a:latin typeface="Roboto Mono" pitchFamily="49" charset="0"/>
              <a:ea typeface="Roboto Mono" pitchFamily="49" charset="0"/>
            </a:endParaRP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Example: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Sentiment classification on movie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Input A: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“I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didn’t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hate this film.” (positive)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Input B: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“I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hate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this film.” (negative)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FCFNN approach: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One‑hot each word, sum embeddings → both reviews may map to similar vectors (“hate”, “film”, “didn’t” all counted equally).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Result: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Model fails to distinguish negation (“didn’t hate”) from affirmation (“hate”).</a:t>
            </a:r>
          </a:p>
          <a:p>
            <a:pPr marL="0" indent="0">
              <a:buNone/>
            </a:pPr>
            <a:endParaRPr lang="en-IN" sz="1800" b="1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Use‑Case Failure: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Early “bag‑of‑words” spam filters misclassified “not a scam” and “this is a scam” equally because they only saw counts of “scam.”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8945A7-BCD4-54C9-A5D0-8089D3B93783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7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85B80-2286-1473-686F-30040034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6AEA-2149-AB65-B5FE-403B4088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F0E8D-F369-4213-1FF7-425304E5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Carrying “memory” vs. one‑shot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FCFNN: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Processes each input independently—there’s no mechanism to remember what happened before.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Introduces a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hidden state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that’s passed forward at every time step. At word $t$, the network sees not only the current word but also a summary of all previous words via that hidden state.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FCFNN is like reading flashcards one by one and never looking 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RNN is like keeping a running notebook: after each flashcard you jot down a note (“this is about dogs”), and that note helps you interpret the next flashcard.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3245E8-C768-C0EE-C28D-A11050E53DE4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37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ADC24-8155-1F31-4C78-02F085B3F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4C48-4AA3-B1B2-E4AB-A61E9B75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9A192-D847-32E2-657F-3F23C65D9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Parameter sharing across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FCFNN: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Has separate weights for each input dimension; if you treated each position as a separate “feature,” you’d need completely different parameters for word 1 vs. word 2 vs. word 3…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Reuses the same weights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at every time step. The same transformation is applied to word $t$ and the hidden state from $t!-!1$.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Why it helps: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The model learns “what to do” with any word, regardless of its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You get a compact model that generalizes position‑invariant patterns (e.g., “if you see ‘not’, flip the sentiment”).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670CCC-B80C-7A2F-2D27-C6235C1C3D34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584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EF96A-F03B-60CF-A5FE-AB1062B4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CBFD-980E-DF0B-C306-00E8D4FA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E702-C9E5-3309-80DD-B9C89BAC1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Natural support for variable‑length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FCFNN: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Requires a fixed‑size input vector (you must pad or truncate every sentence to the same length).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Can unroll for as many time steps as your sequence length. A 5‑word sentence and a 50‑word sentence use the same model, just run more or fewer steps.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FCFNN is like a fixed‑length train with exactly 10 cars. Too many passengers and you can’t fit; too few and the extra cars are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RNN is like a flexible bus fleet: you add or remove buses (time steps) to match demand.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B978D5-0856-FE5C-DDA2-C9F9077ACD24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716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BCF2D-5AE3-E22C-09E4-48B6E59C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2503-5884-F40E-7BE9-7BC7B85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CEB99-40C8-BB90-E6AA-BF9B9325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Contextualized representations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FCFNN: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Each word’s representation only reflects that word alone (or maybe a fixed window).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RNN: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The hidden state at step $t$ is a function of the current input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everything that came before. That means “bank” in “river bank” carries a very different hidden‑state footprint than “bank” in “bank account.”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FCFNN is like labelling photos one at a time without knowing the album theme.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RNN is like viewing a photo in a slideshow—you’ve already seen the beach, so when you see “sand,” you interpret its meaning in context.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9E5CEE-C5FC-9D0F-17A1-BB6626AE5832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71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C7B58-F134-5417-5BFD-DD86AAA0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8E9E-F9A9-B47E-0561-770FB644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2DB52-6C86-24E5-4E7C-6F5DBA899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How it “actually” processes a sequence</a:t>
            </a:r>
          </a:p>
          <a:p>
            <a:pPr>
              <a:buNone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At each time step t: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Input: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the new word vector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x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endParaRPr lang="en-IN" sz="1800" baseline="-250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Hidden update: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h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=</a:t>
            </a:r>
            <a:r>
              <a:rPr lang="el-GR" sz="1800" dirty="0">
                <a:latin typeface="Roboto Mono" pitchFamily="49" charset="0"/>
                <a:ea typeface="Roboto Mono" pitchFamily="49" charset="0"/>
              </a:rPr>
              <a:t>σ(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W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ih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 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x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  +  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W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hh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 h</a:t>
            </a:r>
            <a:r>
              <a:rPr lang="en-IN" sz="1800" baseline="-25000" dirty="0">
                <a:latin typeface="Roboto Mono" pitchFamily="49" charset="0"/>
                <a:ea typeface="Roboto Mono" pitchFamily="49" charset="0"/>
              </a:rPr>
              <a:t>t−1  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+  b) - where h</a:t>
            </a:r>
            <a:r>
              <a:rPr lang="en-IN" sz="1800" baseline="-25000" dirty="0">
                <a:latin typeface="Roboto Mono" pitchFamily="49" charset="0"/>
                <a:ea typeface="Roboto Mono" pitchFamily="49" charset="0"/>
              </a:rPr>
              <a:t>t-1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is the “memory” from the previous step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Output (optional):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you can read out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y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from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h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if you need predictions at every step, or just use the final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h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for a sentence‑level decision.</a:t>
            </a:r>
          </a:p>
          <a:p>
            <a:r>
              <a:rPr lang="en-IN" sz="1800" dirty="0">
                <a:latin typeface="Roboto Mono" pitchFamily="49" charset="0"/>
                <a:ea typeface="Roboto Mono" pitchFamily="49" charset="0"/>
              </a:rPr>
              <a:t>Because $h</a:t>
            </a:r>
            <a:r>
              <a:rPr lang="en-IN" sz="1800" baseline="-25000" dirty="0">
                <a:latin typeface="Roboto Mono" pitchFamily="49" charset="0"/>
                <a:ea typeface="Roboto Mono" pitchFamily="49" charset="0"/>
              </a:rPr>
              <a:t>t-1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flows forward, the network builds up an understanding of the entire sequence, step by step.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D7A7A5-5865-CCFC-2A87-6E07C69C925F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21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A46DC-B43D-C5BB-6120-7584CB6D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7F85-F740-7B2A-36C5-181092FD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52F6C1-C915-A3EE-0611-FF7B0493F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10462"/>
              </p:ext>
            </p:extLst>
          </p:nvPr>
        </p:nvGraphicFramePr>
        <p:xfrm>
          <a:off x="868017" y="2274315"/>
          <a:ext cx="10515600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67879">
                  <a:extLst>
                    <a:ext uri="{9D8B030D-6E8A-4147-A177-3AD203B41FA5}">
                      <a16:colId xmlns:a16="http://schemas.microsoft.com/office/drawing/2014/main" val="2918252965"/>
                    </a:ext>
                  </a:extLst>
                </a:gridCol>
                <a:gridCol w="3617843">
                  <a:extLst>
                    <a:ext uri="{9D8B030D-6E8A-4147-A177-3AD203B41FA5}">
                      <a16:colId xmlns:a16="http://schemas.microsoft.com/office/drawing/2014/main" val="2891296107"/>
                    </a:ext>
                  </a:extLst>
                </a:gridCol>
                <a:gridCol w="3829878">
                  <a:extLst>
                    <a:ext uri="{9D8B030D-6E8A-4147-A177-3AD203B41FA5}">
                      <a16:colId xmlns:a16="http://schemas.microsoft.com/office/drawing/2014/main" val="189342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Aspect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FCFNN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RNN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28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Roboto Mono" pitchFamily="49" charset="0"/>
                          <a:ea typeface="Roboto Mono" pitchFamily="49" charset="0"/>
                        </a:rPr>
                        <a:t>Memory</a:t>
                      </a:r>
                      <a:endParaRPr lang="en-IN" dirty="0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Hidden state carries past context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407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Roboto Mono" pitchFamily="49" charset="0"/>
                          <a:ea typeface="Roboto Mono" pitchFamily="49" charset="0"/>
                        </a:rPr>
                        <a:t>Parameter usage</a:t>
                      </a:r>
                      <a:endParaRPr lang="en-IN" dirty="0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Separate for each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Shared across all time steps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592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Roboto Mono" pitchFamily="49" charset="0"/>
                          <a:ea typeface="Roboto Mono" pitchFamily="49" charset="0"/>
                        </a:rPr>
                        <a:t>Input length</a:t>
                      </a:r>
                      <a:endParaRPr lang="en-IN" dirty="0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Fixed, padded/truncated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Naturally variable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39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Roboto Mono" pitchFamily="49" charset="0"/>
                          <a:ea typeface="Roboto Mono" pitchFamily="49" charset="0"/>
                        </a:rPr>
                        <a:t>Contextual meaning</a:t>
                      </a:r>
                      <a:endParaRPr lang="en-IN" dirty="0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Local or bag‑of‑words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Whole‑sequence context via </a:t>
                      </a:r>
                      <a:r>
                        <a:rPr lang="en-IN" dirty="0" err="1">
                          <a:latin typeface="Roboto Mono" pitchFamily="49" charset="0"/>
                          <a:ea typeface="Roboto Mono" pitchFamily="49" charset="0"/>
                        </a:rPr>
                        <a:t>h</a:t>
                      </a:r>
                      <a:r>
                        <a:rPr lang="en-IN" baseline="-25000" dirty="0" err="1">
                          <a:latin typeface="Roboto Mono" pitchFamily="49" charset="0"/>
                          <a:ea typeface="Roboto Mono" pitchFamily="49" charset="0"/>
                        </a:rPr>
                        <a:t>t</a:t>
                      </a:r>
                      <a:endParaRPr lang="en-IN" baseline="-25000" dirty="0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58747987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0E482F-34BF-F6EE-48D9-9FD2F05D0CE2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17B5C4-2492-7D1E-4809-6845AFEF78AE}"/>
              </a:ext>
            </a:extLst>
          </p:cNvPr>
          <p:cNvSpPr txBox="1"/>
          <p:nvPr/>
        </p:nvSpPr>
        <p:spPr>
          <a:xfrm>
            <a:off x="868018" y="5359731"/>
            <a:ext cx="10515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Roboto Mono" pitchFamily="49" charset="0"/>
                <a:ea typeface="Roboto Mono" pitchFamily="49" charset="0"/>
              </a:rPr>
              <a:t>This combination of </a:t>
            </a:r>
            <a:r>
              <a:rPr lang="en-IN" b="1" dirty="0">
                <a:latin typeface="Roboto Mono" pitchFamily="49" charset="0"/>
                <a:ea typeface="Roboto Mono" pitchFamily="49" charset="0"/>
              </a:rPr>
              <a:t>memory + weight sharing + variable‑length support</a:t>
            </a:r>
            <a:r>
              <a:rPr lang="en-IN" dirty="0">
                <a:latin typeface="Roboto Mono" pitchFamily="49" charset="0"/>
                <a:ea typeface="Roboto Mono" pitchFamily="49" charset="0"/>
              </a:rPr>
              <a:t> is what lets RNNs “understand” sequences in a way feedforward nets simply can’t.</a:t>
            </a:r>
            <a:endParaRPr lang="en-US" dirty="0">
              <a:latin typeface="Roboto Mono" pitchFamily="49" charset="0"/>
              <a:ea typeface="Roboto Mono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84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DCC26-05DA-3002-3C8C-486845BA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2348-F5DC-FE80-6908-EEA0A9CC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00"/>
                </a:solidFill>
                <a:latin typeface="Roboto Mono" pitchFamily="49" charset="0"/>
                <a:ea typeface="Roboto Mono" pitchFamily="49" charset="0"/>
              </a:rPr>
              <a:t>Why RNN handles sequence tasks better?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805E-1B6C-DDD2-7ABD-B10F2CAA7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Claim: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Hidden state carries past context; same weights apply at every step.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Example: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Next‑word prediction in autocomplete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Sentence: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“The stock market rallied after the Fed raised…”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RNN </a:t>
            </a:r>
            <a:r>
              <a:rPr lang="en-IN" sz="1800" b="1" dirty="0" err="1">
                <a:latin typeface="Roboto Mono" pitchFamily="49" charset="0"/>
                <a:ea typeface="Roboto Mono" pitchFamily="49" charset="0"/>
              </a:rPr>
              <a:t>behavior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At each word,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h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accumulates context (“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The→stock→market→rallied→after→the→Fed→raised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”).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When you type “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rais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…”, the RNN’s hidden state biases toward “rates” (not “dogs”!).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Why it works: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The RNN “remembers” financial context across the sequence.</a:t>
            </a:r>
          </a:p>
          <a:p>
            <a:pPr marL="0" indent="0">
              <a:buNone/>
            </a:pPr>
            <a:endParaRPr lang="en-IN" sz="1800" b="1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Use‑Case: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Keyboard autocomplete models on phones often use small RNNs to suggest contextually appropriate next words.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8BECBB-F7B4-6D13-F95B-21D770180D1F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641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B3044-8BA2-FDC9-57DE-1C52EF08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E210-8C17-E8F0-883F-2F398C73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326F2-19DE-9063-E733-69C16E044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The Vanishing‑Gradient Problem in Basic RNNs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What happens: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As you backpropagate errors through many time steps, the gradients tend to shrink (or sometimes blow up), so an RNN “forgets” long‑range dependencies.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Why it matters: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You might want the network to remember something from 50 steps ago (e.g., the subject of a sentence), but a plain RNN struggles to carry that signal through dozens of multiplications.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It’s like whispering a message down a long hallway—by the time it reaches the end, it’s barely audible (or distorted).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CEEE56-2BE8-0851-D0A5-F8745EFD9271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0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7305E-9D44-29C1-84D0-0188F2AF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B421-3BDF-715E-64B3-B2EF9B53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3A95-C577-DEA7-A236-0481E083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LSTM: Introducing a “Conveyor Belt” with Valves</a:t>
            </a:r>
          </a:p>
          <a:p>
            <a:pPr>
              <a:buNone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An LSTM cell adds a special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cell state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that runs through the entire sequence almost unchanged—like a conveyor belt carrying information forward. Around this belt are three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gates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that control what to keep, add, or read out: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Forget Gate: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Decides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what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old information in to throw away.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Input Gate + Candidate: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Decides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what new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information to write into the cell.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Cell Update: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Combine old and new, gated by Forget Gate and Input Gate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Output Gate &amp; Hidden State: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Decide what to expose as the new hidden state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F6127-C6F4-677C-424B-FB155784848A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618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0D878-B8E9-2EAC-B616-97A294F7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E6CE-30E7-2BF3-0414-5A9367CC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F76A9-7770-F1ED-BD98-5AFF0E42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LSTM: Introducing a “Conveyor Belt” with Valves</a:t>
            </a:r>
          </a:p>
          <a:p>
            <a:pPr>
              <a:buNone/>
            </a:pPr>
            <a:endParaRPr lang="en-IN" sz="1800" b="1" dirty="0">
              <a:latin typeface="Roboto Mono" pitchFamily="49" charset="0"/>
              <a:ea typeface="Roboto Mono" pitchFamily="49" charset="0"/>
            </a:endParaRP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Conveyor belt: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Carries the important “story so far” forward with minimal change.</a:t>
            </a:r>
          </a:p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Valves (gates):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Let in just the right amount of fresh info, wash away irrelevant parts, and peek at the result when you need to make a prediction.</a:t>
            </a:r>
          </a:p>
          <a:p>
            <a:pPr marL="0" indent="0"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This design lets gradients flow back more cleanly along the conveyor belt, so the network can learn dependencies over hundreds of steps.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CE1734-3C1C-2781-BF39-2D4390BBD980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832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65BB3-AE22-CF85-FFB6-0B5A0F10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10EF7-6568-5712-114D-6E467B67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EE5E0-2EE3-5608-212C-92F34FE5B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GRU: A Slimmer, Two‑Valve Version</a:t>
            </a:r>
          </a:p>
          <a:p>
            <a:pPr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None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The Gated Recurrent Unit (GRU) compresses LSTM’s three gates into two, and merges the cell and hidden state into one: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Update Gate: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Decides how much of the past to keep vs. how much new to incorporate.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Reset Gate: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Decides how much of the past to forget when computing the candidate.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Candidate Hidden: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Combines the reset‑gated past with the current input</a:t>
            </a:r>
          </a:p>
          <a:p>
            <a:pPr>
              <a:buFont typeface="+mj-lt"/>
              <a:buAutoNum type="arabicPeriod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Final Hidden State: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Blend old and new via the update gate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067ADE-FF50-7F8A-DE95-43403107A255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723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46994-5D30-D2C9-A676-AD63493F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0C68-AEB2-F007-2C31-66FE9AAD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5913D-D2CD-FF7D-866D-E1995607C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GRU: A Slimmer, Two‑Valve Version</a:t>
            </a:r>
          </a:p>
          <a:p>
            <a:pPr>
              <a:buNone/>
            </a:pPr>
            <a:endParaRPr lang="en-IN" sz="1800" b="1" dirty="0">
              <a:latin typeface="Roboto Mono" pitchFamily="49" charset="0"/>
              <a:ea typeface="Roboto Mono" pitchFamily="49" charset="0"/>
            </a:endParaRP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Single memory tank: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Both “belt” and “output” in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Two valves: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One to reset stale info when computing the new candidate, another to decide how much new info to mix in.</a:t>
            </a:r>
          </a:p>
          <a:p>
            <a:pPr marL="0" indent="0"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Because it has fewer gates and parameters, GRUs often train faster while still mitigating vanishing gradients.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2F3371-DD07-DC18-48F4-C3955822C864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81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0F184-8EA3-B520-0A9C-93BA35F82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4010-B3FA-370D-CF0A-2CDE26E9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798A4-95EA-612A-8FD0-4BF581BC9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Basic RNN: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Fast &amp; simple, but forgets long‑range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LSTM: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Adds gated “filters” around a stable memory path, letting it learn which pieces of context to keep or discard over long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GRU: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Offers a leaner gated approach, merging some of LSTM’s complexity while still preserving long‑term dependencies.</a:t>
            </a:r>
          </a:p>
          <a:p>
            <a:pPr marL="0" indent="0"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These gated architectures turn the RNN’s “hallway whisper” into a robust announcement system—messages (gradients) can travel far without fading away.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E8B483-65EB-67CB-68DF-BB4BD39BB955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56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B91F3-D90B-73CF-06B6-09105C68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F7AD-D5B0-D409-01F8-F36205AC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LSTMs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  <a:ea typeface="Roboto Mono" pitchFamily="49" charset="0"/>
              </a:rPr>
              <a:t>and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 GRUs build upon the basic RNN architecture to better handle sequence data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A12AC-4EDA-A7A7-6092-D4E09CACC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Claim: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Gates protect and filter information, preventing vanishing gradients.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Example: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Document‑level sentiment on long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Review: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 100‑word critique that starts positive (“I loved the cast…”) but ends negative (“…but the plot was a disaster.”)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Basic RNN: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May “forget” the opening praise by the time it reads the ending, misclassifying overall sentiment.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LSTM/GRU: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Forget/Input gates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let it flush trivial details and retain “positive tone” when appropriate.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When “disaster” appears, its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update gate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pushes through the strong negative signal, balancing long‑range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Result: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Correctly labels the review negative, having weighed both ends.</a:t>
            </a:r>
          </a:p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Use‑Case: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Customer‑service analytics where entire chat logs must be classified for overall satisfaction—LSTMs excel here.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A4E4A7-6797-5ABF-0068-A84E227DA573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75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9DA3E-35A2-C407-961A-AFE6FBA9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1B82-2FCA-CAD5-032D-D94FD817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Roboto Mono" pitchFamily="49" charset="0"/>
              </a:rPr>
              <a:t>Encoder-decoder and sequence-to-sequence architectures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95DE6-DF1F-E03B-B4FD-78C374D5B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What it is: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A general neural “translator” that maps one sequence (e.g., a sentence in English) to another sequence (e.g., the same sentence in French).</a:t>
            </a:r>
            <a:endParaRPr lang="en-IN" sz="1800" b="1" dirty="0">
              <a:latin typeface="Roboto Mono" pitchFamily="49" charset="0"/>
              <a:ea typeface="Roboto Mono" pitchFamily="49" charset="0"/>
            </a:endParaRPr>
          </a:p>
          <a:p>
            <a:pPr marL="0" indent="0"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Core idea: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Encoder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“reads” the entire input and compresses its meaning into a fixed‑size representation (a context vector).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Decoder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“writes” the output sequence one step at a time, conditioning on that context and on its own previous outputs.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Analogy: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Think of a human translator who:</a:t>
            </a:r>
          </a:p>
          <a:p>
            <a:pPr>
              <a:buFont typeface="+mj-lt"/>
              <a:buAutoNum type="arabicPeriod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Reads and comprehends a full paragraph (encoder).</a:t>
            </a:r>
          </a:p>
          <a:p>
            <a:pPr>
              <a:buFont typeface="+mj-lt"/>
              <a:buAutoNum type="arabicPeriod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Stores a mental summary of its meaning (context).</a:t>
            </a:r>
          </a:p>
          <a:p>
            <a:pPr>
              <a:buFont typeface="+mj-lt"/>
              <a:buAutoNum type="arabicPeriod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Reconstructs that meaning in another language, sentence by sentence (decoder).</a:t>
            </a:r>
          </a:p>
          <a:p>
            <a:pPr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925839-CEF8-14C2-10ED-F94590457AAA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576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5588F-6C5A-C492-0262-DC39B2F4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E0CC-7AF9-A934-FA22-AB57437C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Roboto Mono" pitchFamily="49" charset="0"/>
                <a:ea typeface="Roboto Mono" pitchFamily="49" charset="0"/>
              </a:rPr>
              <a:t>How Sequence‑to‑Sequence (Seq2Seq) Works, Step by Step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2A86E-D849-8ABA-A462-39AF7F846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Input sequence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x₁, x₂, …, xₙ​ (e.g., words “How are you?”)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Encoding phase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An RNN/CNN/Transformer encoder processes each input token, updating a hidden state h</a:t>
            </a:r>
            <a:r>
              <a:rPr lang="en-IN" sz="1800" baseline="-25000" dirty="0">
                <a:latin typeface="Roboto Mono" pitchFamily="49" charset="0"/>
                <a:ea typeface="Roboto Mono" pitchFamily="49" charset="0"/>
              </a:rPr>
              <a:t>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After the last token, we have one or more high‑dimensional vectors summarizing the input (e.g., final hidden state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h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n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or all hidden states).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Context vector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Vanilla seq2seq: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uses only the final hidden state </a:t>
            </a:r>
            <a:r>
              <a:rPr lang="en-IN" sz="1800" dirty="0" err="1">
                <a:latin typeface="Roboto Mono" pitchFamily="49" charset="0"/>
                <a:ea typeface="Roboto Mono" pitchFamily="49" charset="0"/>
              </a:rPr>
              <a:t>h</a:t>
            </a:r>
            <a:r>
              <a:rPr lang="en-IN" sz="1800" baseline="-25000" dirty="0" err="1">
                <a:latin typeface="Roboto Mono" pitchFamily="49" charset="0"/>
                <a:ea typeface="Roboto Mono" pitchFamily="49" charset="0"/>
              </a:rPr>
              <a:t>n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as a fixed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With attention: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keeps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all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encoder hidden states h₁, …, hₙ, so the decoder can “focus” on different parts of the input at each output step.</a:t>
            </a:r>
          </a:p>
          <a:p>
            <a:pPr marL="0" indent="0"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B2D0BC-5A84-2B94-40DB-1ABF94425D42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918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8EE2D-CA2C-A87E-8686-80AADE0A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0773B-043E-6197-0479-42E13F5F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Roboto Mono" pitchFamily="49" charset="0"/>
                <a:ea typeface="Roboto Mono" pitchFamily="49" charset="0"/>
              </a:rPr>
              <a:t>How Sequence‑to‑Sequence (Seq2Seq) Works, Step by Step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209A-29D3-2C59-6774-BDB4147D8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Decoding phase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lvl="1"/>
            <a:r>
              <a:rPr lang="en-IN" sz="1800" dirty="0">
                <a:latin typeface="Roboto Mono" pitchFamily="49" charset="0"/>
                <a:ea typeface="Roboto Mono" pitchFamily="49" charset="0"/>
              </a:rPr>
              <a:t>At time t=1, the decoder receives a special start‑of‑sequence token &lt;SOS&gt; and the context.</a:t>
            </a:r>
          </a:p>
          <a:p>
            <a:pPr lvl="1"/>
            <a:r>
              <a:rPr lang="en-IN" sz="1800" dirty="0">
                <a:latin typeface="Roboto Mono" pitchFamily="49" charset="0"/>
                <a:ea typeface="Roboto Mono" pitchFamily="49" charset="0"/>
              </a:rPr>
              <a:t>It produces an output distribution over the target vocabulary, from which we sample or pick the most likely token.</a:t>
            </a:r>
          </a:p>
          <a:p>
            <a:pPr lvl="1"/>
            <a:r>
              <a:rPr lang="en-IN" sz="1800" dirty="0">
                <a:latin typeface="Roboto Mono" pitchFamily="49" charset="0"/>
                <a:ea typeface="Roboto Mono" pitchFamily="49" charset="0"/>
              </a:rPr>
              <a:t>For each subsequent t, the decoder takes its own previous output plus context/attention and updates its hidden state to produce next output token.</a:t>
            </a:r>
          </a:p>
          <a:p>
            <a:pPr lvl="1"/>
            <a:r>
              <a:rPr lang="en-IN" sz="1800" dirty="0">
                <a:latin typeface="Roboto Mono" pitchFamily="49" charset="0"/>
                <a:ea typeface="Roboto Mono" pitchFamily="49" charset="0"/>
              </a:rPr>
              <a:t>Continues until it emits an &lt;EOS&gt; (end‑of‑sequence) token.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Training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 lvl="1"/>
            <a:r>
              <a:rPr lang="en-IN" sz="1800" dirty="0">
                <a:latin typeface="Roboto Mono" pitchFamily="49" charset="0"/>
                <a:ea typeface="Roboto Mono" pitchFamily="49" charset="0"/>
              </a:rPr>
              <a:t>Uses </a:t>
            </a:r>
            <a:r>
              <a:rPr lang="en-IN" sz="1800" b="1" dirty="0">
                <a:latin typeface="Roboto Mono" pitchFamily="49" charset="0"/>
                <a:ea typeface="Roboto Mono" pitchFamily="49" charset="0"/>
              </a:rPr>
              <a:t>teacher forcing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: at each decoder step, you feed in the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true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 previous token rather than its prediction, which stabilizes and speeds learning.</a:t>
            </a:r>
          </a:p>
          <a:p>
            <a:pPr marL="0" indent="0">
              <a:buNone/>
            </a:pPr>
            <a:endParaRPr lang="en-IN" sz="18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77BF0-B3CA-98CE-F511-9C0B2EE97207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639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5FF58-5795-0BCF-41EB-AB334A77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A7A6-C34E-B06A-90AD-F5F1EAD5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Roboto Mono" pitchFamily="49" charset="0"/>
                <a:ea typeface="Roboto Mono" pitchFamily="49" charset="0"/>
              </a:rPr>
              <a:t>Key Components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4B82A6C-71A5-085A-E833-4F024C97F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8909587"/>
              </p:ext>
            </p:extLst>
          </p:nvPr>
        </p:nvGraphicFramePr>
        <p:xfrm>
          <a:off x="838200" y="1976851"/>
          <a:ext cx="10515600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79914">
                  <a:extLst>
                    <a:ext uri="{9D8B030D-6E8A-4147-A177-3AD203B41FA5}">
                      <a16:colId xmlns:a16="http://schemas.microsoft.com/office/drawing/2014/main" val="511306429"/>
                    </a:ext>
                  </a:extLst>
                </a:gridCol>
                <a:gridCol w="7935686">
                  <a:extLst>
                    <a:ext uri="{9D8B030D-6E8A-4147-A177-3AD203B41FA5}">
                      <a16:colId xmlns:a16="http://schemas.microsoft.com/office/drawing/2014/main" val="2718119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Component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Role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25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Roboto Mono" pitchFamily="49" charset="0"/>
                          <a:ea typeface="Roboto Mono" pitchFamily="49" charset="0"/>
                        </a:rPr>
                        <a:t>Encoder</a:t>
                      </a:r>
                      <a:endParaRPr lang="en-IN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Converts input tokens into continuous hidden states.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473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Roboto Mono" pitchFamily="49" charset="0"/>
                          <a:ea typeface="Roboto Mono" pitchFamily="49" charset="0"/>
                        </a:rPr>
                        <a:t>Context</a:t>
                      </a:r>
                      <a:endParaRPr lang="en-IN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Vector(s) summarizing input meaning (fixed or dynamic).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79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Roboto Mono" pitchFamily="49" charset="0"/>
                          <a:ea typeface="Roboto Mono" pitchFamily="49" charset="0"/>
                        </a:rPr>
                        <a:t>Decoder</a:t>
                      </a:r>
                      <a:endParaRPr lang="en-IN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Roboto Mono" pitchFamily="49" charset="0"/>
                          <a:ea typeface="Roboto Mono" pitchFamily="49" charset="0"/>
                        </a:rPr>
                        <a:t>Generates output tokens one step at a time.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3384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Roboto Mono" pitchFamily="49" charset="0"/>
                          <a:ea typeface="Roboto Mono" pitchFamily="49" charset="0"/>
                        </a:rPr>
                        <a:t>Attention</a:t>
                      </a:r>
                      <a:endParaRPr lang="en-IN">
                        <a:latin typeface="Roboto Mono" pitchFamily="49" charset="0"/>
                        <a:ea typeface="Roboto Mono" pitchFamily="49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Roboto Mono" pitchFamily="49" charset="0"/>
                          <a:ea typeface="Roboto Mono" pitchFamily="49" charset="0"/>
                        </a:rPr>
                        <a:t>(Optional but common) Computes a weighted “focus” over encoder states for each decoder step.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94965304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87CAC3-C553-8AFB-0580-C1CF7364F3B4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BB3161-7AEB-B71F-2FCD-BE0F44940BFC}"/>
              </a:ext>
            </a:extLst>
          </p:cNvPr>
          <p:cNvSpPr txBox="1"/>
          <p:nvPr/>
        </p:nvSpPr>
        <p:spPr>
          <a:xfrm>
            <a:off x="838199" y="4577086"/>
            <a:ext cx="105354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Roboto Mono" pitchFamily="49" charset="0"/>
                <a:ea typeface="Roboto Mono" pitchFamily="49" charset="0"/>
              </a:rPr>
              <a:t>Attention Intuition:</a:t>
            </a:r>
            <a:br>
              <a:rPr lang="en-IN" dirty="0">
                <a:latin typeface="Roboto Mono" pitchFamily="49" charset="0"/>
                <a:ea typeface="Roboto Mono" pitchFamily="49" charset="0"/>
              </a:rPr>
            </a:br>
            <a:r>
              <a:rPr lang="en-IN" dirty="0">
                <a:latin typeface="Roboto Mono" pitchFamily="49" charset="0"/>
                <a:ea typeface="Roboto Mono" pitchFamily="49" charset="0"/>
              </a:rPr>
              <a:t>At each word you’re translating, you glance back at the relevant part of the original sentence, rather than trying to remember it all in one smashed‑together vector.</a:t>
            </a:r>
            <a:endParaRPr lang="en-US" dirty="0">
              <a:latin typeface="Roboto Mono" pitchFamily="49" charset="0"/>
              <a:ea typeface="Roboto Mono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65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62F70-4E68-A544-ADD3-B8A560B2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740F-A18C-7C63-6E41-28FF4B08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Encoder-Decoder Approach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FB26C6-1C67-50E1-58E3-B5FC84196154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A379396-F313-3519-D437-BFBC7CCCDA5B}"/>
              </a:ext>
            </a:extLst>
          </p:cNvPr>
          <p:cNvSpPr/>
          <p:nvPr/>
        </p:nvSpPr>
        <p:spPr>
          <a:xfrm>
            <a:off x="2763295" y="2195567"/>
            <a:ext cx="1587639" cy="7611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F0495E-679D-D46B-1FEA-9FAA2964BA42}"/>
              </a:ext>
            </a:extLst>
          </p:cNvPr>
          <p:cNvSpPr/>
          <p:nvPr/>
        </p:nvSpPr>
        <p:spPr>
          <a:xfrm>
            <a:off x="7854458" y="2195566"/>
            <a:ext cx="1587639" cy="7611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4D790-7E7B-6E9A-C326-D5F49A9389A4}"/>
              </a:ext>
            </a:extLst>
          </p:cNvPr>
          <p:cNvSpPr txBox="1"/>
          <p:nvPr/>
        </p:nvSpPr>
        <p:spPr>
          <a:xfrm>
            <a:off x="680934" y="239148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How are you?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DB9B73-D305-6939-E87C-E835A1130DBB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2519899" y="2576148"/>
            <a:ext cx="24339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3C5649-55C1-3EBF-65D5-F52F2019325D}"/>
              </a:ext>
            </a:extLst>
          </p:cNvPr>
          <p:cNvSpPr txBox="1"/>
          <p:nvPr/>
        </p:nvSpPr>
        <p:spPr>
          <a:xfrm>
            <a:off x="4900449" y="1982907"/>
            <a:ext cx="29738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[</a:t>
            </a:r>
          </a:p>
          <a:p>
            <a:r>
              <a:rPr lang="en-IN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 [ 0.11, -0.18, 0.33, 0.44 ],</a:t>
            </a:r>
          </a:p>
          <a:p>
            <a:r>
              <a:rPr lang="en-IN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 [ 0.02, 0.54, -0.04, 0.28 ],</a:t>
            </a:r>
          </a:p>
          <a:p>
            <a:r>
              <a:rPr lang="en-IN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 [ 0.33, 0.26, 0.19, -0.18 ],</a:t>
            </a:r>
          </a:p>
          <a:p>
            <a:r>
              <a:rPr lang="en-IN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 [-0.06, 0.18, 0.52, 0.36 ]</a:t>
            </a:r>
          </a:p>
          <a:p>
            <a:r>
              <a:rPr lang="en-IN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]</a:t>
            </a:r>
            <a:endParaRPr lang="en-US" sz="1200" dirty="0">
              <a:latin typeface="Roboto Mono" pitchFamily="49" charset="0"/>
              <a:ea typeface="Roboto Mono" pitchFamily="49" charset="0"/>
              <a:cs typeface="Verdana" panose="020B060403050404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5E0D71-E735-D969-E6A9-556C23DEE13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4350934" y="2576149"/>
            <a:ext cx="549515" cy="6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9427DA-954D-3FAA-803E-E436128F691C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H="1" flipV="1">
            <a:off x="7854458" y="2576148"/>
            <a:ext cx="19882" cy="6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38D10A-E780-79C8-CF49-AE7622DDE96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9442097" y="2576147"/>
            <a:ext cx="35839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E29CF5-6087-4A2D-BDFD-27170A347DAB}"/>
              </a:ext>
            </a:extLst>
          </p:cNvPr>
          <p:cNvSpPr txBox="1"/>
          <p:nvPr/>
        </p:nvSpPr>
        <p:spPr>
          <a:xfrm>
            <a:off x="5242925" y="3044736"/>
            <a:ext cx="14590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REPRESENTATION*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FD1E8-8710-F885-D8DF-D522330B461D}"/>
              </a:ext>
            </a:extLst>
          </p:cNvPr>
          <p:cNvSpPr txBox="1"/>
          <p:nvPr/>
        </p:nvSpPr>
        <p:spPr>
          <a:xfrm>
            <a:off x="807600" y="5478697"/>
            <a:ext cx="74106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i="1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Illustrative example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i="1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simplified 4-dimensional embedding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i="1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Models like Word2Vec or </a:t>
            </a:r>
            <a:r>
              <a:rPr lang="en-IN" sz="1200" i="1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GloVe</a:t>
            </a:r>
            <a:r>
              <a:rPr lang="en-IN" sz="1200" i="1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often use embedding dimensions in the range of 200-300.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i="1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Transformers (like BERT, GPT, etc.) 512/768/1024 dimensional embeddings)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i="1" dirty="0">
              <a:latin typeface="Roboto Mono" pitchFamily="49" charset="0"/>
              <a:ea typeface="Roboto Mono" pitchFamily="49" charset="0"/>
              <a:cs typeface="Verdana" panose="020B060403050404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10557A7-C99E-A0C4-0BAA-AB66D1358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5403"/>
              </p:ext>
            </p:extLst>
          </p:nvPr>
        </p:nvGraphicFramePr>
        <p:xfrm>
          <a:off x="807600" y="3534495"/>
          <a:ext cx="103297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426">
                  <a:extLst>
                    <a:ext uri="{9D8B030D-6E8A-4147-A177-3AD203B41FA5}">
                      <a16:colId xmlns:a16="http://schemas.microsoft.com/office/drawing/2014/main" val="3553388615"/>
                    </a:ext>
                  </a:extLst>
                </a:gridCol>
                <a:gridCol w="2582426">
                  <a:extLst>
                    <a:ext uri="{9D8B030D-6E8A-4147-A177-3AD203B41FA5}">
                      <a16:colId xmlns:a16="http://schemas.microsoft.com/office/drawing/2014/main" val="2051106228"/>
                    </a:ext>
                  </a:extLst>
                </a:gridCol>
                <a:gridCol w="2582426">
                  <a:extLst>
                    <a:ext uri="{9D8B030D-6E8A-4147-A177-3AD203B41FA5}">
                      <a16:colId xmlns:a16="http://schemas.microsoft.com/office/drawing/2014/main" val="378295381"/>
                    </a:ext>
                  </a:extLst>
                </a:gridCol>
                <a:gridCol w="2582426">
                  <a:extLst>
                    <a:ext uri="{9D8B030D-6E8A-4147-A177-3AD203B41FA5}">
                      <a16:colId xmlns:a16="http://schemas.microsoft.com/office/drawing/2014/main" val="2423603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Positional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Final Representation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314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How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[0.1, -0.2, 0.3, 0.4]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[0.01, 0.02, 0.03, 0.04]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[0.11, -0.18, 0.33, 0.44]</a:t>
                      </a:r>
                      <a:endParaRPr lang="en-IN" sz="1200" dirty="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73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[0.0, 0.5, -0.1, 0.2]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[0.02, 0.04, 0.06, 0.08]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[0.02, 0.54, -0.04, 0.28]</a:t>
                      </a:r>
                      <a:endParaRPr lang="en-IN" sz="1200" dirty="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46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you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[0.3, 0.2, 0.1, -0.3]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[0.03, 0.06, 0.09, 0.12]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[0.33, 0.26, 0.19, -0.18]</a:t>
                      </a:r>
                      <a:endParaRPr lang="en-IN" sz="120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59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[-0.1, 0.1, 0.4, 0.2]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[0.04, 0.08, 0.12, 0.16]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[-0.06, 0.18, 0.52, 0.36]</a:t>
                      </a:r>
                      <a:endParaRPr lang="en-IN" sz="1200" dirty="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452671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DE275E3-0648-7BC7-DE5C-C6280B263C55}"/>
              </a:ext>
            </a:extLst>
          </p:cNvPr>
          <p:cNvSpPr txBox="1"/>
          <p:nvPr/>
        </p:nvSpPr>
        <p:spPr>
          <a:xfrm>
            <a:off x="9800492" y="2391481"/>
            <a:ext cx="2055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¿</a:t>
            </a:r>
            <a:r>
              <a:rPr lang="en-US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Cómo</a:t>
            </a:r>
            <a:r>
              <a:rPr lang="en-US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</a:t>
            </a:r>
            <a:r>
              <a:rPr lang="en-US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estás</a:t>
            </a:r>
            <a:r>
              <a:rPr lang="en-US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2712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89139-ED92-511F-8C22-6A74060B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E72ED-4CC2-6BA1-31AA-CF188C77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Roboto Mono" pitchFamily="49" charset="0"/>
                <a:ea typeface="Roboto Mono" pitchFamily="49" charset="0"/>
              </a:rPr>
              <a:t>Why Seq2Seq Excels at NLP Tasks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709FF-D872-7CDC-D505-1915E972F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Variable‑length input &amp; output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Unlike a fixed‑size FCFNN, seq2seq naturally handles any sentence length on both sides.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Context preservation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The encoder builds a rich, distributed representation of </a:t>
            </a:r>
            <a:r>
              <a:rPr lang="en-IN" sz="1800" i="1" dirty="0">
                <a:latin typeface="Roboto Mono" pitchFamily="49" charset="0"/>
                <a:ea typeface="Roboto Mono" pitchFamily="49" charset="0"/>
              </a:rPr>
              <a:t>the entire input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; the decoder can access that global context when generating each word.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Fine‑grained focus with attention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Attention lets the model learn alignments—e.g., which source word to look at when producing each target word—critical for tasks like translation or summarization.</a:t>
            </a:r>
          </a:p>
          <a:p>
            <a:pPr>
              <a:buNone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Versatility across tasks</a:t>
            </a:r>
            <a:endParaRPr lang="en-IN" sz="1800" dirty="0">
              <a:latin typeface="Roboto Mono" pitchFamily="49" charset="0"/>
              <a:ea typeface="Roboto Mono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Roboto Mono" pitchFamily="49" charset="0"/>
                <a:ea typeface="Roboto Mono" pitchFamily="49" charset="0"/>
              </a:rPr>
              <a:t>By changing training data, the same architecture can learn translation, chatbots, summarization, question answering, code generation, etc.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E5B4F2-F7CC-EF1D-E316-D92E28E40BFF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848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F469F-EAFA-4796-1054-E11201DD9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05F4-3A30-EC8E-8F2D-E9792290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Roboto Mono" pitchFamily="49" charset="0"/>
                <a:ea typeface="Roboto Mono" pitchFamily="49" charset="0"/>
              </a:rPr>
              <a:t>Why We Needed Attention in Seq2Seq</a:t>
            </a:r>
            <a:endParaRPr lang="en-US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B1AA-5FCF-3FC8-DCB4-CCFD689B3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Bottleneck of a single vector: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In vanilla seq2seq, the encoder squashes the entire input into one fixed‑size context vector. All of the decoder’s predictions must squeeze through that narrow “door.”</a:t>
            </a:r>
          </a:p>
          <a:p>
            <a:r>
              <a:rPr lang="en-IN" sz="1800" b="1" dirty="0">
                <a:latin typeface="Roboto Mono" pitchFamily="49" charset="0"/>
                <a:ea typeface="Roboto Mono" pitchFamily="49" charset="0"/>
              </a:rPr>
              <a:t>Struggle with long inputs: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As sentences grow longer, critical details get lost or blurred. The model “forgets” which parts of the input matter at each generation step.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6F1C994-8B5B-FA0E-FB46-8E5968EDB5EB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A870A6C-89D1-D489-0097-2538CF49496F}"/>
              </a:ext>
            </a:extLst>
          </p:cNvPr>
          <p:cNvSpPr txBox="1"/>
          <p:nvPr/>
        </p:nvSpPr>
        <p:spPr>
          <a:xfrm>
            <a:off x="848140" y="4385492"/>
            <a:ext cx="105354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Roboto Mono" pitchFamily="49" charset="0"/>
                <a:ea typeface="Roboto Mono" pitchFamily="49" charset="0"/>
              </a:rPr>
              <a:t>Analogy:</a:t>
            </a:r>
            <a:br>
              <a:rPr lang="en-IN" dirty="0">
                <a:latin typeface="Roboto Mono" pitchFamily="49" charset="0"/>
                <a:ea typeface="Roboto Mono" pitchFamily="49" charset="0"/>
              </a:rPr>
            </a:br>
            <a:r>
              <a:rPr lang="en-IN" dirty="0">
                <a:latin typeface="Roboto Mono" pitchFamily="49" charset="0"/>
                <a:ea typeface="Roboto Mono" pitchFamily="49" charset="0"/>
              </a:rPr>
              <a:t>Imagine trying to summarize an entire novel into one sentence and then generating a new novel from that summary—you’ll inevitably miss nuances.</a:t>
            </a:r>
          </a:p>
        </p:txBody>
      </p:sp>
    </p:spTree>
    <p:extLst>
      <p:ext uri="{BB962C8B-B14F-4D97-AF65-F5344CB8AC3E}">
        <p14:creationId xmlns:p14="http://schemas.microsoft.com/office/powerpoint/2010/main" val="618908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65CA66-D71B-583F-F42E-1F7C6415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9F631-86E9-8DC7-7335-A40F0EB9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latin typeface="Roboto Mono" pitchFamily="49" charset="0"/>
                <a:ea typeface="Roboto Mono" pitchFamily="49" charset="0"/>
              </a:rPr>
              <a:t>The Core Idea of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C0E6E-FB07-9E96-7086-390345481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Dynamic focus: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At each decoding step, instead of using only one static context, the model “looks back” at all encoder outputs and decides which words to emphasize.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Weighted sum of encoder states:</a:t>
            </a:r>
            <a:br>
              <a:rPr lang="en-IN" sz="1800" dirty="0">
                <a:latin typeface="Roboto Mono" pitchFamily="49" charset="0"/>
                <a:ea typeface="Roboto Mono" pitchFamily="49" charset="0"/>
              </a:rPr>
            </a:br>
            <a:r>
              <a:rPr lang="en-IN" sz="1800" dirty="0">
                <a:latin typeface="Roboto Mono" pitchFamily="49" charset="0"/>
                <a:ea typeface="Roboto Mono" pitchFamily="49" charset="0"/>
              </a:rPr>
              <a:t>These emphasis scores (attention weights) determine how much each encoder hidden state contributes to the current context vector.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53B01D-E972-8258-255B-63FC11E255AE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66BB29-7995-8ACB-69D2-5B704692E32D}"/>
              </a:ext>
            </a:extLst>
          </p:cNvPr>
          <p:cNvSpPr txBox="1"/>
          <p:nvPr/>
        </p:nvSpPr>
        <p:spPr>
          <a:xfrm>
            <a:off x="848140" y="4385492"/>
            <a:ext cx="105354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Roboto Mono" pitchFamily="49" charset="0"/>
                <a:ea typeface="Roboto Mono" pitchFamily="49" charset="0"/>
              </a:rPr>
              <a:t>Analogy:</a:t>
            </a:r>
            <a:br>
              <a:rPr lang="en-IN" dirty="0">
                <a:latin typeface="Roboto Mono" pitchFamily="49" charset="0"/>
                <a:ea typeface="Roboto Mono" pitchFamily="49" charset="0"/>
              </a:rPr>
            </a:br>
            <a:r>
              <a:rPr lang="en-IN" dirty="0">
                <a:latin typeface="Roboto Mono" pitchFamily="49" charset="0"/>
                <a:ea typeface="Roboto Mono" pitchFamily="49" charset="0"/>
              </a:rPr>
              <a:t>Think of a student highlighting different parts of a textbook when writing each sentence of an essay—sometimes you highlight the introduction, sometimes a key paragraph.</a:t>
            </a:r>
          </a:p>
        </p:txBody>
      </p:sp>
    </p:spTree>
    <p:extLst>
      <p:ext uri="{BB962C8B-B14F-4D97-AF65-F5344CB8AC3E}">
        <p14:creationId xmlns:p14="http://schemas.microsoft.com/office/powerpoint/2010/main" val="1369547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B7BBE-4E1F-A6BB-8594-4F86415F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F993B-3049-C4FD-22EF-668EA6B1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Roboto Mono" pitchFamily="49" charset="0"/>
                <a:ea typeface="Roboto Mono" pitchFamily="49" charset="0"/>
              </a:rPr>
              <a:t>Transformers: Core Mechanism	</a:t>
            </a:r>
            <a:endParaRPr lang="en-IN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F63C7-A9FB-23B5-FE37-03F991B7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Self-Attention: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Allows the model to weigh the importance of different tokens in the sequence, thus capturing relationships between words regardless of their distance in the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Multi-Head Attention: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Employs multiple self-attention heads to capture diverse aspects of the relationships between tokens.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Feed-Forward Networks: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Applied to each position separately, further processing the representations.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Roboto Mono" pitchFamily="49" charset="0"/>
                <a:ea typeface="Roboto Mono" pitchFamily="49" charset="0"/>
              </a:rPr>
              <a:t>Positional Encoding: </a:t>
            </a:r>
            <a:r>
              <a:rPr lang="en-IN" sz="1800" dirty="0">
                <a:latin typeface="Roboto Mono" pitchFamily="49" charset="0"/>
                <a:ea typeface="Roboto Mono" pitchFamily="49" charset="0"/>
              </a:rPr>
              <a:t>Adds information about the position of tokens in the sequence, compensating for the lack of recurrence.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8DCBC0-31C7-D526-5ECA-BF897F69405E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630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7DC85-DC53-1731-C48D-DF1513CD2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A3D1-B25F-FDBB-5E9D-BA135FA7A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Roboto Mono" pitchFamily="49" charset="0"/>
                <a:ea typeface="Roboto Mono" pitchFamily="49" charset="0"/>
              </a:rPr>
              <a:t>Multi-head Attention Mechanism</a:t>
            </a:r>
            <a:endParaRPr lang="en-IN" sz="2400" b="1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49E4C21-8CAB-F25C-5492-0BF445F4E29A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23216E-945A-9D59-5B58-EFCD8352A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060122"/>
              </p:ext>
            </p:extLst>
          </p:nvPr>
        </p:nvGraphicFramePr>
        <p:xfrm>
          <a:off x="1940447" y="2029441"/>
          <a:ext cx="8128001" cy="402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401493969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1295596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25386187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9338044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891764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9994582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372654953"/>
                    </a:ext>
                  </a:extLst>
                </a:gridCol>
              </a:tblGrid>
              <a:tr h="40226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sat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the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33278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49C425B-694A-E679-E41F-6288010810F1}"/>
              </a:ext>
            </a:extLst>
          </p:cNvPr>
          <p:cNvSpPr/>
          <p:nvPr/>
        </p:nvSpPr>
        <p:spPr>
          <a:xfrm>
            <a:off x="1899138" y="2833727"/>
            <a:ext cx="816931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</a:rPr>
              <a:t>Embedding &amp; Positional Encodings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A12B5C-AE3E-6F3E-C714-3F388D18EF0C}"/>
              </a:ext>
            </a:extLst>
          </p:cNvPr>
          <p:cNvSpPr/>
          <p:nvPr/>
        </p:nvSpPr>
        <p:spPr>
          <a:xfrm>
            <a:off x="1899138" y="3644164"/>
            <a:ext cx="816931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</a:rPr>
              <a:t>Multi-head attention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CDEB0A-9DE8-AF94-A293-8ED0EF83C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21380"/>
              </p:ext>
            </p:extLst>
          </p:nvPr>
        </p:nvGraphicFramePr>
        <p:xfrm>
          <a:off x="2843684" y="4454602"/>
          <a:ext cx="6280218" cy="82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3406">
                  <a:extLst>
                    <a:ext uri="{9D8B030D-6E8A-4147-A177-3AD203B41FA5}">
                      <a16:colId xmlns:a16="http://schemas.microsoft.com/office/drawing/2014/main" val="4014939690"/>
                    </a:ext>
                  </a:extLst>
                </a:gridCol>
                <a:gridCol w="2093406">
                  <a:extLst>
                    <a:ext uri="{9D8B030D-6E8A-4147-A177-3AD203B41FA5}">
                      <a16:colId xmlns:a16="http://schemas.microsoft.com/office/drawing/2014/main" val="2612955968"/>
                    </a:ext>
                  </a:extLst>
                </a:gridCol>
                <a:gridCol w="2093406">
                  <a:extLst>
                    <a:ext uri="{9D8B030D-6E8A-4147-A177-3AD203B41FA5}">
                      <a16:colId xmlns:a16="http://schemas.microsoft.com/office/drawing/2014/main" val="4253861872"/>
                    </a:ext>
                  </a:extLst>
                </a:gridCol>
              </a:tblGrid>
              <a:tr h="4823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Head 1</a:t>
                      </a:r>
                    </a:p>
                    <a:p>
                      <a:pPr algn="ctr"/>
                      <a:r>
                        <a:rPr lang="en-IN" sz="1200" dirty="0">
                          <a:latin typeface="Roboto Mono" pitchFamily="49" charset="0"/>
                          <a:ea typeface="Roboto Mono" pitchFamily="49" charset="0"/>
                        </a:rPr>
                        <a:t>E.g., captures subject-object relationships)</a:t>
                      </a:r>
                      <a:endParaRPr lang="en-US" sz="1200" dirty="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Head 2</a:t>
                      </a:r>
                    </a:p>
                    <a:p>
                      <a:pPr algn="ctr"/>
                      <a:r>
                        <a:rPr lang="en-IN" sz="1200" dirty="0">
                          <a:latin typeface="Roboto Mono" pitchFamily="49" charset="0"/>
                          <a:ea typeface="Roboto Mono" pitchFamily="49" charset="0"/>
                        </a:rPr>
                        <a:t>(E.g., focuses on positional patterns) </a:t>
                      </a:r>
                      <a:endParaRPr lang="en-US" sz="1200" dirty="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Roboto Mono" pitchFamily="49" charset="0"/>
                          <a:ea typeface="Roboto Mono" pitchFamily="49" charset="0"/>
                          <a:cs typeface="Verdana" panose="020B0604030504040204" pitchFamily="34" charset="0"/>
                        </a:rPr>
                        <a:t>Head 3 </a:t>
                      </a:r>
                    </a:p>
                    <a:p>
                      <a:pPr algn="ctr"/>
                      <a:r>
                        <a:rPr lang="en-IN" sz="1200" dirty="0">
                          <a:latin typeface="Roboto Mono" pitchFamily="49" charset="0"/>
                          <a:ea typeface="Roboto Mono" pitchFamily="49" charset="0"/>
                        </a:rPr>
                        <a:t>(E.g., detects syntactic/semantic nuances)</a:t>
                      </a:r>
                      <a:endParaRPr lang="en-US" sz="1200" dirty="0">
                        <a:latin typeface="Roboto Mono" pitchFamily="49" charset="0"/>
                        <a:ea typeface="Roboto Mono" pitchFamily="49" charset="0"/>
                        <a:cs typeface="Verdana" panose="020B060403050404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33278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EC901D1-B26E-96EA-03F6-D6E5581A24F7}"/>
              </a:ext>
            </a:extLst>
          </p:cNvPr>
          <p:cNvSpPr/>
          <p:nvPr/>
        </p:nvSpPr>
        <p:spPr>
          <a:xfrm>
            <a:off x="1899138" y="5499782"/>
            <a:ext cx="8169310" cy="482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</a:rPr>
              <a:t>Combined Context (Enhanced Token Representations)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6960ED-E6A9-3372-922F-2C4FC689C60C}"/>
              </a:ext>
            </a:extLst>
          </p:cNvPr>
          <p:cNvCxnSpPr/>
          <p:nvPr/>
        </p:nvCxnSpPr>
        <p:spPr>
          <a:xfrm>
            <a:off x="2532185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55DD86-2A9E-AA73-DE4D-56C20706254F}"/>
              </a:ext>
            </a:extLst>
          </p:cNvPr>
          <p:cNvCxnSpPr/>
          <p:nvPr/>
        </p:nvCxnSpPr>
        <p:spPr>
          <a:xfrm>
            <a:off x="3739661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5E9DBA-B30E-C33D-D6BD-97144218E0E3}"/>
              </a:ext>
            </a:extLst>
          </p:cNvPr>
          <p:cNvCxnSpPr/>
          <p:nvPr/>
        </p:nvCxnSpPr>
        <p:spPr>
          <a:xfrm>
            <a:off x="4866751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639E56-A81C-5809-5417-283F468248CF}"/>
              </a:ext>
            </a:extLst>
          </p:cNvPr>
          <p:cNvCxnSpPr/>
          <p:nvPr/>
        </p:nvCxnSpPr>
        <p:spPr>
          <a:xfrm>
            <a:off x="6096000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543967-B96C-AF92-6443-17519D000507}"/>
              </a:ext>
            </a:extLst>
          </p:cNvPr>
          <p:cNvCxnSpPr/>
          <p:nvPr/>
        </p:nvCxnSpPr>
        <p:spPr>
          <a:xfrm>
            <a:off x="7192945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E9D831A-1BF7-0616-C2DE-A2FC58EB1E93}"/>
              </a:ext>
            </a:extLst>
          </p:cNvPr>
          <p:cNvCxnSpPr/>
          <p:nvPr/>
        </p:nvCxnSpPr>
        <p:spPr>
          <a:xfrm>
            <a:off x="8360229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6159DF-C813-5FBC-5085-5CF47621994F}"/>
              </a:ext>
            </a:extLst>
          </p:cNvPr>
          <p:cNvCxnSpPr/>
          <p:nvPr/>
        </p:nvCxnSpPr>
        <p:spPr>
          <a:xfrm>
            <a:off x="9507416" y="2431701"/>
            <a:ext cx="0" cy="40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2A0C4E-0A48-AB4A-5EB1-5D3EB14E59CE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983793" y="3316048"/>
            <a:ext cx="0" cy="328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40FEA7-FC7D-9FD0-CCDD-03CDDB448E1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160018" y="4126485"/>
            <a:ext cx="1823775" cy="32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03BBDC-2DFA-F2B3-1E1D-8A3AF7B6B12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983793" y="4126485"/>
            <a:ext cx="2185517" cy="328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2FEEE6-FFA2-18D2-C4EC-08D5208E197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983793" y="4126485"/>
            <a:ext cx="0" cy="32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F4FFF5-C5FC-BF49-65C6-87622D17AB6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962400" y="5277562"/>
            <a:ext cx="2021393" cy="222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24B01EE-BD74-2651-910D-F90C692558A9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983793" y="5277562"/>
            <a:ext cx="2376436" cy="222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252C55-83F1-70D1-8D22-7A13A66B78E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983793" y="5277562"/>
            <a:ext cx="0" cy="222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598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7DD643-A319-DE50-A073-8DD77588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29808D-F757-0FAB-F65B-32FCBA688A52}"/>
              </a:ext>
            </a:extLst>
          </p:cNvPr>
          <p:cNvCxnSpPr>
            <a:stCxn id="80" idx="2"/>
            <a:endCxn id="82" idx="0"/>
          </p:cNvCxnSpPr>
          <p:nvPr/>
        </p:nvCxnSpPr>
        <p:spPr>
          <a:xfrm>
            <a:off x="10928421" y="801683"/>
            <a:ext cx="53048" cy="518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59D3B2-6E29-44F8-502A-F67AA1990EAD}"/>
              </a:ext>
            </a:extLst>
          </p:cNvPr>
          <p:cNvCxnSpPr>
            <a:cxnSpLocks/>
            <a:stCxn id="44" idx="0"/>
            <a:endCxn id="33" idx="2"/>
          </p:cNvCxnSpPr>
          <p:nvPr/>
        </p:nvCxnSpPr>
        <p:spPr>
          <a:xfrm flipV="1">
            <a:off x="2796718" y="512430"/>
            <a:ext cx="98082" cy="2288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7DFB11-0082-847D-208C-7DD53A11DAC3}"/>
              </a:ext>
            </a:extLst>
          </p:cNvPr>
          <p:cNvSpPr txBox="1"/>
          <p:nvPr/>
        </p:nvSpPr>
        <p:spPr>
          <a:xfrm>
            <a:off x="2210791" y="6437788"/>
            <a:ext cx="1300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How are you?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576330-3538-BD52-FEE9-1810A8BD8241}"/>
              </a:ext>
            </a:extLst>
          </p:cNvPr>
          <p:cNvSpPr/>
          <p:nvPr/>
        </p:nvSpPr>
        <p:spPr>
          <a:xfrm>
            <a:off x="1719389" y="5911979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Input Embedding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A2AC96-FF9D-8C42-3CCA-B59E4C89B727}"/>
              </a:ext>
            </a:extLst>
          </p:cNvPr>
          <p:cNvSpPr/>
          <p:nvPr/>
        </p:nvSpPr>
        <p:spPr>
          <a:xfrm>
            <a:off x="1713531" y="4029377"/>
            <a:ext cx="2225708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Addition &amp; Normalization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3F8E8D-7F13-FAB2-48C4-BBBF4C04512E}"/>
              </a:ext>
            </a:extLst>
          </p:cNvPr>
          <p:cNvSpPr/>
          <p:nvPr/>
        </p:nvSpPr>
        <p:spPr>
          <a:xfrm>
            <a:off x="200966" y="5354443"/>
            <a:ext cx="1719389" cy="373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Positional Encoding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317EE2-A047-9534-7B8A-C7CF431E57FA}"/>
              </a:ext>
            </a:extLst>
          </p:cNvPr>
          <p:cNvSpPr/>
          <p:nvPr/>
        </p:nvSpPr>
        <p:spPr>
          <a:xfrm>
            <a:off x="1713532" y="4541540"/>
            <a:ext cx="2225708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Multi-head attention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616AB4-D185-BAB1-A044-2E01EC959A9F}"/>
              </a:ext>
            </a:extLst>
          </p:cNvPr>
          <p:cNvSpPr/>
          <p:nvPr/>
        </p:nvSpPr>
        <p:spPr>
          <a:xfrm>
            <a:off x="1713531" y="3416936"/>
            <a:ext cx="2225708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Feedforward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4C0E80-62C4-0AFA-2FAA-2E419982AF3B}"/>
              </a:ext>
            </a:extLst>
          </p:cNvPr>
          <p:cNvSpPr txBox="1"/>
          <p:nvPr/>
        </p:nvSpPr>
        <p:spPr>
          <a:xfrm>
            <a:off x="2151648" y="235431"/>
            <a:ext cx="1486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Representation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858EB2-7424-B5E4-0D9C-A4B6481EF131}"/>
              </a:ext>
            </a:extLst>
          </p:cNvPr>
          <p:cNvSpPr/>
          <p:nvPr/>
        </p:nvSpPr>
        <p:spPr>
          <a:xfrm>
            <a:off x="1713530" y="2905077"/>
            <a:ext cx="2225708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Addition &amp; Normalization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2DE983-4249-4E22-5720-5EA20D605621}"/>
              </a:ext>
            </a:extLst>
          </p:cNvPr>
          <p:cNvCxnSpPr>
            <a:stCxn id="27" idx="0"/>
            <a:endCxn id="28" idx="2"/>
          </p:cNvCxnSpPr>
          <p:nvPr/>
        </p:nvCxnSpPr>
        <p:spPr>
          <a:xfrm flipH="1" flipV="1">
            <a:off x="2832243" y="6293816"/>
            <a:ext cx="28726" cy="143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130F1F3-C69B-BFD5-774E-7AB3D8522E4C}"/>
              </a:ext>
            </a:extLst>
          </p:cNvPr>
          <p:cNvSpPr/>
          <p:nvPr/>
        </p:nvSpPr>
        <p:spPr>
          <a:xfrm>
            <a:off x="2581033" y="5284103"/>
            <a:ext cx="502417" cy="50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</a:rPr>
              <a:t>~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74601EA-E9E1-DB1C-7DEC-0297079D07DD}"/>
              </a:ext>
            </a:extLst>
          </p:cNvPr>
          <p:cNvCxnSpPr>
            <a:cxnSpLocks/>
            <a:stCxn id="30" idx="3"/>
            <a:endCxn id="36" idx="2"/>
          </p:cNvCxnSpPr>
          <p:nvPr/>
        </p:nvCxnSpPr>
        <p:spPr>
          <a:xfrm flipV="1">
            <a:off x="1920355" y="5536103"/>
            <a:ext cx="660678" cy="5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C8511A-44D5-F393-C48B-7D3EE9AE5227}"/>
              </a:ext>
            </a:extLst>
          </p:cNvPr>
          <p:cNvCxnSpPr>
            <a:cxnSpLocks/>
            <a:stCxn id="28" idx="0"/>
            <a:endCxn id="36" idx="4"/>
          </p:cNvCxnSpPr>
          <p:nvPr/>
        </p:nvCxnSpPr>
        <p:spPr>
          <a:xfrm flipH="1" flipV="1">
            <a:off x="2832242" y="5788103"/>
            <a:ext cx="1" cy="123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AD63722-784A-79B6-1AAF-1D9DA863C1E8}"/>
              </a:ext>
            </a:extLst>
          </p:cNvPr>
          <p:cNvCxnSpPr>
            <a:stCxn id="31" idx="0"/>
            <a:endCxn id="29" idx="2"/>
          </p:cNvCxnSpPr>
          <p:nvPr/>
        </p:nvCxnSpPr>
        <p:spPr>
          <a:xfrm flipH="1" flipV="1">
            <a:off x="2826385" y="4411214"/>
            <a:ext cx="1" cy="1303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C4BB3F3-E75B-1926-4310-CCB24CBC20AB}"/>
              </a:ext>
            </a:extLst>
          </p:cNvPr>
          <p:cNvCxnSpPr>
            <a:stCxn id="29" idx="0"/>
            <a:endCxn id="32" idx="2"/>
          </p:cNvCxnSpPr>
          <p:nvPr/>
        </p:nvCxnSpPr>
        <p:spPr>
          <a:xfrm flipV="1">
            <a:off x="2826385" y="3798773"/>
            <a:ext cx="0" cy="230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00D400C-0679-F2B2-0E86-218C7C99FFCC}"/>
              </a:ext>
            </a:extLst>
          </p:cNvPr>
          <p:cNvCxnSpPr>
            <a:stCxn id="32" idx="0"/>
            <a:endCxn id="34" idx="2"/>
          </p:cNvCxnSpPr>
          <p:nvPr/>
        </p:nvCxnSpPr>
        <p:spPr>
          <a:xfrm flipH="1" flipV="1">
            <a:off x="2826384" y="3286914"/>
            <a:ext cx="1" cy="130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AC1F1CB4-A456-ED93-6CBA-938297A51D26}"/>
              </a:ext>
            </a:extLst>
          </p:cNvPr>
          <p:cNvCxnSpPr>
            <a:cxnSpLocks/>
            <a:endCxn id="34" idx="1"/>
          </p:cNvCxnSpPr>
          <p:nvPr/>
        </p:nvCxnSpPr>
        <p:spPr>
          <a:xfrm rot="10800000">
            <a:off x="1713530" y="3095996"/>
            <a:ext cx="1083188" cy="840312"/>
          </a:xfrm>
          <a:prstGeom prst="bentConnector3">
            <a:avLst>
              <a:gd name="adj1" fmla="val 121104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E345EBD-7979-4F92-ACF9-7A1C503D218B}"/>
              </a:ext>
            </a:extLst>
          </p:cNvPr>
          <p:cNvCxnSpPr>
            <a:cxnSpLocks/>
            <a:endCxn id="31" idx="2"/>
          </p:cNvCxnSpPr>
          <p:nvPr/>
        </p:nvCxnSpPr>
        <p:spPr>
          <a:xfrm flipH="1" flipV="1">
            <a:off x="2826386" y="4923377"/>
            <a:ext cx="5856" cy="62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244C320-C997-A102-E7B9-B0CEAEE66166}"/>
              </a:ext>
            </a:extLst>
          </p:cNvPr>
          <p:cNvSpPr/>
          <p:nvPr/>
        </p:nvSpPr>
        <p:spPr>
          <a:xfrm>
            <a:off x="1294631" y="2800991"/>
            <a:ext cx="3004174" cy="2402051"/>
          </a:xfrm>
          <a:prstGeom prst="roundRect">
            <a:avLst>
              <a:gd name="adj" fmla="val 35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0E1DAD85-56F5-4C30-B47E-66883FAD2CD9}"/>
              </a:ext>
            </a:extLst>
          </p:cNvPr>
          <p:cNvCxnSpPr>
            <a:endCxn id="29" idx="1"/>
          </p:cNvCxnSpPr>
          <p:nvPr/>
        </p:nvCxnSpPr>
        <p:spPr>
          <a:xfrm rot="10800000">
            <a:off x="1713532" y="4220296"/>
            <a:ext cx="1112853" cy="857080"/>
          </a:xfrm>
          <a:prstGeom prst="bentConnector3">
            <a:avLst>
              <a:gd name="adj1" fmla="val 120542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F7EE1B7-AA4C-78CA-25FE-CF4C7BA51A79}"/>
              </a:ext>
            </a:extLst>
          </p:cNvPr>
          <p:cNvSpPr txBox="1"/>
          <p:nvPr/>
        </p:nvSpPr>
        <p:spPr>
          <a:xfrm rot="16200000">
            <a:off x="507886" y="3682586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 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58D0CD-D7C6-983E-C3F0-7333BE8848F0}"/>
              </a:ext>
            </a:extLst>
          </p:cNvPr>
          <p:cNvSpPr/>
          <p:nvPr/>
        </p:nvSpPr>
        <p:spPr>
          <a:xfrm>
            <a:off x="1713531" y="2307831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 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CEEE09-542D-65BF-D958-5E4B82EC5623}"/>
              </a:ext>
            </a:extLst>
          </p:cNvPr>
          <p:cNvSpPr/>
          <p:nvPr/>
        </p:nvSpPr>
        <p:spPr>
          <a:xfrm>
            <a:off x="1713531" y="1899437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 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C82F57-1389-C1F2-93F0-0D4A1B3BAE46}"/>
              </a:ext>
            </a:extLst>
          </p:cNvPr>
          <p:cNvSpPr/>
          <p:nvPr/>
        </p:nvSpPr>
        <p:spPr>
          <a:xfrm>
            <a:off x="1713531" y="1487301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 4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C974AD9-9F15-9375-A8F7-A5777C6BB132}"/>
              </a:ext>
            </a:extLst>
          </p:cNvPr>
          <p:cNvSpPr/>
          <p:nvPr/>
        </p:nvSpPr>
        <p:spPr>
          <a:xfrm>
            <a:off x="1713531" y="1077004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 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63829F-6562-55DC-5A07-27BD441558E0}"/>
              </a:ext>
            </a:extLst>
          </p:cNvPr>
          <p:cNvSpPr/>
          <p:nvPr/>
        </p:nvSpPr>
        <p:spPr>
          <a:xfrm>
            <a:off x="1713531" y="664379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Encoder 6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9D2A929-9279-55ED-D345-64C6CA00261B}"/>
              </a:ext>
            </a:extLst>
          </p:cNvPr>
          <p:cNvCxnSpPr>
            <a:cxnSpLocks/>
            <a:stCxn id="69" idx="0"/>
            <a:endCxn id="75" idx="2"/>
          </p:cNvCxnSpPr>
          <p:nvPr/>
        </p:nvCxnSpPr>
        <p:spPr>
          <a:xfrm flipV="1">
            <a:off x="8132844" y="801683"/>
            <a:ext cx="34928" cy="1356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56B2E67-EFDF-CAC0-0A09-C7A541F218EC}"/>
              </a:ext>
            </a:extLst>
          </p:cNvPr>
          <p:cNvSpPr txBox="1"/>
          <p:nvPr/>
        </p:nvSpPr>
        <p:spPr>
          <a:xfrm>
            <a:off x="7265566" y="6499726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&lt;</a:t>
            </a:r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sos</a:t>
            </a:r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&gt; ¿</a:t>
            </a:r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Cómo</a:t>
            </a:r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estás</a:t>
            </a:r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?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F7182C-C6AA-5D7F-E395-C8F191A5E3FD}"/>
              </a:ext>
            </a:extLst>
          </p:cNvPr>
          <p:cNvSpPr/>
          <p:nvPr/>
        </p:nvSpPr>
        <p:spPr>
          <a:xfrm>
            <a:off x="7055515" y="5983965"/>
            <a:ext cx="2225707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Output Embedding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F8FBBE-94A5-BB0D-9805-B45C123B3B0E}"/>
              </a:ext>
            </a:extLst>
          </p:cNvPr>
          <p:cNvSpPr/>
          <p:nvPr/>
        </p:nvSpPr>
        <p:spPr>
          <a:xfrm>
            <a:off x="7060172" y="4194440"/>
            <a:ext cx="2225708" cy="32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Addition &amp; Normalization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672BE4-87A7-FE66-C2EF-DD5DD4FD3E47}"/>
              </a:ext>
            </a:extLst>
          </p:cNvPr>
          <p:cNvSpPr/>
          <p:nvPr/>
        </p:nvSpPr>
        <p:spPr>
          <a:xfrm>
            <a:off x="5537092" y="5426429"/>
            <a:ext cx="1719389" cy="373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Positional Encoding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D1167C3-C0B7-BF6D-F1B2-556BC925EB11}"/>
              </a:ext>
            </a:extLst>
          </p:cNvPr>
          <p:cNvSpPr/>
          <p:nvPr/>
        </p:nvSpPr>
        <p:spPr>
          <a:xfrm>
            <a:off x="7049657" y="4623667"/>
            <a:ext cx="2225708" cy="3818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Masked Multi-head attention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584DEC7-7465-29C3-B764-192FF074BB72}"/>
              </a:ext>
            </a:extLst>
          </p:cNvPr>
          <p:cNvSpPr/>
          <p:nvPr/>
        </p:nvSpPr>
        <p:spPr>
          <a:xfrm>
            <a:off x="7059703" y="3662533"/>
            <a:ext cx="2225708" cy="250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Multi-head attention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C8C09D-5774-D335-9F14-8BB22B204636}"/>
              </a:ext>
            </a:extLst>
          </p:cNvPr>
          <p:cNvSpPr/>
          <p:nvPr/>
        </p:nvSpPr>
        <p:spPr>
          <a:xfrm>
            <a:off x="7049655" y="3200756"/>
            <a:ext cx="2225708" cy="332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Addition &amp; Normalization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C925229-C773-D7BA-D22C-20ADDB15BA9B}"/>
              </a:ext>
            </a:extLst>
          </p:cNvPr>
          <p:cNvCxnSpPr>
            <a:stCxn id="53" idx="0"/>
            <a:endCxn id="54" idx="2"/>
          </p:cNvCxnSpPr>
          <p:nvPr/>
        </p:nvCxnSpPr>
        <p:spPr>
          <a:xfrm flipH="1" flipV="1">
            <a:off x="8168369" y="6365802"/>
            <a:ext cx="26298" cy="133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BFA9CF54-8F61-3889-FC64-7F144B335A58}"/>
              </a:ext>
            </a:extLst>
          </p:cNvPr>
          <p:cNvSpPr/>
          <p:nvPr/>
        </p:nvSpPr>
        <p:spPr>
          <a:xfrm>
            <a:off x="7917159" y="5356089"/>
            <a:ext cx="502417" cy="50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Mono" pitchFamily="49" charset="0"/>
                <a:ea typeface="Roboto Mono" pitchFamily="49" charset="0"/>
              </a:rPr>
              <a:t>~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DEBE044-187C-A418-03F0-A1AD0F64268B}"/>
              </a:ext>
            </a:extLst>
          </p:cNvPr>
          <p:cNvCxnSpPr>
            <a:cxnSpLocks/>
          </p:cNvCxnSpPr>
          <p:nvPr/>
        </p:nvCxnSpPr>
        <p:spPr>
          <a:xfrm flipV="1">
            <a:off x="7256480" y="5799099"/>
            <a:ext cx="660678" cy="5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FF5A3E5-9D83-9FCD-85FF-0501133EDB8A}"/>
              </a:ext>
            </a:extLst>
          </p:cNvPr>
          <p:cNvCxnSpPr>
            <a:cxnSpLocks/>
            <a:stCxn id="54" idx="0"/>
            <a:endCxn id="61" idx="4"/>
          </p:cNvCxnSpPr>
          <p:nvPr/>
        </p:nvCxnSpPr>
        <p:spPr>
          <a:xfrm flipH="1" flipV="1">
            <a:off x="8168368" y="5860089"/>
            <a:ext cx="1" cy="123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EA897ED-16BB-FB76-D3FE-638EE129CC17}"/>
              </a:ext>
            </a:extLst>
          </p:cNvPr>
          <p:cNvCxnSpPr>
            <a:cxnSpLocks/>
            <a:stCxn id="57" idx="0"/>
            <a:endCxn id="55" idx="2"/>
          </p:cNvCxnSpPr>
          <p:nvPr/>
        </p:nvCxnSpPr>
        <p:spPr>
          <a:xfrm flipV="1">
            <a:off x="8162511" y="4522439"/>
            <a:ext cx="10515" cy="101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5999544-9CD1-BD40-ED05-6A7F0EDD7033}"/>
              </a:ext>
            </a:extLst>
          </p:cNvPr>
          <p:cNvCxnSpPr>
            <a:cxnSpLocks/>
            <a:stCxn id="55" idx="0"/>
            <a:endCxn id="58" idx="2"/>
          </p:cNvCxnSpPr>
          <p:nvPr/>
        </p:nvCxnSpPr>
        <p:spPr>
          <a:xfrm flipH="1" flipV="1">
            <a:off x="8172557" y="3912584"/>
            <a:ext cx="469" cy="281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04AFCA0-DC6F-E919-3EEA-B48B410304DA}"/>
              </a:ext>
            </a:extLst>
          </p:cNvPr>
          <p:cNvCxnSpPr>
            <a:cxnSpLocks/>
            <a:stCxn id="58" idx="0"/>
            <a:endCxn id="59" idx="2"/>
          </p:cNvCxnSpPr>
          <p:nvPr/>
        </p:nvCxnSpPr>
        <p:spPr>
          <a:xfrm flipH="1" flipV="1">
            <a:off x="8162509" y="3533201"/>
            <a:ext cx="10048" cy="129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205B3316-8E30-4536-C68B-04E09E061A16}"/>
              </a:ext>
            </a:extLst>
          </p:cNvPr>
          <p:cNvCxnSpPr>
            <a:cxnSpLocks/>
            <a:stCxn id="58" idx="2"/>
            <a:endCxn id="59" idx="1"/>
          </p:cNvCxnSpPr>
          <p:nvPr/>
        </p:nvCxnSpPr>
        <p:spPr>
          <a:xfrm rot="5400000" flipH="1">
            <a:off x="7338303" y="3078331"/>
            <a:ext cx="545605" cy="1122902"/>
          </a:xfrm>
          <a:prstGeom prst="bentConnector4">
            <a:avLst>
              <a:gd name="adj1" fmla="val -41898"/>
              <a:gd name="adj2" fmla="val 120358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6C49C96-B0E6-3D2A-2854-7139DB26BE35}"/>
              </a:ext>
            </a:extLst>
          </p:cNvPr>
          <p:cNvCxnSpPr>
            <a:cxnSpLocks/>
            <a:endCxn id="57" idx="2"/>
          </p:cNvCxnSpPr>
          <p:nvPr/>
        </p:nvCxnSpPr>
        <p:spPr>
          <a:xfrm flipH="1" flipV="1">
            <a:off x="8162511" y="5005504"/>
            <a:ext cx="5856" cy="6219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FD6AC1C3-B35C-8628-DD9B-6CBD5C5DA6A9}"/>
              </a:ext>
            </a:extLst>
          </p:cNvPr>
          <p:cNvSpPr/>
          <p:nvPr/>
        </p:nvSpPr>
        <p:spPr>
          <a:xfrm>
            <a:off x="6630757" y="2158264"/>
            <a:ext cx="3004174" cy="3134241"/>
          </a:xfrm>
          <a:prstGeom prst="roundRect">
            <a:avLst>
              <a:gd name="adj" fmla="val 356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0E80E406-7C34-89AB-4918-2DA95F43AF62}"/>
              </a:ext>
            </a:extLst>
          </p:cNvPr>
          <p:cNvCxnSpPr>
            <a:cxnSpLocks/>
            <a:endCxn id="55" idx="1"/>
          </p:cNvCxnSpPr>
          <p:nvPr/>
        </p:nvCxnSpPr>
        <p:spPr>
          <a:xfrm rot="10800000">
            <a:off x="7060173" y="4358440"/>
            <a:ext cx="1072671" cy="790990"/>
          </a:xfrm>
          <a:prstGeom prst="bentConnector3">
            <a:avLst>
              <a:gd name="adj1" fmla="val 121311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658CEB9A-7E54-3D0D-5B15-A855D3E6C3D1}"/>
              </a:ext>
            </a:extLst>
          </p:cNvPr>
          <p:cNvSpPr/>
          <p:nvPr/>
        </p:nvSpPr>
        <p:spPr>
          <a:xfrm>
            <a:off x="7064893" y="1715493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 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8FAB048-01C3-3ACB-61F4-474446C0A489}"/>
              </a:ext>
            </a:extLst>
          </p:cNvPr>
          <p:cNvSpPr/>
          <p:nvPr/>
        </p:nvSpPr>
        <p:spPr>
          <a:xfrm>
            <a:off x="7054918" y="1421357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 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AEC9B56-705B-8427-5803-93C099554C88}"/>
              </a:ext>
            </a:extLst>
          </p:cNvPr>
          <p:cNvSpPr/>
          <p:nvPr/>
        </p:nvSpPr>
        <p:spPr>
          <a:xfrm>
            <a:off x="7054918" y="1128283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 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46F1206-14BF-E9F2-7820-23BC232A107A}"/>
              </a:ext>
            </a:extLst>
          </p:cNvPr>
          <p:cNvSpPr/>
          <p:nvPr/>
        </p:nvSpPr>
        <p:spPr>
          <a:xfrm>
            <a:off x="7054918" y="837496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 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C2A3170-045C-7F27-E77D-099FF6C45268}"/>
              </a:ext>
            </a:extLst>
          </p:cNvPr>
          <p:cNvSpPr/>
          <p:nvPr/>
        </p:nvSpPr>
        <p:spPr>
          <a:xfrm>
            <a:off x="7054918" y="555497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 6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0B21D63-290F-7A1B-E1EA-9A0971058BEA}"/>
              </a:ext>
            </a:extLst>
          </p:cNvPr>
          <p:cNvSpPr/>
          <p:nvPr/>
        </p:nvSpPr>
        <p:spPr>
          <a:xfrm>
            <a:off x="7049655" y="2673751"/>
            <a:ext cx="2225708" cy="228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Feedforward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E7F11F3-5B15-64C6-7924-2D0EEFDFF2B9}"/>
              </a:ext>
            </a:extLst>
          </p:cNvPr>
          <p:cNvSpPr/>
          <p:nvPr/>
        </p:nvSpPr>
        <p:spPr>
          <a:xfrm>
            <a:off x="7060172" y="2307831"/>
            <a:ext cx="2225708" cy="304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Addition &amp; Normalization</a:t>
            </a:r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9845D5D0-4817-85B3-FDB3-704934E8106E}"/>
              </a:ext>
            </a:extLst>
          </p:cNvPr>
          <p:cNvCxnSpPr>
            <a:cxnSpLocks/>
            <a:endCxn id="77" idx="1"/>
          </p:cNvCxnSpPr>
          <p:nvPr/>
        </p:nvCxnSpPr>
        <p:spPr>
          <a:xfrm rot="10800000">
            <a:off x="7060173" y="2459872"/>
            <a:ext cx="1102343" cy="649853"/>
          </a:xfrm>
          <a:prstGeom prst="bentConnector3">
            <a:avLst>
              <a:gd name="adj1" fmla="val 120738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D3844EE-BCA4-CA0A-1C33-3419CE1DACB8}"/>
              </a:ext>
            </a:extLst>
          </p:cNvPr>
          <p:cNvCxnSpPr>
            <a:cxnSpLocks/>
            <a:stCxn id="59" idx="0"/>
            <a:endCxn id="76" idx="2"/>
          </p:cNvCxnSpPr>
          <p:nvPr/>
        </p:nvCxnSpPr>
        <p:spPr>
          <a:xfrm flipV="1">
            <a:off x="8162509" y="2902467"/>
            <a:ext cx="0" cy="298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49E272C7-EC33-5EDC-52A9-41DC6D0C7D97}"/>
              </a:ext>
            </a:extLst>
          </p:cNvPr>
          <p:cNvSpPr/>
          <p:nvPr/>
        </p:nvSpPr>
        <p:spPr>
          <a:xfrm>
            <a:off x="9815567" y="555497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Softmax</a:t>
            </a:r>
            <a:endParaRPr lang="en-US" sz="1200" dirty="0">
              <a:latin typeface="Roboto Mono" pitchFamily="49" charset="0"/>
              <a:ea typeface="Roboto Mono" pitchFamily="49" charset="0"/>
              <a:cs typeface="Verdana" panose="020B060403050404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0A9A26C-EF79-2861-A048-463FBC360FB0}"/>
              </a:ext>
            </a:extLst>
          </p:cNvPr>
          <p:cNvSpPr/>
          <p:nvPr/>
        </p:nvSpPr>
        <p:spPr>
          <a:xfrm>
            <a:off x="9815567" y="882097"/>
            <a:ext cx="2225707" cy="246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Linear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0EC560-6142-72AA-2B2E-8E2CF6E176CC}"/>
              </a:ext>
            </a:extLst>
          </p:cNvPr>
          <p:cNvSpPr txBox="1"/>
          <p:nvPr/>
        </p:nvSpPr>
        <p:spPr>
          <a:xfrm>
            <a:off x="10005881" y="1320341"/>
            <a:ext cx="1951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¿</a:t>
            </a:r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Cómo</a:t>
            </a:r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 </a:t>
            </a:r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estás</a:t>
            </a:r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? &lt;</a:t>
            </a:r>
            <a:r>
              <a:rPr lang="en-US" sz="1200" dirty="0" err="1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eos</a:t>
            </a:r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&gt; 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8A94533-A85A-BFC8-A85F-7CECBB39989C}"/>
              </a:ext>
            </a:extLst>
          </p:cNvPr>
          <p:cNvCxnSpPr>
            <a:stCxn id="75" idx="3"/>
            <a:endCxn id="80" idx="1"/>
          </p:cNvCxnSpPr>
          <p:nvPr/>
        </p:nvCxnSpPr>
        <p:spPr>
          <a:xfrm>
            <a:off x="9280625" y="678590"/>
            <a:ext cx="5349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15D12F64-0423-7ADA-9FC2-3EF5B04AA33C}"/>
              </a:ext>
            </a:extLst>
          </p:cNvPr>
          <p:cNvCxnSpPr>
            <a:stCxn id="33" idx="3"/>
            <a:endCxn id="58" idx="1"/>
          </p:cNvCxnSpPr>
          <p:nvPr/>
        </p:nvCxnSpPr>
        <p:spPr>
          <a:xfrm>
            <a:off x="3637952" y="373931"/>
            <a:ext cx="3421751" cy="34136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BC6208A9-7883-0A28-FAF0-446B393DD2DF}"/>
              </a:ext>
            </a:extLst>
          </p:cNvPr>
          <p:cNvSpPr txBox="1"/>
          <p:nvPr/>
        </p:nvSpPr>
        <p:spPr>
          <a:xfrm rot="16200000">
            <a:off x="5844011" y="3764713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Roboto Mono" pitchFamily="49" charset="0"/>
                <a:ea typeface="Roboto Mono" pitchFamily="49" charset="0"/>
                <a:cs typeface="Verdana" panose="020B0604030504040204" pitchFamily="34" charset="0"/>
              </a:rPr>
              <a:t>Decoder 1</a:t>
            </a:r>
          </a:p>
        </p:txBody>
      </p:sp>
    </p:spTree>
    <p:extLst>
      <p:ext uri="{BB962C8B-B14F-4D97-AF65-F5344CB8AC3E}">
        <p14:creationId xmlns:p14="http://schemas.microsoft.com/office/powerpoint/2010/main" val="1552175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F4B9C-DB21-75FA-0C0F-3C46D766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50C6-56FC-E8FC-C36E-AE73C70C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Roboto Mono" pitchFamily="49" charset="0"/>
                <a:ea typeface="Roboto Mono" pitchFamily="49" charset="0"/>
              </a:rPr>
              <a:t>Transformers: Features and why it works</a:t>
            </a:r>
            <a:endParaRPr lang="en-IN" sz="2400" b="1" dirty="0">
              <a:latin typeface="Roboto Mono" pitchFamily="49" charset="0"/>
              <a:ea typeface="Roboto Mono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141B-F59F-8C4C-1708-80E5B858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dirty="0">
                <a:latin typeface="Roboto Mono" pitchFamily="49" charset="0"/>
                <a:ea typeface="Roboto Mono" pitchFamily="49" charset="0"/>
              </a:rPr>
              <a:t>By adopting Residual Connections &amp; Layer Normalization, it enhances training stability and speed up convergence.</a:t>
            </a:r>
          </a:p>
          <a:p>
            <a:r>
              <a:rPr lang="en-IN" sz="1800" dirty="0">
                <a:latin typeface="Roboto Mono" pitchFamily="49" charset="0"/>
                <a:ea typeface="Roboto Mono" pitchFamily="49" charset="0"/>
              </a:rPr>
              <a:t>Easily parallelizable, which speeds up training compared to sequential architectures like RNNs or LSTMs.</a:t>
            </a:r>
          </a:p>
          <a:p>
            <a:r>
              <a:rPr lang="en-IN" sz="1800" dirty="0">
                <a:latin typeface="Roboto Mono" pitchFamily="49" charset="0"/>
                <a:ea typeface="Roboto Mono" pitchFamily="49" charset="0"/>
              </a:rPr>
              <a:t>Multi-head attention enables the model to focus on different aspects of the input simultaneously, improving comprehension of complex language patterns.</a:t>
            </a:r>
          </a:p>
          <a:p>
            <a:r>
              <a:rPr lang="en-IN" sz="1800" dirty="0">
                <a:latin typeface="Roboto Mono" pitchFamily="49" charset="0"/>
                <a:ea typeface="Roboto Mono" pitchFamily="49" charset="0"/>
              </a:rPr>
              <a:t>The architecture's design, with stacked encoder-decoder layers (or just encoders in some cases), makes it adaptable to a variety of NLP tasks like translation, summarization, and question answering.</a:t>
            </a:r>
          </a:p>
          <a:p>
            <a:r>
              <a:rPr lang="en-IN" sz="1800" dirty="0">
                <a:latin typeface="Roboto Mono" pitchFamily="49" charset="0"/>
                <a:ea typeface="Roboto Mono" pitchFamily="49" charset="0"/>
              </a:rPr>
              <a:t>Large-scale pre-training on diverse datasets creates versatile models (e.g., BERT, GPT) that can be fine-tuned for specific tasks, leading to state-of-the-art performance.</a:t>
            </a:r>
            <a:endParaRPr lang="en-US" sz="1800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E34D8A-1E03-A203-9E67-01224A8CA8AA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173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F80E3-A83B-B544-EC18-EAEBD8FA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4A4D-CF59-D6C9-EB2C-5D76F1B1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Roboto Mono" pitchFamily="49" charset="0"/>
                <a:ea typeface="Roboto Mono" pitchFamily="49" charset="0"/>
              </a:rPr>
              <a:t>Summing it together</a:t>
            </a:r>
            <a:endParaRPr lang="en-IN" sz="2400" b="1" dirty="0">
              <a:latin typeface="Roboto Mono" pitchFamily="49" charset="0"/>
              <a:ea typeface="Roboto Mono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7BF210-9FA0-27C1-C3A9-79A39C2858F6}"/>
              </a:ext>
            </a:extLst>
          </p:cNvPr>
          <p:cNvCxnSpPr/>
          <p:nvPr/>
        </p:nvCxnSpPr>
        <p:spPr>
          <a:xfrm>
            <a:off x="848139" y="1680749"/>
            <a:ext cx="105354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DB5A89D-0E6A-ED18-2B18-01300D80C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2380056"/>
              </p:ext>
            </p:extLst>
          </p:nvPr>
        </p:nvGraphicFramePr>
        <p:xfrm>
          <a:off x="1099457" y="1979311"/>
          <a:ext cx="10254343" cy="365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991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3618</Words>
  <Application>Microsoft Macintosh PowerPoint</Application>
  <PresentationFormat>Widescreen</PresentationFormat>
  <Paragraphs>310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Roboto Mono</vt:lpstr>
      <vt:lpstr>Office Theme</vt:lpstr>
      <vt:lpstr>PowerPoint Presentation</vt:lpstr>
      <vt:lpstr>Basic FCFNN architecture not suitable for NLP tasks</vt:lpstr>
      <vt:lpstr>Basic FCFNN architecture not suitable for NLP tasks</vt:lpstr>
      <vt:lpstr>Basic FCFNN architecture not suitable for NLP tasks</vt:lpstr>
      <vt:lpstr>Basic FCFNN architecture not suitable for NLP tasks</vt:lpstr>
      <vt:lpstr>Basic FCFNN architecture not suitable for NLP tasks</vt:lpstr>
      <vt:lpstr>Why RNN handles sequence tasks better?</vt:lpstr>
      <vt:lpstr>Why RNN handles sequence tasks better?</vt:lpstr>
      <vt:lpstr>Why RNN handles sequence tasks better?</vt:lpstr>
      <vt:lpstr>Why RNN handles sequence tasks better?</vt:lpstr>
      <vt:lpstr>Why RNN handles sequence tasks better?</vt:lpstr>
      <vt:lpstr>Why RNN handles sequence tasks better?</vt:lpstr>
      <vt:lpstr>Why RNN handles sequence tasks better?</vt:lpstr>
      <vt:lpstr>LSTMs and GRUs build upon the basic RNN architecture to better handle sequence data</vt:lpstr>
      <vt:lpstr>LSTMs and GRUs build upon the basic RNN architecture to better handle sequence data</vt:lpstr>
      <vt:lpstr>LSTMs and GRUs build upon the basic RNN architecture to better handle sequence data</vt:lpstr>
      <vt:lpstr>LSTMs and GRUs build upon the basic RNN architecture to better handle sequence data</vt:lpstr>
      <vt:lpstr>LSTMs and GRUs build upon the basic RNN architecture to better handle sequence data</vt:lpstr>
      <vt:lpstr>LSTMs and GRUs build upon the basic RNN architecture to better handle sequence data</vt:lpstr>
      <vt:lpstr>LSTMs and GRUs build upon the basic RNN architecture to better handle sequence data</vt:lpstr>
      <vt:lpstr>Encoder-decoder and sequence-to-sequence architectures</vt:lpstr>
      <vt:lpstr>How Sequence‑to‑Sequence (Seq2Seq) Works, Step by Step</vt:lpstr>
      <vt:lpstr>How Sequence‑to‑Sequence (Seq2Seq) Works, Step by Step</vt:lpstr>
      <vt:lpstr>Key Components</vt:lpstr>
      <vt:lpstr>Encoder-Decoder Approach</vt:lpstr>
      <vt:lpstr>Why Seq2Seq Excels at NLP Tasks</vt:lpstr>
      <vt:lpstr>Why We Needed Attention in Seq2Seq</vt:lpstr>
      <vt:lpstr>The Core Idea of Attention</vt:lpstr>
      <vt:lpstr>Transformers: Core Mechanism </vt:lpstr>
      <vt:lpstr>Multi-head Attention Mechanism</vt:lpstr>
      <vt:lpstr>PowerPoint Presentation</vt:lpstr>
      <vt:lpstr>Transformers: Features and why it works</vt:lpstr>
      <vt:lpstr>Summing it together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Pandey</dc:creator>
  <cp:lastModifiedBy>Amit Pandey</cp:lastModifiedBy>
  <cp:revision>46</cp:revision>
  <dcterms:created xsi:type="dcterms:W3CDTF">2025-04-19T18:54:14Z</dcterms:created>
  <dcterms:modified xsi:type="dcterms:W3CDTF">2025-04-20T03:33:30Z</dcterms:modified>
</cp:coreProperties>
</file>