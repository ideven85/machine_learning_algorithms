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4"/>
  </p:notesMasterIdLst>
  <p:sldIdLst>
    <p:sldId id="274" r:id="rId2"/>
    <p:sldId id="276" r:id="rId3"/>
    <p:sldId id="277" r:id="rId4"/>
    <p:sldId id="278" r:id="rId5"/>
    <p:sldId id="257" r:id="rId6"/>
    <p:sldId id="258" r:id="rId7"/>
    <p:sldId id="259" r:id="rId8"/>
    <p:sldId id="260" r:id="rId9"/>
    <p:sldId id="261" r:id="rId10"/>
    <p:sldId id="262" r:id="rId11"/>
    <p:sldId id="263" r:id="rId12"/>
    <p:sldId id="264" r:id="rId13"/>
    <p:sldId id="265" r:id="rId14"/>
    <p:sldId id="266" r:id="rId15"/>
    <p:sldId id="267" r:id="rId16"/>
    <p:sldId id="256" r:id="rId17"/>
    <p:sldId id="268" r:id="rId18"/>
    <p:sldId id="269" r:id="rId19"/>
    <p:sldId id="270" r:id="rId20"/>
    <p:sldId id="271" r:id="rId21"/>
    <p:sldId id="272" r:id="rId22"/>
    <p:sldId id="273" r:id="rId23"/>
    <p:sldId id="279" r:id="rId24"/>
    <p:sldId id="280" r:id="rId25"/>
    <p:sldId id="281" r:id="rId26"/>
    <p:sldId id="282" r:id="rId27"/>
    <p:sldId id="283" r:id="rId28"/>
    <p:sldId id="284" r:id="rId29"/>
    <p:sldId id="285" r:id="rId30"/>
    <p:sldId id="286" r:id="rId31"/>
    <p:sldId id="287" r:id="rId32"/>
    <p:sldId id="293" r:id="rId33"/>
    <p:sldId id="292" r:id="rId34"/>
    <p:sldId id="288" r:id="rId35"/>
    <p:sldId id="289" r:id="rId36"/>
    <p:sldId id="290" r:id="rId37"/>
    <p:sldId id="291" r:id="rId38"/>
    <p:sldId id="296" r:id="rId39"/>
    <p:sldId id="297" r:id="rId40"/>
    <p:sldId id="298" r:id="rId41"/>
    <p:sldId id="294" r:id="rId42"/>
    <p:sldId id="29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42"/>
    <p:restoredTop sz="94677"/>
  </p:normalViewPr>
  <p:slideViewPr>
    <p:cSldViewPr snapToGrid="0" snapToObjects="1">
      <p:cViewPr>
        <p:scale>
          <a:sx n="173" d="100"/>
          <a:sy n="173" d="100"/>
        </p:scale>
        <p:origin x="-568"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EFD6B6-E537-524C-B5BB-A8DF4DA3C132}" type="datetimeFigureOut">
              <a:rPr lang="en-US" smtClean="0"/>
              <a:t>2/13/21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BFE1EF-C915-664B-B6B9-530A3DAE3CE1}" type="slidenum">
              <a:rPr lang="en-US" smtClean="0"/>
              <a:t>‹#›</a:t>
            </a:fld>
            <a:endParaRPr lang="en-US"/>
          </a:p>
        </p:txBody>
      </p:sp>
    </p:spTree>
    <p:extLst>
      <p:ext uri="{BB962C8B-B14F-4D97-AF65-F5344CB8AC3E}">
        <p14:creationId xmlns:p14="http://schemas.microsoft.com/office/powerpoint/2010/main" val="394088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AF177-7AB6-2B47-B522-597C2EB75CA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EF9622C-DA27-C34D-9BD7-19DDF806AF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7948D663-2888-F840-880E-9B176DD3BD66}"/>
              </a:ext>
            </a:extLst>
          </p:cNvPr>
          <p:cNvSpPr>
            <a:spLocks noGrp="1"/>
          </p:cNvSpPr>
          <p:nvPr>
            <p:ph type="dt" sz="half" idx="10"/>
          </p:nvPr>
        </p:nvSpPr>
        <p:spPr/>
        <p:txBody>
          <a:bodyPr/>
          <a:lstStyle/>
          <a:p>
            <a:fld id="{E11A272E-E6E5-E945-A56C-D158E0E7CF04}" type="datetime1">
              <a:rPr lang="en-IN" smtClean="0"/>
              <a:t>13/02/21</a:t>
            </a:fld>
            <a:endParaRPr lang="en-US"/>
          </a:p>
        </p:txBody>
      </p:sp>
      <p:sp>
        <p:nvSpPr>
          <p:cNvPr id="5" name="Footer Placeholder 4">
            <a:extLst>
              <a:ext uri="{FF2B5EF4-FFF2-40B4-BE49-F238E27FC236}">
                <a16:creationId xmlns:a16="http://schemas.microsoft.com/office/drawing/2014/main" id="{EC2BD999-6F96-674F-8970-8BD0BF690089}"/>
              </a:ext>
            </a:extLst>
          </p:cNvPr>
          <p:cNvSpPr>
            <a:spLocks noGrp="1"/>
          </p:cNvSpPr>
          <p:nvPr>
            <p:ph type="ftr" sz="quarter" idx="11"/>
          </p:nvPr>
        </p:nvSpPr>
        <p:spPr/>
        <p:txBody>
          <a:bodyPr/>
          <a:lstStyle/>
          <a:p>
            <a:r>
              <a:rPr lang="en-US"/>
              <a:t>Copyright Amit Pandey, 2021</a:t>
            </a:r>
          </a:p>
        </p:txBody>
      </p:sp>
      <p:sp>
        <p:nvSpPr>
          <p:cNvPr id="6" name="Slide Number Placeholder 5">
            <a:extLst>
              <a:ext uri="{FF2B5EF4-FFF2-40B4-BE49-F238E27FC236}">
                <a16:creationId xmlns:a16="http://schemas.microsoft.com/office/drawing/2014/main" id="{F1FBA9A0-0C40-1D47-A788-832A52EFBBF6}"/>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20061523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F896B-61CB-8643-8FAD-42C1DC57354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61FDD38-42BF-A144-8FA6-47E6794E80D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2FF82E-EAA6-CD4C-9EB0-E420FBEA079A}"/>
              </a:ext>
            </a:extLst>
          </p:cNvPr>
          <p:cNvSpPr>
            <a:spLocks noGrp="1"/>
          </p:cNvSpPr>
          <p:nvPr>
            <p:ph type="dt" sz="half" idx="10"/>
          </p:nvPr>
        </p:nvSpPr>
        <p:spPr/>
        <p:txBody>
          <a:bodyPr/>
          <a:lstStyle/>
          <a:p>
            <a:fld id="{90133685-5065-8642-9139-502A8BF116D0}" type="datetime1">
              <a:rPr lang="en-IN" smtClean="0"/>
              <a:t>13/02/21</a:t>
            </a:fld>
            <a:endParaRPr lang="en-US"/>
          </a:p>
        </p:txBody>
      </p:sp>
      <p:sp>
        <p:nvSpPr>
          <p:cNvPr id="5" name="Footer Placeholder 4">
            <a:extLst>
              <a:ext uri="{FF2B5EF4-FFF2-40B4-BE49-F238E27FC236}">
                <a16:creationId xmlns:a16="http://schemas.microsoft.com/office/drawing/2014/main" id="{FC5F698A-BA66-B54C-8464-96F4B6C4CA4B}"/>
              </a:ext>
            </a:extLst>
          </p:cNvPr>
          <p:cNvSpPr>
            <a:spLocks noGrp="1"/>
          </p:cNvSpPr>
          <p:nvPr>
            <p:ph type="ftr" sz="quarter" idx="11"/>
          </p:nvPr>
        </p:nvSpPr>
        <p:spPr/>
        <p:txBody>
          <a:bodyPr/>
          <a:lstStyle/>
          <a:p>
            <a:r>
              <a:rPr lang="en-US"/>
              <a:t>Copyright Amit Pandey, 2021</a:t>
            </a:r>
          </a:p>
        </p:txBody>
      </p:sp>
      <p:sp>
        <p:nvSpPr>
          <p:cNvPr id="6" name="Slide Number Placeholder 5">
            <a:extLst>
              <a:ext uri="{FF2B5EF4-FFF2-40B4-BE49-F238E27FC236}">
                <a16:creationId xmlns:a16="http://schemas.microsoft.com/office/drawing/2014/main" id="{8B70546C-C5E6-D045-9151-28C821649C42}"/>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2389596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D4320-DD49-6143-B76C-BCA651CBB77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99F1BA76-0999-C440-AC96-BCB29F11D9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ABE5A0-2F6A-FA42-B55E-30EBB05AC216}"/>
              </a:ext>
            </a:extLst>
          </p:cNvPr>
          <p:cNvSpPr>
            <a:spLocks noGrp="1"/>
          </p:cNvSpPr>
          <p:nvPr>
            <p:ph type="dt" sz="half" idx="10"/>
          </p:nvPr>
        </p:nvSpPr>
        <p:spPr/>
        <p:txBody>
          <a:bodyPr/>
          <a:lstStyle/>
          <a:p>
            <a:fld id="{74D9D543-7587-E146-B096-42EFE1336D33}" type="datetime1">
              <a:rPr lang="en-IN" smtClean="0"/>
              <a:t>13/02/21</a:t>
            </a:fld>
            <a:endParaRPr lang="en-US"/>
          </a:p>
        </p:txBody>
      </p:sp>
      <p:sp>
        <p:nvSpPr>
          <p:cNvPr id="5" name="Footer Placeholder 4">
            <a:extLst>
              <a:ext uri="{FF2B5EF4-FFF2-40B4-BE49-F238E27FC236}">
                <a16:creationId xmlns:a16="http://schemas.microsoft.com/office/drawing/2014/main" id="{0812512E-51A7-D34C-8F1F-783CB6C1949B}"/>
              </a:ext>
            </a:extLst>
          </p:cNvPr>
          <p:cNvSpPr>
            <a:spLocks noGrp="1"/>
          </p:cNvSpPr>
          <p:nvPr>
            <p:ph type="ftr" sz="quarter" idx="11"/>
          </p:nvPr>
        </p:nvSpPr>
        <p:spPr/>
        <p:txBody>
          <a:bodyPr/>
          <a:lstStyle/>
          <a:p>
            <a:r>
              <a:rPr lang="en-US"/>
              <a:t>Copyright Amit Pandey, 2021</a:t>
            </a:r>
          </a:p>
        </p:txBody>
      </p:sp>
      <p:sp>
        <p:nvSpPr>
          <p:cNvPr id="6" name="Slide Number Placeholder 5">
            <a:extLst>
              <a:ext uri="{FF2B5EF4-FFF2-40B4-BE49-F238E27FC236}">
                <a16:creationId xmlns:a16="http://schemas.microsoft.com/office/drawing/2014/main" id="{4E1C50AA-4B5D-0E43-995B-7D89BE2FCA95}"/>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1262089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65E20-4C6C-9241-A453-1C34342201D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FA9A1FD-6BE5-3F4C-9B4A-A560DD42AD0B}"/>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CA0BED43-B883-9F49-A2AB-8A7EC7B88DD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8EBE7F4-CB85-674D-9176-29A04B80AD08}"/>
              </a:ext>
            </a:extLst>
          </p:cNvPr>
          <p:cNvSpPr>
            <a:spLocks noGrp="1"/>
          </p:cNvSpPr>
          <p:nvPr>
            <p:ph type="dt" sz="half" idx="10"/>
          </p:nvPr>
        </p:nvSpPr>
        <p:spPr/>
        <p:txBody>
          <a:bodyPr/>
          <a:lstStyle/>
          <a:p>
            <a:fld id="{DC358235-0BDB-A745-83DE-ABD951937548}" type="datetime1">
              <a:rPr lang="en-IN" smtClean="0"/>
              <a:t>13/02/21</a:t>
            </a:fld>
            <a:endParaRPr lang="en-US"/>
          </a:p>
        </p:txBody>
      </p:sp>
      <p:sp>
        <p:nvSpPr>
          <p:cNvPr id="6" name="Footer Placeholder 5">
            <a:extLst>
              <a:ext uri="{FF2B5EF4-FFF2-40B4-BE49-F238E27FC236}">
                <a16:creationId xmlns:a16="http://schemas.microsoft.com/office/drawing/2014/main" id="{DFE1EB62-F2C9-C94D-866D-393F25A28909}"/>
              </a:ext>
            </a:extLst>
          </p:cNvPr>
          <p:cNvSpPr>
            <a:spLocks noGrp="1"/>
          </p:cNvSpPr>
          <p:nvPr>
            <p:ph type="ftr" sz="quarter" idx="11"/>
          </p:nvPr>
        </p:nvSpPr>
        <p:spPr/>
        <p:txBody>
          <a:bodyPr/>
          <a:lstStyle/>
          <a:p>
            <a:r>
              <a:rPr lang="en-US"/>
              <a:t>Copyright Amit Pandey, 2021</a:t>
            </a:r>
          </a:p>
        </p:txBody>
      </p:sp>
      <p:sp>
        <p:nvSpPr>
          <p:cNvPr id="7" name="Slide Number Placeholder 6">
            <a:extLst>
              <a:ext uri="{FF2B5EF4-FFF2-40B4-BE49-F238E27FC236}">
                <a16:creationId xmlns:a16="http://schemas.microsoft.com/office/drawing/2014/main" id="{D30E7704-7F14-3D4F-A272-087E53CDDB1D}"/>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4587632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55A835-4012-3144-9240-B271A9EE735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F4D52FF-6496-614A-B8E4-15B386568B0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28CC82A-A74F-5048-88F1-6E3E757B648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5CB8516-428C-1B46-83D2-3F349F12C0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0BE3245-AFD1-BF45-A6B3-13469C1D8D2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4604BDF-3641-384A-94BE-85E8BD84BA3F}"/>
              </a:ext>
            </a:extLst>
          </p:cNvPr>
          <p:cNvSpPr>
            <a:spLocks noGrp="1"/>
          </p:cNvSpPr>
          <p:nvPr>
            <p:ph type="dt" sz="half" idx="10"/>
          </p:nvPr>
        </p:nvSpPr>
        <p:spPr/>
        <p:txBody>
          <a:bodyPr/>
          <a:lstStyle/>
          <a:p>
            <a:fld id="{514506F9-954E-6442-ADF5-38035D59228E}" type="datetime1">
              <a:rPr lang="en-IN" smtClean="0"/>
              <a:t>13/02/21</a:t>
            </a:fld>
            <a:endParaRPr lang="en-US"/>
          </a:p>
        </p:txBody>
      </p:sp>
      <p:sp>
        <p:nvSpPr>
          <p:cNvPr id="8" name="Footer Placeholder 7">
            <a:extLst>
              <a:ext uri="{FF2B5EF4-FFF2-40B4-BE49-F238E27FC236}">
                <a16:creationId xmlns:a16="http://schemas.microsoft.com/office/drawing/2014/main" id="{EA1DFBB6-1EB0-524A-926D-555DBE7D4DCD}"/>
              </a:ext>
            </a:extLst>
          </p:cNvPr>
          <p:cNvSpPr>
            <a:spLocks noGrp="1"/>
          </p:cNvSpPr>
          <p:nvPr>
            <p:ph type="ftr" sz="quarter" idx="11"/>
          </p:nvPr>
        </p:nvSpPr>
        <p:spPr/>
        <p:txBody>
          <a:bodyPr/>
          <a:lstStyle/>
          <a:p>
            <a:r>
              <a:rPr lang="en-US"/>
              <a:t>Copyright Amit Pandey, 2021</a:t>
            </a:r>
          </a:p>
        </p:txBody>
      </p:sp>
      <p:sp>
        <p:nvSpPr>
          <p:cNvPr id="9" name="Slide Number Placeholder 8">
            <a:extLst>
              <a:ext uri="{FF2B5EF4-FFF2-40B4-BE49-F238E27FC236}">
                <a16:creationId xmlns:a16="http://schemas.microsoft.com/office/drawing/2014/main" id="{F1AD1298-BD07-1C42-80A6-5AA72D737B5F}"/>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1814501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29BF-452D-4642-A373-3CDE89FA0F5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02F4E57-2CAC-C14C-86AC-2CB7629616A3}"/>
              </a:ext>
            </a:extLst>
          </p:cNvPr>
          <p:cNvSpPr>
            <a:spLocks noGrp="1"/>
          </p:cNvSpPr>
          <p:nvPr>
            <p:ph type="dt" sz="half" idx="10"/>
          </p:nvPr>
        </p:nvSpPr>
        <p:spPr/>
        <p:txBody>
          <a:bodyPr/>
          <a:lstStyle/>
          <a:p>
            <a:fld id="{04800F4E-ED3C-3640-B8AC-339B67FC57DB}" type="datetime1">
              <a:rPr lang="en-IN" smtClean="0"/>
              <a:t>13/02/21</a:t>
            </a:fld>
            <a:endParaRPr lang="en-US"/>
          </a:p>
        </p:txBody>
      </p:sp>
      <p:sp>
        <p:nvSpPr>
          <p:cNvPr id="4" name="Footer Placeholder 3">
            <a:extLst>
              <a:ext uri="{FF2B5EF4-FFF2-40B4-BE49-F238E27FC236}">
                <a16:creationId xmlns:a16="http://schemas.microsoft.com/office/drawing/2014/main" id="{5A9FF01F-6A69-6348-ABEA-06019300552A}"/>
              </a:ext>
            </a:extLst>
          </p:cNvPr>
          <p:cNvSpPr>
            <a:spLocks noGrp="1"/>
          </p:cNvSpPr>
          <p:nvPr>
            <p:ph type="ftr" sz="quarter" idx="11"/>
          </p:nvPr>
        </p:nvSpPr>
        <p:spPr/>
        <p:txBody>
          <a:bodyPr/>
          <a:lstStyle/>
          <a:p>
            <a:r>
              <a:rPr lang="en-US"/>
              <a:t>Copyright Amit Pandey, 2021</a:t>
            </a:r>
          </a:p>
        </p:txBody>
      </p:sp>
      <p:sp>
        <p:nvSpPr>
          <p:cNvPr id="5" name="Slide Number Placeholder 4">
            <a:extLst>
              <a:ext uri="{FF2B5EF4-FFF2-40B4-BE49-F238E27FC236}">
                <a16:creationId xmlns:a16="http://schemas.microsoft.com/office/drawing/2014/main" id="{0EF56632-B78C-2A44-8823-DD43F06C2C77}"/>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1347061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E6441D-98F5-C840-BE74-8A715CAFC633}"/>
              </a:ext>
            </a:extLst>
          </p:cNvPr>
          <p:cNvSpPr>
            <a:spLocks noGrp="1"/>
          </p:cNvSpPr>
          <p:nvPr>
            <p:ph type="dt" sz="half" idx="10"/>
          </p:nvPr>
        </p:nvSpPr>
        <p:spPr/>
        <p:txBody>
          <a:bodyPr/>
          <a:lstStyle/>
          <a:p>
            <a:fld id="{BC7FCFC3-6027-064D-962C-A958A950062A}" type="datetime1">
              <a:rPr lang="en-IN" smtClean="0"/>
              <a:t>13/02/21</a:t>
            </a:fld>
            <a:endParaRPr lang="en-US"/>
          </a:p>
        </p:txBody>
      </p:sp>
      <p:sp>
        <p:nvSpPr>
          <p:cNvPr id="3" name="Footer Placeholder 2">
            <a:extLst>
              <a:ext uri="{FF2B5EF4-FFF2-40B4-BE49-F238E27FC236}">
                <a16:creationId xmlns:a16="http://schemas.microsoft.com/office/drawing/2014/main" id="{9C7642F1-9279-B54E-ABA6-35DA4261A804}"/>
              </a:ext>
            </a:extLst>
          </p:cNvPr>
          <p:cNvSpPr>
            <a:spLocks noGrp="1"/>
          </p:cNvSpPr>
          <p:nvPr>
            <p:ph type="ftr" sz="quarter" idx="11"/>
          </p:nvPr>
        </p:nvSpPr>
        <p:spPr/>
        <p:txBody>
          <a:bodyPr/>
          <a:lstStyle/>
          <a:p>
            <a:r>
              <a:rPr lang="en-US"/>
              <a:t>Copyright Amit Pandey, 2021</a:t>
            </a:r>
          </a:p>
        </p:txBody>
      </p:sp>
      <p:sp>
        <p:nvSpPr>
          <p:cNvPr id="4" name="Slide Number Placeholder 3">
            <a:extLst>
              <a:ext uri="{FF2B5EF4-FFF2-40B4-BE49-F238E27FC236}">
                <a16:creationId xmlns:a16="http://schemas.microsoft.com/office/drawing/2014/main" id="{C8B52D60-6E7F-9C4A-A173-824001A5E2EA}"/>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4151686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1F285-2F42-154D-8ADD-807D95D17F4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BDDDF47-FBEF-E749-ABF7-A0885BE466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9C38B48-3321-BD42-90E5-CE726D6762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9D69ECA-AB42-C349-B2B4-1FC74749F035}"/>
              </a:ext>
            </a:extLst>
          </p:cNvPr>
          <p:cNvSpPr>
            <a:spLocks noGrp="1"/>
          </p:cNvSpPr>
          <p:nvPr>
            <p:ph type="dt" sz="half" idx="10"/>
          </p:nvPr>
        </p:nvSpPr>
        <p:spPr/>
        <p:txBody>
          <a:bodyPr/>
          <a:lstStyle/>
          <a:p>
            <a:fld id="{6AA9DAF8-763D-C84C-9936-E3DD8D746085}" type="datetime1">
              <a:rPr lang="en-IN" smtClean="0"/>
              <a:t>13/02/21</a:t>
            </a:fld>
            <a:endParaRPr lang="en-US"/>
          </a:p>
        </p:txBody>
      </p:sp>
      <p:sp>
        <p:nvSpPr>
          <p:cNvPr id="6" name="Footer Placeholder 5">
            <a:extLst>
              <a:ext uri="{FF2B5EF4-FFF2-40B4-BE49-F238E27FC236}">
                <a16:creationId xmlns:a16="http://schemas.microsoft.com/office/drawing/2014/main" id="{0677197E-AB05-FB4B-9298-556C9F41B5D1}"/>
              </a:ext>
            </a:extLst>
          </p:cNvPr>
          <p:cNvSpPr>
            <a:spLocks noGrp="1"/>
          </p:cNvSpPr>
          <p:nvPr>
            <p:ph type="ftr" sz="quarter" idx="11"/>
          </p:nvPr>
        </p:nvSpPr>
        <p:spPr/>
        <p:txBody>
          <a:bodyPr/>
          <a:lstStyle/>
          <a:p>
            <a:r>
              <a:rPr lang="en-US"/>
              <a:t>Copyright Amit Pandey, 2021</a:t>
            </a:r>
          </a:p>
        </p:txBody>
      </p:sp>
      <p:sp>
        <p:nvSpPr>
          <p:cNvPr id="7" name="Slide Number Placeholder 6">
            <a:extLst>
              <a:ext uri="{FF2B5EF4-FFF2-40B4-BE49-F238E27FC236}">
                <a16:creationId xmlns:a16="http://schemas.microsoft.com/office/drawing/2014/main" id="{D50557A5-EB94-884D-94E2-31A068E97919}"/>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551362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06F9C-F28F-8746-912C-027B93C6C4B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91FE28B-D161-0546-B106-968F455BD6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0EBA72-5EC6-9440-87D2-1FD501028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1654120-BA10-6242-89B4-FD8AE7511203}"/>
              </a:ext>
            </a:extLst>
          </p:cNvPr>
          <p:cNvSpPr>
            <a:spLocks noGrp="1"/>
          </p:cNvSpPr>
          <p:nvPr>
            <p:ph type="dt" sz="half" idx="10"/>
          </p:nvPr>
        </p:nvSpPr>
        <p:spPr/>
        <p:txBody>
          <a:bodyPr/>
          <a:lstStyle/>
          <a:p>
            <a:fld id="{538B850C-7C5B-034A-B007-6DB0D3434B75}" type="datetime1">
              <a:rPr lang="en-IN" smtClean="0"/>
              <a:t>13/02/21</a:t>
            </a:fld>
            <a:endParaRPr lang="en-US"/>
          </a:p>
        </p:txBody>
      </p:sp>
      <p:sp>
        <p:nvSpPr>
          <p:cNvPr id="6" name="Footer Placeholder 5">
            <a:extLst>
              <a:ext uri="{FF2B5EF4-FFF2-40B4-BE49-F238E27FC236}">
                <a16:creationId xmlns:a16="http://schemas.microsoft.com/office/drawing/2014/main" id="{78523A1D-B549-6943-9E6D-40CE81DB8859}"/>
              </a:ext>
            </a:extLst>
          </p:cNvPr>
          <p:cNvSpPr>
            <a:spLocks noGrp="1"/>
          </p:cNvSpPr>
          <p:nvPr>
            <p:ph type="ftr" sz="quarter" idx="11"/>
          </p:nvPr>
        </p:nvSpPr>
        <p:spPr/>
        <p:txBody>
          <a:bodyPr/>
          <a:lstStyle/>
          <a:p>
            <a:r>
              <a:rPr lang="en-US"/>
              <a:t>Copyright Amit Pandey, 2021</a:t>
            </a:r>
          </a:p>
        </p:txBody>
      </p:sp>
      <p:sp>
        <p:nvSpPr>
          <p:cNvPr id="7" name="Slide Number Placeholder 6">
            <a:extLst>
              <a:ext uri="{FF2B5EF4-FFF2-40B4-BE49-F238E27FC236}">
                <a16:creationId xmlns:a16="http://schemas.microsoft.com/office/drawing/2014/main" id="{292C527F-B199-FD4F-B112-793A5B3AA402}"/>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25042676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E16F1-B159-A04F-A46A-FEA01B6497F3}"/>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1580953-A16F-414E-8B22-4D7BB41EB1A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A199207-9A39-0449-B46A-29515079FE48}"/>
              </a:ext>
            </a:extLst>
          </p:cNvPr>
          <p:cNvSpPr>
            <a:spLocks noGrp="1"/>
          </p:cNvSpPr>
          <p:nvPr>
            <p:ph type="dt" sz="half" idx="10"/>
          </p:nvPr>
        </p:nvSpPr>
        <p:spPr/>
        <p:txBody>
          <a:bodyPr/>
          <a:lstStyle/>
          <a:p>
            <a:fld id="{C4FF2E63-1DCE-2549-9788-2A5A95146EA5}" type="datetime1">
              <a:rPr lang="en-IN" smtClean="0"/>
              <a:t>13/02/21</a:t>
            </a:fld>
            <a:endParaRPr lang="en-US"/>
          </a:p>
        </p:txBody>
      </p:sp>
      <p:sp>
        <p:nvSpPr>
          <p:cNvPr id="5" name="Footer Placeholder 4">
            <a:extLst>
              <a:ext uri="{FF2B5EF4-FFF2-40B4-BE49-F238E27FC236}">
                <a16:creationId xmlns:a16="http://schemas.microsoft.com/office/drawing/2014/main" id="{69643586-B75A-3C44-B26B-A13C5BD2909B}"/>
              </a:ext>
            </a:extLst>
          </p:cNvPr>
          <p:cNvSpPr>
            <a:spLocks noGrp="1"/>
          </p:cNvSpPr>
          <p:nvPr>
            <p:ph type="ftr" sz="quarter" idx="11"/>
          </p:nvPr>
        </p:nvSpPr>
        <p:spPr/>
        <p:txBody>
          <a:bodyPr/>
          <a:lstStyle/>
          <a:p>
            <a:r>
              <a:rPr lang="en-US"/>
              <a:t>Copyright Amit Pandey, 2021</a:t>
            </a:r>
          </a:p>
        </p:txBody>
      </p:sp>
      <p:sp>
        <p:nvSpPr>
          <p:cNvPr id="6" name="Slide Number Placeholder 5">
            <a:extLst>
              <a:ext uri="{FF2B5EF4-FFF2-40B4-BE49-F238E27FC236}">
                <a16:creationId xmlns:a16="http://schemas.microsoft.com/office/drawing/2014/main" id="{43A4547E-4C89-F546-8E0D-08B9E98B0B31}"/>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37590705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0EF1352-199A-9644-AFCC-915699D2A8C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D386D75-7D55-414D-B7BD-5A7CAC703A0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E0FB606-F5A3-0A41-AF94-24A0A6C85A5B}"/>
              </a:ext>
            </a:extLst>
          </p:cNvPr>
          <p:cNvSpPr>
            <a:spLocks noGrp="1"/>
          </p:cNvSpPr>
          <p:nvPr>
            <p:ph type="dt" sz="half" idx="10"/>
          </p:nvPr>
        </p:nvSpPr>
        <p:spPr/>
        <p:txBody>
          <a:bodyPr/>
          <a:lstStyle/>
          <a:p>
            <a:fld id="{804487D4-0DCC-F745-AF97-B01CDCE4687B}" type="datetime1">
              <a:rPr lang="en-IN" smtClean="0"/>
              <a:t>13/02/21</a:t>
            </a:fld>
            <a:endParaRPr lang="en-US"/>
          </a:p>
        </p:txBody>
      </p:sp>
      <p:sp>
        <p:nvSpPr>
          <p:cNvPr id="5" name="Footer Placeholder 4">
            <a:extLst>
              <a:ext uri="{FF2B5EF4-FFF2-40B4-BE49-F238E27FC236}">
                <a16:creationId xmlns:a16="http://schemas.microsoft.com/office/drawing/2014/main" id="{86CB0B51-5049-C245-9F57-8785C3E3C924}"/>
              </a:ext>
            </a:extLst>
          </p:cNvPr>
          <p:cNvSpPr>
            <a:spLocks noGrp="1"/>
          </p:cNvSpPr>
          <p:nvPr>
            <p:ph type="ftr" sz="quarter" idx="11"/>
          </p:nvPr>
        </p:nvSpPr>
        <p:spPr/>
        <p:txBody>
          <a:bodyPr/>
          <a:lstStyle/>
          <a:p>
            <a:r>
              <a:rPr lang="en-US"/>
              <a:t>Copyright Amit Pandey, 2021</a:t>
            </a:r>
          </a:p>
        </p:txBody>
      </p:sp>
      <p:sp>
        <p:nvSpPr>
          <p:cNvPr id="6" name="Slide Number Placeholder 5">
            <a:extLst>
              <a:ext uri="{FF2B5EF4-FFF2-40B4-BE49-F238E27FC236}">
                <a16:creationId xmlns:a16="http://schemas.microsoft.com/office/drawing/2014/main" id="{C20E50A1-44E5-0B45-9ACE-30C03348A437}"/>
              </a:ext>
            </a:extLst>
          </p:cNvPr>
          <p:cNvSpPr>
            <a:spLocks noGrp="1"/>
          </p:cNvSpPr>
          <p:nvPr>
            <p:ph type="sldNum" sz="quarter" idx="12"/>
          </p:nvPr>
        </p:nvSpPr>
        <p:spPr/>
        <p:txBody>
          <a:bodyPr/>
          <a:lstStyle/>
          <a:p>
            <a:fld id="{E499D091-4CB9-2A46-BA41-553A9A0BAC94}" type="slidenum">
              <a:rPr lang="en-US" smtClean="0"/>
              <a:t>‹#›</a:t>
            </a:fld>
            <a:endParaRPr lang="en-US"/>
          </a:p>
        </p:txBody>
      </p:sp>
    </p:spTree>
    <p:extLst>
      <p:ext uri="{BB962C8B-B14F-4D97-AF65-F5344CB8AC3E}">
        <p14:creationId xmlns:p14="http://schemas.microsoft.com/office/powerpoint/2010/main" val="38785272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57FFF2-B74B-CE43-A8A5-03CE400694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9DC9EDB-308B-7440-BF78-652337ACE2B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E8038FD-81F4-D94E-ADF7-D47A0304E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AFE9BE-C5F2-0242-A503-C630DB007913}" type="datetime1">
              <a:rPr lang="en-IN" smtClean="0"/>
              <a:t>13/02/21</a:t>
            </a:fld>
            <a:endParaRPr lang="en-US"/>
          </a:p>
        </p:txBody>
      </p:sp>
      <p:sp>
        <p:nvSpPr>
          <p:cNvPr id="5" name="Footer Placeholder 4">
            <a:extLst>
              <a:ext uri="{FF2B5EF4-FFF2-40B4-BE49-F238E27FC236}">
                <a16:creationId xmlns:a16="http://schemas.microsoft.com/office/drawing/2014/main" id="{4E17B268-481B-0E45-B0A6-A0479E84C0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Amit Pandey, 2021</a:t>
            </a:r>
          </a:p>
        </p:txBody>
      </p:sp>
      <p:sp>
        <p:nvSpPr>
          <p:cNvPr id="6" name="Slide Number Placeholder 5">
            <a:extLst>
              <a:ext uri="{FF2B5EF4-FFF2-40B4-BE49-F238E27FC236}">
                <a16:creationId xmlns:a16="http://schemas.microsoft.com/office/drawing/2014/main" id="{DB8B8611-E127-A840-8FCB-8D987F2E436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499D091-4CB9-2A46-BA41-553A9A0BAC94}" type="slidenum">
              <a:rPr lang="en-US" smtClean="0"/>
              <a:t>‹#›</a:t>
            </a:fld>
            <a:endParaRPr lang="en-US"/>
          </a:p>
        </p:txBody>
      </p:sp>
    </p:spTree>
    <p:extLst>
      <p:ext uri="{BB962C8B-B14F-4D97-AF65-F5344CB8AC3E}">
        <p14:creationId xmlns:p14="http://schemas.microsoft.com/office/powerpoint/2010/main" val="8472142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pandas.pydata.org/pandas-docs/stable/reference/api/pandas.DataFrame.cov.html"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1.xml.rels><?xml version="1.0" encoding="UTF-8" standalone="yes"?>
<Relationships xmlns="http://schemas.openxmlformats.org/package/2006/relationships"><Relationship Id="rId3" Type="http://schemas.openxmlformats.org/officeDocument/2006/relationships/hyperlink" Target="https://math.mit.edu/~gs/linearalgebra/ila0601.pdf" TargetMode="External"/><Relationship Id="rId2" Type="http://schemas.openxmlformats.org/officeDocument/2006/relationships/hyperlink" Target="https://www.youtube.com/watch?v=PFDu9oVAE-g" TargetMode="External"/><Relationship Id="rId1" Type="http://schemas.openxmlformats.org/officeDocument/2006/relationships/slideLayout" Target="../slideLayouts/slideLayout2.xml"/><Relationship Id="rId5" Type="http://schemas.openxmlformats.org/officeDocument/2006/relationships/hyperlink" Target="https://www.cpp.edu/~manasab/eigenvalue.pdf" TargetMode="External"/><Relationship Id="rId4" Type="http://schemas.openxmlformats.org/officeDocument/2006/relationships/hyperlink" Target="https://scikit-learn.org/stable/auto_examples/applications/plot_face_recognition.html#sphx-glr-auto-examples-applications-plot-face-recognition-py" TargetMode="External"/></Relationships>
</file>

<file path=ppt/slides/_rels/slide42.xml.rels><?xml version="1.0" encoding="UTF-8" standalone="yes"?>
<Relationships xmlns="http://schemas.openxmlformats.org/package/2006/relationships"><Relationship Id="rId2" Type="http://schemas.openxmlformats.org/officeDocument/2006/relationships/hyperlink" Target="http://amitpandeylearn@gmail.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A54978-0F63-A744-8C54-A13D05D81AFB}"/>
              </a:ext>
            </a:extLst>
          </p:cNvPr>
          <p:cNvSpPr txBox="1"/>
          <p:nvPr/>
        </p:nvSpPr>
        <p:spPr>
          <a:xfrm>
            <a:off x="1834256" y="3105834"/>
            <a:ext cx="8523487" cy="646331"/>
          </a:xfrm>
          <a:prstGeom prst="rect">
            <a:avLst/>
          </a:prstGeom>
          <a:noFill/>
        </p:spPr>
        <p:txBody>
          <a:bodyPr wrap="none" rtlCol="0">
            <a:spAutoFit/>
          </a:bodyPr>
          <a:lstStyle/>
          <a:p>
            <a:r>
              <a:rPr lang="en-US" sz="3600" dirty="0">
                <a:latin typeface="Montserrat" pitchFamily="2" charset="77"/>
              </a:rPr>
              <a:t>PRINCIPAL COMPONENT ANALYSIS</a:t>
            </a:r>
          </a:p>
        </p:txBody>
      </p:sp>
      <p:sp>
        <p:nvSpPr>
          <p:cNvPr id="5" name="Footer Placeholder 4">
            <a:extLst>
              <a:ext uri="{FF2B5EF4-FFF2-40B4-BE49-F238E27FC236}">
                <a16:creationId xmlns:a16="http://schemas.microsoft.com/office/drawing/2014/main" id="{EF8409C7-E11A-C64A-B697-35E84F4DD115}"/>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6808553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80A82-EEAA-2646-92E8-0DE1B394A646}"/>
              </a:ext>
            </a:extLst>
          </p:cNvPr>
          <p:cNvSpPr>
            <a:spLocks noGrp="1"/>
          </p:cNvSpPr>
          <p:nvPr>
            <p:ph type="title"/>
          </p:nvPr>
        </p:nvSpPr>
        <p:spPr/>
        <p:txBody>
          <a:bodyPr>
            <a:normAutofit/>
          </a:bodyPr>
          <a:lstStyle/>
          <a:p>
            <a:r>
              <a:rPr lang="en-US" sz="3600" dirty="0">
                <a:latin typeface="Montserrat" pitchFamily="2" charset="77"/>
              </a:rPr>
              <a:t>DIMENSIONALITY REDUCTION TECHNIQUES</a:t>
            </a:r>
            <a:endParaRPr lang="en-US" sz="3600" dirty="0"/>
          </a:p>
        </p:txBody>
      </p:sp>
      <p:sp>
        <p:nvSpPr>
          <p:cNvPr id="3" name="Content Placeholder 2">
            <a:extLst>
              <a:ext uri="{FF2B5EF4-FFF2-40B4-BE49-F238E27FC236}">
                <a16:creationId xmlns:a16="http://schemas.microsoft.com/office/drawing/2014/main" id="{3DFC564B-C86C-D94A-95EB-9AA59782F49B}"/>
              </a:ext>
            </a:extLst>
          </p:cNvPr>
          <p:cNvSpPr>
            <a:spLocks noGrp="1"/>
          </p:cNvSpPr>
          <p:nvPr>
            <p:ph idx="1"/>
          </p:nvPr>
        </p:nvSpPr>
        <p:spPr/>
        <p:txBody>
          <a:bodyPr>
            <a:normAutofit fontScale="85000" lnSpcReduction="20000"/>
          </a:bodyPr>
          <a:lstStyle/>
          <a:p>
            <a:pPr>
              <a:lnSpc>
                <a:spcPct val="110000"/>
              </a:lnSpc>
            </a:pPr>
            <a:r>
              <a:rPr lang="en-US" dirty="0">
                <a:latin typeface="Montserrat" pitchFamily="2" charset="77"/>
              </a:rPr>
              <a:t>Feature Selection / Reduction</a:t>
            </a:r>
          </a:p>
          <a:p>
            <a:pPr lvl="1">
              <a:lnSpc>
                <a:spcPct val="110000"/>
              </a:lnSpc>
            </a:pPr>
            <a:r>
              <a:rPr lang="en-US" dirty="0">
                <a:latin typeface="Montserrat" pitchFamily="2" charset="77"/>
              </a:rPr>
              <a:t>Missing value ratio</a:t>
            </a:r>
          </a:p>
          <a:p>
            <a:pPr lvl="1">
              <a:lnSpc>
                <a:spcPct val="110000"/>
              </a:lnSpc>
            </a:pPr>
            <a:r>
              <a:rPr lang="en-US" dirty="0">
                <a:latin typeface="Montserrat" pitchFamily="2" charset="77"/>
              </a:rPr>
              <a:t>Low variance</a:t>
            </a:r>
          </a:p>
          <a:p>
            <a:pPr lvl="1">
              <a:lnSpc>
                <a:spcPct val="110000"/>
              </a:lnSpc>
            </a:pPr>
            <a:r>
              <a:rPr lang="en-US" dirty="0">
                <a:latin typeface="Montserrat" pitchFamily="2" charset="77"/>
              </a:rPr>
              <a:t>High correlation</a:t>
            </a:r>
          </a:p>
          <a:p>
            <a:pPr lvl="1">
              <a:lnSpc>
                <a:spcPct val="110000"/>
              </a:lnSpc>
            </a:pPr>
            <a:r>
              <a:rPr lang="en-US" dirty="0">
                <a:latin typeface="Montserrat" pitchFamily="2" charset="77"/>
              </a:rPr>
              <a:t>Backward feature elimination</a:t>
            </a:r>
          </a:p>
          <a:p>
            <a:pPr lvl="1">
              <a:lnSpc>
                <a:spcPct val="110000"/>
              </a:lnSpc>
            </a:pPr>
            <a:r>
              <a:rPr lang="en-US" dirty="0">
                <a:latin typeface="Montserrat" pitchFamily="2" charset="77"/>
              </a:rPr>
              <a:t>Forward feature selection</a:t>
            </a:r>
          </a:p>
          <a:p>
            <a:pPr lvl="1">
              <a:lnSpc>
                <a:spcPct val="110000"/>
              </a:lnSpc>
            </a:pPr>
            <a:r>
              <a:rPr lang="en-US" dirty="0">
                <a:latin typeface="Montserrat" pitchFamily="2" charset="77"/>
              </a:rPr>
              <a:t>Recursive feature elimination</a:t>
            </a:r>
          </a:p>
          <a:p>
            <a:pPr>
              <a:lnSpc>
                <a:spcPct val="110000"/>
              </a:lnSpc>
            </a:pPr>
            <a:r>
              <a:rPr lang="en-US" dirty="0">
                <a:latin typeface="Montserrat" pitchFamily="2" charset="77"/>
              </a:rPr>
              <a:t>Advanced dimensionality/feature reduction techniques</a:t>
            </a:r>
          </a:p>
          <a:p>
            <a:pPr lvl="1">
              <a:lnSpc>
                <a:spcPct val="110000"/>
              </a:lnSpc>
            </a:pPr>
            <a:r>
              <a:rPr lang="en-US" dirty="0">
                <a:latin typeface="Montserrat" pitchFamily="2" charset="77"/>
              </a:rPr>
              <a:t>Principal Component Analysis (PCA)</a:t>
            </a:r>
          </a:p>
          <a:p>
            <a:pPr lvl="1">
              <a:lnSpc>
                <a:spcPct val="110000"/>
              </a:lnSpc>
            </a:pPr>
            <a:r>
              <a:rPr lang="en-US" dirty="0">
                <a:latin typeface="Montserrat" pitchFamily="2" charset="77"/>
              </a:rPr>
              <a:t>Factor Analysis</a:t>
            </a:r>
          </a:p>
          <a:p>
            <a:pPr lvl="1">
              <a:lnSpc>
                <a:spcPct val="110000"/>
              </a:lnSpc>
            </a:pPr>
            <a:r>
              <a:rPr lang="en-US" dirty="0">
                <a:latin typeface="Montserrat" pitchFamily="2" charset="77"/>
              </a:rPr>
              <a:t>Genetic Algorithms</a:t>
            </a:r>
          </a:p>
          <a:p>
            <a:pPr lvl="1">
              <a:lnSpc>
                <a:spcPct val="110000"/>
              </a:lnSpc>
            </a:pPr>
            <a:r>
              <a:rPr lang="en-US" dirty="0">
                <a:latin typeface="Montserrat" pitchFamily="2" charset="77"/>
              </a:rPr>
              <a:t>Autoencoders</a:t>
            </a:r>
          </a:p>
          <a:p>
            <a:pPr lvl="1">
              <a:lnSpc>
                <a:spcPct val="110000"/>
              </a:lnSpc>
            </a:pPr>
            <a:endParaRPr lang="en-US" dirty="0">
              <a:latin typeface="Montserrat" pitchFamily="2" charset="77"/>
            </a:endParaRPr>
          </a:p>
        </p:txBody>
      </p:sp>
      <p:sp>
        <p:nvSpPr>
          <p:cNvPr id="4" name="Footer Placeholder 3">
            <a:extLst>
              <a:ext uri="{FF2B5EF4-FFF2-40B4-BE49-F238E27FC236}">
                <a16:creationId xmlns:a16="http://schemas.microsoft.com/office/drawing/2014/main" id="{CFF79EEE-318F-1944-A2EF-57F68D96FFCF}"/>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36511023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A54978-0F63-A744-8C54-A13D05D81AFB}"/>
              </a:ext>
            </a:extLst>
          </p:cNvPr>
          <p:cNvSpPr txBox="1"/>
          <p:nvPr/>
        </p:nvSpPr>
        <p:spPr>
          <a:xfrm>
            <a:off x="774700" y="2151727"/>
            <a:ext cx="10642600" cy="2554545"/>
          </a:xfrm>
          <a:prstGeom prst="rect">
            <a:avLst/>
          </a:prstGeom>
          <a:noFill/>
        </p:spPr>
        <p:txBody>
          <a:bodyPr wrap="square" rtlCol="0">
            <a:spAutoFit/>
          </a:bodyPr>
          <a:lstStyle/>
          <a:p>
            <a:pPr algn="ctr"/>
            <a:r>
              <a:rPr lang="en-IN" sz="3200" dirty="0">
                <a:latin typeface="Montserrat" pitchFamily="2" charset="77"/>
              </a:rPr>
              <a:t>The principal components of a collection of points in a real p-space are a sequence of p direction vectors, where the </a:t>
            </a:r>
            <a:r>
              <a:rPr lang="en-IN" sz="3200" dirty="0" err="1">
                <a:latin typeface="Montserrat" pitchFamily="2" charset="77"/>
              </a:rPr>
              <a:t>i</a:t>
            </a:r>
            <a:r>
              <a:rPr lang="en-IN" sz="3200" baseline="30000" dirty="0" err="1">
                <a:latin typeface="Montserrat" pitchFamily="2" charset="77"/>
              </a:rPr>
              <a:t>th</a:t>
            </a:r>
            <a:r>
              <a:rPr lang="en-IN" sz="3200" dirty="0">
                <a:latin typeface="Montserrat" pitchFamily="2" charset="77"/>
              </a:rPr>
              <a:t> vector is the direction of a line that best fits the data while being orthogonal to the first i-1 vectors.</a:t>
            </a:r>
            <a:endParaRPr lang="en-US" sz="3200" dirty="0">
              <a:latin typeface="Montserrat" pitchFamily="2" charset="77"/>
            </a:endParaRPr>
          </a:p>
        </p:txBody>
      </p:sp>
      <p:sp>
        <p:nvSpPr>
          <p:cNvPr id="2" name="Footer Placeholder 1">
            <a:extLst>
              <a:ext uri="{FF2B5EF4-FFF2-40B4-BE49-F238E27FC236}">
                <a16:creationId xmlns:a16="http://schemas.microsoft.com/office/drawing/2014/main" id="{E2FC7CBF-607C-2A46-BB38-20BF9453C574}"/>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4131652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6A54978-0F63-A744-8C54-A13D05D81AFB}"/>
              </a:ext>
            </a:extLst>
          </p:cNvPr>
          <p:cNvSpPr txBox="1"/>
          <p:nvPr/>
        </p:nvSpPr>
        <p:spPr>
          <a:xfrm>
            <a:off x="774700" y="2151727"/>
            <a:ext cx="10642600" cy="3046988"/>
          </a:xfrm>
          <a:prstGeom prst="rect">
            <a:avLst/>
          </a:prstGeom>
          <a:noFill/>
        </p:spPr>
        <p:txBody>
          <a:bodyPr wrap="square" rtlCol="0">
            <a:spAutoFit/>
          </a:bodyPr>
          <a:lstStyle/>
          <a:p>
            <a:pPr algn="ctr"/>
            <a:r>
              <a:rPr lang="en-US" sz="3200" dirty="0">
                <a:latin typeface="Montserrat" pitchFamily="2" charset="77"/>
              </a:rPr>
              <a:t>PCA is an unsupervised dimensionality reduction technique to reduce the dimensionality of a large data sets, by transforming a large set of variables into smaller one that still contains most of the information in the large sets by linear combination of the original features. </a:t>
            </a:r>
          </a:p>
        </p:txBody>
      </p:sp>
      <p:sp>
        <p:nvSpPr>
          <p:cNvPr id="2" name="TextBox 1">
            <a:extLst>
              <a:ext uri="{FF2B5EF4-FFF2-40B4-BE49-F238E27FC236}">
                <a16:creationId xmlns:a16="http://schemas.microsoft.com/office/drawing/2014/main" id="{719BC48A-ED9B-3647-B8A2-34714EE8C232}"/>
              </a:ext>
            </a:extLst>
          </p:cNvPr>
          <p:cNvSpPr txBox="1"/>
          <p:nvPr/>
        </p:nvSpPr>
        <p:spPr>
          <a:xfrm rot="20990725">
            <a:off x="794553" y="1459078"/>
            <a:ext cx="2661306" cy="461665"/>
          </a:xfrm>
          <a:prstGeom prst="rect">
            <a:avLst/>
          </a:prstGeom>
          <a:noFill/>
        </p:spPr>
        <p:txBody>
          <a:bodyPr wrap="none" rtlCol="0">
            <a:spAutoFit/>
          </a:bodyPr>
          <a:lstStyle/>
          <a:p>
            <a:r>
              <a:rPr lang="en-US" sz="2400" dirty="0">
                <a:latin typeface="Bradley Hand" pitchFamily="2" charset="77"/>
              </a:rPr>
              <a:t>in plain language</a:t>
            </a:r>
          </a:p>
        </p:txBody>
      </p:sp>
      <p:sp>
        <p:nvSpPr>
          <p:cNvPr id="3" name="Footer Placeholder 2">
            <a:extLst>
              <a:ext uri="{FF2B5EF4-FFF2-40B4-BE49-F238E27FC236}">
                <a16:creationId xmlns:a16="http://schemas.microsoft.com/office/drawing/2014/main" id="{2403889E-5009-7148-A99D-B27406642F1F}"/>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595845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619CC7A-7830-9141-9BD1-E5BC27812A82}"/>
              </a:ext>
            </a:extLst>
          </p:cNvPr>
          <p:cNvGraphicFramePr>
            <a:graphicFrameLocks noGrp="1"/>
          </p:cNvGraphicFramePr>
          <p:nvPr>
            <p:extLst>
              <p:ext uri="{D42A27DB-BD31-4B8C-83A1-F6EECF244321}">
                <p14:modId xmlns:p14="http://schemas.microsoft.com/office/powerpoint/2010/main" val="2704232256"/>
              </p:ext>
            </p:extLst>
          </p:nvPr>
        </p:nvGraphicFramePr>
        <p:xfrm>
          <a:off x="1190090" y="1543691"/>
          <a:ext cx="9811820" cy="3770618"/>
        </p:xfrm>
        <a:graphic>
          <a:graphicData uri="http://schemas.openxmlformats.org/drawingml/2006/table">
            <a:tbl>
              <a:tblPr bandRow="1">
                <a:tableStyleId>{37CE84F3-28C3-443E-9E96-99CF82512B78}</a:tableStyleId>
              </a:tblPr>
              <a:tblGrid>
                <a:gridCol w="1962364">
                  <a:extLst>
                    <a:ext uri="{9D8B030D-6E8A-4147-A177-3AD203B41FA5}">
                      <a16:colId xmlns:a16="http://schemas.microsoft.com/office/drawing/2014/main" val="253147629"/>
                    </a:ext>
                  </a:extLst>
                </a:gridCol>
                <a:gridCol w="1962364">
                  <a:extLst>
                    <a:ext uri="{9D8B030D-6E8A-4147-A177-3AD203B41FA5}">
                      <a16:colId xmlns:a16="http://schemas.microsoft.com/office/drawing/2014/main" val="2220182444"/>
                    </a:ext>
                  </a:extLst>
                </a:gridCol>
                <a:gridCol w="1962364">
                  <a:extLst>
                    <a:ext uri="{9D8B030D-6E8A-4147-A177-3AD203B41FA5}">
                      <a16:colId xmlns:a16="http://schemas.microsoft.com/office/drawing/2014/main" val="3128648271"/>
                    </a:ext>
                  </a:extLst>
                </a:gridCol>
                <a:gridCol w="1962364">
                  <a:extLst>
                    <a:ext uri="{9D8B030D-6E8A-4147-A177-3AD203B41FA5}">
                      <a16:colId xmlns:a16="http://schemas.microsoft.com/office/drawing/2014/main" val="519354377"/>
                    </a:ext>
                  </a:extLst>
                </a:gridCol>
                <a:gridCol w="1962364">
                  <a:extLst>
                    <a:ext uri="{9D8B030D-6E8A-4147-A177-3AD203B41FA5}">
                      <a16:colId xmlns:a16="http://schemas.microsoft.com/office/drawing/2014/main" val="1937024785"/>
                    </a:ext>
                  </a:extLst>
                </a:gridCol>
              </a:tblGrid>
              <a:tr h="547466">
                <a:tc>
                  <a:txBody>
                    <a:bodyPr/>
                    <a:lstStyle/>
                    <a:p>
                      <a:pPr algn="ctr" fontAlgn="b"/>
                      <a:endParaRPr lang="en-IN" sz="1600" b="0" i="0" u="none" strike="noStrike" dirty="0">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1</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2</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3</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4</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5560696"/>
                  </a:ext>
                </a:extLst>
              </a:tr>
              <a:tr h="537192">
                <a:tc>
                  <a:txBody>
                    <a:bodyPr/>
                    <a:lstStyle/>
                    <a:p>
                      <a:pPr algn="ctr" fontAlgn="b"/>
                      <a:r>
                        <a:rPr lang="en-IN" sz="1600" b="0" u="none" strike="noStrike">
                          <a:effectLst/>
                          <a:latin typeface="Montserrat" pitchFamily="2" charset="77"/>
                        </a:rPr>
                        <a:t>Sample 1</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94</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60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54</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860773"/>
                  </a:ext>
                </a:extLst>
              </a:tr>
              <a:tr h="537192">
                <a:tc>
                  <a:txBody>
                    <a:bodyPr/>
                    <a:lstStyle/>
                    <a:p>
                      <a:pPr algn="ctr" fontAlgn="b"/>
                      <a:r>
                        <a:rPr lang="en-IN" sz="1600" b="0" u="none" strike="noStrike">
                          <a:effectLst/>
                          <a:latin typeface="Montserrat" pitchFamily="2" charset="77"/>
                        </a:rPr>
                        <a:t>Sample 2</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40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73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890952"/>
                  </a:ext>
                </a:extLst>
              </a:tr>
              <a:tr h="537192">
                <a:tc>
                  <a:txBody>
                    <a:bodyPr/>
                    <a:lstStyle/>
                    <a:p>
                      <a:pPr algn="ctr" fontAlgn="b"/>
                      <a:r>
                        <a:rPr lang="en-IN" sz="1600" b="0" u="none" strike="noStrike">
                          <a:effectLst/>
                          <a:latin typeface="Montserrat" pitchFamily="2" charset="77"/>
                        </a:rPr>
                        <a:t>Sample 3</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85</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50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62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663130"/>
                  </a:ext>
                </a:extLst>
              </a:tr>
              <a:tr h="537192">
                <a:tc>
                  <a:txBody>
                    <a:bodyPr/>
                    <a:lstStyle/>
                    <a:p>
                      <a:pPr algn="ctr" fontAlgn="b"/>
                      <a:r>
                        <a:rPr lang="en-IN" sz="1600" b="0" u="none" strike="noStrike">
                          <a:effectLst/>
                          <a:latin typeface="Montserrat" pitchFamily="2" charset="77"/>
                        </a:rPr>
                        <a:t>Sample 4</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36</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30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25</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21</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666262"/>
                  </a:ext>
                </a:extLst>
              </a:tr>
              <a:tr h="537192">
                <a:tc>
                  <a:txBody>
                    <a:bodyPr/>
                    <a:lstStyle/>
                    <a:p>
                      <a:pPr algn="ctr" fontAlgn="b"/>
                      <a:r>
                        <a:rPr lang="en-IN" sz="1600" b="0" u="none" strike="noStrike">
                          <a:effectLst/>
                          <a:latin typeface="Montserrat" pitchFamily="2" charset="77"/>
                        </a:rPr>
                        <a:t>Sample 5</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28</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13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42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132919"/>
                  </a:ext>
                </a:extLst>
              </a:tr>
              <a:tr h="537192">
                <a:tc>
                  <a:txBody>
                    <a:bodyPr/>
                    <a:lstStyle/>
                    <a:p>
                      <a:pPr algn="ctr" fontAlgn="b"/>
                      <a:r>
                        <a:rPr lang="en-IN" sz="1600" b="0" u="none" strike="noStrike" dirty="0">
                          <a:effectLst/>
                          <a:latin typeface="Montserrat" pitchFamily="2" charset="77"/>
                        </a:rPr>
                        <a:t>Sample 6</a:t>
                      </a:r>
                      <a:endParaRPr lang="en-IN" sz="1600" b="0" i="0" u="none" strike="noStrike" dirty="0">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12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10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20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72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19553704"/>
                  </a:ext>
                </a:extLst>
              </a:tr>
            </a:tbl>
          </a:graphicData>
        </a:graphic>
      </p:graphicFrame>
      <p:sp>
        <p:nvSpPr>
          <p:cNvPr id="5" name="Footer Placeholder 4">
            <a:extLst>
              <a:ext uri="{FF2B5EF4-FFF2-40B4-BE49-F238E27FC236}">
                <a16:creationId xmlns:a16="http://schemas.microsoft.com/office/drawing/2014/main" id="{477CC3A3-4E72-714E-A376-412000C51CA0}"/>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738253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619CC7A-7830-9141-9BD1-E5BC27812A82}"/>
              </a:ext>
            </a:extLst>
          </p:cNvPr>
          <p:cNvGraphicFramePr>
            <a:graphicFrameLocks noGrp="1"/>
          </p:cNvGraphicFramePr>
          <p:nvPr/>
        </p:nvGraphicFramePr>
        <p:xfrm>
          <a:off x="1190090" y="1543691"/>
          <a:ext cx="9811820" cy="3770618"/>
        </p:xfrm>
        <a:graphic>
          <a:graphicData uri="http://schemas.openxmlformats.org/drawingml/2006/table">
            <a:tbl>
              <a:tblPr bandRow="1">
                <a:tableStyleId>{37CE84F3-28C3-443E-9E96-99CF82512B78}</a:tableStyleId>
              </a:tblPr>
              <a:tblGrid>
                <a:gridCol w="1962364">
                  <a:extLst>
                    <a:ext uri="{9D8B030D-6E8A-4147-A177-3AD203B41FA5}">
                      <a16:colId xmlns:a16="http://schemas.microsoft.com/office/drawing/2014/main" val="253147629"/>
                    </a:ext>
                  </a:extLst>
                </a:gridCol>
                <a:gridCol w="1962364">
                  <a:extLst>
                    <a:ext uri="{9D8B030D-6E8A-4147-A177-3AD203B41FA5}">
                      <a16:colId xmlns:a16="http://schemas.microsoft.com/office/drawing/2014/main" val="2220182444"/>
                    </a:ext>
                  </a:extLst>
                </a:gridCol>
                <a:gridCol w="1962364">
                  <a:extLst>
                    <a:ext uri="{9D8B030D-6E8A-4147-A177-3AD203B41FA5}">
                      <a16:colId xmlns:a16="http://schemas.microsoft.com/office/drawing/2014/main" val="3128648271"/>
                    </a:ext>
                  </a:extLst>
                </a:gridCol>
                <a:gridCol w="1962364">
                  <a:extLst>
                    <a:ext uri="{9D8B030D-6E8A-4147-A177-3AD203B41FA5}">
                      <a16:colId xmlns:a16="http://schemas.microsoft.com/office/drawing/2014/main" val="519354377"/>
                    </a:ext>
                  </a:extLst>
                </a:gridCol>
                <a:gridCol w="1962364">
                  <a:extLst>
                    <a:ext uri="{9D8B030D-6E8A-4147-A177-3AD203B41FA5}">
                      <a16:colId xmlns:a16="http://schemas.microsoft.com/office/drawing/2014/main" val="1937024785"/>
                    </a:ext>
                  </a:extLst>
                </a:gridCol>
              </a:tblGrid>
              <a:tr h="547466">
                <a:tc>
                  <a:txBody>
                    <a:bodyPr/>
                    <a:lstStyle/>
                    <a:p>
                      <a:pPr algn="ctr" fontAlgn="b"/>
                      <a:endParaRPr lang="en-IN" sz="1600" b="0" i="0" u="none" strike="noStrike" dirty="0">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1</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2</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3</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4</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5560696"/>
                  </a:ext>
                </a:extLst>
              </a:tr>
              <a:tr h="537192">
                <a:tc>
                  <a:txBody>
                    <a:bodyPr/>
                    <a:lstStyle/>
                    <a:p>
                      <a:pPr algn="ctr" fontAlgn="b"/>
                      <a:r>
                        <a:rPr lang="en-IN" sz="1600" b="0" u="none" strike="noStrike">
                          <a:effectLst/>
                          <a:latin typeface="Montserrat" pitchFamily="2" charset="77"/>
                        </a:rPr>
                        <a:t>Sample 1</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94</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60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54</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860773"/>
                  </a:ext>
                </a:extLst>
              </a:tr>
              <a:tr h="537192">
                <a:tc>
                  <a:txBody>
                    <a:bodyPr/>
                    <a:lstStyle/>
                    <a:p>
                      <a:pPr algn="ctr" fontAlgn="b"/>
                      <a:r>
                        <a:rPr lang="en-IN" sz="1600" b="0" u="none" strike="noStrike">
                          <a:effectLst/>
                          <a:latin typeface="Montserrat" pitchFamily="2" charset="77"/>
                        </a:rPr>
                        <a:t>Sample 2</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40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73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890952"/>
                  </a:ext>
                </a:extLst>
              </a:tr>
              <a:tr h="537192">
                <a:tc>
                  <a:txBody>
                    <a:bodyPr/>
                    <a:lstStyle/>
                    <a:p>
                      <a:pPr algn="ctr" fontAlgn="b"/>
                      <a:r>
                        <a:rPr lang="en-IN" sz="1600" b="0" u="none" strike="noStrike">
                          <a:effectLst/>
                          <a:latin typeface="Montserrat" pitchFamily="2" charset="77"/>
                        </a:rPr>
                        <a:t>Sample 3</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85</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50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62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663130"/>
                  </a:ext>
                </a:extLst>
              </a:tr>
              <a:tr h="537192">
                <a:tc>
                  <a:txBody>
                    <a:bodyPr/>
                    <a:lstStyle/>
                    <a:p>
                      <a:pPr algn="ctr" fontAlgn="b"/>
                      <a:r>
                        <a:rPr lang="en-IN" sz="1600" b="0" u="none" strike="noStrike">
                          <a:effectLst/>
                          <a:latin typeface="Montserrat" pitchFamily="2" charset="77"/>
                        </a:rPr>
                        <a:t>Sample 4</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36</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30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25</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21</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666262"/>
                  </a:ext>
                </a:extLst>
              </a:tr>
              <a:tr h="537192">
                <a:tc>
                  <a:txBody>
                    <a:bodyPr/>
                    <a:lstStyle/>
                    <a:p>
                      <a:pPr algn="ctr" fontAlgn="b"/>
                      <a:r>
                        <a:rPr lang="en-IN" sz="1600" b="0" u="none" strike="noStrike">
                          <a:effectLst/>
                          <a:latin typeface="Montserrat" pitchFamily="2" charset="77"/>
                        </a:rPr>
                        <a:t>Sample 5</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28</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13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42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132919"/>
                  </a:ext>
                </a:extLst>
              </a:tr>
              <a:tr h="537192">
                <a:tc>
                  <a:txBody>
                    <a:bodyPr/>
                    <a:lstStyle/>
                    <a:p>
                      <a:pPr algn="ctr" fontAlgn="b"/>
                      <a:r>
                        <a:rPr lang="en-IN" sz="1600" b="0" u="none" strike="noStrike" dirty="0">
                          <a:effectLst/>
                          <a:latin typeface="Montserrat" pitchFamily="2" charset="77"/>
                        </a:rPr>
                        <a:t>Sample 6</a:t>
                      </a:r>
                      <a:endParaRPr lang="en-IN" sz="1600" b="0" i="0" u="none" strike="noStrike" dirty="0">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12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10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20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72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19553704"/>
                  </a:ext>
                </a:extLst>
              </a:tr>
            </a:tbl>
          </a:graphicData>
        </a:graphic>
      </p:graphicFrame>
      <p:sp>
        <p:nvSpPr>
          <p:cNvPr id="2" name="Rounded Rectangle 1">
            <a:extLst>
              <a:ext uri="{FF2B5EF4-FFF2-40B4-BE49-F238E27FC236}">
                <a16:creationId xmlns:a16="http://schemas.microsoft.com/office/drawing/2014/main" id="{689BD53F-EC5F-2D4B-816E-53F3285C06D4}"/>
              </a:ext>
            </a:extLst>
          </p:cNvPr>
          <p:cNvSpPr/>
          <p:nvPr/>
        </p:nvSpPr>
        <p:spPr>
          <a:xfrm>
            <a:off x="2973859" y="1342768"/>
            <a:ext cx="2323072" cy="4168346"/>
          </a:xfrm>
          <a:prstGeom prst="roundRect">
            <a:avLst>
              <a:gd name="adj" fmla="val 7093"/>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5E4B5343-DCB1-BE43-A224-B48AB0F4FBB3}"/>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4618477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5555672" y="4476996"/>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21386" y="3289465"/>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178866" y="3289477"/>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9" name="Oval 8">
            <a:extLst>
              <a:ext uri="{FF2B5EF4-FFF2-40B4-BE49-F238E27FC236}">
                <a16:creationId xmlns:a16="http://schemas.microsoft.com/office/drawing/2014/main" id="{4AB5831A-5175-EE45-B0CC-A7DBB8CCE8B0}"/>
              </a:ext>
            </a:extLst>
          </p:cNvPr>
          <p:cNvSpPr/>
          <p:nvPr/>
        </p:nvSpPr>
        <p:spPr>
          <a:xfrm>
            <a:off x="7309989" y="3299374"/>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11" name="Straight Connector 10">
            <a:extLst>
              <a:ext uri="{FF2B5EF4-FFF2-40B4-BE49-F238E27FC236}">
                <a16:creationId xmlns:a16="http://schemas.microsoft.com/office/drawing/2014/main" id="{D287160D-5920-774F-A689-87BE2AB12629}"/>
              </a:ext>
            </a:extLst>
          </p:cNvPr>
          <p:cNvCxnSpPr>
            <a:cxnSpLocks/>
          </p:cNvCxnSpPr>
          <p:nvPr/>
        </p:nvCxnSpPr>
        <p:spPr>
          <a:xfrm flipV="1">
            <a:off x="2527465" y="3721465"/>
            <a:ext cx="7137070" cy="0"/>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5" name="Oval 14">
            <a:extLst>
              <a:ext uri="{FF2B5EF4-FFF2-40B4-BE49-F238E27FC236}">
                <a16:creationId xmlns:a16="http://schemas.microsoft.com/office/drawing/2014/main" id="{374282BB-7DF5-A84C-923A-641B1DB11848}"/>
              </a:ext>
            </a:extLst>
          </p:cNvPr>
          <p:cNvSpPr/>
          <p:nvPr/>
        </p:nvSpPr>
        <p:spPr>
          <a:xfrm>
            <a:off x="3730567" y="3299374"/>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21016" y="3289465"/>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370582" y="3289465"/>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19" name="Straight Connector 18">
            <a:extLst>
              <a:ext uri="{FF2B5EF4-FFF2-40B4-BE49-F238E27FC236}">
                <a16:creationId xmlns:a16="http://schemas.microsoft.com/office/drawing/2014/main" id="{1C1BAA65-B144-E145-AC7E-274BBDE59E82}"/>
              </a:ext>
            </a:extLst>
          </p:cNvPr>
          <p:cNvCxnSpPr/>
          <p:nvPr/>
        </p:nvCxnSpPr>
        <p:spPr>
          <a:xfrm>
            <a:off x="2527465" y="3491345"/>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90660DE8-3A24-F748-8833-1F011F3F1E60}"/>
              </a:ext>
            </a:extLst>
          </p:cNvPr>
          <p:cNvCxnSpPr/>
          <p:nvPr/>
        </p:nvCxnSpPr>
        <p:spPr>
          <a:xfrm>
            <a:off x="9664535" y="3470104"/>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6BF089A5-C4AD-4E4A-ADC5-A42C8AFD3201}"/>
              </a:ext>
            </a:extLst>
          </p:cNvPr>
          <p:cNvSpPr txBox="1"/>
          <p:nvPr/>
        </p:nvSpPr>
        <p:spPr>
          <a:xfrm>
            <a:off x="2358989" y="3993388"/>
            <a:ext cx="336952" cy="369332"/>
          </a:xfrm>
          <a:prstGeom prst="rect">
            <a:avLst/>
          </a:prstGeom>
          <a:noFill/>
        </p:spPr>
        <p:txBody>
          <a:bodyPr wrap="none" rtlCol="0">
            <a:spAutoFit/>
          </a:bodyPr>
          <a:lstStyle/>
          <a:p>
            <a:r>
              <a:rPr lang="en-US" dirty="0">
                <a:latin typeface="Montserrat" pitchFamily="2" charset="77"/>
              </a:rPr>
              <a:t>0</a:t>
            </a:r>
          </a:p>
        </p:txBody>
      </p:sp>
      <p:sp>
        <p:nvSpPr>
          <p:cNvPr id="22" name="TextBox 21">
            <a:extLst>
              <a:ext uri="{FF2B5EF4-FFF2-40B4-BE49-F238E27FC236}">
                <a16:creationId xmlns:a16="http://schemas.microsoft.com/office/drawing/2014/main" id="{E53F4E79-27DF-164B-B2C9-0DA6726013EC}"/>
              </a:ext>
            </a:extLst>
          </p:cNvPr>
          <p:cNvSpPr txBox="1"/>
          <p:nvPr/>
        </p:nvSpPr>
        <p:spPr>
          <a:xfrm>
            <a:off x="9378238" y="3993388"/>
            <a:ext cx="572593" cy="369332"/>
          </a:xfrm>
          <a:prstGeom prst="rect">
            <a:avLst/>
          </a:prstGeom>
          <a:noFill/>
        </p:spPr>
        <p:txBody>
          <a:bodyPr wrap="none" rtlCol="0">
            <a:spAutoFit/>
          </a:bodyPr>
          <a:lstStyle/>
          <a:p>
            <a:r>
              <a:rPr lang="en-US" dirty="0">
                <a:latin typeface="Montserrat" pitchFamily="2" charset="77"/>
              </a:rPr>
              <a:t>100</a:t>
            </a:r>
          </a:p>
        </p:txBody>
      </p:sp>
      <p:sp>
        <p:nvSpPr>
          <p:cNvPr id="23" name="Footer Placeholder 22">
            <a:extLst>
              <a:ext uri="{FF2B5EF4-FFF2-40B4-BE49-F238E27FC236}">
                <a16:creationId xmlns:a16="http://schemas.microsoft.com/office/drawing/2014/main" id="{E5D92A62-5211-B545-AC7F-27097865EAE9}"/>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1089701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619CC7A-7830-9141-9BD1-E5BC27812A82}"/>
              </a:ext>
            </a:extLst>
          </p:cNvPr>
          <p:cNvGraphicFramePr>
            <a:graphicFrameLocks noGrp="1"/>
          </p:cNvGraphicFramePr>
          <p:nvPr/>
        </p:nvGraphicFramePr>
        <p:xfrm>
          <a:off x="1190090" y="1543691"/>
          <a:ext cx="9811820" cy="3770618"/>
        </p:xfrm>
        <a:graphic>
          <a:graphicData uri="http://schemas.openxmlformats.org/drawingml/2006/table">
            <a:tbl>
              <a:tblPr bandRow="1">
                <a:tableStyleId>{37CE84F3-28C3-443E-9E96-99CF82512B78}</a:tableStyleId>
              </a:tblPr>
              <a:tblGrid>
                <a:gridCol w="1962364">
                  <a:extLst>
                    <a:ext uri="{9D8B030D-6E8A-4147-A177-3AD203B41FA5}">
                      <a16:colId xmlns:a16="http://schemas.microsoft.com/office/drawing/2014/main" val="253147629"/>
                    </a:ext>
                  </a:extLst>
                </a:gridCol>
                <a:gridCol w="1962364">
                  <a:extLst>
                    <a:ext uri="{9D8B030D-6E8A-4147-A177-3AD203B41FA5}">
                      <a16:colId xmlns:a16="http://schemas.microsoft.com/office/drawing/2014/main" val="2220182444"/>
                    </a:ext>
                  </a:extLst>
                </a:gridCol>
                <a:gridCol w="1962364">
                  <a:extLst>
                    <a:ext uri="{9D8B030D-6E8A-4147-A177-3AD203B41FA5}">
                      <a16:colId xmlns:a16="http://schemas.microsoft.com/office/drawing/2014/main" val="3128648271"/>
                    </a:ext>
                  </a:extLst>
                </a:gridCol>
                <a:gridCol w="1962364">
                  <a:extLst>
                    <a:ext uri="{9D8B030D-6E8A-4147-A177-3AD203B41FA5}">
                      <a16:colId xmlns:a16="http://schemas.microsoft.com/office/drawing/2014/main" val="519354377"/>
                    </a:ext>
                  </a:extLst>
                </a:gridCol>
                <a:gridCol w="1962364">
                  <a:extLst>
                    <a:ext uri="{9D8B030D-6E8A-4147-A177-3AD203B41FA5}">
                      <a16:colId xmlns:a16="http://schemas.microsoft.com/office/drawing/2014/main" val="1937024785"/>
                    </a:ext>
                  </a:extLst>
                </a:gridCol>
              </a:tblGrid>
              <a:tr h="547466">
                <a:tc>
                  <a:txBody>
                    <a:bodyPr/>
                    <a:lstStyle/>
                    <a:p>
                      <a:pPr algn="ctr" fontAlgn="b"/>
                      <a:endParaRPr lang="en-IN" sz="1600" b="0" i="0" u="none" strike="noStrike" dirty="0">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1</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2</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3</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a:effectLst/>
                          <a:latin typeface="Montserrat" pitchFamily="2" charset="77"/>
                        </a:rPr>
                        <a:t>Variable 4</a:t>
                      </a:r>
                      <a:endParaRPr lang="en-IN" sz="1600" b="0" i="0" u="none" strike="noStrike">
                        <a:solidFill>
                          <a:srgbClr val="000000"/>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5560696"/>
                  </a:ext>
                </a:extLst>
              </a:tr>
              <a:tr h="537192">
                <a:tc>
                  <a:txBody>
                    <a:bodyPr/>
                    <a:lstStyle/>
                    <a:p>
                      <a:pPr algn="ctr" fontAlgn="b"/>
                      <a:r>
                        <a:rPr lang="en-IN" sz="1600" b="0" u="none" strike="noStrike">
                          <a:effectLst/>
                          <a:latin typeface="Montserrat" pitchFamily="2" charset="77"/>
                        </a:rPr>
                        <a:t>Sample 1</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94</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60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54</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70860773"/>
                  </a:ext>
                </a:extLst>
              </a:tr>
              <a:tr h="537192">
                <a:tc>
                  <a:txBody>
                    <a:bodyPr/>
                    <a:lstStyle/>
                    <a:p>
                      <a:pPr algn="ctr" fontAlgn="b"/>
                      <a:r>
                        <a:rPr lang="en-IN" sz="1600" b="0" u="none" strike="noStrike">
                          <a:effectLst/>
                          <a:latin typeface="Montserrat" pitchFamily="2" charset="77"/>
                        </a:rPr>
                        <a:t>Sample 2</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90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40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85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73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890952"/>
                  </a:ext>
                </a:extLst>
              </a:tr>
              <a:tr h="537192">
                <a:tc>
                  <a:txBody>
                    <a:bodyPr/>
                    <a:lstStyle/>
                    <a:p>
                      <a:pPr algn="ctr" fontAlgn="b"/>
                      <a:r>
                        <a:rPr lang="en-IN" sz="1600" b="0" u="none" strike="noStrike">
                          <a:effectLst/>
                          <a:latin typeface="Montserrat" pitchFamily="2" charset="77"/>
                        </a:rPr>
                        <a:t>Sample 3</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85</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50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i="0" u="none" strike="noStrike" dirty="0">
                          <a:solidFill>
                            <a:schemeClr val="bg1"/>
                          </a:solidFill>
                          <a:effectLst/>
                          <a:latin typeface="Montserrat" pitchFamily="2" charset="77"/>
                        </a:rPr>
                        <a:t>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62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46663130"/>
                  </a:ext>
                </a:extLst>
              </a:tr>
              <a:tr h="537192">
                <a:tc>
                  <a:txBody>
                    <a:bodyPr/>
                    <a:lstStyle/>
                    <a:p>
                      <a:pPr algn="ctr" fontAlgn="b"/>
                      <a:r>
                        <a:rPr lang="en-IN" sz="1600" b="0" u="none" strike="noStrike">
                          <a:effectLst/>
                          <a:latin typeface="Montserrat" pitchFamily="2" charset="77"/>
                        </a:rPr>
                        <a:t>Sample 4</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36</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30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25</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21</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666262"/>
                  </a:ext>
                </a:extLst>
              </a:tr>
              <a:tr h="537192">
                <a:tc>
                  <a:txBody>
                    <a:bodyPr/>
                    <a:lstStyle/>
                    <a:p>
                      <a:pPr algn="ctr" fontAlgn="b"/>
                      <a:r>
                        <a:rPr lang="en-IN" sz="1600" b="0" u="none" strike="noStrike">
                          <a:effectLst/>
                          <a:latin typeface="Montserrat" pitchFamily="2" charset="77"/>
                        </a:rPr>
                        <a:t>Sample 5</a:t>
                      </a:r>
                      <a:endParaRPr lang="en-IN" sz="1600" b="0" i="0" u="none" strike="noStrike">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28</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13</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600" b="0" u="none" strike="noStrike" dirty="0">
                          <a:solidFill>
                            <a:schemeClr val="bg1"/>
                          </a:solidFill>
                          <a:effectLst/>
                          <a:latin typeface="Montserrat" pitchFamily="2" charset="77"/>
                        </a:rPr>
                        <a:t>42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0132919"/>
                  </a:ext>
                </a:extLst>
              </a:tr>
              <a:tr h="537192">
                <a:tc>
                  <a:txBody>
                    <a:bodyPr/>
                    <a:lstStyle/>
                    <a:p>
                      <a:pPr algn="ctr" fontAlgn="b"/>
                      <a:r>
                        <a:rPr lang="en-IN" sz="1600" b="0" u="none" strike="noStrike" dirty="0">
                          <a:effectLst/>
                          <a:latin typeface="Montserrat" pitchFamily="2" charset="77"/>
                        </a:rPr>
                        <a:t>Sample 6</a:t>
                      </a:r>
                      <a:endParaRPr lang="en-IN" sz="1600" b="0" i="0" u="none" strike="noStrike" dirty="0">
                        <a:solidFill>
                          <a:srgbClr val="000000"/>
                        </a:solidFill>
                        <a:effectLst/>
                        <a:latin typeface="Montserrat" pitchFamily="2" charset="77"/>
                      </a:endParaRPr>
                    </a:p>
                  </a:txBody>
                  <a:tcPr marL="9525" marR="9525" marT="9525"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12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10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20</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algn="ctr" fontAlgn="b"/>
                      <a:r>
                        <a:rPr lang="en-IN" sz="1600" b="0" u="none" strike="noStrike" dirty="0">
                          <a:solidFill>
                            <a:schemeClr val="bg1"/>
                          </a:solidFill>
                          <a:effectLst/>
                          <a:latin typeface="Montserrat" pitchFamily="2" charset="77"/>
                        </a:rPr>
                        <a:t>72</a:t>
                      </a:r>
                      <a:endParaRPr lang="en-IN" sz="1600" b="0" i="0" u="none" strike="noStrike" dirty="0">
                        <a:solidFill>
                          <a:schemeClr val="bg1"/>
                        </a:solidFill>
                        <a:effectLst/>
                        <a:latin typeface="Montserrat" pitchFamily="2" charset="77"/>
                      </a:endParaRPr>
                    </a:p>
                  </a:txBody>
                  <a:tcPr marL="9525" marR="9525" marT="9525"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319553704"/>
                  </a:ext>
                </a:extLst>
              </a:tr>
            </a:tbl>
          </a:graphicData>
        </a:graphic>
      </p:graphicFrame>
      <p:sp>
        <p:nvSpPr>
          <p:cNvPr id="2" name="Rounded Rectangle 1">
            <a:extLst>
              <a:ext uri="{FF2B5EF4-FFF2-40B4-BE49-F238E27FC236}">
                <a16:creationId xmlns:a16="http://schemas.microsoft.com/office/drawing/2014/main" id="{689BD53F-EC5F-2D4B-816E-53F3285C06D4}"/>
              </a:ext>
            </a:extLst>
          </p:cNvPr>
          <p:cNvSpPr/>
          <p:nvPr/>
        </p:nvSpPr>
        <p:spPr>
          <a:xfrm>
            <a:off x="2973859" y="1342768"/>
            <a:ext cx="4222588" cy="4168346"/>
          </a:xfrm>
          <a:prstGeom prst="roundRect">
            <a:avLst>
              <a:gd name="adj" fmla="val 7093"/>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CF8BE224-6214-2E46-8BB0-7CB1739CDD38}"/>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087258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061203" y="6061661"/>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11" name="Straight Connector 10">
            <a:extLst>
              <a:ext uri="{FF2B5EF4-FFF2-40B4-BE49-F238E27FC236}">
                <a16:creationId xmlns:a16="http://schemas.microsoft.com/office/drawing/2014/main" id="{D287160D-5920-774F-A689-87BE2AB12629}"/>
              </a:ext>
            </a:extLst>
          </p:cNvPr>
          <p:cNvCxnSpPr>
            <a:cxnSpLocks/>
          </p:cNvCxnSpPr>
          <p:nvPr/>
        </p:nvCxnSpPr>
        <p:spPr>
          <a:xfrm flipV="1">
            <a:off x="2563091" y="5336509"/>
            <a:ext cx="7137070" cy="0"/>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19" name="Straight Connector 18">
            <a:extLst>
              <a:ext uri="{FF2B5EF4-FFF2-40B4-BE49-F238E27FC236}">
                <a16:creationId xmlns:a16="http://schemas.microsoft.com/office/drawing/2014/main" id="{1C1BAA65-B144-E145-AC7E-274BBDE59E82}"/>
              </a:ext>
            </a:extLst>
          </p:cNvPr>
          <p:cNvCxnSpPr/>
          <p:nvPr/>
        </p:nvCxnSpPr>
        <p:spPr>
          <a:xfrm>
            <a:off x="2563091" y="5106389"/>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90660DE8-3A24-F748-8833-1F011F3F1E60}"/>
              </a:ext>
            </a:extLst>
          </p:cNvPr>
          <p:cNvCxnSpPr/>
          <p:nvPr/>
        </p:nvCxnSpPr>
        <p:spPr>
          <a:xfrm>
            <a:off x="9700161" y="5085148"/>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6BF089A5-C4AD-4E4A-ADC5-A42C8AFD3201}"/>
              </a:ext>
            </a:extLst>
          </p:cNvPr>
          <p:cNvSpPr txBox="1"/>
          <p:nvPr/>
        </p:nvSpPr>
        <p:spPr>
          <a:xfrm>
            <a:off x="2394615" y="5608432"/>
            <a:ext cx="336952" cy="369332"/>
          </a:xfrm>
          <a:prstGeom prst="rect">
            <a:avLst/>
          </a:prstGeom>
          <a:noFill/>
        </p:spPr>
        <p:txBody>
          <a:bodyPr wrap="none" rtlCol="0">
            <a:spAutoFit/>
          </a:bodyPr>
          <a:lstStyle/>
          <a:p>
            <a:r>
              <a:rPr lang="en-US" dirty="0">
                <a:latin typeface="Montserrat" pitchFamily="2" charset="77"/>
              </a:rPr>
              <a:t>0</a:t>
            </a:r>
          </a:p>
        </p:txBody>
      </p:sp>
      <p:sp>
        <p:nvSpPr>
          <p:cNvPr id="22" name="TextBox 21">
            <a:extLst>
              <a:ext uri="{FF2B5EF4-FFF2-40B4-BE49-F238E27FC236}">
                <a16:creationId xmlns:a16="http://schemas.microsoft.com/office/drawing/2014/main" id="{E53F4E79-27DF-164B-B2C9-0DA6726013EC}"/>
              </a:ext>
            </a:extLst>
          </p:cNvPr>
          <p:cNvSpPr txBox="1"/>
          <p:nvPr/>
        </p:nvSpPr>
        <p:spPr>
          <a:xfrm>
            <a:off x="9413864" y="5608432"/>
            <a:ext cx="572593" cy="369332"/>
          </a:xfrm>
          <a:prstGeom prst="rect">
            <a:avLst/>
          </a:prstGeom>
          <a:noFill/>
        </p:spPr>
        <p:txBody>
          <a:bodyPr wrap="none" rtlCol="0">
            <a:spAutoFit/>
          </a:bodyPr>
          <a:lstStyle/>
          <a:p>
            <a:r>
              <a:rPr lang="en-US" dirty="0">
                <a:latin typeface="Montserrat" pitchFamily="2" charset="77"/>
              </a:rPr>
              <a:t>100</a:t>
            </a:r>
          </a:p>
        </p:txBody>
      </p:sp>
      <p:cxnSp>
        <p:nvCxnSpPr>
          <p:cNvPr id="14" name="Straight Connector 13">
            <a:extLst>
              <a:ext uri="{FF2B5EF4-FFF2-40B4-BE49-F238E27FC236}">
                <a16:creationId xmlns:a16="http://schemas.microsoft.com/office/drawing/2014/main" id="{ECC29012-6918-B542-BF71-DCFDD1D00D5A}"/>
              </a:ext>
            </a:extLst>
          </p:cNvPr>
          <p:cNvCxnSpPr>
            <a:cxnSpLocks/>
          </p:cNvCxnSpPr>
          <p:nvPr/>
        </p:nvCxnSpPr>
        <p:spPr>
          <a:xfrm>
            <a:off x="2555173" y="497522"/>
            <a:ext cx="7917" cy="4848896"/>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020FDD03-8674-6548-8C74-A42CEC176FEA}"/>
              </a:ext>
            </a:extLst>
          </p:cNvPr>
          <p:cNvSpPr txBox="1"/>
          <p:nvPr/>
        </p:nvSpPr>
        <p:spPr>
          <a:xfrm>
            <a:off x="1051525" y="491014"/>
            <a:ext cx="1326004" cy="369332"/>
          </a:xfrm>
          <a:prstGeom prst="rect">
            <a:avLst/>
          </a:prstGeom>
          <a:noFill/>
        </p:spPr>
        <p:txBody>
          <a:bodyPr wrap="none" rtlCol="0">
            <a:spAutoFit/>
          </a:bodyPr>
          <a:lstStyle/>
          <a:p>
            <a:r>
              <a:rPr lang="en-US" dirty="0">
                <a:latin typeface="Montserrat" pitchFamily="2" charset="77"/>
              </a:rPr>
              <a:t>Variable 2</a:t>
            </a:r>
          </a:p>
        </p:txBody>
      </p:sp>
      <p:sp>
        <p:nvSpPr>
          <p:cNvPr id="4" name="Footer Placeholder 3">
            <a:extLst>
              <a:ext uri="{FF2B5EF4-FFF2-40B4-BE49-F238E27FC236}">
                <a16:creationId xmlns:a16="http://schemas.microsoft.com/office/drawing/2014/main" id="{DF7FB9D6-FCEB-5644-81D6-54C6152503C4}"/>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8393214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061203" y="6061661"/>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11" name="Straight Connector 10">
            <a:extLst>
              <a:ext uri="{FF2B5EF4-FFF2-40B4-BE49-F238E27FC236}">
                <a16:creationId xmlns:a16="http://schemas.microsoft.com/office/drawing/2014/main" id="{D287160D-5920-774F-A689-87BE2AB12629}"/>
              </a:ext>
            </a:extLst>
          </p:cNvPr>
          <p:cNvCxnSpPr>
            <a:cxnSpLocks/>
          </p:cNvCxnSpPr>
          <p:nvPr/>
        </p:nvCxnSpPr>
        <p:spPr>
          <a:xfrm flipV="1">
            <a:off x="2563091" y="5336509"/>
            <a:ext cx="7137070" cy="0"/>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19" name="Straight Connector 18">
            <a:extLst>
              <a:ext uri="{FF2B5EF4-FFF2-40B4-BE49-F238E27FC236}">
                <a16:creationId xmlns:a16="http://schemas.microsoft.com/office/drawing/2014/main" id="{1C1BAA65-B144-E145-AC7E-274BBDE59E82}"/>
              </a:ext>
            </a:extLst>
          </p:cNvPr>
          <p:cNvCxnSpPr/>
          <p:nvPr/>
        </p:nvCxnSpPr>
        <p:spPr>
          <a:xfrm>
            <a:off x="2563091" y="5106389"/>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90660DE8-3A24-F748-8833-1F011F3F1E60}"/>
              </a:ext>
            </a:extLst>
          </p:cNvPr>
          <p:cNvCxnSpPr/>
          <p:nvPr/>
        </p:nvCxnSpPr>
        <p:spPr>
          <a:xfrm>
            <a:off x="9700161" y="5085148"/>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6BF089A5-C4AD-4E4A-ADC5-A42C8AFD3201}"/>
              </a:ext>
            </a:extLst>
          </p:cNvPr>
          <p:cNvSpPr txBox="1"/>
          <p:nvPr/>
        </p:nvSpPr>
        <p:spPr>
          <a:xfrm>
            <a:off x="2394615" y="5608432"/>
            <a:ext cx="336952" cy="369332"/>
          </a:xfrm>
          <a:prstGeom prst="rect">
            <a:avLst/>
          </a:prstGeom>
          <a:noFill/>
        </p:spPr>
        <p:txBody>
          <a:bodyPr wrap="none" rtlCol="0">
            <a:spAutoFit/>
          </a:bodyPr>
          <a:lstStyle/>
          <a:p>
            <a:r>
              <a:rPr lang="en-US" dirty="0">
                <a:latin typeface="Montserrat" pitchFamily="2" charset="77"/>
              </a:rPr>
              <a:t>0</a:t>
            </a:r>
          </a:p>
        </p:txBody>
      </p:sp>
      <p:sp>
        <p:nvSpPr>
          <p:cNvPr id="22" name="TextBox 21">
            <a:extLst>
              <a:ext uri="{FF2B5EF4-FFF2-40B4-BE49-F238E27FC236}">
                <a16:creationId xmlns:a16="http://schemas.microsoft.com/office/drawing/2014/main" id="{E53F4E79-27DF-164B-B2C9-0DA6726013EC}"/>
              </a:ext>
            </a:extLst>
          </p:cNvPr>
          <p:cNvSpPr txBox="1"/>
          <p:nvPr/>
        </p:nvSpPr>
        <p:spPr>
          <a:xfrm>
            <a:off x="9413864" y="5608432"/>
            <a:ext cx="572593" cy="369332"/>
          </a:xfrm>
          <a:prstGeom prst="rect">
            <a:avLst/>
          </a:prstGeom>
          <a:noFill/>
        </p:spPr>
        <p:txBody>
          <a:bodyPr wrap="none" rtlCol="0">
            <a:spAutoFit/>
          </a:bodyPr>
          <a:lstStyle/>
          <a:p>
            <a:r>
              <a:rPr lang="en-US" dirty="0">
                <a:latin typeface="Montserrat" pitchFamily="2" charset="77"/>
              </a:rPr>
              <a:t>100</a:t>
            </a:r>
          </a:p>
        </p:txBody>
      </p:sp>
      <p:cxnSp>
        <p:nvCxnSpPr>
          <p:cNvPr id="14" name="Straight Connector 13">
            <a:extLst>
              <a:ext uri="{FF2B5EF4-FFF2-40B4-BE49-F238E27FC236}">
                <a16:creationId xmlns:a16="http://schemas.microsoft.com/office/drawing/2014/main" id="{ECC29012-6918-B542-BF71-DCFDD1D00D5A}"/>
              </a:ext>
            </a:extLst>
          </p:cNvPr>
          <p:cNvCxnSpPr>
            <a:cxnSpLocks/>
          </p:cNvCxnSpPr>
          <p:nvPr/>
        </p:nvCxnSpPr>
        <p:spPr>
          <a:xfrm>
            <a:off x="2555173" y="497522"/>
            <a:ext cx="7917" cy="4848896"/>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020FDD03-8674-6548-8C74-A42CEC176FEA}"/>
              </a:ext>
            </a:extLst>
          </p:cNvPr>
          <p:cNvSpPr txBox="1"/>
          <p:nvPr/>
        </p:nvSpPr>
        <p:spPr>
          <a:xfrm>
            <a:off x="1051525" y="491014"/>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Arrow Connector 2">
            <a:extLst>
              <a:ext uri="{FF2B5EF4-FFF2-40B4-BE49-F238E27FC236}">
                <a16:creationId xmlns:a16="http://schemas.microsoft.com/office/drawing/2014/main" id="{5F83E714-9117-FB40-B123-5454D762B0F8}"/>
              </a:ext>
            </a:extLst>
          </p:cNvPr>
          <p:cNvCxnSpPr>
            <a:stCxn id="16" idx="4"/>
          </p:cNvCxnSpPr>
          <p:nvPr/>
        </p:nvCxnSpPr>
        <p:spPr>
          <a:xfrm>
            <a:off x="3272642" y="5027752"/>
            <a:ext cx="4948" cy="3186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CE2C6966-2BDC-314A-B51A-731AF1B1773B}"/>
              </a:ext>
            </a:extLst>
          </p:cNvPr>
          <p:cNvCxnSpPr>
            <a:stCxn id="15" idx="4"/>
          </p:cNvCxnSpPr>
          <p:nvPr/>
        </p:nvCxnSpPr>
        <p:spPr>
          <a:xfrm flipH="1">
            <a:off x="3966358" y="4384516"/>
            <a:ext cx="15835" cy="95199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7569F136-72E5-FD4A-B8F1-4F0677A04C05}"/>
              </a:ext>
            </a:extLst>
          </p:cNvPr>
          <p:cNvCxnSpPr>
            <a:stCxn id="17" idx="4"/>
          </p:cNvCxnSpPr>
          <p:nvPr/>
        </p:nvCxnSpPr>
        <p:spPr>
          <a:xfrm>
            <a:off x="4622208" y="4291482"/>
            <a:ext cx="9169" cy="105493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id="{55AB0E12-00B8-064E-8B51-5C95E4D119DD}"/>
              </a:ext>
            </a:extLst>
          </p:cNvPr>
          <p:cNvCxnSpPr>
            <a:stCxn id="9" idx="4"/>
          </p:cNvCxnSpPr>
          <p:nvPr/>
        </p:nvCxnSpPr>
        <p:spPr>
          <a:xfrm>
            <a:off x="7561615" y="2365711"/>
            <a:ext cx="14842" cy="29807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56DB490B-7F00-B04C-AC51-12F0FA17EE9C}"/>
              </a:ext>
            </a:extLst>
          </p:cNvPr>
          <p:cNvCxnSpPr>
            <a:stCxn id="8" idx="4"/>
          </p:cNvCxnSpPr>
          <p:nvPr/>
        </p:nvCxnSpPr>
        <p:spPr>
          <a:xfrm>
            <a:off x="8430492" y="2937702"/>
            <a:ext cx="989" cy="239880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D711C67B-2C30-1945-B818-41043C573BAA}"/>
              </a:ext>
            </a:extLst>
          </p:cNvPr>
          <p:cNvCxnSpPr>
            <a:stCxn id="7" idx="4"/>
          </p:cNvCxnSpPr>
          <p:nvPr/>
        </p:nvCxnSpPr>
        <p:spPr>
          <a:xfrm>
            <a:off x="9061203" y="2067069"/>
            <a:ext cx="0" cy="32793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Footer Placeholder 27">
            <a:extLst>
              <a:ext uri="{FF2B5EF4-FFF2-40B4-BE49-F238E27FC236}">
                <a16:creationId xmlns:a16="http://schemas.microsoft.com/office/drawing/2014/main" id="{4B95D0C7-1393-CD4D-8A36-26482D04B10D}"/>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1104203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061203" y="6061661"/>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11" name="Straight Connector 10">
            <a:extLst>
              <a:ext uri="{FF2B5EF4-FFF2-40B4-BE49-F238E27FC236}">
                <a16:creationId xmlns:a16="http://schemas.microsoft.com/office/drawing/2014/main" id="{D287160D-5920-774F-A689-87BE2AB12629}"/>
              </a:ext>
            </a:extLst>
          </p:cNvPr>
          <p:cNvCxnSpPr>
            <a:cxnSpLocks/>
          </p:cNvCxnSpPr>
          <p:nvPr/>
        </p:nvCxnSpPr>
        <p:spPr>
          <a:xfrm flipV="1">
            <a:off x="2563091" y="5336509"/>
            <a:ext cx="7137070" cy="0"/>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19" name="Straight Connector 18">
            <a:extLst>
              <a:ext uri="{FF2B5EF4-FFF2-40B4-BE49-F238E27FC236}">
                <a16:creationId xmlns:a16="http://schemas.microsoft.com/office/drawing/2014/main" id="{1C1BAA65-B144-E145-AC7E-274BBDE59E82}"/>
              </a:ext>
            </a:extLst>
          </p:cNvPr>
          <p:cNvCxnSpPr/>
          <p:nvPr/>
        </p:nvCxnSpPr>
        <p:spPr>
          <a:xfrm>
            <a:off x="2563091" y="5106389"/>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90660DE8-3A24-F748-8833-1F011F3F1E60}"/>
              </a:ext>
            </a:extLst>
          </p:cNvPr>
          <p:cNvCxnSpPr/>
          <p:nvPr/>
        </p:nvCxnSpPr>
        <p:spPr>
          <a:xfrm>
            <a:off x="9700161" y="5085148"/>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6BF089A5-C4AD-4E4A-ADC5-A42C8AFD3201}"/>
              </a:ext>
            </a:extLst>
          </p:cNvPr>
          <p:cNvSpPr txBox="1"/>
          <p:nvPr/>
        </p:nvSpPr>
        <p:spPr>
          <a:xfrm>
            <a:off x="2394615" y="5608432"/>
            <a:ext cx="336952" cy="369332"/>
          </a:xfrm>
          <a:prstGeom prst="rect">
            <a:avLst/>
          </a:prstGeom>
          <a:noFill/>
        </p:spPr>
        <p:txBody>
          <a:bodyPr wrap="none" rtlCol="0">
            <a:spAutoFit/>
          </a:bodyPr>
          <a:lstStyle/>
          <a:p>
            <a:r>
              <a:rPr lang="en-US" dirty="0">
                <a:latin typeface="Montserrat" pitchFamily="2" charset="77"/>
              </a:rPr>
              <a:t>0</a:t>
            </a:r>
          </a:p>
        </p:txBody>
      </p:sp>
      <p:sp>
        <p:nvSpPr>
          <p:cNvPr id="22" name="TextBox 21">
            <a:extLst>
              <a:ext uri="{FF2B5EF4-FFF2-40B4-BE49-F238E27FC236}">
                <a16:creationId xmlns:a16="http://schemas.microsoft.com/office/drawing/2014/main" id="{E53F4E79-27DF-164B-B2C9-0DA6726013EC}"/>
              </a:ext>
            </a:extLst>
          </p:cNvPr>
          <p:cNvSpPr txBox="1"/>
          <p:nvPr/>
        </p:nvSpPr>
        <p:spPr>
          <a:xfrm>
            <a:off x="9413864" y="5608432"/>
            <a:ext cx="572593" cy="369332"/>
          </a:xfrm>
          <a:prstGeom prst="rect">
            <a:avLst/>
          </a:prstGeom>
          <a:noFill/>
        </p:spPr>
        <p:txBody>
          <a:bodyPr wrap="none" rtlCol="0">
            <a:spAutoFit/>
          </a:bodyPr>
          <a:lstStyle/>
          <a:p>
            <a:r>
              <a:rPr lang="en-US" dirty="0">
                <a:latin typeface="Montserrat" pitchFamily="2" charset="77"/>
              </a:rPr>
              <a:t>100</a:t>
            </a:r>
          </a:p>
        </p:txBody>
      </p:sp>
      <p:cxnSp>
        <p:nvCxnSpPr>
          <p:cNvPr id="14" name="Straight Connector 13">
            <a:extLst>
              <a:ext uri="{FF2B5EF4-FFF2-40B4-BE49-F238E27FC236}">
                <a16:creationId xmlns:a16="http://schemas.microsoft.com/office/drawing/2014/main" id="{ECC29012-6918-B542-BF71-DCFDD1D00D5A}"/>
              </a:ext>
            </a:extLst>
          </p:cNvPr>
          <p:cNvCxnSpPr>
            <a:cxnSpLocks/>
          </p:cNvCxnSpPr>
          <p:nvPr/>
        </p:nvCxnSpPr>
        <p:spPr>
          <a:xfrm>
            <a:off x="2555173" y="497522"/>
            <a:ext cx="7917" cy="4848896"/>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020FDD03-8674-6548-8C74-A42CEC176FEA}"/>
              </a:ext>
            </a:extLst>
          </p:cNvPr>
          <p:cNvSpPr txBox="1"/>
          <p:nvPr/>
        </p:nvSpPr>
        <p:spPr>
          <a:xfrm>
            <a:off x="1051525" y="491014"/>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Arrow Connector 2">
            <a:extLst>
              <a:ext uri="{FF2B5EF4-FFF2-40B4-BE49-F238E27FC236}">
                <a16:creationId xmlns:a16="http://schemas.microsoft.com/office/drawing/2014/main" id="{8D67D1E4-9135-C748-B33B-39AAC1B20278}"/>
              </a:ext>
            </a:extLst>
          </p:cNvPr>
          <p:cNvCxnSpPr>
            <a:cxnSpLocks/>
          </p:cNvCxnSpPr>
          <p:nvPr/>
        </p:nvCxnSpPr>
        <p:spPr>
          <a:xfrm flipH="1" flipV="1">
            <a:off x="2563090" y="4833256"/>
            <a:ext cx="49355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5" name="Straight Arrow Connector 4">
            <a:extLst>
              <a:ext uri="{FF2B5EF4-FFF2-40B4-BE49-F238E27FC236}">
                <a16:creationId xmlns:a16="http://schemas.microsoft.com/office/drawing/2014/main" id="{E49C9802-C7EA-D446-AD12-FA896A503440}"/>
              </a:ext>
            </a:extLst>
          </p:cNvPr>
          <p:cNvCxnSpPr>
            <a:stCxn id="15" idx="2"/>
          </p:cNvCxnSpPr>
          <p:nvPr/>
        </p:nvCxnSpPr>
        <p:spPr>
          <a:xfrm flipH="1" flipV="1">
            <a:off x="2555173" y="4168239"/>
            <a:ext cx="1211020" cy="27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2" name="Straight Arrow Connector 11">
            <a:extLst>
              <a:ext uri="{FF2B5EF4-FFF2-40B4-BE49-F238E27FC236}">
                <a16:creationId xmlns:a16="http://schemas.microsoft.com/office/drawing/2014/main" id="{DACDA12F-3190-F34F-A2A8-529A68B48166}"/>
              </a:ext>
            </a:extLst>
          </p:cNvPr>
          <p:cNvCxnSpPr>
            <a:stCxn id="17" idx="2"/>
          </p:cNvCxnSpPr>
          <p:nvPr/>
        </p:nvCxnSpPr>
        <p:spPr>
          <a:xfrm flipH="1">
            <a:off x="2563090" y="4075482"/>
            <a:ext cx="1843118"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cxnSp>
        <p:nvCxnSpPr>
          <p:cNvPr id="23" name="Straight Arrow Connector 22">
            <a:extLst>
              <a:ext uri="{FF2B5EF4-FFF2-40B4-BE49-F238E27FC236}">
                <a16:creationId xmlns:a16="http://schemas.microsoft.com/office/drawing/2014/main" id="{DF5E6E0C-0CE1-5740-809E-269F20AC629C}"/>
              </a:ext>
            </a:extLst>
          </p:cNvPr>
          <p:cNvCxnSpPr>
            <a:stCxn id="8" idx="2"/>
          </p:cNvCxnSpPr>
          <p:nvPr/>
        </p:nvCxnSpPr>
        <p:spPr>
          <a:xfrm flipH="1">
            <a:off x="2555173" y="2721702"/>
            <a:ext cx="5659319"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id="{4755F2FD-6209-F94A-8B9F-995925BC6849}"/>
              </a:ext>
            </a:extLst>
          </p:cNvPr>
          <p:cNvCxnSpPr>
            <a:stCxn id="9" idx="2"/>
          </p:cNvCxnSpPr>
          <p:nvPr/>
        </p:nvCxnSpPr>
        <p:spPr>
          <a:xfrm flipH="1">
            <a:off x="2555173" y="2149711"/>
            <a:ext cx="479044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a:extLst>
              <a:ext uri="{FF2B5EF4-FFF2-40B4-BE49-F238E27FC236}">
                <a16:creationId xmlns:a16="http://schemas.microsoft.com/office/drawing/2014/main" id="{6F37776C-5B92-6A44-AC68-82819B23211E}"/>
              </a:ext>
            </a:extLst>
          </p:cNvPr>
          <p:cNvCxnSpPr>
            <a:stCxn id="7" idx="2"/>
          </p:cNvCxnSpPr>
          <p:nvPr/>
        </p:nvCxnSpPr>
        <p:spPr>
          <a:xfrm flipH="1" flipV="1">
            <a:off x="2563090" y="1805049"/>
            <a:ext cx="6282113"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Footer Placeholder 27">
            <a:extLst>
              <a:ext uri="{FF2B5EF4-FFF2-40B4-BE49-F238E27FC236}">
                <a16:creationId xmlns:a16="http://schemas.microsoft.com/office/drawing/2014/main" id="{76408025-945C-214C-84B2-2D2BE8121A7D}"/>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595334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061203" y="6061661"/>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11" name="Straight Connector 10">
            <a:extLst>
              <a:ext uri="{FF2B5EF4-FFF2-40B4-BE49-F238E27FC236}">
                <a16:creationId xmlns:a16="http://schemas.microsoft.com/office/drawing/2014/main" id="{D287160D-5920-774F-A689-87BE2AB12629}"/>
              </a:ext>
            </a:extLst>
          </p:cNvPr>
          <p:cNvCxnSpPr>
            <a:cxnSpLocks/>
          </p:cNvCxnSpPr>
          <p:nvPr/>
        </p:nvCxnSpPr>
        <p:spPr>
          <a:xfrm flipV="1">
            <a:off x="2563091" y="5336509"/>
            <a:ext cx="7137070" cy="0"/>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19" name="Straight Connector 18">
            <a:extLst>
              <a:ext uri="{FF2B5EF4-FFF2-40B4-BE49-F238E27FC236}">
                <a16:creationId xmlns:a16="http://schemas.microsoft.com/office/drawing/2014/main" id="{1C1BAA65-B144-E145-AC7E-274BBDE59E82}"/>
              </a:ext>
            </a:extLst>
          </p:cNvPr>
          <p:cNvCxnSpPr/>
          <p:nvPr/>
        </p:nvCxnSpPr>
        <p:spPr>
          <a:xfrm>
            <a:off x="2563091" y="5106389"/>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cxnSp>
        <p:nvCxnSpPr>
          <p:cNvPr id="20" name="Straight Connector 19">
            <a:extLst>
              <a:ext uri="{FF2B5EF4-FFF2-40B4-BE49-F238E27FC236}">
                <a16:creationId xmlns:a16="http://schemas.microsoft.com/office/drawing/2014/main" id="{90660DE8-3A24-F748-8833-1F011F3F1E60}"/>
              </a:ext>
            </a:extLst>
          </p:cNvPr>
          <p:cNvCxnSpPr/>
          <p:nvPr/>
        </p:nvCxnSpPr>
        <p:spPr>
          <a:xfrm>
            <a:off x="9700161" y="5085148"/>
            <a:ext cx="0" cy="439387"/>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6BF089A5-C4AD-4E4A-ADC5-A42C8AFD3201}"/>
              </a:ext>
            </a:extLst>
          </p:cNvPr>
          <p:cNvSpPr txBox="1"/>
          <p:nvPr/>
        </p:nvSpPr>
        <p:spPr>
          <a:xfrm>
            <a:off x="2394615" y="5608432"/>
            <a:ext cx="336952" cy="369332"/>
          </a:xfrm>
          <a:prstGeom prst="rect">
            <a:avLst/>
          </a:prstGeom>
          <a:noFill/>
        </p:spPr>
        <p:txBody>
          <a:bodyPr wrap="none" rtlCol="0">
            <a:spAutoFit/>
          </a:bodyPr>
          <a:lstStyle/>
          <a:p>
            <a:r>
              <a:rPr lang="en-US" dirty="0">
                <a:latin typeface="Montserrat" pitchFamily="2" charset="77"/>
              </a:rPr>
              <a:t>0</a:t>
            </a:r>
          </a:p>
        </p:txBody>
      </p:sp>
      <p:sp>
        <p:nvSpPr>
          <p:cNvPr id="22" name="TextBox 21">
            <a:extLst>
              <a:ext uri="{FF2B5EF4-FFF2-40B4-BE49-F238E27FC236}">
                <a16:creationId xmlns:a16="http://schemas.microsoft.com/office/drawing/2014/main" id="{E53F4E79-27DF-164B-B2C9-0DA6726013EC}"/>
              </a:ext>
            </a:extLst>
          </p:cNvPr>
          <p:cNvSpPr txBox="1"/>
          <p:nvPr/>
        </p:nvSpPr>
        <p:spPr>
          <a:xfrm>
            <a:off x="9413864" y="5608432"/>
            <a:ext cx="572593" cy="369332"/>
          </a:xfrm>
          <a:prstGeom prst="rect">
            <a:avLst/>
          </a:prstGeom>
          <a:noFill/>
        </p:spPr>
        <p:txBody>
          <a:bodyPr wrap="none" rtlCol="0">
            <a:spAutoFit/>
          </a:bodyPr>
          <a:lstStyle/>
          <a:p>
            <a:r>
              <a:rPr lang="en-US" dirty="0">
                <a:latin typeface="Montserrat" pitchFamily="2" charset="77"/>
              </a:rPr>
              <a:t>100</a:t>
            </a:r>
          </a:p>
        </p:txBody>
      </p:sp>
      <p:cxnSp>
        <p:nvCxnSpPr>
          <p:cNvPr id="14" name="Straight Connector 13">
            <a:extLst>
              <a:ext uri="{FF2B5EF4-FFF2-40B4-BE49-F238E27FC236}">
                <a16:creationId xmlns:a16="http://schemas.microsoft.com/office/drawing/2014/main" id="{ECC29012-6918-B542-BF71-DCFDD1D00D5A}"/>
              </a:ext>
            </a:extLst>
          </p:cNvPr>
          <p:cNvCxnSpPr>
            <a:cxnSpLocks/>
          </p:cNvCxnSpPr>
          <p:nvPr/>
        </p:nvCxnSpPr>
        <p:spPr>
          <a:xfrm>
            <a:off x="2555173" y="497522"/>
            <a:ext cx="7917" cy="4848896"/>
          </a:xfrm>
          <a:prstGeom prst="line">
            <a:avLst/>
          </a:prstGeom>
          <a:ln w="38100"/>
        </p:spPr>
        <p:style>
          <a:lnRef idx="3">
            <a:schemeClr val="accent2"/>
          </a:lnRef>
          <a:fillRef idx="0">
            <a:schemeClr val="accent2"/>
          </a:fillRef>
          <a:effectRef idx="2">
            <a:schemeClr val="accent2"/>
          </a:effectRef>
          <a:fontRef idx="minor">
            <a:schemeClr val="tx1"/>
          </a:fontRef>
        </p:style>
      </p:cxnSp>
      <p:sp>
        <p:nvSpPr>
          <p:cNvPr id="18" name="TextBox 17">
            <a:extLst>
              <a:ext uri="{FF2B5EF4-FFF2-40B4-BE49-F238E27FC236}">
                <a16:creationId xmlns:a16="http://schemas.microsoft.com/office/drawing/2014/main" id="{020FDD03-8674-6548-8C74-A42CEC176FEA}"/>
              </a:ext>
            </a:extLst>
          </p:cNvPr>
          <p:cNvSpPr txBox="1"/>
          <p:nvPr/>
        </p:nvSpPr>
        <p:spPr>
          <a:xfrm>
            <a:off x="1051525" y="491014"/>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282046" y="26125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330036" y="325087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sp>
        <p:nvSpPr>
          <p:cNvPr id="12" name="Footer Placeholder 11">
            <a:extLst>
              <a:ext uri="{FF2B5EF4-FFF2-40B4-BE49-F238E27FC236}">
                <a16:creationId xmlns:a16="http://schemas.microsoft.com/office/drawing/2014/main" id="{F26A18E3-8A24-7B4B-9306-B4B0596C2228}"/>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3610845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694886" y="3469774"/>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18" name="TextBox 17">
            <a:extLst>
              <a:ext uri="{FF2B5EF4-FFF2-40B4-BE49-F238E27FC236}">
                <a16:creationId xmlns:a16="http://schemas.microsoft.com/office/drawing/2014/main" id="{020FDD03-8674-6548-8C74-A42CEC176FEA}"/>
              </a:ext>
            </a:extLst>
          </p:cNvPr>
          <p:cNvSpPr txBox="1"/>
          <p:nvPr/>
        </p:nvSpPr>
        <p:spPr>
          <a:xfrm>
            <a:off x="4406208" y="440080"/>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282046" y="26125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330036" y="325087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p:nvPr/>
        </p:nvCxnSpPr>
        <p:spPr>
          <a:xfrm flipV="1">
            <a:off x="4500748" y="440080"/>
            <a:ext cx="3713744" cy="5473832"/>
          </a:xfrm>
          <a:prstGeom prst="line">
            <a:avLst/>
          </a:prstGeom>
          <a:ln>
            <a:prstDash val="dash"/>
          </a:ln>
        </p:spPr>
        <p:style>
          <a:lnRef idx="3">
            <a:schemeClr val="accent2"/>
          </a:lnRef>
          <a:fillRef idx="0">
            <a:schemeClr val="accent2"/>
          </a:fillRef>
          <a:effectRef idx="2">
            <a:schemeClr val="accent2"/>
          </a:effectRef>
          <a:fontRef idx="minor">
            <a:schemeClr val="tx1"/>
          </a:fontRef>
        </p:style>
      </p:cxnSp>
      <p:cxnSp>
        <p:nvCxnSpPr>
          <p:cNvPr id="12" name="Straight Connector 11">
            <a:extLst>
              <a:ext uri="{FF2B5EF4-FFF2-40B4-BE49-F238E27FC236}">
                <a16:creationId xmlns:a16="http://schemas.microsoft.com/office/drawing/2014/main" id="{9AA28A18-9CD4-AE45-8B03-29EE6FAB7CC2}"/>
              </a:ext>
            </a:extLst>
          </p:cNvPr>
          <p:cNvCxnSpPr>
            <a:stCxn id="7" idx="1"/>
          </p:cNvCxnSpPr>
          <p:nvPr/>
        </p:nvCxnSpPr>
        <p:spPr>
          <a:xfrm flipH="1" flipV="1">
            <a:off x="7777615" y="1045029"/>
            <a:ext cx="1130853" cy="653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35B0F4F-59B8-1C4C-832E-7BBE622E33B6}"/>
              </a:ext>
            </a:extLst>
          </p:cNvPr>
          <p:cNvCxnSpPr>
            <a:cxnSpLocks/>
            <a:stCxn id="8" idx="1"/>
          </p:cNvCxnSpPr>
          <p:nvPr/>
        </p:nvCxnSpPr>
        <p:spPr>
          <a:xfrm flipH="1" flipV="1">
            <a:off x="7200289" y="1918029"/>
            <a:ext cx="1077468" cy="65093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5" name="Straight Connector 24">
            <a:extLst>
              <a:ext uri="{FF2B5EF4-FFF2-40B4-BE49-F238E27FC236}">
                <a16:creationId xmlns:a16="http://schemas.microsoft.com/office/drawing/2014/main" id="{2A48AF51-3F62-B943-A88D-0B0A6E7FE53C}"/>
              </a:ext>
            </a:extLst>
          </p:cNvPr>
          <p:cNvCxnSpPr>
            <a:stCxn id="9" idx="1"/>
          </p:cNvCxnSpPr>
          <p:nvPr/>
        </p:nvCxnSpPr>
        <p:spPr>
          <a:xfrm flipH="1" flipV="1">
            <a:off x="7200289" y="1851069"/>
            <a:ext cx="208591" cy="1459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045745" cy="690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836773" cy="541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488499" cy="287985"/>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4407857" y="5591364"/>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908436" y="479903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5200177" y="4452937"/>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047975" y="15522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6937069" y="173045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7523023" y="86554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46" name="Footer Placeholder 45">
            <a:extLst>
              <a:ext uri="{FF2B5EF4-FFF2-40B4-BE49-F238E27FC236}">
                <a16:creationId xmlns:a16="http://schemas.microsoft.com/office/drawing/2014/main" id="{AB2394A3-EA00-3B4E-82AB-30BA3F028D38}"/>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6029693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694886" y="3469774"/>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282046" y="26125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330036" y="325087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p:nvPr/>
        </p:nvCxnSpPr>
        <p:spPr>
          <a:xfrm flipV="1">
            <a:off x="4500748" y="440080"/>
            <a:ext cx="3713744" cy="5473832"/>
          </a:xfrm>
          <a:prstGeom prst="line">
            <a:avLst/>
          </a:prstGeom>
          <a:ln>
            <a:prstDash val="dash"/>
          </a:ln>
        </p:spPr>
        <p:style>
          <a:lnRef idx="3">
            <a:schemeClr val="accent2"/>
          </a:lnRef>
          <a:fillRef idx="0">
            <a:schemeClr val="accent2"/>
          </a:fillRef>
          <a:effectRef idx="2">
            <a:schemeClr val="accent2"/>
          </a:effectRef>
          <a:fontRef idx="minor">
            <a:schemeClr val="tx1"/>
          </a:fontRef>
        </p:style>
      </p:cxnSp>
      <p:cxnSp>
        <p:nvCxnSpPr>
          <p:cNvPr id="12" name="Straight Connector 11">
            <a:extLst>
              <a:ext uri="{FF2B5EF4-FFF2-40B4-BE49-F238E27FC236}">
                <a16:creationId xmlns:a16="http://schemas.microsoft.com/office/drawing/2014/main" id="{9AA28A18-9CD4-AE45-8B03-29EE6FAB7CC2}"/>
              </a:ext>
            </a:extLst>
          </p:cNvPr>
          <p:cNvCxnSpPr>
            <a:stCxn id="7" idx="1"/>
          </p:cNvCxnSpPr>
          <p:nvPr/>
        </p:nvCxnSpPr>
        <p:spPr>
          <a:xfrm flipH="1" flipV="1">
            <a:off x="7777615" y="1045029"/>
            <a:ext cx="1130853" cy="653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35B0F4F-59B8-1C4C-832E-7BBE622E33B6}"/>
              </a:ext>
            </a:extLst>
          </p:cNvPr>
          <p:cNvCxnSpPr>
            <a:cxnSpLocks/>
            <a:stCxn id="8" idx="1"/>
          </p:cNvCxnSpPr>
          <p:nvPr/>
        </p:nvCxnSpPr>
        <p:spPr>
          <a:xfrm flipH="1" flipV="1">
            <a:off x="7200289" y="1918029"/>
            <a:ext cx="1077468" cy="65093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5" name="Straight Connector 24">
            <a:extLst>
              <a:ext uri="{FF2B5EF4-FFF2-40B4-BE49-F238E27FC236}">
                <a16:creationId xmlns:a16="http://schemas.microsoft.com/office/drawing/2014/main" id="{2A48AF51-3F62-B943-A88D-0B0A6E7FE53C}"/>
              </a:ext>
            </a:extLst>
          </p:cNvPr>
          <p:cNvCxnSpPr>
            <a:stCxn id="9" idx="1"/>
          </p:cNvCxnSpPr>
          <p:nvPr/>
        </p:nvCxnSpPr>
        <p:spPr>
          <a:xfrm flipH="1" flipV="1">
            <a:off x="7200289" y="1851069"/>
            <a:ext cx="208591" cy="1459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045745" cy="690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836773" cy="541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488499" cy="287985"/>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4407857" y="5591364"/>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908436" y="479903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5200177" y="4452937"/>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047975" y="15522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6937069" y="173045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7523023" y="86554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cxnSp>
        <p:nvCxnSpPr>
          <p:cNvPr id="11" name="Curved Connector 10">
            <a:extLst>
              <a:ext uri="{FF2B5EF4-FFF2-40B4-BE49-F238E27FC236}">
                <a16:creationId xmlns:a16="http://schemas.microsoft.com/office/drawing/2014/main" id="{36BC37D8-3930-EA43-ACE9-DBE80E7F3D94}"/>
              </a:ext>
            </a:extLst>
          </p:cNvPr>
          <p:cNvCxnSpPr>
            <a:cxnSpLocks/>
            <a:endCxn id="30" idx="1"/>
          </p:cNvCxnSpPr>
          <p:nvPr/>
        </p:nvCxnSpPr>
        <p:spPr>
          <a:xfrm flipV="1">
            <a:off x="8277757" y="661830"/>
            <a:ext cx="1021686" cy="635714"/>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990824E8-1A02-9840-B253-658D1E15208B}"/>
              </a:ext>
            </a:extLst>
          </p:cNvPr>
          <p:cNvSpPr txBox="1"/>
          <p:nvPr/>
        </p:nvSpPr>
        <p:spPr>
          <a:xfrm>
            <a:off x="6384973" y="6008472"/>
            <a:ext cx="1326004" cy="369332"/>
          </a:xfrm>
          <a:prstGeom prst="rect">
            <a:avLst/>
          </a:prstGeom>
          <a:noFill/>
        </p:spPr>
        <p:txBody>
          <a:bodyPr wrap="none" rtlCol="0">
            <a:spAutoFit/>
          </a:bodyPr>
          <a:lstStyle/>
          <a:p>
            <a:r>
              <a:rPr lang="en-US" dirty="0">
                <a:latin typeface="Montserrat" pitchFamily="2" charset="77"/>
              </a:rPr>
              <a:t>Variable 2</a:t>
            </a:r>
          </a:p>
        </p:txBody>
      </p:sp>
      <p:sp>
        <p:nvSpPr>
          <p:cNvPr id="30" name="TextBox 29">
            <a:extLst>
              <a:ext uri="{FF2B5EF4-FFF2-40B4-BE49-F238E27FC236}">
                <a16:creationId xmlns:a16="http://schemas.microsoft.com/office/drawing/2014/main" id="{A7AAE3CC-FC78-844B-8004-A62055511B66}"/>
              </a:ext>
            </a:extLst>
          </p:cNvPr>
          <p:cNvSpPr txBox="1"/>
          <p:nvPr/>
        </p:nvSpPr>
        <p:spPr>
          <a:xfrm rot="1184384">
            <a:off x="9233096" y="720003"/>
            <a:ext cx="2258124" cy="646331"/>
          </a:xfrm>
          <a:prstGeom prst="rect">
            <a:avLst/>
          </a:prstGeom>
          <a:noFill/>
        </p:spPr>
        <p:txBody>
          <a:bodyPr wrap="square" rtlCol="0">
            <a:spAutoFit/>
          </a:bodyPr>
          <a:lstStyle/>
          <a:p>
            <a:pPr algn="ctr"/>
            <a:r>
              <a:rPr lang="en-US" dirty="0">
                <a:latin typeface="Bradley Hand" pitchFamily="2" charset="77"/>
              </a:rPr>
              <a:t>either minimize these distances</a:t>
            </a:r>
          </a:p>
        </p:txBody>
      </p:sp>
      <p:sp>
        <p:nvSpPr>
          <p:cNvPr id="19" name="Footer Placeholder 18">
            <a:extLst>
              <a:ext uri="{FF2B5EF4-FFF2-40B4-BE49-F238E27FC236}">
                <a16:creationId xmlns:a16="http://schemas.microsoft.com/office/drawing/2014/main" id="{3BA3A5FB-4BCE-B64E-A8BE-747CEAFABFAE}"/>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957259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694886" y="3469774"/>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282046" y="26125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330036" y="325087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p:nvPr/>
        </p:nvCxnSpPr>
        <p:spPr>
          <a:xfrm flipV="1">
            <a:off x="4500748" y="440080"/>
            <a:ext cx="3713744" cy="5473832"/>
          </a:xfrm>
          <a:prstGeom prst="line">
            <a:avLst/>
          </a:prstGeom>
          <a:ln>
            <a:prstDash val="dash"/>
          </a:ln>
        </p:spPr>
        <p:style>
          <a:lnRef idx="3">
            <a:schemeClr val="accent2"/>
          </a:lnRef>
          <a:fillRef idx="0">
            <a:schemeClr val="accent2"/>
          </a:fillRef>
          <a:effectRef idx="2">
            <a:schemeClr val="accent2"/>
          </a:effectRef>
          <a:fontRef idx="minor">
            <a:schemeClr val="tx1"/>
          </a:fontRef>
        </p:style>
      </p:cxnSp>
      <p:cxnSp>
        <p:nvCxnSpPr>
          <p:cNvPr id="12" name="Straight Connector 11">
            <a:extLst>
              <a:ext uri="{FF2B5EF4-FFF2-40B4-BE49-F238E27FC236}">
                <a16:creationId xmlns:a16="http://schemas.microsoft.com/office/drawing/2014/main" id="{9AA28A18-9CD4-AE45-8B03-29EE6FAB7CC2}"/>
              </a:ext>
            </a:extLst>
          </p:cNvPr>
          <p:cNvCxnSpPr>
            <a:stCxn id="7" idx="1"/>
          </p:cNvCxnSpPr>
          <p:nvPr/>
        </p:nvCxnSpPr>
        <p:spPr>
          <a:xfrm flipH="1" flipV="1">
            <a:off x="7777615" y="1045029"/>
            <a:ext cx="1130853" cy="653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35B0F4F-59B8-1C4C-832E-7BBE622E33B6}"/>
              </a:ext>
            </a:extLst>
          </p:cNvPr>
          <p:cNvCxnSpPr>
            <a:cxnSpLocks/>
            <a:stCxn id="8" idx="1"/>
          </p:cNvCxnSpPr>
          <p:nvPr/>
        </p:nvCxnSpPr>
        <p:spPr>
          <a:xfrm flipH="1" flipV="1">
            <a:off x="7200289" y="1918029"/>
            <a:ext cx="1077468" cy="650938"/>
          </a:xfrm>
          <a:prstGeom prst="line">
            <a:avLst/>
          </a:prstGeom>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5" name="Straight Connector 24">
            <a:extLst>
              <a:ext uri="{FF2B5EF4-FFF2-40B4-BE49-F238E27FC236}">
                <a16:creationId xmlns:a16="http://schemas.microsoft.com/office/drawing/2014/main" id="{2A48AF51-3F62-B943-A88D-0B0A6E7FE53C}"/>
              </a:ext>
            </a:extLst>
          </p:cNvPr>
          <p:cNvCxnSpPr>
            <a:stCxn id="9" idx="1"/>
          </p:cNvCxnSpPr>
          <p:nvPr/>
        </p:nvCxnSpPr>
        <p:spPr>
          <a:xfrm flipH="1" flipV="1">
            <a:off x="7200289" y="1851069"/>
            <a:ext cx="208591" cy="1459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045745" cy="690142"/>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836773" cy="541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488499" cy="287985"/>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4407857" y="5591364"/>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908436" y="479903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5200177" y="4452937"/>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047975" y="15522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6937069" y="173045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7523023" y="86554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2" name="TextBox 1">
            <a:extLst>
              <a:ext uri="{FF2B5EF4-FFF2-40B4-BE49-F238E27FC236}">
                <a16:creationId xmlns:a16="http://schemas.microsoft.com/office/drawing/2014/main" id="{FA72F441-98C3-454D-9051-F3902513FCB0}"/>
              </a:ext>
            </a:extLst>
          </p:cNvPr>
          <p:cNvSpPr txBox="1"/>
          <p:nvPr/>
        </p:nvSpPr>
        <p:spPr>
          <a:xfrm rot="1184384">
            <a:off x="9233096" y="720003"/>
            <a:ext cx="2258124" cy="646331"/>
          </a:xfrm>
          <a:prstGeom prst="rect">
            <a:avLst/>
          </a:prstGeom>
          <a:noFill/>
        </p:spPr>
        <p:txBody>
          <a:bodyPr wrap="square" rtlCol="0">
            <a:spAutoFit/>
          </a:bodyPr>
          <a:lstStyle/>
          <a:p>
            <a:pPr algn="ctr"/>
            <a:r>
              <a:rPr lang="en-US" dirty="0">
                <a:latin typeface="Bradley Hand" pitchFamily="2" charset="77"/>
              </a:rPr>
              <a:t>either minimize these distances</a:t>
            </a:r>
          </a:p>
        </p:txBody>
      </p:sp>
      <p:cxnSp>
        <p:nvCxnSpPr>
          <p:cNvPr id="11" name="Curved Connector 10">
            <a:extLst>
              <a:ext uri="{FF2B5EF4-FFF2-40B4-BE49-F238E27FC236}">
                <a16:creationId xmlns:a16="http://schemas.microsoft.com/office/drawing/2014/main" id="{36BC37D8-3930-EA43-ACE9-DBE80E7F3D94}"/>
              </a:ext>
            </a:extLst>
          </p:cNvPr>
          <p:cNvCxnSpPr>
            <a:endCxn id="2" idx="1"/>
          </p:cNvCxnSpPr>
          <p:nvPr/>
        </p:nvCxnSpPr>
        <p:spPr>
          <a:xfrm flipV="1">
            <a:off x="8277757" y="661830"/>
            <a:ext cx="1021686" cy="635713"/>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Right Brace 12">
            <a:extLst>
              <a:ext uri="{FF2B5EF4-FFF2-40B4-BE49-F238E27FC236}">
                <a16:creationId xmlns:a16="http://schemas.microsoft.com/office/drawing/2014/main" id="{51197348-3B5D-4F44-90AF-5BB49C608716}"/>
              </a:ext>
            </a:extLst>
          </p:cNvPr>
          <p:cNvSpPr/>
          <p:nvPr/>
        </p:nvSpPr>
        <p:spPr>
          <a:xfrm rot="12706876">
            <a:off x="6413385" y="630174"/>
            <a:ext cx="708561" cy="2607073"/>
          </a:xfrm>
          <a:prstGeom prst="rightBrace">
            <a:avLst>
              <a:gd name="adj1" fmla="val 8333"/>
              <a:gd name="adj2" fmla="val 4976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2BB8689A-E7F7-5C47-B338-4805121BC985}"/>
              </a:ext>
            </a:extLst>
          </p:cNvPr>
          <p:cNvSpPr txBox="1"/>
          <p:nvPr/>
        </p:nvSpPr>
        <p:spPr>
          <a:xfrm rot="19342725">
            <a:off x="4765766" y="1095705"/>
            <a:ext cx="2258124" cy="1200329"/>
          </a:xfrm>
          <a:prstGeom prst="rect">
            <a:avLst/>
          </a:prstGeom>
          <a:noFill/>
        </p:spPr>
        <p:txBody>
          <a:bodyPr wrap="square" rtlCol="0">
            <a:spAutoFit/>
          </a:bodyPr>
          <a:lstStyle/>
          <a:p>
            <a:pPr algn="ctr"/>
            <a:r>
              <a:rPr lang="en-US" dirty="0">
                <a:latin typeface="Bradley Hand" pitchFamily="2" charset="77"/>
              </a:rPr>
              <a:t>Maximize the distances from the projected point to the origin</a:t>
            </a:r>
          </a:p>
        </p:txBody>
      </p:sp>
      <p:sp>
        <p:nvSpPr>
          <p:cNvPr id="32" name="TextBox 31">
            <a:extLst>
              <a:ext uri="{FF2B5EF4-FFF2-40B4-BE49-F238E27FC236}">
                <a16:creationId xmlns:a16="http://schemas.microsoft.com/office/drawing/2014/main" id="{E8D0A163-D2BA-7140-B5B3-52C4B8871E71}"/>
              </a:ext>
            </a:extLst>
          </p:cNvPr>
          <p:cNvSpPr txBox="1"/>
          <p:nvPr/>
        </p:nvSpPr>
        <p:spPr>
          <a:xfrm>
            <a:off x="6384973" y="6008472"/>
            <a:ext cx="1326004" cy="369332"/>
          </a:xfrm>
          <a:prstGeom prst="rect">
            <a:avLst/>
          </a:prstGeom>
          <a:noFill/>
        </p:spPr>
        <p:txBody>
          <a:bodyPr wrap="none" rtlCol="0">
            <a:spAutoFit/>
          </a:bodyPr>
          <a:lstStyle/>
          <a:p>
            <a:r>
              <a:rPr lang="en-US" dirty="0">
                <a:latin typeface="Montserrat" pitchFamily="2" charset="77"/>
              </a:rPr>
              <a:t>Variable 2</a:t>
            </a:r>
          </a:p>
        </p:txBody>
      </p:sp>
      <p:sp>
        <p:nvSpPr>
          <p:cNvPr id="19" name="Footer Placeholder 18">
            <a:extLst>
              <a:ext uri="{FF2B5EF4-FFF2-40B4-BE49-F238E27FC236}">
                <a16:creationId xmlns:a16="http://schemas.microsoft.com/office/drawing/2014/main" id="{394ADBC2-40A9-A14E-8E7B-C3272AB443B7}"/>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602837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hart&#10;&#10;Description automatically generated">
            <a:extLst>
              <a:ext uri="{FF2B5EF4-FFF2-40B4-BE49-F238E27FC236}">
                <a16:creationId xmlns:a16="http://schemas.microsoft.com/office/drawing/2014/main" id="{908CA169-80F5-0A4C-8A63-5929F3111DE4}"/>
              </a:ext>
            </a:extLst>
          </p:cNvPr>
          <p:cNvPicPr>
            <a:picLocks noChangeAspect="1"/>
          </p:cNvPicPr>
          <p:nvPr/>
        </p:nvPicPr>
        <p:blipFill>
          <a:blip r:embed="rId2"/>
          <a:stretch>
            <a:fillRect/>
          </a:stretch>
        </p:blipFill>
        <p:spPr>
          <a:xfrm>
            <a:off x="193505" y="1068002"/>
            <a:ext cx="11804990" cy="4721996"/>
          </a:xfrm>
          <a:prstGeom prst="rect">
            <a:avLst/>
          </a:prstGeom>
        </p:spPr>
      </p:pic>
      <p:cxnSp>
        <p:nvCxnSpPr>
          <p:cNvPr id="7" name="Straight Connector 6">
            <a:extLst>
              <a:ext uri="{FF2B5EF4-FFF2-40B4-BE49-F238E27FC236}">
                <a16:creationId xmlns:a16="http://schemas.microsoft.com/office/drawing/2014/main" id="{864350E3-8CE2-A649-B610-2AE675477B4F}"/>
              </a:ext>
            </a:extLst>
          </p:cNvPr>
          <p:cNvCxnSpPr>
            <a:cxnSpLocks/>
          </p:cNvCxnSpPr>
          <p:nvPr/>
        </p:nvCxnSpPr>
        <p:spPr>
          <a:xfrm>
            <a:off x="6289652" y="436605"/>
            <a:ext cx="0" cy="5469924"/>
          </a:xfrm>
          <a:prstGeom prst="line">
            <a:avLst/>
          </a:prstGeom>
          <a:ln w="38100">
            <a:solidFill>
              <a:schemeClr val="accent6">
                <a:lumMod val="75000"/>
              </a:schemeClr>
            </a:solidFill>
            <a:prstDash val="dashDot"/>
          </a:ln>
        </p:spPr>
        <p:style>
          <a:lnRef idx="1">
            <a:schemeClr val="accent2"/>
          </a:lnRef>
          <a:fillRef idx="0">
            <a:schemeClr val="accent2"/>
          </a:fillRef>
          <a:effectRef idx="0">
            <a:schemeClr val="accent2"/>
          </a:effectRef>
          <a:fontRef idx="minor">
            <a:schemeClr val="tx1"/>
          </a:fontRef>
        </p:style>
      </p:cxnSp>
      <p:cxnSp>
        <p:nvCxnSpPr>
          <p:cNvPr id="10" name="Straight Connector 9">
            <a:extLst>
              <a:ext uri="{FF2B5EF4-FFF2-40B4-BE49-F238E27FC236}">
                <a16:creationId xmlns:a16="http://schemas.microsoft.com/office/drawing/2014/main" id="{11D8BFCD-2756-9447-829C-B195B687487D}"/>
              </a:ext>
            </a:extLst>
          </p:cNvPr>
          <p:cNvCxnSpPr>
            <a:cxnSpLocks/>
          </p:cNvCxnSpPr>
          <p:nvPr/>
        </p:nvCxnSpPr>
        <p:spPr>
          <a:xfrm flipH="1">
            <a:off x="1968843" y="3286467"/>
            <a:ext cx="7694142" cy="109581"/>
          </a:xfrm>
          <a:prstGeom prst="line">
            <a:avLst/>
          </a:prstGeom>
          <a:ln w="38100">
            <a:solidFill>
              <a:schemeClr val="accent6">
                <a:lumMod val="75000"/>
              </a:schemeClr>
            </a:solidFill>
            <a:prstDash val="dashDot"/>
          </a:ln>
        </p:spPr>
        <p:style>
          <a:lnRef idx="1">
            <a:schemeClr val="accent2"/>
          </a:lnRef>
          <a:fillRef idx="0">
            <a:schemeClr val="accent2"/>
          </a:fillRef>
          <a:effectRef idx="0">
            <a:schemeClr val="accent2"/>
          </a:effectRef>
          <a:fontRef idx="minor">
            <a:schemeClr val="tx1"/>
          </a:fontRef>
        </p:style>
      </p:cxnSp>
      <p:sp>
        <p:nvSpPr>
          <p:cNvPr id="8" name="Footer Placeholder 7">
            <a:extLst>
              <a:ext uri="{FF2B5EF4-FFF2-40B4-BE49-F238E27FC236}">
                <a16:creationId xmlns:a16="http://schemas.microsoft.com/office/drawing/2014/main" id="{57A2C6A0-A631-F545-B0A3-C2C8A31A1208}"/>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3520994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694886" y="3469774"/>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18" name="TextBox 17">
            <a:extLst>
              <a:ext uri="{FF2B5EF4-FFF2-40B4-BE49-F238E27FC236}">
                <a16:creationId xmlns:a16="http://schemas.microsoft.com/office/drawing/2014/main" id="{020FDD03-8674-6548-8C74-A42CEC176FEA}"/>
              </a:ext>
            </a:extLst>
          </p:cNvPr>
          <p:cNvSpPr txBox="1"/>
          <p:nvPr/>
        </p:nvSpPr>
        <p:spPr>
          <a:xfrm>
            <a:off x="4406208" y="440080"/>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400796" y="28500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448786" y="327462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a:cxnSpLocks/>
          </p:cNvCxnSpPr>
          <p:nvPr/>
        </p:nvCxnSpPr>
        <p:spPr>
          <a:xfrm flipV="1">
            <a:off x="3230088" y="1175659"/>
            <a:ext cx="6047115" cy="4476996"/>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55103" cy="179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252404" cy="277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36349" cy="83699"/>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3517215" y="5080729"/>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324067" y="453597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4748027" y="4248651"/>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735321" y="194710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7494487" y="211532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8551613" y="134251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cxnSp>
        <p:nvCxnSpPr>
          <p:cNvPr id="21" name="Straight Connector 20">
            <a:extLst>
              <a:ext uri="{FF2B5EF4-FFF2-40B4-BE49-F238E27FC236}">
                <a16:creationId xmlns:a16="http://schemas.microsoft.com/office/drawing/2014/main" id="{B6B26947-9DE7-A649-A74A-1170B8101E12}"/>
              </a:ext>
            </a:extLst>
          </p:cNvPr>
          <p:cNvCxnSpPr>
            <a:stCxn id="8" idx="1"/>
            <a:endCxn id="44" idx="5"/>
          </p:cNvCxnSpPr>
          <p:nvPr/>
        </p:nvCxnSpPr>
        <p:spPr>
          <a:xfrm flipH="1" flipV="1">
            <a:off x="8104056" y="2315837"/>
            <a:ext cx="173701" cy="25313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9DB003D-D2C1-9D48-8320-4FEF1058C583}"/>
              </a:ext>
            </a:extLst>
          </p:cNvPr>
          <p:cNvSpPr txBox="1"/>
          <p:nvPr/>
        </p:nvSpPr>
        <p:spPr>
          <a:xfrm rot="20457459">
            <a:off x="4836771" y="5295305"/>
            <a:ext cx="2258124" cy="646331"/>
          </a:xfrm>
          <a:prstGeom prst="rect">
            <a:avLst/>
          </a:prstGeom>
          <a:noFill/>
        </p:spPr>
        <p:txBody>
          <a:bodyPr wrap="square" rtlCol="0">
            <a:spAutoFit/>
          </a:bodyPr>
          <a:lstStyle/>
          <a:p>
            <a:pPr algn="ctr"/>
            <a:r>
              <a:rPr lang="en-US" dirty="0">
                <a:latin typeface="Bradley Hand" pitchFamily="2" charset="77"/>
              </a:rPr>
              <a:t>Principal Component 1 (PC1)</a:t>
            </a:r>
          </a:p>
        </p:txBody>
      </p:sp>
      <p:cxnSp>
        <p:nvCxnSpPr>
          <p:cNvPr id="24" name="Straight Arrow Connector 23">
            <a:extLst>
              <a:ext uri="{FF2B5EF4-FFF2-40B4-BE49-F238E27FC236}">
                <a16:creationId xmlns:a16="http://schemas.microsoft.com/office/drawing/2014/main" id="{8685917C-170F-8B43-980E-078D586E9E59}"/>
              </a:ext>
            </a:extLst>
          </p:cNvPr>
          <p:cNvCxnSpPr>
            <a:cxnSpLocks/>
            <a:stCxn id="33" idx="0"/>
          </p:cNvCxnSpPr>
          <p:nvPr/>
        </p:nvCxnSpPr>
        <p:spPr>
          <a:xfrm flipH="1" flipV="1">
            <a:off x="5858086" y="3654440"/>
            <a:ext cx="2309" cy="1658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Footer Placeholder 27">
            <a:extLst>
              <a:ext uri="{FF2B5EF4-FFF2-40B4-BE49-F238E27FC236}">
                <a16:creationId xmlns:a16="http://schemas.microsoft.com/office/drawing/2014/main" id="{47928AAA-9A91-1C43-ACFE-1A2CE6553C2C}"/>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700570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813061" y="3356462"/>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18" name="TextBox 17">
            <a:extLst>
              <a:ext uri="{FF2B5EF4-FFF2-40B4-BE49-F238E27FC236}">
                <a16:creationId xmlns:a16="http://schemas.microsoft.com/office/drawing/2014/main" id="{020FDD03-8674-6548-8C74-A42CEC176FEA}"/>
              </a:ext>
            </a:extLst>
          </p:cNvPr>
          <p:cNvSpPr txBox="1"/>
          <p:nvPr/>
        </p:nvSpPr>
        <p:spPr>
          <a:xfrm>
            <a:off x="4406208" y="440080"/>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436421" y="28500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484411" y="327462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a:cxnSpLocks/>
          </p:cNvCxnSpPr>
          <p:nvPr/>
        </p:nvCxnSpPr>
        <p:spPr>
          <a:xfrm flipV="1">
            <a:off x="3230088" y="1175659"/>
            <a:ext cx="6047115" cy="4476996"/>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55103" cy="179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252404" cy="277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36349" cy="83699"/>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3517215" y="5080729"/>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324067" y="453597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4748027" y="4248651"/>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735321" y="194710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7494487" y="211532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8551613" y="134251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cxnSp>
        <p:nvCxnSpPr>
          <p:cNvPr id="21" name="Straight Connector 20">
            <a:extLst>
              <a:ext uri="{FF2B5EF4-FFF2-40B4-BE49-F238E27FC236}">
                <a16:creationId xmlns:a16="http://schemas.microsoft.com/office/drawing/2014/main" id="{B6B26947-9DE7-A649-A74A-1170B8101E12}"/>
              </a:ext>
            </a:extLst>
          </p:cNvPr>
          <p:cNvCxnSpPr>
            <a:stCxn id="8" idx="1"/>
            <a:endCxn id="44" idx="5"/>
          </p:cNvCxnSpPr>
          <p:nvPr/>
        </p:nvCxnSpPr>
        <p:spPr>
          <a:xfrm flipH="1" flipV="1">
            <a:off x="8104056" y="2315837"/>
            <a:ext cx="173701" cy="25313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9DB003D-D2C1-9D48-8320-4FEF1058C583}"/>
              </a:ext>
            </a:extLst>
          </p:cNvPr>
          <p:cNvSpPr txBox="1"/>
          <p:nvPr/>
        </p:nvSpPr>
        <p:spPr>
          <a:xfrm rot="20457459">
            <a:off x="4836771" y="5295305"/>
            <a:ext cx="2258124" cy="646331"/>
          </a:xfrm>
          <a:prstGeom prst="rect">
            <a:avLst/>
          </a:prstGeom>
          <a:noFill/>
        </p:spPr>
        <p:txBody>
          <a:bodyPr wrap="square" rtlCol="0">
            <a:spAutoFit/>
          </a:bodyPr>
          <a:lstStyle/>
          <a:p>
            <a:pPr algn="ctr"/>
            <a:r>
              <a:rPr lang="en-US" dirty="0">
                <a:latin typeface="Bradley Hand" pitchFamily="2" charset="77"/>
              </a:rPr>
              <a:t>Principal Component 1 (PC1)</a:t>
            </a:r>
          </a:p>
        </p:txBody>
      </p:sp>
      <p:cxnSp>
        <p:nvCxnSpPr>
          <p:cNvPr id="24" name="Straight Arrow Connector 23">
            <a:extLst>
              <a:ext uri="{FF2B5EF4-FFF2-40B4-BE49-F238E27FC236}">
                <a16:creationId xmlns:a16="http://schemas.microsoft.com/office/drawing/2014/main" id="{8685917C-170F-8B43-980E-078D586E9E59}"/>
              </a:ext>
            </a:extLst>
          </p:cNvPr>
          <p:cNvCxnSpPr>
            <a:cxnSpLocks/>
            <a:stCxn id="33" idx="0"/>
          </p:cNvCxnSpPr>
          <p:nvPr/>
        </p:nvCxnSpPr>
        <p:spPr>
          <a:xfrm flipH="1" flipV="1">
            <a:off x="5858086" y="3654440"/>
            <a:ext cx="2309" cy="1658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 name="Right Brace 4">
            <a:extLst>
              <a:ext uri="{FF2B5EF4-FFF2-40B4-BE49-F238E27FC236}">
                <a16:creationId xmlns:a16="http://schemas.microsoft.com/office/drawing/2014/main" id="{FC0D621D-21DB-6543-A12E-FA472541CD93}"/>
              </a:ext>
            </a:extLst>
          </p:cNvPr>
          <p:cNvSpPr/>
          <p:nvPr/>
        </p:nvSpPr>
        <p:spPr>
          <a:xfrm rot="5400000">
            <a:off x="7351667" y="2618118"/>
            <a:ext cx="340682" cy="1932760"/>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28" name="Right Brace 27">
            <a:extLst>
              <a:ext uri="{FF2B5EF4-FFF2-40B4-BE49-F238E27FC236}">
                <a16:creationId xmlns:a16="http://schemas.microsoft.com/office/drawing/2014/main" id="{3C936DCB-0D5C-4545-9FCD-A303E87F3E5C}"/>
              </a:ext>
            </a:extLst>
          </p:cNvPr>
          <p:cNvSpPr/>
          <p:nvPr/>
        </p:nvSpPr>
        <p:spPr>
          <a:xfrm>
            <a:off x="8713662" y="2616059"/>
            <a:ext cx="192410" cy="658553"/>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D93DFAE9-DFC6-9C42-84B7-BCD360371DAA}"/>
              </a:ext>
            </a:extLst>
          </p:cNvPr>
          <p:cNvSpPr txBox="1"/>
          <p:nvPr/>
        </p:nvSpPr>
        <p:spPr>
          <a:xfrm rot="21191368">
            <a:off x="1382572" y="1539916"/>
            <a:ext cx="4238027" cy="1200329"/>
          </a:xfrm>
          <a:prstGeom prst="rect">
            <a:avLst/>
          </a:prstGeom>
          <a:noFill/>
        </p:spPr>
        <p:txBody>
          <a:bodyPr wrap="square" rtlCol="0">
            <a:spAutoFit/>
          </a:bodyPr>
          <a:lstStyle/>
          <a:p>
            <a:pPr algn="ctr"/>
            <a:r>
              <a:rPr lang="en-US" dirty="0">
                <a:latin typeface="Bradley Hand" pitchFamily="2" charset="77"/>
              </a:rPr>
              <a:t>The ratio of variable 1 to variable 2 tells you that variable 1 is more important when it comes to describing how the data are spread out</a:t>
            </a:r>
          </a:p>
        </p:txBody>
      </p:sp>
      <p:cxnSp>
        <p:nvCxnSpPr>
          <p:cNvPr id="12" name="Curved Connector 11">
            <a:extLst>
              <a:ext uri="{FF2B5EF4-FFF2-40B4-BE49-F238E27FC236}">
                <a16:creationId xmlns:a16="http://schemas.microsoft.com/office/drawing/2014/main" id="{033BE06D-3CA5-3744-8A32-0FE60DC98A8E}"/>
              </a:ext>
            </a:extLst>
          </p:cNvPr>
          <p:cNvCxnSpPr>
            <a:cxnSpLocks/>
            <a:stCxn id="30" idx="3"/>
            <a:endCxn id="36" idx="1"/>
          </p:cNvCxnSpPr>
          <p:nvPr/>
        </p:nvCxnSpPr>
        <p:spPr>
          <a:xfrm>
            <a:off x="5605647" y="1888795"/>
            <a:ext cx="3475730" cy="1647171"/>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9FA21B7-BB8B-E947-83A5-6B7A2707830F}"/>
              </a:ext>
            </a:extLst>
          </p:cNvPr>
          <p:cNvSpPr txBox="1"/>
          <p:nvPr/>
        </p:nvSpPr>
        <p:spPr>
          <a:xfrm>
            <a:off x="8985363" y="2760669"/>
            <a:ext cx="1362874" cy="369332"/>
          </a:xfrm>
          <a:prstGeom prst="rect">
            <a:avLst/>
          </a:prstGeom>
          <a:noFill/>
        </p:spPr>
        <p:txBody>
          <a:bodyPr wrap="none" rtlCol="0">
            <a:spAutoFit/>
          </a:bodyPr>
          <a:lstStyle/>
          <a:p>
            <a:r>
              <a:rPr lang="en-US" dirty="0">
                <a:latin typeface="Montserrat" pitchFamily="2" charset="77"/>
              </a:rPr>
              <a:t>distance 2</a:t>
            </a:r>
          </a:p>
        </p:txBody>
      </p:sp>
      <p:sp>
        <p:nvSpPr>
          <p:cNvPr id="32" name="TextBox 31">
            <a:extLst>
              <a:ext uri="{FF2B5EF4-FFF2-40B4-BE49-F238E27FC236}">
                <a16:creationId xmlns:a16="http://schemas.microsoft.com/office/drawing/2014/main" id="{7934591F-C7C5-8B4A-88E6-F9601866A1C5}"/>
              </a:ext>
            </a:extLst>
          </p:cNvPr>
          <p:cNvSpPr txBox="1"/>
          <p:nvPr/>
        </p:nvSpPr>
        <p:spPr>
          <a:xfrm>
            <a:off x="7004937" y="3969652"/>
            <a:ext cx="1314784" cy="369332"/>
          </a:xfrm>
          <a:prstGeom prst="rect">
            <a:avLst/>
          </a:prstGeom>
          <a:noFill/>
        </p:spPr>
        <p:txBody>
          <a:bodyPr wrap="none" rtlCol="0">
            <a:spAutoFit/>
          </a:bodyPr>
          <a:lstStyle/>
          <a:p>
            <a:r>
              <a:rPr lang="en-US" dirty="0">
                <a:latin typeface="Montserrat" pitchFamily="2" charset="77"/>
              </a:rPr>
              <a:t>distance 1</a:t>
            </a:r>
          </a:p>
        </p:txBody>
      </p:sp>
      <p:sp>
        <p:nvSpPr>
          <p:cNvPr id="36" name="TextBox 35">
            <a:extLst>
              <a:ext uri="{FF2B5EF4-FFF2-40B4-BE49-F238E27FC236}">
                <a16:creationId xmlns:a16="http://schemas.microsoft.com/office/drawing/2014/main" id="{A63F6C93-627E-4A41-BB31-8762B00BAAFD}"/>
              </a:ext>
            </a:extLst>
          </p:cNvPr>
          <p:cNvSpPr txBox="1"/>
          <p:nvPr/>
        </p:nvSpPr>
        <p:spPr>
          <a:xfrm>
            <a:off x="9081377" y="3351300"/>
            <a:ext cx="2664512" cy="369332"/>
          </a:xfrm>
          <a:prstGeom prst="rect">
            <a:avLst/>
          </a:prstGeom>
          <a:noFill/>
        </p:spPr>
        <p:txBody>
          <a:bodyPr wrap="none" rtlCol="0">
            <a:spAutoFit/>
          </a:bodyPr>
          <a:lstStyle/>
          <a:p>
            <a:r>
              <a:rPr lang="en-US" dirty="0">
                <a:latin typeface="Montserrat" pitchFamily="2" charset="77"/>
              </a:rPr>
              <a:t>distance 1 : distance 2</a:t>
            </a:r>
          </a:p>
        </p:txBody>
      </p:sp>
      <p:sp>
        <p:nvSpPr>
          <p:cNvPr id="19" name="Footer Placeholder 18">
            <a:extLst>
              <a:ext uri="{FF2B5EF4-FFF2-40B4-BE49-F238E27FC236}">
                <a16:creationId xmlns:a16="http://schemas.microsoft.com/office/drawing/2014/main" id="{049CDB57-2DF4-7541-8DA4-41E95683A764}"/>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8160363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813061" y="3356462"/>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18" name="TextBox 17">
            <a:extLst>
              <a:ext uri="{FF2B5EF4-FFF2-40B4-BE49-F238E27FC236}">
                <a16:creationId xmlns:a16="http://schemas.microsoft.com/office/drawing/2014/main" id="{020FDD03-8674-6548-8C74-A42CEC176FEA}"/>
              </a:ext>
            </a:extLst>
          </p:cNvPr>
          <p:cNvSpPr txBox="1"/>
          <p:nvPr/>
        </p:nvSpPr>
        <p:spPr>
          <a:xfrm>
            <a:off x="4406208" y="440080"/>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436421" y="28500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484411" y="327462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a:cxnSpLocks/>
          </p:cNvCxnSpPr>
          <p:nvPr/>
        </p:nvCxnSpPr>
        <p:spPr>
          <a:xfrm flipV="1">
            <a:off x="3230088" y="1175659"/>
            <a:ext cx="6047115" cy="4476996"/>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55103" cy="179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252404" cy="277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36349" cy="83699"/>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3517215" y="5080729"/>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324067" y="453597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4748027" y="4248651"/>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735321" y="194710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7494487" y="211532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8551613" y="134251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cxnSp>
        <p:nvCxnSpPr>
          <p:cNvPr id="21" name="Straight Connector 20">
            <a:extLst>
              <a:ext uri="{FF2B5EF4-FFF2-40B4-BE49-F238E27FC236}">
                <a16:creationId xmlns:a16="http://schemas.microsoft.com/office/drawing/2014/main" id="{B6B26947-9DE7-A649-A74A-1170B8101E12}"/>
              </a:ext>
            </a:extLst>
          </p:cNvPr>
          <p:cNvCxnSpPr>
            <a:stCxn id="8" idx="1"/>
            <a:endCxn id="44" idx="5"/>
          </p:cNvCxnSpPr>
          <p:nvPr/>
        </p:nvCxnSpPr>
        <p:spPr>
          <a:xfrm flipH="1" flipV="1">
            <a:off x="8104056" y="2315837"/>
            <a:ext cx="173701" cy="25313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9DB003D-D2C1-9D48-8320-4FEF1058C583}"/>
              </a:ext>
            </a:extLst>
          </p:cNvPr>
          <p:cNvSpPr txBox="1"/>
          <p:nvPr/>
        </p:nvSpPr>
        <p:spPr>
          <a:xfrm rot="20457459">
            <a:off x="4836771" y="5295305"/>
            <a:ext cx="2258124" cy="646331"/>
          </a:xfrm>
          <a:prstGeom prst="rect">
            <a:avLst/>
          </a:prstGeom>
          <a:noFill/>
        </p:spPr>
        <p:txBody>
          <a:bodyPr wrap="square" rtlCol="0">
            <a:spAutoFit/>
          </a:bodyPr>
          <a:lstStyle/>
          <a:p>
            <a:pPr algn="ctr"/>
            <a:r>
              <a:rPr lang="en-US" dirty="0">
                <a:latin typeface="Bradley Hand" pitchFamily="2" charset="77"/>
              </a:rPr>
              <a:t>Principal Component 1 (PC1)</a:t>
            </a:r>
          </a:p>
        </p:txBody>
      </p:sp>
      <p:cxnSp>
        <p:nvCxnSpPr>
          <p:cNvPr id="24" name="Straight Arrow Connector 23">
            <a:extLst>
              <a:ext uri="{FF2B5EF4-FFF2-40B4-BE49-F238E27FC236}">
                <a16:creationId xmlns:a16="http://schemas.microsoft.com/office/drawing/2014/main" id="{8685917C-170F-8B43-980E-078D586E9E59}"/>
              </a:ext>
            </a:extLst>
          </p:cNvPr>
          <p:cNvCxnSpPr>
            <a:cxnSpLocks/>
            <a:stCxn id="33" idx="0"/>
          </p:cNvCxnSpPr>
          <p:nvPr/>
        </p:nvCxnSpPr>
        <p:spPr>
          <a:xfrm flipH="1" flipV="1">
            <a:off x="5858086" y="3654440"/>
            <a:ext cx="2309" cy="1658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 name="Right Brace 4">
            <a:extLst>
              <a:ext uri="{FF2B5EF4-FFF2-40B4-BE49-F238E27FC236}">
                <a16:creationId xmlns:a16="http://schemas.microsoft.com/office/drawing/2014/main" id="{FC0D621D-21DB-6543-A12E-FA472541CD93}"/>
              </a:ext>
            </a:extLst>
          </p:cNvPr>
          <p:cNvSpPr/>
          <p:nvPr/>
        </p:nvSpPr>
        <p:spPr>
          <a:xfrm rot="5400000">
            <a:off x="7159501" y="2810284"/>
            <a:ext cx="340682" cy="1548427"/>
          </a:xfrm>
          <a:prstGeom prst="rightBrace">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28" name="Right Brace 27">
            <a:extLst>
              <a:ext uri="{FF2B5EF4-FFF2-40B4-BE49-F238E27FC236}">
                <a16:creationId xmlns:a16="http://schemas.microsoft.com/office/drawing/2014/main" id="{3C936DCB-0D5C-4545-9FCD-A303E87F3E5C}"/>
              </a:ext>
            </a:extLst>
          </p:cNvPr>
          <p:cNvSpPr/>
          <p:nvPr/>
        </p:nvSpPr>
        <p:spPr>
          <a:xfrm>
            <a:off x="8018448" y="2224383"/>
            <a:ext cx="190281" cy="999651"/>
          </a:xfrm>
          <a:prstGeom prst="rightBrace">
            <a:avLst>
              <a:gd name="adj1" fmla="val 0"/>
              <a:gd name="adj2" fmla="val 89097"/>
            </a:avLst>
          </a:prstGeom>
        </p:spPr>
        <p:style>
          <a:lnRef idx="3">
            <a:schemeClr val="accent6"/>
          </a:lnRef>
          <a:fillRef idx="0">
            <a:schemeClr val="accent6"/>
          </a:fillRef>
          <a:effectRef idx="2">
            <a:schemeClr val="accent6"/>
          </a:effectRef>
          <a:fontRef idx="minor">
            <a:schemeClr val="tx1"/>
          </a:fontRef>
        </p:style>
        <p:txBody>
          <a:bodyPr rtlCol="0" anchor="ctr"/>
          <a:lstStyle/>
          <a:p>
            <a:pPr algn="ctr"/>
            <a:endParaRPr lang="en-US"/>
          </a:p>
        </p:txBody>
      </p:sp>
      <p:sp>
        <p:nvSpPr>
          <p:cNvPr id="30" name="TextBox 29">
            <a:extLst>
              <a:ext uri="{FF2B5EF4-FFF2-40B4-BE49-F238E27FC236}">
                <a16:creationId xmlns:a16="http://schemas.microsoft.com/office/drawing/2014/main" id="{D93DFAE9-DFC6-9C42-84B7-BCD360371DAA}"/>
              </a:ext>
            </a:extLst>
          </p:cNvPr>
          <p:cNvSpPr txBox="1"/>
          <p:nvPr/>
        </p:nvSpPr>
        <p:spPr>
          <a:xfrm rot="21191368">
            <a:off x="1382572" y="1539917"/>
            <a:ext cx="4238027" cy="1200329"/>
          </a:xfrm>
          <a:prstGeom prst="rect">
            <a:avLst/>
          </a:prstGeom>
          <a:noFill/>
        </p:spPr>
        <p:txBody>
          <a:bodyPr wrap="square" rtlCol="0">
            <a:spAutoFit/>
          </a:bodyPr>
          <a:lstStyle/>
          <a:p>
            <a:pPr algn="ctr"/>
            <a:r>
              <a:rPr lang="en-US" dirty="0">
                <a:latin typeface="Bradley Hand" pitchFamily="2" charset="77"/>
              </a:rPr>
              <a:t>The 1-unit long vector consisting of 0.80 parts variable 1 and 0.2 parts variable 2 is called ”Singular Vector” or the “Eigenvector” for PC1</a:t>
            </a:r>
          </a:p>
        </p:txBody>
      </p:sp>
      <p:cxnSp>
        <p:nvCxnSpPr>
          <p:cNvPr id="12" name="Curved Connector 11">
            <a:extLst>
              <a:ext uri="{FF2B5EF4-FFF2-40B4-BE49-F238E27FC236}">
                <a16:creationId xmlns:a16="http://schemas.microsoft.com/office/drawing/2014/main" id="{033BE06D-3CA5-3744-8A32-0FE60DC98A8E}"/>
              </a:ext>
            </a:extLst>
          </p:cNvPr>
          <p:cNvCxnSpPr>
            <a:cxnSpLocks/>
            <a:stCxn id="30" idx="3"/>
            <a:endCxn id="36" idx="1"/>
          </p:cNvCxnSpPr>
          <p:nvPr/>
        </p:nvCxnSpPr>
        <p:spPr>
          <a:xfrm>
            <a:off x="5605647" y="1888796"/>
            <a:ext cx="3475730" cy="1647170"/>
          </a:xfrm>
          <a:prstGeom prst="curved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59FA21B7-BB8B-E947-83A5-6B7A2707830F}"/>
              </a:ext>
            </a:extLst>
          </p:cNvPr>
          <p:cNvSpPr txBox="1"/>
          <p:nvPr/>
        </p:nvSpPr>
        <p:spPr>
          <a:xfrm>
            <a:off x="8179230" y="2931381"/>
            <a:ext cx="1362874" cy="369332"/>
          </a:xfrm>
          <a:prstGeom prst="rect">
            <a:avLst/>
          </a:prstGeom>
          <a:noFill/>
        </p:spPr>
        <p:txBody>
          <a:bodyPr wrap="none" rtlCol="0">
            <a:spAutoFit/>
          </a:bodyPr>
          <a:lstStyle/>
          <a:p>
            <a:r>
              <a:rPr lang="en-US" dirty="0">
                <a:latin typeface="Montserrat" pitchFamily="2" charset="77"/>
              </a:rPr>
              <a:t>distance 2</a:t>
            </a:r>
          </a:p>
        </p:txBody>
      </p:sp>
      <p:sp>
        <p:nvSpPr>
          <p:cNvPr id="32" name="TextBox 31">
            <a:extLst>
              <a:ext uri="{FF2B5EF4-FFF2-40B4-BE49-F238E27FC236}">
                <a16:creationId xmlns:a16="http://schemas.microsoft.com/office/drawing/2014/main" id="{7934591F-C7C5-8B4A-88E6-F9601866A1C5}"/>
              </a:ext>
            </a:extLst>
          </p:cNvPr>
          <p:cNvSpPr txBox="1"/>
          <p:nvPr/>
        </p:nvSpPr>
        <p:spPr>
          <a:xfrm>
            <a:off x="6636537" y="3837496"/>
            <a:ext cx="1314784" cy="369332"/>
          </a:xfrm>
          <a:prstGeom prst="rect">
            <a:avLst/>
          </a:prstGeom>
          <a:noFill/>
        </p:spPr>
        <p:txBody>
          <a:bodyPr wrap="none" rtlCol="0">
            <a:spAutoFit/>
          </a:bodyPr>
          <a:lstStyle/>
          <a:p>
            <a:r>
              <a:rPr lang="en-US" dirty="0">
                <a:latin typeface="Montserrat" pitchFamily="2" charset="77"/>
              </a:rPr>
              <a:t>distance 1</a:t>
            </a:r>
          </a:p>
        </p:txBody>
      </p:sp>
      <p:sp>
        <p:nvSpPr>
          <p:cNvPr id="36" name="TextBox 35">
            <a:extLst>
              <a:ext uri="{FF2B5EF4-FFF2-40B4-BE49-F238E27FC236}">
                <a16:creationId xmlns:a16="http://schemas.microsoft.com/office/drawing/2014/main" id="{A63F6C93-627E-4A41-BB31-8762B00BAAFD}"/>
              </a:ext>
            </a:extLst>
          </p:cNvPr>
          <p:cNvSpPr txBox="1"/>
          <p:nvPr/>
        </p:nvSpPr>
        <p:spPr>
          <a:xfrm>
            <a:off x="9081377" y="3351300"/>
            <a:ext cx="2664512" cy="369332"/>
          </a:xfrm>
          <a:prstGeom prst="rect">
            <a:avLst/>
          </a:prstGeom>
          <a:noFill/>
        </p:spPr>
        <p:txBody>
          <a:bodyPr wrap="none" rtlCol="0">
            <a:spAutoFit/>
          </a:bodyPr>
          <a:lstStyle/>
          <a:p>
            <a:r>
              <a:rPr lang="en-US" dirty="0">
                <a:latin typeface="Montserrat" pitchFamily="2" charset="77"/>
              </a:rPr>
              <a:t>distance 1 : distance 2</a:t>
            </a:r>
          </a:p>
        </p:txBody>
      </p:sp>
      <p:sp>
        <p:nvSpPr>
          <p:cNvPr id="2" name="Footer Placeholder 1">
            <a:extLst>
              <a:ext uri="{FF2B5EF4-FFF2-40B4-BE49-F238E27FC236}">
                <a16:creationId xmlns:a16="http://schemas.microsoft.com/office/drawing/2014/main" id="{16E47340-CBBF-1C43-BF3E-A877BA5B6601}"/>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9704562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0F5F4EC-13C7-624F-8BB2-A3E0B3B64C70}"/>
              </a:ext>
            </a:extLst>
          </p:cNvPr>
          <p:cNvCxnSpPr/>
          <p:nvPr/>
        </p:nvCxnSpPr>
        <p:spPr>
          <a:xfrm>
            <a:off x="4838208" y="1342514"/>
            <a:ext cx="3329113" cy="4048883"/>
          </a:xfrm>
          <a:prstGeom prst="line">
            <a:avLst/>
          </a:prstGeom>
          <a:ln w="38100">
            <a:prstDash val="dash"/>
          </a:ln>
        </p:spPr>
        <p:style>
          <a:lnRef idx="3">
            <a:schemeClr val="accent3"/>
          </a:lnRef>
          <a:fillRef idx="0">
            <a:schemeClr val="accent3"/>
          </a:fillRef>
          <a:effectRef idx="2">
            <a:schemeClr val="accent3"/>
          </a:effectRef>
          <a:fontRef idx="minor">
            <a:schemeClr val="tx1"/>
          </a:fontRef>
        </p:style>
      </p:cxnSp>
      <p:sp>
        <p:nvSpPr>
          <p:cNvPr id="6" name="TextBox 5">
            <a:extLst>
              <a:ext uri="{FF2B5EF4-FFF2-40B4-BE49-F238E27FC236}">
                <a16:creationId xmlns:a16="http://schemas.microsoft.com/office/drawing/2014/main" id="{0D0491F7-12A5-6448-AC17-CA539C96DBFA}"/>
              </a:ext>
            </a:extLst>
          </p:cNvPr>
          <p:cNvSpPr txBox="1"/>
          <p:nvPr/>
        </p:nvSpPr>
        <p:spPr>
          <a:xfrm>
            <a:off x="813061" y="3356462"/>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26367" y="2541327"/>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18" name="TextBox 17">
            <a:extLst>
              <a:ext uri="{FF2B5EF4-FFF2-40B4-BE49-F238E27FC236}">
                <a16:creationId xmlns:a16="http://schemas.microsoft.com/office/drawing/2014/main" id="{020FDD03-8674-6548-8C74-A42CEC176FEA}"/>
              </a:ext>
            </a:extLst>
          </p:cNvPr>
          <p:cNvSpPr txBox="1"/>
          <p:nvPr/>
        </p:nvSpPr>
        <p:spPr>
          <a:xfrm>
            <a:off x="4406208" y="440080"/>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436421" y="28500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484411" y="327462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a:cxnSpLocks/>
          </p:cNvCxnSpPr>
          <p:nvPr/>
        </p:nvCxnSpPr>
        <p:spPr>
          <a:xfrm flipV="1">
            <a:off x="3230088" y="1175659"/>
            <a:ext cx="6047115" cy="4476996"/>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278487" y="1876567"/>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7" name="Straight Connector 26">
            <a:extLst>
              <a:ext uri="{FF2B5EF4-FFF2-40B4-BE49-F238E27FC236}">
                <a16:creationId xmlns:a16="http://schemas.microsoft.com/office/drawing/2014/main" id="{DC2D8D3D-C11D-874F-88D1-824FCCF7D1E0}"/>
              </a:ext>
            </a:extLst>
          </p:cNvPr>
          <p:cNvCxnSpPr>
            <a:cxnSpLocks/>
            <a:stCxn id="16" idx="7"/>
            <a:endCxn id="34" idx="1"/>
          </p:cNvCxnSpPr>
          <p:nvPr/>
        </p:nvCxnSpPr>
        <p:spPr>
          <a:xfrm flipV="1">
            <a:off x="3425377" y="2879971"/>
            <a:ext cx="2625123" cy="1779046"/>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7"/>
            <a:endCxn id="35" idx="3"/>
          </p:cNvCxnSpPr>
          <p:nvPr/>
        </p:nvCxnSpPr>
        <p:spPr>
          <a:xfrm flipV="1">
            <a:off x="4134928" y="2874437"/>
            <a:ext cx="1676976" cy="1141344"/>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7"/>
            <a:endCxn id="38" idx="3"/>
          </p:cNvCxnSpPr>
          <p:nvPr/>
        </p:nvCxnSpPr>
        <p:spPr>
          <a:xfrm flipV="1">
            <a:off x="4774943" y="3116355"/>
            <a:ext cx="1197743" cy="806392"/>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5987235" y="2816706"/>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5748639" y="250570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5909421" y="2747620"/>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6653873" y="3573421"/>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6007566" y="2871388"/>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6497168" y="3397568"/>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cxnSp>
        <p:nvCxnSpPr>
          <p:cNvPr id="21" name="Straight Connector 20">
            <a:extLst>
              <a:ext uri="{FF2B5EF4-FFF2-40B4-BE49-F238E27FC236}">
                <a16:creationId xmlns:a16="http://schemas.microsoft.com/office/drawing/2014/main" id="{B6B26947-9DE7-A649-A74A-1170B8101E12}"/>
              </a:ext>
            </a:extLst>
          </p:cNvPr>
          <p:cNvCxnSpPr>
            <a:cxnSpLocks/>
            <a:stCxn id="8" idx="2"/>
            <a:endCxn id="44" idx="7"/>
          </p:cNvCxnSpPr>
          <p:nvPr/>
        </p:nvCxnSpPr>
        <p:spPr>
          <a:xfrm flipH="1">
            <a:off x="7022608" y="2757327"/>
            <a:ext cx="1203759" cy="879359"/>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1422BE9-EDD4-8E47-9962-2E5C6CA36F19}"/>
              </a:ext>
            </a:extLst>
          </p:cNvPr>
          <p:cNvSpPr txBox="1"/>
          <p:nvPr/>
        </p:nvSpPr>
        <p:spPr>
          <a:xfrm rot="1190322">
            <a:off x="7873630" y="3944580"/>
            <a:ext cx="2507418" cy="646331"/>
          </a:xfrm>
          <a:prstGeom prst="rect">
            <a:avLst/>
          </a:prstGeom>
          <a:noFill/>
        </p:spPr>
        <p:txBody>
          <a:bodyPr wrap="none" rtlCol="0">
            <a:spAutoFit/>
          </a:bodyPr>
          <a:lstStyle/>
          <a:p>
            <a:pPr algn="ctr"/>
            <a:r>
              <a:rPr lang="en-US" dirty="0">
                <a:latin typeface="Bradley Hand" pitchFamily="2" charset="77"/>
              </a:rPr>
              <a:t>Principal Component 2</a:t>
            </a:r>
          </a:p>
          <a:p>
            <a:pPr algn="ctr"/>
            <a:r>
              <a:rPr lang="en-US" dirty="0">
                <a:latin typeface="Bradley Hand" pitchFamily="2" charset="77"/>
              </a:rPr>
              <a:t> (PC2)</a:t>
            </a:r>
          </a:p>
        </p:txBody>
      </p:sp>
      <p:cxnSp>
        <p:nvCxnSpPr>
          <p:cNvPr id="20" name="Curved Connector 19">
            <a:extLst>
              <a:ext uri="{FF2B5EF4-FFF2-40B4-BE49-F238E27FC236}">
                <a16:creationId xmlns:a16="http://schemas.microsoft.com/office/drawing/2014/main" id="{40E92B25-9B14-2341-853A-C1A6211FDE26}"/>
              </a:ext>
            </a:extLst>
          </p:cNvPr>
          <p:cNvCxnSpPr>
            <a:stCxn id="14" idx="2"/>
          </p:cNvCxnSpPr>
          <p:nvPr/>
        </p:nvCxnSpPr>
        <p:spPr>
          <a:xfrm rot="5400000">
            <a:off x="8268309" y="4081038"/>
            <a:ext cx="258662" cy="1240050"/>
          </a:xfrm>
          <a:prstGeom prst="curved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B931AFF-CD80-E043-AE33-59C2CC7C5836}"/>
              </a:ext>
            </a:extLst>
          </p:cNvPr>
          <p:cNvCxnSpPr>
            <a:cxnSpLocks/>
            <a:stCxn id="45" idx="7"/>
            <a:endCxn id="7" idx="3"/>
          </p:cNvCxnSpPr>
          <p:nvPr/>
        </p:nvCxnSpPr>
        <p:spPr>
          <a:xfrm flipV="1">
            <a:off x="6865903" y="2003804"/>
            <a:ext cx="2042565" cy="1457029"/>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B9757E48-DC1B-174F-8A67-588F45D88B83}"/>
              </a:ext>
            </a:extLst>
          </p:cNvPr>
          <p:cNvCxnSpPr>
            <a:cxnSpLocks/>
            <a:stCxn id="43" idx="7"/>
            <a:endCxn id="9" idx="3"/>
          </p:cNvCxnSpPr>
          <p:nvPr/>
        </p:nvCxnSpPr>
        <p:spPr>
          <a:xfrm flipV="1">
            <a:off x="6376301" y="2245302"/>
            <a:ext cx="965451" cy="689351"/>
          </a:xfrm>
          <a:prstGeom prst="line">
            <a:avLst/>
          </a:prstGeom>
        </p:spPr>
        <p:style>
          <a:lnRef idx="1">
            <a:schemeClr val="accent1"/>
          </a:lnRef>
          <a:fillRef idx="0">
            <a:schemeClr val="accent1"/>
          </a:fillRef>
          <a:effectRef idx="0">
            <a:schemeClr val="accent1"/>
          </a:effectRef>
          <a:fontRef idx="minor">
            <a:schemeClr val="tx1"/>
          </a:fontRef>
        </p:style>
      </p:cxnSp>
      <p:sp>
        <p:nvSpPr>
          <p:cNvPr id="61" name="Footer Placeholder 60">
            <a:extLst>
              <a:ext uri="{FF2B5EF4-FFF2-40B4-BE49-F238E27FC236}">
                <a16:creationId xmlns:a16="http://schemas.microsoft.com/office/drawing/2014/main" id="{703589FB-FA13-B143-ABB8-B37F21307319}"/>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900036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A0F5F4EC-13C7-624F-8BB2-A3E0B3B64C70}"/>
              </a:ext>
            </a:extLst>
          </p:cNvPr>
          <p:cNvCxnSpPr>
            <a:cxnSpLocks/>
          </p:cNvCxnSpPr>
          <p:nvPr/>
        </p:nvCxnSpPr>
        <p:spPr>
          <a:xfrm flipH="1">
            <a:off x="6475835" y="958003"/>
            <a:ext cx="1" cy="5214196"/>
          </a:xfrm>
          <a:prstGeom prst="line">
            <a:avLst/>
          </a:prstGeom>
          <a:ln w="38100">
            <a:prstDash val="dash"/>
          </a:ln>
        </p:spPr>
        <p:style>
          <a:lnRef idx="3">
            <a:schemeClr val="accent3"/>
          </a:lnRef>
          <a:fillRef idx="0">
            <a:schemeClr val="accent3"/>
          </a:fillRef>
          <a:effectRef idx="2">
            <a:schemeClr val="accent3"/>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a:cxnSpLocks/>
          </p:cNvCxnSpPr>
          <p:nvPr/>
        </p:nvCxnSpPr>
        <p:spPr>
          <a:xfrm rot="2179290" flipV="1">
            <a:off x="3213238" y="1227026"/>
            <a:ext cx="6047115" cy="4476996"/>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rot="2179290">
            <a:off x="6239682" y="2912328"/>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rot="2179290">
            <a:off x="6239682" y="2520426"/>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rot="2179290">
            <a:off x="6239682" y="281057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rot="2179290">
            <a:off x="6239682" y="3916878"/>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rot="2179290">
            <a:off x="6239682" y="2968428"/>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rot="2179290">
            <a:off x="6239682" y="368237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19" name="TextBox 18">
            <a:extLst>
              <a:ext uri="{FF2B5EF4-FFF2-40B4-BE49-F238E27FC236}">
                <a16:creationId xmlns:a16="http://schemas.microsoft.com/office/drawing/2014/main" id="{853D5819-3C41-3644-B2F4-C2241A45D42B}"/>
              </a:ext>
            </a:extLst>
          </p:cNvPr>
          <p:cNvSpPr txBox="1"/>
          <p:nvPr/>
        </p:nvSpPr>
        <p:spPr>
          <a:xfrm>
            <a:off x="8591195" y="3788520"/>
            <a:ext cx="2815194" cy="646331"/>
          </a:xfrm>
          <a:prstGeom prst="rect">
            <a:avLst/>
          </a:prstGeom>
          <a:noFill/>
        </p:spPr>
        <p:txBody>
          <a:bodyPr wrap="none" rtlCol="0">
            <a:spAutoFit/>
          </a:bodyPr>
          <a:lstStyle/>
          <a:p>
            <a:r>
              <a:rPr lang="en-US" dirty="0">
                <a:latin typeface="Montserrat" pitchFamily="2" charset="77"/>
              </a:rPr>
              <a:t>Principal Component 1</a:t>
            </a:r>
          </a:p>
          <a:p>
            <a:r>
              <a:rPr lang="en-US" dirty="0">
                <a:latin typeface="Montserrat" pitchFamily="2" charset="77"/>
              </a:rPr>
              <a:t>(PC1)</a:t>
            </a:r>
          </a:p>
        </p:txBody>
      </p:sp>
      <p:sp>
        <p:nvSpPr>
          <p:cNvPr id="33" name="TextBox 32">
            <a:extLst>
              <a:ext uri="{FF2B5EF4-FFF2-40B4-BE49-F238E27FC236}">
                <a16:creationId xmlns:a16="http://schemas.microsoft.com/office/drawing/2014/main" id="{AFB5426F-C13C-3840-9038-B251817CAAD7}"/>
              </a:ext>
            </a:extLst>
          </p:cNvPr>
          <p:cNvSpPr txBox="1"/>
          <p:nvPr/>
        </p:nvSpPr>
        <p:spPr>
          <a:xfrm>
            <a:off x="6571895" y="860290"/>
            <a:ext cx="2863284" cy="646331"/>
          </a:xfrm>
          <a:prstGeom prst="rect">
            <a:avLst/>
          </a:prstGeom>
          <a:noFill/>
        </p:spPr>
        <p:txBody>
          <a:bodyPr wrap="none" rtlCol="0">
            <a:spAutoFit/>
          </a:bodyPr>
          <a:lstStyle/>
          <a:p>
            <a:r>
              <a:rPr lang="en-US" dirty="0">
                <a:latin typeface="Montserrat" pitchFamily="2" charset="77"/>
              </a:rPr>
              <a:t>Principal Component 2</a:t>
            </a:r>
          </a:p>
          <a:p>
            <a:r>
              <a:rPr lang="en-US" dirty="0">
                <a:latin typeface="Montserrat" pitchFamily="2" charset="77"/>
              </a:rPr>
              <a:t>(PC2)</a:t>
            </a:r>
          </a:p>
        </p:txBody>
      </p:sp>
      <p:sp>
        <p:nvSpPr>
          <p:cNvPr id="36" name="Oval 35">
            <a:extLst>
              <a:ext uri="{FF2B5EF4-FFF2-40B4-BE49-F238E27FC236}">
                <a16:creationId xmlns:a16="http://schemas.microsoft.com/office/drawing/2014/main" id="{D1DC09A6-FE35-3A4A-A9DE-26EB066AD328}"/>
              </a:ext>
            </a:extLst>
          </p:cNvPr>
          <p:cNvSpPr/>
          <p:nvPr/>
        </p:nvSpPr>
        <p:spPr>
          <a:xfrm rot="2156142">
            <a:off x="2899362" y="3235932"/>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7" name="Oval 36">
            <a:extLst>
              <a:ext uri="{FF2B5EF4-FFF2-40B4-BE49-F238E27FC236}">
                <a16:creationId xmlns:a16="http://schemas.microsoft.com/office/drawing/2014/main" id="{19AE7B88-78F4-424C-AD74-142040CF3CC2}"/>
              </a:ext>
            </a:extLst>
          </p:cNvPr>
          <p:cNvSpPr/>
          <p:nvPr/>
        </p:nvSpPr>
        <p:spPr>
          <a:xfrm rot="2156142">
            <a:off x="3872354" y="32359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9" name="Oval 38">
            <a:extLst>
              <a:ext uri="{FF2B5EF4-FFF2-40B4-BE49-F238E27FC236}">
                <a16:creationId xmlns:a16="http://schemas.microsoft.com/office/drawing/2014/main" id="{893DD238-B18E-BE47-AB2D-0FA54D61180C}"/>
              </a:ext>
            </a:extLst>
          </p:cNvPr>
          <p:cNvSpPr/>
          <p:nvPr/>
        </p:nvSpPr>
        <p:spPr>
          <a:xfrm rot="2156142">
            <a:off x="4384248" y="32359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0" name="Oval 39">
            <a:extLst>
              <a:ext uri="{FF2B5EF4-FFF2-40B4-BE49-F238E27FC236}">
                <a16:creationId xmlns:a16="http://schemas.microsoft.com/office/drawing/2014/main" id="{52ED041B-3E8B-F346-B81B-759C9BFFDC24}"/>
              </a:ext>
            </a:extLst>
          </p:cNvPr>
          <p:cNvSpPr/>
          <p:nvPr/>
        </p:nvSpPr>
        <p:spPr>
          <a:xfrm rot="2156142">
            <a:off x="8153715" y="32359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1" name="Oval 40">
            <a:extLst>
              <a:ext uri="{FF2B5EF4-FFF2-40B4-BE49-F238E27FC236}">
                <a16:creationId xmlns:a16="http://schemas.microsoft.com/office/drawing/2014/main" id="{46BCA292-9FC2-6B46-BF16-D8D73FC28C11}"/>
              </a:ext>
            </a:extLst>
          </p:cNvPr>
          <p:cNvSpPr/>
          <p:nvPr/>
        </p:nvSpPr>
        <p:spPr>
          <a:xfrm rot="2156142">
            <a:off x="7859993" y="32359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2" name="Oval 41">
            <a:extLst>
              <a:ext uri="{FF2B5EF4-FFF2-40B4-BE49-F238E27FC236}">
                <a16:creationId xmlns:a16="http://schemas.microsoft.com/office/drawing/2014/main" id="{F6EA68FF-3873-7C44-A6AD-8D088DFC721D}"/>
              </a:ext>
            </a:extLst>
          </p:cNvPr>
          <p:cNvSpPr/>
          <p:nvPr/>
        </p:nvSpPr>
        <p:spPr>
          <a:xfrm rot="2156142">
            <a:off x="9169466" y="323593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23" name="Footer Placeholder 22">
            <a:extLst>
              <a:ext uri="{FF2B5EF4-FFF2-40B4-BE49-F238E27FC236}">
                <a16:creationId xmlns:a16="http://schemas.microsoft.com/office/drawing/2014/main" id="{4DB7A483-3805-DB4B-B232-31B41D053A56}"/>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4401891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7981A51-0303-9F4E-9EA7-CD2ECD92C693}"/>
              </a:ext>
            </a:extLst>
          </p:cNvPr>
          <p:cNvSpPr txBox="1"/>
          <p:nvPr/>
        </p:nvSpPr>
        <p:spPr>
          <a:xfrm>
            <a:off x="2540000" y="1117600"/>
            <a:ext cx="7728398" cy="923330"/>
          </a:xfrm>
          <a:prstGeom prst="rect">
            <a:avLst/>
          </a:prstGeom>
          <a:noFill/>
        </p:spPr>
        <p:txBody>
          <a:bodyPr wrap="none" rtlCol="0">
            <a:spAutoFit/>
          </a:bodyPr>
          <a:lstStyle/>
          <a:p>
            <a:r>
              <a:rPr lang="en-US" dirty="0">
                <a:latin typeface="Montserrat" pitchFamily="2" charset="77"/>
              </a:rPr>
              <a:t>Sum of Squared distances </a:t>
            </a:r>
          </a:p>
          <a:p>
            <a:r>
              <a:rPr lang="en-US" dirty="0">
                <a:latin typeface="Montserrat" pitchFamily="2" charset="77"/>
              </a:rPr>
              <a:t>-----------------------------------  =  Variation for Principal Components</a:t>
            </a:r>
          </a:p>
          <a:p>
            <a:r>
              <a:rPr lang="en-US" dirty="0">
                <a:latin typeface="Montserrat" pitchFamily="2" charset="77"/>
              </a:rPr>
              <a:t>                     (n-1)</a:t>
            </a:r>
          </a:p>
        </p:txBody>
      </p:sp>
      <p:sp>
        <p:nvSpPr>
          <p:cNvPr id="3" name="TextBox 2">
            <a:extLst>
              <a:ext uri="{FF2B5EF4-FFF2-40B4-BE49-F238E27FC236}">
                <a16:creationId xmlns:a16="http://schemas.microsoft.com/office/drawing/2014/main" id="{F67C35A1-A77A-3843-86A9-4A4CC7C1B089}"/>
              </a:ext>
            </a:extLst>
          </p:cNvPr>
          <p:cNvSpPr txBox="1"/>
          <p:nvPr/>
        </p:nvSpPr>
        <p:spPr>
          <a:xfrm>
            <a:off x="825500" y="3355895"/>
            <a:ext cx="9994900" cy="1754326"/>
          </a:xfrm>
          <a:prstGeom prst="rect">
            <a:avLst/>
          </a:prstGeom>
          <a:noFill/>
        </p:spPr>
        <p:txBody>
          <a:bodyPr wrap="square" rtlCol="0">
            <a:spAutoFit/>
          </a:bodyPr>
          <a:lstStyle/>
          <a:p>
            <a:pPr marL="285750" indent="-285750">
              <a:buFont typeface="Arial" panose="020B0604020202020204" pitchFamily="34" charset="0"/>
              <a:buChar char="•"/>
            </a:pPr>
            <a:r>
              <a:rPr lang="en-US" dirty="0">
                <a:latin typeface="Montserrat" pitchFamily="2" charset="77"/>
              </a:rPr>
              <a:t>If for example variation for PC1 is 18 and PC2 is 4, the total variation is 18+4 = 22</a:t>
            </a:r>
          </a:p>
          <a:p>
            <a:pPr marL="285750" indent="-285750">
              <a:buFont typeface="Arial" panose="020B0604020202020204" pitchFamily="34" charset="0"/>
              <a:buChar char="•"/>
            </a:pPr>
            <a:endParaRPr lang="en-US" dirty="0">
              <a:latin typeface="Montserrat" pitchFamily="2" charset="77"/>
            </a:endParaRPr>
          </a:p>
          <a:p>
            <a:pPr marL="285750" indent="-285750">
              <a:buFont typeface="Arial" panose="020B0604020202020204" pitchFamily="34" charset="0"/>
              <a:buChar char="•"/>
            </a:pPr>
            <a:r>
              <a:rPr lang="en-US" dirty="0">
                <a:latin typeface="Montserrat" pitchFamily="2" charset="77"/>
              </a:rPr>
              <a:t>This means that PC1 accounts for 18/22 (or 81.81%) variation around Principal Components</a:t>
            </a:r>
          </a:p>
          <a:p>
            <a:pPr marL="285750" indent="-285750">
              <a:buFont typeface="Arial" panose="020B0604020202020204" pitchFamily="34" charset="0"/>
              <a:buChar char="•"/>
            </a:pPr>
            <a:endParaRPr lang="en-US" dirty="0">
              <a:latin typeface="Montserrat" pitchFamily="2" charset="77"/>
            </a:endParaRPr>
          </a:p>
          <a:p>
            <a:pPr marL="285750" indent="-285750">
              <a:buFont typeface="Arial" panose="020B0604020202020204" pitchFamily="34" charset="0"/>
              <a:buChar char="•"/>
            </a:pPr>
            <a:r>
              <a:rPr lang="en-US" dirty="0">
                <a:latin typeface="Montserrat" pitchFamily="2" charset="77"/>
              </a:rPr>
              <a:t>PC2 accounts for 4/22 (or 18.19%) of the total variation around Principal </a:t>
            </a:r>
            <a:r>
              <a:rPr lang="en-US" dirty="0" err="1">
                <a:latin typeface="Montserrat" pitchFamily="2" charset="77"/>
              </a:rPr>
              <a:t>Compnents</a:t>
            </a:r>
            <a:r>
              <a:rPr lang="en-US" dirty="0">
                <a:latin typeface="Montserrat" pitchFamily="2" charset="77"/>
              </a:rPr>
              <a:t>. </a:t>
            </a:r>
          </a:p>
        </p:txBody>
      </p:sp>
      <p:sp>
        <p:nvSpPr>
          <p:cNvPr id="5" name="Footer Placeholder 4">
            <a:extLst>
              <a:ext uri="{FF2B5EF4-FFF2-40B4-BE49-F238E27FC236}">
                <a16:creationId xmlns:a16="http://schemas.microsoft.com/office/drawing/2014/main" id="{21AA26B4-F940-4F4E-9C12-268725B779D2}"/>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839796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D0491F7-12A5-6448-AC17-CA539C96DBFA}"/>
              </a:ext>
            </a:extLst>
          </p:cNvPr>
          <p:cNvSpPr txBox="1"/>
          <p:nvPr/>
        </p:nvSpPr>
        <p:spPr>
          <a:xfrm>
            <a:off x="9694886" y="3469774"/>
            <a:ext cx="1277914" cy="369332"/>
          </a:xfrm>
          <a:prstGeom prst="rect">
            <a:avLst/>
          </a:prstGeom>
          <a:noFill/>
        </p:spPr>
        <p:txBody>
          <a:bodyPr wrap="none" rtlCol="0">
            <a:spAutoFit/>
          </a:bodyPr>
          <a:lstStyle/>
          <a:p>
            <a:r>
              <a:rPr lang="en-US" dirty="0">
                <a:latin typeface="Montserrat" pitchFamily="2" charset="77"/>
              </a:rPr>
              <a:t>Variable 1</a:t>
            </a:r>
          </a:p>
        </p:txBody>
      </p:sp>
      <p:sp>
        <p:nvSpPr>
          <p:cNvPr id="7" name="Oval 6">
            <a:extLst>
              <a:ext uri="{FF2B5EF4-FFF2-40B4-BE49-F238E27FC236}">
                <a16:creationId xmlns:a16="http://schemas.microsoft.com/office/drawing/2014/main" id="{552E299C-722F-C149-8595-9F223415E5A1}"/>
              </a:ext>
            </a:extLst>
          </p:cNvPr>
          <p:cNvSpPr/>
          <p:nvPr/>
        </p:nvSpPr>
        <p:spPr>
          <a:xfrm>
            <a:off x="8845203" y="1635069"/>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sp>
        <p:nvSpPr>
          <p:cNvPr id="8" name="Oval 7">
            <a:extLst>
              <a:ext uri="{FF2B5EF4-FFF2-40B4-BE49-F238E27FC236}">
                <a16:creationId xmlns:a16="http://schemas.microsoft.com/office/drawing/2014/main" id="{17C18684-BE9D-FF46-88AE-57ED96F3DCEC}"/>
              </a:ext>
            </a:extLst>
          </p:cNvPr>
          <p:cNvSpPr/>
          <p:nvPr/>
        </p:nvSpPr>
        <p:spPr>
          <a:xfrm>
            <a:off x="8214492" y="250570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15" name="Oval 14">
            <a:extLst>
              <a:ext uri="{FF2B5EF4-FFF2-40B4-BE49-F238E27FC236}">
                <a16:creationId xmlns:a16="http://schemas.microsoft.com/office/drawing/2014/main" id="{374282BB-7DF5-A84C-923A-641B1DB11848}"/>
              </a:ext>
            </a:extLst>
          </p:cNvPr>
          <p:cNvSpPr/>
          <p:nvPr/>
        </p:nvSpPr>
        <p:spPr>
          <a:xfrm>
            <a:off x="3766193" y="3952516"/>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16" name="Oval 15">
            <a:extLst>
              <a:ext uri="{FF2B5EF4-FFF2-40B4-BE49-F238E27FC236}">
                <a16:creationId xmlns:a16="http://schemas.microsoft.com/office/drawing/2014/main" id="{07C26AAC-06E7-9B4E-B6FE-3D74B93B49E7}"/>
              </a:ext>
            </a:extLst>
          </p:cNvPr>
          <p:cNvSpPr/>
          <p:nvPr/>
        </p:nvSpPr>
        <p:spPr>
          <a:xfrm>
            <a:off x="3056642" y="459575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17" name="Oval 16">
            <a:extLst>
              <a:ext uri="{FF2B5EF4-FFF2-40B4-BE49-F238E27FC236}">
                <a16:creationId xmlns:a16="http://schemas.microsoft.com/office/drawing/2014/main" id="{10F94181-88D2-944F-8864-F782F1460CBB}"/>
              </a:ext>
            </a:extLst>
          </p:cNvPr>
          <p:cNvSpPr/>
          <p:nvPr/>
        </p:nvSpPr>
        <p:spPr>
          <a:xfrm>
            <a:off x="4406208" y="3859482"/>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18" name="TextBox 17">
            <a:extLst>
              <a:ext uri="{FF2B5EF4-FFF2-40B4-BE49-F238E27FC236}">
                <a16:creationId xmlns:a16="http://schemas.microsoft.com/office/drawing/2014/main" id="{020FDD03-8674-6548-8C74-A42CEC176FEA}"/>
              </a:ext>
            </a:extLst>
          </p:cNvPr>
          <p:cNvSpPr txBox="1"/>
          <p:nvPr/>
        </p:nvSpPr>
        <p:spPr>
          <a:xfrm>
            <a:off x="4406208" y="440080"/>
            <a:ext cx="1326004" cy="369332"/>
          </a:xfrm>
          <a:prstGeom prst="rect">
            <a:avLst/>
          </a:prstGeom>
          <a:noFill/>
        </p:spPr>
        <p:txBody>
          <a:bodyPr wrap="none" rtlCol="0">
            <a:spAutoFit/>
          </a:bodyPr>
          <a:lstStyle/>
          <a:p>
            <a:r>
              <a:rPr lang="en-US" dirty="0">
                <a:latin typeface="Montserrat" pitchFamily="2" charset="77"/>
              </a:rPr>
              <a:t>Variable 2</a:t>
            </a:r>
          </a:p>
        </p:txBody>
      </p:sp>
      <p:cxnSp>
        <p:nvCxnSpPr>
          <p:cNvPr id="3" name="Straight Connector 2">
            <a:extLst>
              <a:ext uri="{FF2B5EF4-FFF2-40B4-BE49-F238E27FC236}">
                <a16:creationId xmlns:a16="http://schemas.microsoft.com/office/drawing/2014/main" id="{5E410AE3-AEBA-404D-9498-1DFB3C5190ED}"/>
              </a:ext>
            </a:extLst>
          </p:cNvPr>
          <p:cNvCxnSpPr>
            <a:cxnSpLocks/>
          </p:cNvCxnSpPr>
          <p:nvPr/>
        </p:nvCxnSpPr>
        <p:spPr>
          <a:xfrm>
            <a:off x="6400796" y="285007"/>
            <a:ext cx="0" cy="6169736"/>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10" name="Straight Connector 9">
            <a:extLst>
              <a:ext uri="{FF2B5EF4-FFF2-40B4-BE49-F238E27FC236}">
                <a16:creationId xmlns:a16="http://schemas.microsoft.com/office/drawing/2014/main" id="{0DA154A8-9BC0-1D46-858E-AAF23DE23404}"/>
              </a:ext>
            </a:extLst>
          </p:cNvPr>
          <p:cNvCxnSpPr/>
          <p:nvPr/>
        </p:nvCxnSpPr>
        <p:spPr>
          <a:xfrm>
            <a:off x="1448786" y="3274620"/>
            <a:ext cx="9642764" cy="0"/>
          </a:xfrm>
          <a:prstGeom prst="line">
            <a:avLst/>
          </a:prstGeom>
          <a:ln>
            <a:prstDash val="dash"/>
          </a:ln>
        </p:spPr>
        <p:style>
          <a:lnRef idx="3">
            <a:schemeClr val="accent6"/>
          </a:lnRef>
          <a:fillRef idx="0">
            <a:schemeClr val="accent6"/>
          </a:fillRef>
          <a:effectRef idx="2">
            <a:schemeClr val="accent6"/>
          </a:effectRef>
          <a:fontRef idx="minor">
            <a:schemeClr val="tx1"/>
          </a:fontRef>
        </p:style>
      </p:cxnSp>
      <p:cxnSp>
        <p:nvCxnSpPr>
          <p:cNvPr id="4" name="Straight Connector 3">
            <a:extLst>
              <a:ext uri="{FF2B5EF4-FFF2-40B4-BE49-F238E27FC236}">
                <a16:creationId xmlns:a16="http://schemas.microsoft.com/office/drawing/2014/main" id="{892130D2-8295-D841-9419-FD63248D83C4}"/>
              </a:ext>
            </a:extLst>
          </p:cNvPr>
          <p:cNvCxnSpPr>
            <a:cxnSpLocks/>
          </p:cNvCxnSpPr>
          <p:nvPr/>
        </p:nvCxnSpPr>
        <p:spPr>
          <a:xfrm flipV="1">
            <a:off x="3230088" y="1175659"/>
            <a:ext cx="6047115" cy="4476996"/>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9" name="Oval 8">
            <a:extLst>
              <a:ext uri="{FF2B5EF4-FFF2-40B4-BE49-F238E27FC236}">
                <a16:creationId xmlns:a16="http://schemas.microsoft.com/office/drawing/2014/main" id="{4AB5831A-5175-EE45-B0CC-A7DBB8CCE8B0}"/>
              </a:ext>
            </a:extLst>
          </p:cNvPr>
          <p:cNvSpPr/>
          <p:nvPr/>
        </p:nvSpPr>
        <p:spPr>
          <a:xfrm>
            <a:off x="7345615" y="1933711"/>
            <a:ext cx="432000" cy="432000"/>
          </a:xfrm>
          <a:prstGeom prst="ellips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cxnSp>
        <p:nvCxnSpPr>
          <p:cNvPr id="27" name="Straight Connector 26">
            <a:extLst>
              <a:ext uri="{FF2B5EF4-FFF2-40B4-BE49-F238E27FC236}">
                <a16:creationId xmlns:a16="http://schemas.microsoft.com/office/drawing/2014/main" id="{DC2D8D3D-C11D-874F-88D1-824FCCF7D1E0}"/>
              </a:ext>
            </a:extLst>
          </p:cNvPr>
          <p:cNvCxnSpPr>
            <a:cxnSpLocks/>
            <a:stCxn id="16" idx="5"/>
            <a:endCxn id="34" idx="1"/>
          </p:cNvCxnSpPr>
          <p:nvPr/>
        </p:nvCxnSpPr>
        <p:spPr>
          <a:xfrm>
            <a:off x="3425377" y="4964487"/>
            <a:ext cx="155103" cy="179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EB693AE0-3F8D-F340-A572-A9090A1ABFD8}"/>
              </a:ext>
            </a:extLst>
          </p:cNvPr>
          <p:cNvCxnSpPr>
            <a:cxnSpLocks/>
            <a:stCxn id="15" idx="5"/>
            <a:endCxn id="35" idx="1"/>
          </p:cNvCxnSpPr>
          <p:nvPr/>
        </p:nvCxnSpPr>
        <p:spPr>
          <a:xfrm>
            <a:off x="4134928" y="4321251"/>
            <a:ext cx="252404" cy="277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7AAE356-F3AA-7E42-84EC-0A9274DAF87E}"/>
              </a:ext>
            </a:extLst>
          </p:cNvPr>
          <p:cNvCxnSpPr>
            <a:cxnSpLocks/>
            <a:stCxn id="17" idx="5"/>
            <a:endCxn id="38" idx="1"/>
          </p:cNvCxnSpPr>
          <p:nvPr/>
        </p:nvCxnSpPr>
        <p:spPr>
          <a:xfrm>
            <a:off x="4774943" y="4228217"/>
            <a:ext cx="36349" cy="83699"/>
          </a:xfrm>
          <a:prstGeom prst="line">
            <a:avLst/>
          </a:prstGeom>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0EF2EE7-3A30-FC44-A2BC-456E2BC6A4C9}"/>
              </a:ext>
            </a:extLst>
          </p:cNvPr>
          <p:cNvSpPr/>
          <p:nvPr/>
        </p:nvSpPr>
        <p:spPr>
          <a:xfrm>
            <a:off x="3517215" y="5080729"/>
            <a:ext cx="432000" cy="432000"/>
          </a:xfrm>
          <a:prstGeom prst="ellipse">
            <a:avLst/>
          </a:prstGeom>
          <a:solidFill>
            <a:srgbClr val="00B05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6</a:t>
            </a:r>
          </a:p>
        </p:txBody>
      </p:sp>
      <p:sp>
        <p:nvSpPr>
          <p:cNvPr id="35" name="Oval 34">
            <a:extLst>
              <a:ext uri="{FF2B5EF4-FFF2-40B4-BE49-F238E27FC236}">
                <a16:creationId xmlns:a16="http://schemas.microsoft.com/office/drawing/2014/main" id="{59863583-4B14-D84A-9D97-F044108EB0D9}"/>
              </a:ext>
            </a:extLst>
          </p:cNvPr>
          <p:cNvSpPr/>
          <p:nvPr/>
        </p:nvSpPr>
        <p:spPr>
          <a:xfrm>
            <a:off x="4324067" y="4535975"/>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5</a:t>
            </a:r>
          </a:p>
        </p:txBody>
      </p:sp>
      <p:sp>
        <p:nvSpPr>
          <p:cNvPr id="38" name="Oval 37">
            <a:extLst>
              <a:ext uri="{FF2B5EF4-FFF2-40B4-BE49-F238E27FC236}">
                <a16:creationId xmlns:a16="http://schemas.microsoft.com/office/drawing/2014/main" id="{872F036E-9546-6E4D-9B4C-3B79D1B48B6B}"/>
              </a:ext>
            </a:extLst>
          </p:cNvPr>
          <p:cNvSpPr/>
          <p:nvPr/>
        </p:nvSpPr>
        <p:spPr>
          <a:xfrm>
            <a:off x="4748027" y="4248651"/>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4</a:t>
            </a:r>
          </a:p>
        </p:txBody>
      </p:sp>
      <p:sp>
        <p:nvSpPr>
          <p:cNvPr id="44" name="Oval 43">
            <a:extLst>
              <a:ext uri="{FF2B5EF4-FFF2-40B4-BE49-F238E27FC236}">
                <a16:creationId xmlns:a16="http://schemas.microsoft.com/office/drawing/2014/main" id="{E1C1E8D2-0147-AB49-A76C-9FA0AA12FECB}"/>
              </a:ext>
            </a:extLst>
          </p:cNvPr>
          <p:cNvSpPr/>
          <p:nvPr/>
        </p:nvSpPr>
        <p:spPr>
          <a:xfrm>
            <a:off x="7735321" y="1947102"/>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2</a:t>
            </a:r>
          </a:p>
        </p:txBody>
      </p:sp>
      <p:sp>
        <p:nvSpPr>
          <p:cNvPr id="43" name="Oval 42">
            <a:extLst>
              <a:ext uri="{FF2B5EF4-FFF2-40B4-BE49-F238E27FC236}">
                <a16:creationId xmlns:a16="http://schemas.microsoft.com/office/drawing/2014/main" id="{82D379ED-635D-1A44-A670-66F83ED95CE6}"/>
              </a:ext>
            </a:extLst>
          </p:cNvPr>
          <p:cNvSpPr/>
          <p:nvPr/>
        </p:nvSpPr>
        <p:spPr>
          <a:xfrm>
            <a:off x="7494487" y="2115323"/>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3</a:t>
            </a:r>
          </a:p>
        </p:txBody>
      </p:sp>
      <p:sp>
        <p:nvSpPr>
          <p:cNvPr id="45" name="Oval 44">
            <a:extLst>
              <a:ext uri="{FF2B5EF4-FFF2-40B4-BE49-F238E27FC236}">
                <a16:creationId xmlns:a16="http://schemas.microsoft.com/office/drawing/2014/main" id="{E4F6B92A-BAFA-224D-8532-E9F256D0E995}"/>
              </a:ext>
            </a:extLst>
          </p:cNvPr>
          <p:cNvSpPr/>
          <p:nvPr/>
        </p:nvSpPr>
        <p:spPr>
          <a:xfrm>
            <a:off x="8551613" y="1342514"/>
            <a:ext cx="432000" cy="432000"/>
          </a:xfrm>
          <a:prstGeom prst="ellipse">
            <a:avLst/>
          </a:prstGeom>
          <a:solidFill>
            <a:srgbClr val="00B05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Montserrat" pitchFamily="2" charset="77"/>
              </a:rPr>
              <a:t>1</a:t>
            </a:r>
          </a:p>
        </p:txBody>
      </p:sp>
      <p:cxnSp>
        <p:nvCxnSpPr>
          <p:cNvPr id="21" name="Straight Connector 20">
            <a:extLst>
              <a:ext uri="{FF2B5EF4-FFF2-40B4-BE49-F238E27FC236}">
                <a16:creationId xmlns:a16="http://schemas.microsoft.com/office/drawing/2014/main" id="{B6B26947-9DE7-A649-A74A-1170B8101E12}"/>
              </a:ext>
            </a:extLst>
          </p:cNvPr>
          <p:cNvCxnSpPr>
            <a:stCxn id="8" idx="1"/>
            <a:endCxn id="44" idx="5"/>
          </p:cNvCxnSpPr>
          <p:nvPr/>
        </p:nvCxnSpPr>
        <p:spPr>
          <a:xfrm flipH="1" flipV="1">
            <a:off x="8104056" y="2315837"/>
            <a:ext cx="173701" cy="253130"/>
          </a:xfrm>
          <a:prstGeom prst="line">
            <a:avLst/>
          </a:prstGeom>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69DB003D-D2C1-9D48-8320-4FEF1058C583}"/>
              </a:ext>
            </a:extLst>
          </p:cNvPr>
          <p:cNvSpPr txBox="1"/>
          <p:nvPr/>
        </p:nvSpPr>
        <p:spPr>
          <a:xfrm rot="20457459">
            <a:off x="4836771" y="5295305"/>
            <a:ext cx="2258124" cy="646331"/>
          </a:xfrm>
          <a:prstGeom prst="rect">
            <a:avLst/>
          </a:prstGeom>
          <a:noFill/>
        </p:spPr>
        <p:txBody>
          <a:bodyPr wrap="square" rtlCol="0">
            <a:spAutoFit/>
          </a:bodyPr>
          <a:lstStyle/>
          <a:p>
            <a:pPr algn="ctr"/>
            <a:r>
              <a:rPr lang="en-US" dirty="0">
                <a:latin typeface="Bradley Hand" pitchFamily="2" charset="77"/>
              </a:rPr>
              <a:t>Principal Component 1 (PC1)</a:t>
            </a:r>
          </a:p>
        </p:txBody>
      </p:sp>
      <p:cxnSp>
        <p:nvCxnSpPr>
          <p:cNvPr id="24" name="Straight Arrow Connector 23">
            <a:extLst>
              <a:ext uri="{FF2B5EF4-FFF2-40B4-BE49-F238E27FC236}">
                <a16:creationId xmlns:a16="http://schemas.microsoft.com/office/drawing/2014/main" id="{8685917C-170F-8B43-980E-078D586E9E59}"/>
              </a:ext>
            </a:extLst>
          </p:cNvPr>
          <p:cNvCxnSpPr>
            <a:cxnSpLocks/>
            <a:stCxn id="33" idx="0"/>
          </p:cNvCxnSpPr>
          <p:nvPr/>
        </p:nvCxnSpPr>
        <p:spPr>
          <a:xfrm flipH="1" flipV="1">
            <a:off x="5858086" y="3654440"/>
            <a:ext cx="2309" cy="1658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Connector 24">
            <a:extLst>
              <a:ext uri="{FF2B5EF4-FFF2-40B4-BE49-F238E27FC236}">
                <a16:creationId xmlns:a16="http://schemas.microsoft.com/office/drawing/2014/main" id="{E3F5FAA4-40EE-2D48-8AB8-6EC862F0ED8E}"/>
              </a:ext>
            </a:extLst>
          </p:cNvPr>
          <p:cNvCxnSpPr>
            <a:cxnSpLocks/>
          </p:cNvCxnSpPr>
          <p:nvPr/>
        </p:nvCxnSpPr>
        <p:spPr>
          <a:xfrm flipH="1" flipV="1">
            <a:off x="4734298" y="1175659"/>
            <a:ext cx="3606469" cy="4517149"/>
          </a:xfrm>
          <a:prstGeom prst="line">
            <a:avLst/>
          </a:prstGeom>
          <a:ln>
            <a:prstDash val="dash"/>
          </a:ln>
        </p:spPr>
        <p:style>
          <a:lnRef idx="3">
            <a:schemeClr val="accent2"/>
          </a:lnRef>
          <a:fillRef idx="0">
            <a:schemeClr val="accent2"/>
          </a:fillRef>
          <a:effectRef idx="2">
            <a:schemeClr val="accent2"/>
          </a:effectRef>
          <a:fontRef idx="minor">
            <a:schemeClr val="tx1"/>
          </a:fontRef>
        </p:style>
      </p:cxnSp>
      <p:sp>
        <p:nvSpPr>
          <p:cNvPr id="30" name="TextBox 29">
            <a:extLst>
              <a:ext uri="{FF2B5EF4-FFF2-40B4-BE49-F238E27FC236}">
                <a16:creationId xmlns:a16="http://schemas.microsoft.com/office/drawing/2014/main" id="{55CCB076-3BB4-6C47-BD5A-B09DDCBF4EF0}"/>
              </a:ext>
            </a:extLst>
          </p:cNvPr>
          <p:cNvSpPr txBox="1"/>
          <p:nvPr/>
        </p:nvSpPr>
        <p:spPr>
          <a:xfrm rot="21170246">
            <a:off x="2138930" y="1419373"/>
            <a:ext cx="2258124" cy="646331"/>
          </a:xfrm>
          <a:prstGeom prst="rect">
            <a:avLst/>
          </a:prstGeom>
          <a:noFill/>
        </p:spPr>
        <p:txBody>
          <a:bodyPr wrap="square" rtlCol="0">
            <a:spAutoFit/>
          </a:bodyPr>
          <a:lstStyle/>
          <a:p>
            <a:pPr algn="ctr"/>
            <a:r>
              <a:rPr lang="en-US" dirty="0">
                <a:latin typeface="Bradley Hand" pitchFamily="2" charset="77"/>
              </a:rPr>
              <a:t>Principal Component 2 (PC2)</a:t>
            </a:r>
          </a:p>
        </p:txBody>
      </p:sp>
      <p:cxnSp>
        <p:nvCxnSpPr>
          <p:cNvPr id="13" name="Straight Arrow Connector 12">
            <a:extLst>
              <a:ext uri="{FF2B5EF4-FFF2-40B4-BE49-F238E27FC236}">
                <a16:creationId xmlns:a16="http://schemas.microsoft.com/office/drawing/2014/main" id="{6748A855-A3D8-7743-8348-958857BB0685}"/>
              </a:ext>
            </a:extLst>
          </p:cNvPr>
          <p:cNvCxnSpPr>
            <a:stCxn id="30" idx="3"/>
          </p:cNvCxnSpPr>
          <p:nvPr/>
        </p:nvCxnSpPr>
        <p:spPr>
          <a:xfrm>
            <a:off x="4388243" y="1601762"/>
            <a:ext cx="680967"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4" name="Footer Placeholder 13">
            <a:extLst>
              <a:ext uri="{FF2B5EF4-FFF2-40B4-BE49-F238E27FC236}">
                <a16:creationId xmlns:a16="http://schemas.microsoft.com/office/drawing/2014/main" id="{621B23BA-4D05-7D41-BD61-F0E5FC9CC244}"/>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6333802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n-Dimensional Case</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lstStyle/>
          <a:p>
            <a:r>
              <a:rPr lang="en-US" dirty="0">
                <a:latin typeface="Montserrat" pitchFamily="2" charset="77"/>
              </a:rPr>
              <a:t>n features f</a:t>
            </a:r>
            <a:r>
              <a:rPr lang="en-US" baseline="-25000" dirty="0">
                <a:latin typeface="Montserrat" pitchFamily="2" charset="77"/>
              </a:rPr>
              <a:t>1</a:t>
            </a:r>
            <a:r>
              <a:rPr lang="en-US" dirty="0">
                <a:latin typeface="Montserrat" pitchFamily="2" charset="77"/>
              </a:rPr>
              <a:t>, f</a:t>
            </a:r>
            <a:r>
              <a:rPr lang="en-US" baseline="-25000" dirty="0">
                <a:latin typeface="Montserrat" pitchFamily="2" charset="77"/>
              </a:rPr>
              <a:t>2</a:t>
            </a:r>
            <a:r>
              <a:rPr lang="en-US" dirty="0">
                <a:latin typeface="Montserrat" pitchFamily="2" charset="77"/>
              </a:rPr>
              <a:t>, ….., </a:t>
            </a:r>
            <a:r>
              <a:rPr lang="en-US" dirty="0" err="1">
                <a:latin typeface="Montserrat" pitchFamily="2" charset="77"/>
              </a:rPr>
              <a:t>f</a:t>
            </a:r>
            <a:r>
              <a:rPr lang="en-US" baseline="-25000" dirty="0" err="1">
                <a:latin typeface="Montserrat" pitchFamily="2" charset="77"/>
              </a:rPr>
              <a:t>n</a:t>
            </a:r>
            <a:r>
              <a:rPr lang="en-US" dirty="0">
                <a:latin typeface="Montserrat" pitchFamily="2" charset="77"/>
              </a:rPr>
              <a:t>        k directions PC</a:t>
            </a:r>
            <a:r>
              <a:rPr lang="en-US" baseline="-25000" dirty="0">
                <a:latin typeface="Montserrat" pitchFamily="2" charset="77"/>
              </a:rPr>
              <a:t>1</a:t>
            </a:r>
            <a:r>
              <a:rPr lang="en-US" dirty="0">
                <a:latin typeface="Montserrat" pitchFamily="2" charset="77"/>
              </a:rPr>
              <a:t>, PC</a:t>
            </a:r>
            <a:r>
              <a:rPr lang="en-US" baseline="-25000" dirty="0">
                <a:latin typeface="Montserrat" pitchFamily="2" charset="77"/>
              </a:rPr>
              <a:t>2</a:t>
            </a:r>
            <a:r>
              <a:rPr lang="en-US" dirty="0">
                <a:latin typeface="Montserrat" pitchFamily="2" charset="77"/>
              </a:rPr>
              <a:t>, …., PC</a:t>
            </a:r>
            <a:r>
              <a:rPr lang="en-US" baseline="-25000" dirty="0">
                <a:latin typeface="Montserrat" pitchFamily="2" charset="77"/>
              </a:rPr>
              <a:t>K</a:t>
            </a:r>
          </a:p>
          <a:p>
            <a:pPr lvl="1"/>
            <a:r>
              <a:rPr lang="en-US" dirty="0">
                <a:latin typeface="Montserrat" pitchFamily="2" charset="77"/>
              </a:rPr>
              <a:t>k independent directions of the variation of the data</a:t>
            </a:r>
          </a:p>
          <a:p>
            <a:r>
              <a:rPr lang="en-US" dirty="0">
                <a:latin typeface="Montserrat" pitchFamily="2" charset="77"/>
              </a:rPr>
              <a:t>k &lt; n</a:t>
            </a:r>
          </a:p>
          <a:p>
            <a:r>
              <a:rPr lang="en-US" dirty="0">
                <a:latin typeface="Montserrat" pitchFamily="2" charset="77"/>
              </a:rPr>
              <a:t>k principal components</a:t>
            </a:r>
          </a:p>
          <a:p>
            <a:r>
              <a:rPr lang="en-US" dirty="0">
                <a:latin typeface="Montserrat" pitchFamily="2" charset="77"/>
              </a:rPr>
              <a:t>Meaning of new features is not interpretable</a:t>
            </a:r>
          </a:p>
          <a:p>
            <a:endParaRPr lang="en-US" dirty="0">
              <a:latin typeface="Montserrat" pitchFamily="2" charset="77"/>
            </a:endParaRPr>
          </a:p>
        </p:txBody>
      </p:sp>
      <p:cxnSp>
        <p:nvCxnSpPr>
          <p:cNvPr id="5" name="Straight Arrow Connector 4">
            <a:extLst>
              <a:ext uri="{FF2B5EF4-FFF2-40B4-BE49-F238E27FC236}">
                <a16:creationId xmlns:a16="http://schemas.microsoft.com/office/drawing/2014/main" id="{DD905CB0-AD16-C84C-A0FD-2A1E5F78A8F1}"/>
              </a:ext>
            </a:extLst>
          </p:cNvPr>
          <p:cNvCxnSpPr/>
          <p:nvPr/>
        </p:nvCxnSpPr>
        <p:spPr>
          <a:xfrm>
            <a:off x="4876800" y="2070100"/>
            <a:ext cx="3556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6" name="Footer Placeholder 5">
            <a:extLst>
              <a:ext uri="{FF2B5EF4-FFF2-40B4-BE49-F238E27FC236}">
                <a16:creationId xmlns:a16="http://schemas.microsoft.com/office/drawing/2014/main" id="{9CE81CFE-2D29-694C-9C17-A72FA00AA6E6}"/>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4790702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Steps for Principal Component Analysis</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lstStyle/>
          <a:p>
            <a:r>
              <a:rPr lang="en-US" dirty="0">
                <a:latin typeface="Montserrat" pitchFamily="2" charset="77"/>
              </a:rPr>
              <a:t>Standardization – </a:t>
            </a:r>
          </a:p>
          <a:p>
            <a:pPr lvl="1"/>
            <a:r>
              <a:rPr lang="en-US" dirty="0">
                <a:latin typeface="Montserrat" pitchFamily="2" charset="77"/>
              </a:rPr>
              <a:t>so that each feature has a similar range and scale. </a:t>
            </a:r>
          </a:p>
          <a:p>
            <a:r>
              <a:rPr lang="en-US" dirty="0">
                <a:latin typeface="Montserrat" pitchFamily="2" charset="77"/>
              </a:rPr>
              <a:t>Finding the Covariance Matrix – </a:t>
            </a:r>
          </a:p>
          <a:p>
            <a:pPr lvl="1"/>
            <a:r>
              <a:rPr lang="en-US" dirty="0">
                <a:latin typeface="Montserrat" pitchFamily="2" charset="77"/>
              </a:rPr>
              <a:t>Studying the relationships between the features</a:t>
            </a:r>
          </a:p>
          <a:p>
            <a:r>
              <a:rPr lang="en-US" dirty="0">
                <a:latin typeface="Montserrat" pitchFamily="2" charset="77"/>
              </a:rPr>
              <a:t>Use Covariance Matrix to find direction of maximum variance – Eigenvectors and Eigenvalues</a:t>
            </a:r>
          </a:p>
          <a:p>
            <a:r>
              <a:rPr lang="en-US" dirty="0">
                <a:latin typeface="Montserrat" pitchFamily="2" charset="77"/>
              </a:rPr>
              <a:t>Select the Principal components </a:t>
            </a:r>
          </a:p>
          <a:p>
            <a:pPr lvl="1"/>
            <a:r>
              <a:rPr lang="en-US" dirty="0">
                <a:latin typeface="Montserrat" pitchFamily="2" charset="77"/>
              </a:rPr>
              <a:t>Eigenvectors are selected as Principal components by using the Eigenvalues</a:t>
            </a:r>
          </a:p>
          <a:p>
            <a:endParaRPr lang="en-US" dirty="0">
              <a:latin typeface="Montserrat" pitchFamily="2" charset="77"/>
            </a:endParaRPr>
          </a:p>
        </p:txBody>
      </p:sp>
      <p:sp>
        <p:nvSpPr>
          <p:cNvPr id="4" name="Footer Placeholder 3">
            <a:extLst>
              <a:ext uri="{FF2B5EF4-FFF2-40B4-BE49-F238E27FC236}">
                <a16:creationId xmlns:a16="http://schemas.microsoft.com/office/drawing/2014/main" id="{887366C5-A6DC-914A-9463-243953FC8072}"/>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9813134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Why Standardization matters?</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normAutofit fontScale="70000" lnSpcReduction="20000"/>
          </a:bodyPr>
          <a:lstStyle/>
          <a:p>
            <a:pPr>
              <a:lnSpc>
                <a:spcPct val="120000"/>
              </a:lnSpc>
            </a:pPr>
            <a:r>
              <a:rPr lang="en-US" dirty="0">
                <a:latin typeface="Montserrat" pitchFamily="2" charset="77"/>
              </a:rPr>
              <a:t>A feature with a larger range will have a greater variance. </a:t>
            </a:r>
          </a:p>
          <a:p>
            <a:pPr>
              <a:lnSpc>
                <a:spcPct val="120000"/>
              </a:lnSpc>
            </a:pPr>
            <a:r>
              <a:rPr lang="en-US" dirty="0">
                <a:latin typeface="Montserrat" pitchFamily="2" charset="77"/>
              </a:rPr>
              <a:t>PCA aims at finding direction with the most variance. If not standardized the PCA algorithm would be ”</a:t>
            </a:r>
            <a:r>
              <a:rPr lang="en-US" b="1" dirty="0">
                <a:latin typeface="Montserrat" pitchFamily="2" charset="77"/>
              </a:rPr>
              <a:t>biased</a:t>
            </a:r>
            <a:r>
              <a:rPr lang="en-US" dirty="0">
                <a:latin typeface="Montserrat" pitchFamily="2" charset="77"/>
              </a:rPr>
              <a:t>” to chose a principal component with the direction more like the feature with the greater variance.</a:t>
            </a:r>
          </a:p>
          <a:p>
            <a:pPr>
              <a:lnSpc>
                <a:spcPct val="120000"/>
              </a:lnSpc>
            </a:pPr>
            <a:r>
              <a:rPr lang="en-US" dirty="0">
                <a:latin typeface="Montserrat" pitchFamily="2" charset="77"/>
              </a:rPr>
              <a:t>Standardization ensures that each feature contributes equally to the PCA algorithm</a:t>
            </a:r>
          </a:p>
          <a:p>
            <a:pPr lvl="1">
              <a:lnSpc>
                <a:spcPct val="120000"/>
              </a:lnSpc>
            </a:pPr>
            <a:r>
              <a:rPr lang="en-US" dirty="0">
                <a:latin typeface="Montserrat" pitchFamily="2" charset="77"/>
              </a:rPr>
              <a:t>In other word, PCA components are not biased to few features.</a:t>
            </a:r>
          </a:p>
          <a:p>
            <a:pPr>
              <a:lnSpc>
                <a:spcPct val="120000"/>
              </a:lnSpc>
            </a:pPr>
            <a:r>
              <a:rPr lang="en-US" dirty="0">
                <a:latin typeface="Montserrat" pitchFamily="2" charset="77"/>
              </a:rPr>
              <a:t>Resultant features obtained after standardization would have following properties </a:t>
            </a:r>
          </a:p>
          <a:p>
            <a:pPr lvl="1">
              <a:lnSpc>
                <a:spcPct val="120000"/>
              </a:lnSpc>
            </a:pPr>
            <a:r>
              <a:rPr lang="en-US" dirty="0">
                <a:latin typeface="Montserrat" pitchFamily="2" charset="77"/>
              </a:rPr>
              <a:t>Distributed with mean = 0</a:t>
            </a:r>
          </a:p>
          <a:p>
            <a:pPr lvl="1">
              <a:lnSpc>
                <a:spcPct val="120000"/>
              </a:lnSpc>
            </a:pPr>
            <a:r>
              <a:rPr lang="en-US" dirty="0">
                <a:latin typeface="Montserrat" pitchFamily="2" charset="77"/>
              </a:rPr>
              <a:t>Distributed with variance = 1</a:t>
            </a:r>
          </a:p>
          <a:p>
            <a:pPr lvl="1">
              <a:lnSpc>
                <a:spcPct val="120000"/>
              </a:lnSpc>
            </a:pPr>
            <a:endParaRPr lang="en-US" dirty="0">
              <a:latin typeface="Montserrat" pitchFamily="2" charset="77"/>
            </a:endParaRPr>
          </a:p>
          <a:p>
            <a:pPr>
              <a:lnSpc>
                <a:spcPct val="120000"/>
              </a:lnSpc>
            </a:pPr>
            <a:endParaRPr lang="en-US" dirty="0">
              <a:latin typeface="Montserrat" pitchFamily="2" charset="77"/>
            </a:endParaRPr>
          </a:p>
        </p:txBody>
      </p:sp>
      <p:sp>
        <p:nvSpPr>
          <p:cNvPr id="4" name="Footer Placeholder 3">
            <a:extLst>
              <a:ext uri="{FF2B5EF4-FFF2-40B4-BE49-F238E27FC236}">
                <a16:creationId xmlns:a16="http://schemas.microsoft.com/office/drawing/2014/main" id="{F6C6E469-C01A-F34C-A41D-15E52F4B39CF}"/>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579324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Computation of Covariance matrix</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normAutofit/>
          </a:bodyPr>
          <a:lstStyle/>
          <a:p>
            <a:pPr>
              <a:lnSpc>
                <a:spcPct val="120000"/>
              </a:lnSpc>
            </a:pPr>
            <a:r>
              <a:rPr lang="en-US" dirty="0">
                <a:latin typeface="Montserrat" pitchFamily="2" charset="77"/>
              </a:rPr>
              <a:t>Measure of strength of correlation between features </a:t>
            </a:r>
          </a:p>
          <a:p>
            <a:pPr>
              <a:lnSpc>
                <a:spcPct val="120000"/>
              </a:lnSpc>
            </a:pPr>
            <a:r>
              <a:rPr lang="en-US" dirty="0">
                <a:latin typeface="Montserrat" pitchFamily="2" charset="77"/>
              </a:rPr>
              <a:t>Positive covariance indicates increase or decrease in one feature is accompanied by same in another feature. </a:t>
            </a:r>
          </a:p>
          <a:p>
            <a:pPr>
              <a:lnSpc>
                <a:spcPct val="120000"/>
              </a:lnSpc>
            </a:pPr>
            <a:r>
              <a:rPr lang="en-US" dirty="0">
                <a:latin typeface="Montserrat" pitchFamily="2" charset="77"/>
              </a:rPr>
              <a:t>Negative covariance indicates increase in one feature is accompanied by decrease in another and vice versa.</a:t>
            </a:r>
          </a:p>
          <a:p>
            <a:pPr lvl="1">
              <a:lnSpc>
                <a:spcPct val="120000"/>
              </a:lnSpc>
            </a:pPr>
            <a:endParaRPr lang="en-US" dirty="0">
              <a:latin typeface="Montserrat" pitchFamily="2" charset="77"/>
            </a:endParaRPr>
          </a:p>
          <a:p>
            <a:pPr>
              <a:lnSpc>
                <a:spcPct val="120000"/>
              </a:lnSpc>
            </a:pPr>
            <a:endParaRPr lang="en-US" dirty="0">
              <a:latin typeface="Montserrat" pitchFamily="2" charset="77"/>
            </a:endParaRPr>
          </a:p>
        </p:txBody>
      </p:sp>
      <p:sp>
        <p:nvSpPr>
          <p:cNvPr id="4" name="Footer Placeholder 3">
            <a:extLst>
              <a:ext uri="{FF2B5EF4-FFF2-40B4-BE49-F238E27FC236}">
                <a16:creationId xmlns:a16="http://schemas.microsoft.com/office/drawing/2014/main" id="{0246843F-E93E-4847-AD0E-E4631F3D9207}"/>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33093328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Computation of Covariance matrix</a:t>
            </a:r>
          </a:p>
        </p:txBody>
      </p:sp>
      <p:pic>
        <p:nvPicPr>
          <p:cNvPr id="7" name="Picture 6" descr="A picture containing text&#10;&#10;Description automatically generated">
            <a:extLst>
              <a:ext uri="{FF2B5EF4-FFF2-40B4-BE49-F238E27FC236}">
                <a16:creationId xmlns:a16="http://schemas.microsoft.com/office/drawing/2014/main" id="{D7BC36B8-F34E-684E-8BFC-A77F3A21C839}"/>
              </a:ext>
            </a:extLst>
          </p:cNvPr>
          <p:cNvPicPr>
            <a:picLocks noChangeAspect="1"/>
          </p:cNvPicPr>
          <p:nvPr/>
        </p:nvPicPr>
        <p:blipFill rotWithShape="1">
          <a:blip r:embed="rId2"/>
          <a:srcRect r="29676"/>
          <a:stretch/>
        </p:blipFill>
        <p:spPr>
          <a:xfrm>
            <a:off x="939799" y="1892300"/>
            <a:ext cx="10161156" cy="3632200"/>
          </a:xfrm>
          <a:prstGeom prst="rect">
            <a:avLst/>
          </a:prstGeom>
        </p:spPr>
      </p:pic>
      <p:sp>
        <p:nvSpPr>
          <p:cNvPr id="8" name="TextBox 7">
            <a:extLst>
              <a:ext uri="{FF2B5EF4-FFF2-40B4-BE49-F238E27FC236}">
                <a16:creationId xmlns:a16="http://schemas.microsoft.com/office/drawing/2014/main" id="{7789A1E6-7143-6142-BC7F-E1E3B8411316}"/>
              </a:ext>
            </a:extLst>
          </p:cNvPr>
          <p:cNvSpPr txBox="1"/>
          <p:nvPr/>
        </p:nvSpPr>
        <p:spPr>
          <a:xfrm>
            <a:off x="8444459" y="5880100"/>
            <a:ext cx="2656496" cy="276999"/>
          </a:xfrm>
          <a:prstGeom prst="rect">
            <a:avLst/>
          </a:prstGeom>
          <a:noFill/>
        </p:spPr>
        <p:txBody>
          <a:bodyPr wrap="none" rtlCol="0">
            <a:spAutoFit/>
          </a:bodyPr>
          <a:lstStyle/>
          <a:p>
            <a:r>
              <a:rPr lang="en-US" sz="1200" dirty="0">
                <a:latin typeface="Montserrat" pitchFamily="2" charset="77"/>
              </a:rPr>
              <a:t>Source – </a:t>
            </a:r>
            <a:r>
              <a:rPr lang="en-US" sz="1200" dirty="0" err="1">
                <a:latin typeface="Montserrat" pitchFamily="2" charset="77"/>
                <a:hlinkClick r:id="rId3"/>
              </a:rPr>
              <a:t>pandas.DataFrame.cov</a:t>
            </a:r>
            <a:endParaRPr lang="en-US" sz="1200" dirty="0">
              <a:latin typeface="Montserrat" pitchFamily="2" charset="77"/>
            </a:endParaRPr>
          </a:p>
        </p:txBody>
      </p:sp>
      <p:sp>
        <p:nvSpPr>
          <p:cNvPr id="9" name="Footer Placeholder 8">
            <a:extLst>
              <a:ext uri="{FF2B5EF4-FFF2-40B4-BE49-F238E27FC236}">
                <a16:creationId xmlns:a16="http://schemas.microsoft.com/office/drawing/2014/main" id="{B8743AF0-50DA-2945-B05C-A20506ADEF60}"/>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4256298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Computation of Covariance matrix</a:t>
            </a:r>
          </a:p>
        </p:txBody>
      </p:sp>
      <p:graphicFrame>
        <p:nvGraphicFramePr>
          <p:cNvPr id="3" name="Table 3">
            <a:extLst>
              <a:ext uri="{FF2B5EF4-FFF2-40B4-BE49-F238E27FC236}">
                <a16:creationId xmlns:a16="http://schemas.microsoft.com/office/drawing/2014/main" id="{504D23DD-A1AC-754C-A12A-F28622207AAE}"/>
              </a:ext>
            </a:extLst>
          </p:cNvPr>
          <p:cNvGraphicFramePr>
            <a:graphicFrameLocks noGrp="1"/>
          </p:cNvGraphicFramePr>
          <p:nvPr>
            <p:extLst>
              <p:ext uri="{D42A27DB-BD31-4B8C-83A1-F6EECF244321}">
                <p14:modId xmlns:p14="http://schemas.microsoft.com/office/powerpoint/2010/main" val="4225293520"/>
              </p:ext>
            </p:extLst>
          </p:nvPr>
        </p:nvGraphicFramePr>
        <p:xfrm>
          <a:off x="7724777" y="2312246"/>
          <a:ext cx="3568700" cy="1483360"/>
        </p:xfrm>
        <a:graphic>
          <a:graphicData uri="http://schemas.openxmlformats.org/drawingml/2006/table">
            <a:tbl>
              <a:tblPr firstRow="1" bandRow="1">
                <a:tableStyleId>{18603FDC-E32A-4AB5-989C-0864C3EAD2B8}</a:tableStyleId>
              </a:tblPr>
              <a:tblGrid>
                <a:gridCol w="892175">
                  <a:extLst>
                    <a:ext uri="{9D8B030D-6E8A-4147-A177-3AD203B41FA5}">
                      <a16:colId xmlns:a16="http://schemas.microsoft.com/office/drawing/2014/main" val="1716690295"/>
                    </a:ext>
                  </a:extLst>
                </a:gridCol>
                <a:gridCol w="892175">
                  <a:extLst>
                    <a:ext uri="{9D8B030D-6E8A-4147-A177-3AD203B41FA5}">
                      <a16:colId xmlns:a16="http://schemas.microsoft.com/office/drawing/2014/main" val="3059736367"/>
                    </a:ext>
                  </a:extLst>
                </a:gridCol>
                <a:gridCol w="892175">
                  <a:extLst>
                    <a:ext uri="{9D8B030D-6E8A-4147-A177-3AD203B41FA5}">
                      <a16:colId xmlns:a16="http://schemas.microsoft.com/office/drawing/2014/main" val="3185954920"/>
                    </a:ext>
                  </a:extLst>
                </a:gridCol>
                <a:gridCol w="892175">
                  <a:extLst>
                    <a:ext uri="{9D8B030D-6E8A-4147-A177-3AD203B41FA5}">
                      <a16:colId xmlns:a16="http://schemas.microsoft.com/office/drawing/2014/main" val="716585545"/>
                    </a:ext>
                  </a:extLst>
                </a:gridCol>
              </a:tblGrid>
              <a:tr h="370840">
                <a:tc>
                  <a:txBody>
                    <a:bodyPr/>
                    <a:lstStyle/>
                    <a:p>
                      <a:pPr algn="ctr"/>
                      <a:endParaRPr lang="en-US">
                        <a:latin typeface="Montserrat" pitchFamily="2" charset="77"/>
                      </a:endParaRPr>
                    </a:p>
                  </a:txBody>
                  <a:tcPr/>
                </a:tc>
                <a:tc>
                  <a:txBody>
                    <a:bodyPr/>
                    <a:lstStyle/>
                    <a:p>
                      <a:pPr algn="ctr"/>
                      <a:r>
                        <a:rPr lang="en-US" dirty="0">
                          <a:latin typeface="Montserrat" pitchFamily="2" charset="77"/>
                        </a:rPr>
                        <a:t>A</a:t>
                      </a:r>
                    </a:p>
                  </a:txBody>
                  <a:tcPr/>
                </a:tc>
                <a:tc>
                  <a:txBody>
                    <a:bodyPr/>
                    <a:lstStyle/>
                    <a:p>
                      <a:pPr algn="ctr"/>
                      <a:r>
                        <a:rPr lang="en-US" dirty="0">
                          <a:latin typeface="Montserrat" pitchFamily="2" charset="77"/>
                        </a:rPr>
                        <a:t>B</a:t>
                      </a:r>
                    </a:p>
                  </a:txBody>
                  <a:tcPr/>
                </a:tc>
                <a:tc>
                  <a:txBody>
                    <a:bodyPr/>
                    <a:lstStyle/>
                    <a:p>
                      <a:pPr algn="ctr"/>
                      <a:r>
                        <a:rPr lang="en-US" dirty="0">
                          <a:latin typeface="Montserrat" pitchFamily="2" charset="77"/>
                        </a:rPr>
                        <a:t>C</a:t>
                      </a:r>
                    </a:p>
                  </a:txBody>
                  <a:tcPr/>
                </a:tc>
                <a:extLst>
                  <a:ext uri="{0D108BD9-81ED-4DB2-BD59-A6C34878D82A}">
                    <a16:rowId xmlns:a16="http://schemas.microsoft.com/office/drawing/2014/main" val="3683653755"/>
                  </a:ext>
                </a:extLst>
              </a:tr>
              <a:tr h="370840">
                <a:tc>
                  <a:txBody>
                    <a:bodyPr/>
                    <a:lstStyle/>
                    <a:p>
                      <a:pPr algn="ctr"/>
                      <a:r>
                        <a:rPr lang="en-US" dirty="0">
                          <a:latin typeface="Montserrat" pitchFamily="2" charset="77"/>
                        </a:rPr>
                        <a:t>A</a:t>
                      </a:r>
                    </a:p>
                  </a:txBody>
                  <a:tcPr/>
                </a:tc>
                <a:tc>
                  <a:txBody>
                    <a:bodyPr/>
                    <a:lstStyle/>
                    <a:p>
                      <a:pPr algn="ctr"/>
                      <a:r>
                        <a:rPr lang="en-US" dirty="0">
                          <a:latin typeface="Montserrat" pitchFamily="2" charset="77"/>
                        </a:rPr>
                        <a:t>A.A</a:t>
                      </a:r>
                    </a:p>
                  </a:txBody>
                  <a:tcPr/>
                </a:tc>
                <a:tc>
                  <a:txBody>
                    <a:bodyPr/>
                    <a:lstStyle/>
                    <a:p>
                      <a:pPr algn="ctr"/>
                      <a:r>
                        <a:rPr lang="en-US" dirty="0">
                          <a:latin typeface="Montserrat" pitchFamily="2" charset="77"/>
                        </a:rPr>
                        <a:t>A.B</a:t>
                      </a:r>
                    </a:p>
                  </a:txBody>
                  <a:tcPr/>
                </a:tc>
                <a:tc>
                  <a:txBody>
                    <a:bodyPr/>
                    <a:lstStyle/>
                    <a:p>
                      <a:pPr algn="ctr"/>
                      <a:r>
                        <a:rPr lang="en-US" dirty="0">
                          <a:latin typeface="Montserrat" pitchFamily="2" charset="77"/>
                        </a:rPr>
                        <a:t>A.C</a:t>
                      </a: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B</a:t>
                      </a:r>
                    </a:p>
                  </a:txBody>
                  <a:tcPr/>
                </a:tc>
                <a:tc>
                  <a:txBody>
                    <a:bodyPr/>
                    <a:lstStyle/>
                    <a:p>
                      <a:pPr algn="ctr"/>
                      <a:r>
                        <a:rPr lang="en-US" dirty="0">
                          <a:latin typeface="Montserrat" pitchFamily="2" charset="77"/>
                        </a:rPr>
                        <a:t>B.A</a:t>
                      </a:r>
                    </a:p>
                  </a:txBody>
                  <a:tcPr/>
                </a:tc>
                <a:tc>
                  <a:txBody>
                    <a:bodyPr/>
                    <a:lstStyle/>
                    <a:p>
                      <a:pPr algn="ctr"/>
                      <a:r>
                        <a:rPr lang="en-US" dirty="0">
                          <a:latin typeface="Montserrat" pitchFamily="2" charset="77"/>
                        </a:rPr>
                        <a:t>B.B</a:t>
                      </a:r>
                    </a:p>
                  </a:txBody>
                  <a:tcPr/>
                </a:tc>
                <a:tc>
                  <a:txBody>
                    <a:bodyPr/>
                    <a:lstStyle/>
                    <a:p>
                      <a:pPr algn="ctr"/>
                      <a:r>
                        <a:rPr lang="en-US" dirty="0">
                          <a:latin typeface="Montserrat" pitchFamily="2" charset="77"/>
                        </a:rPr>
                        <a:t>B.C</a:t>
                      </a:r>
                    </a:p>
                  </a:txBody>
                  <a:tcPr/>
                </a:tc>
                <a:extLst>
                  <a:ext uri="{0D108BD9-81ED-4DB2-BD59-A6C34878D82A}">
                    <a16:rowId xmlns:a16="http://schemas.microsoft.com/office/drawing/2014/main" val="1847881961"/>
                  </a:ext>
                </a:extLst>
              </a:tr>
              <a:tr h="370840">
                <a:tc>
                  <a:txBody>
                    <a:bodyPr/>
                    <a:lstStyle/>
                    <a:p>
                      <a:pPr algn="ctr"/>
                      <a:r>
                        <a:rPr lang="en-US" dirty="0">
                          <a:latin typeface="Montserrat" pitchFamily="2" charset="77"/>
                        </a:rPr>
                        <a:t>C</a:t>
                      </a:r>
                    </a:p>
                  </a:txBody>
                  <a:tcPr/>
                </a:tc>
                <a:tc>
                  <a:txBody>
                    <a:bodyPr/>
                    <a:lstStyle/>
                    <a:p>
                      <a:pPr algn="ctr"/>
                      <a:r>
                        <a:rPr lang="en-US" dirty="0">
                          <a:latin typeface="Montserrat" pitchFamily="2" charset="77"/>
                        </a:rPr>
                        <a:t>C.A</a:t>
                      </a:r>
                    </a:p>
                  </a:txBody>
                  <a:tcPr/>
                </a:tc>
                <a:tc>
                  <a:txBody>
                    <a:bodyPr/>
                    <a:lstStyle/>
                    <a:p>
                      <a:pPr algn="ctr"/>
                      <a:r>
                        <a:rPr lang="en-US" dirty="0">
                          <a:latin typeface="Montserrat" pitchFamily="2" charset="77"/>
                        </a:rPr>
                        <a:t>C.B</a:t>
                      </a:r>
                    </a:p>
                  </a:txBody>
                  <a:tcPr/>
                </a:tc>
                <a:tc>
                  <a:txBody>
                    <a:bodyPr/>
                    <a:lstStyle/>
                    <a:p>
                      <a:pPr algn="ctr"/>
                      <a:r>
                        <a:rPr lang="en-US" dirty="0">
                          <a:latin typeface="Montserrat" pitchFamily="2" charset="77"/>
                        </a:rPr>
                        <a:t>C.C</a:t>
                      </a:r>
                    </a:p>
                  </a:txBody>
                  <a:tcPr/>
                </a:tc>
                <a:extLst>
                  <a:ext uri="{0D108BD9-81ED-4DB2-BD59-A6C34878D82A}">
                    <a16:rowId xmlns:a16="http://schemas.microsoft.com/office/drawing/2014/main" val="3901881411"/>
                  </a:ext>
                </a:extLst>
              </a:tr>
            </a:tbl>
          </a:graphicData>
        </a:graphic>
      </p:graphicFrame>
      <p:graphicFrame>
        <p:nvGraphicFramePr>
          <p:cNvPr id="6" name="Table 3">
            <a:extLst>
              <a:ext uri="{FF2B5EF4-FFF2-40B4-BE49-F238E27FC236}">
                <a16:creationId xmlns:a16="http://schemas.microsoft.com/office/drawing/2014/main" id="{ACAAFDA7-79ED-654F-85F6-8EA0AE83C783}"/>
              </a:ext>
            </a:extLst>
          </p:cNvPr>
          <p:cNvGraphicFramePr>
            <a:graphicFrameLocks noGrp="1"/>
          </p:cNvGraphicFramePr>
          <p:nvPr>
            <p:extLst>
              <p:ext uri="{D42A27DB-BD31-4B8C-83A1-F6EECF244321}">
                <p14:modId xmlns:p14="http://schemas.microsoft.com/office/powerpoint/2010/main" val="1114397846"/>
              </p:ext>
            </p:extLst>
          </p:nvPr>
        </p:nvGraphicFramePr>
        <p:xfrm>
          <a:off x="4135438" y="2497666"/>
          <a:ext cx="2676525" cy="1112520"/>
        </p:xfrm>
        <a:graphic>
          <a:graphicData uri="http://schemas.openxmlformats.org/drawingml/2006/table">
            <a:tbl>
              <a:tblPr bandRow="1">
                <a:tableStyleId>{18603FDC-E32A-4AB5-989C-0864C3EAD2B8}</a:tableStyleId>
              </a:tblPr>
              <a:tblGrid>
                <a:gridCol w="892175">
                  <a:extLst>
                    <a:ext uri="{9D8B030D-6E8A-4147-A177-3AD203B41FA5}">
                      <a16:colId xmlns:a16="http://schemas.microsoft.com/office/drawing/2014/main" val="1716690295"/>
                    </a:ext>
                  </a:extLst>
                </a:gridCol>
                <a:gridCol w="892175">
                  <a:extLst>
                    <a:ext uri="{9D8B030D-6E8A-4147-A177-3AD203B41FA5}">
                      <a16:colId xmlns:a16="http://schemas.microsoft.com/office/drawing/2014/main" val="3059736367"/>
                    </a:ext>
                  </a:extLst>
                </a:gridCol>
                <a:gridCol w="892175">
                  <a:extLst>
                    <a:ext uri="{9D8B030D-6E8A-4147-A177-3AD203B41FA5}">
                      <a16:colId xmlns:a16="http://schemas.microsoft.com/office/drawing/2014/main" val="3185954920"/>
                    </a:ext>
                  </a:extLst>
                </a:gridCol>
              </a:tblGrid>
              <a:tr h="370840">
                <a:tc>
                  <a:txBody>
                    <a:bodyPr/>
                    <a:lstStyle/>
                    <a:p>
                      <a:pPr algn="ctr"/>
                      <a:r>
                        <a:rPr lang="en-US" dirty="0">
                          <a:latin typeface="Montserrat" pitchFamily="2" charset="77"/>
                        </a:rPr>
                        <a:t>A</a:t>
                      </a:r>
                    </a:p>
                  </a:txBody>
                  <a:tcPr/>
                </a:tc>
                <a:tc>
                  <a:txBody>
                    <a:bodyPr/>
                    <a:lstStyle/>
                    <a:p>
                      <a:pPr algn="ctr"/>
                      <a:r>
                        <a:rPr lang="en-US" dirty="0">
                          <a:latin typeface="Montserrat" pitchFamily="2" charset="77"/>
                        </a:rPr>
                        <a:t>a</a:t>
                      </a:r>
                      <a:r>
                        <a:rPr lang="en-US" baseline="-25000" dirty="0">
                          <a:latin typeface="Montserrat" pitchFamily="2" charset="77"/>
                        </a:rPr>
                        <a:t>1</a:t>
                      </a:r>
                    </a:p>
                  </a:txBody>
                  <a:tcPr/>
                </a:tc>
                <a:tc>
                  <a:txBody>
                    <a:bodyPr/>
                    <a:lstStyle/>
                    <a:p>
                      <a:pPr algn="ctr"/>
                      <a:r>
                        <a:rPr lang="en-US" dirty="0">
                          <a:latin typeface="Montserrat" pitchFamily="2" charset="77"/>
                        </a:rPr>
                        <a:t>a</a:t>
                      </a:r>
                      <a:r>
                        <a:rPr lang="en-US" baseline="-25000" dirty="0">
                          <a:latin typeface="Montserrat" pitchFamily="2" charset="77"/>
                        </a:rPr>
                        <a:t>2</a:t>
                      </a: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B</a:t>
                      </a:r>
                    </a:p>
                  </a:txBody>
                  <a:tcPr/>
                </a:tc>
                <a:tc>
                  <a:txBody>
                    <a:bodyPr/>
                    <a:lstStyle/>
                    <a:p>
                      <a:pPr algn="ctr"/>
                      <a:r>
                        <a:rPr lang="en-US" dirty="0">
                          <a:latin typeface="Montserrat" pitchFamily="2" charset="77"/>
                        </a:rPr>
                        <a:t>b</a:t>
                      </a:r>
                      <a:r>
                        <a:rPr lang="en-US" baseline="-25000" dirty="0">
                          <a:latin typeface="Montserrat" pitchFamily="2" charset="77"/>
                        </a:rPr>
                        <a:t>1</a:t>
                      </a:r>
                    </a:p>
                  </a:txBody>
                  <a:tcPr/>
                </a:tc>
                <a:tc>
                  <a:txBody>
                    <a:bodyPr/>
                    <a:lstStyle/>
                    <a:p>
                      <a:pPr algn="ctr"/>
                      <a:r>
                        <a:rPr lang="en-US" dirty="0">
                          <a:latin typeface="Montserrat" pitchFamily="2" charset="77"/>
                        </a:rPr>
                        <a:t>b</a:t>
                      </a:r>
                      <a:r>
                        <a:rPr lang="en-US" baseline="-25000" dirty="0">
                          <a:latin typeface="Montserrat" pitchFamily="2" charset="77"/>
                        </a:rPr>
                        <a:t>2</a:t>
                      </a:r>
                    </a:p>
                  </a:txBody>
                  <a:tcPr/>
                </a:tc>
                <a:extLst>
                  <a:ext uri="{0D108BD9-81ED-4DB2-BD59-A6C34878D82A}">
                    <a16:rowId xmlns:a16="http://schemas.microsoft.com/office/drawing/2014/main" val="1847881961"/>
                  </a:ext>
                </a:extLst>
              </a:tr>
              <a:tr h="370840">
                <a:tc>
                  <a:txBody>
                    <a:bodyPr/>
                    <a:lstStyle/>
                    <a:p>
                      <a:pPr algn="ctr"/>
                      <a:r>
                        <a:rPr lang="en-US" dirty="0">
                          <a:latin typeface="Montserrat" pitchFamily="2" charset="77"/>
                        </a:rPr>
                        <a:t>C</a:t>
                      </a:r>
                    </a:p>
                  </a:txBody>
                  <a:tcPr/>
                </a:tc>
                <a:tc>
                  <a:txBody>
                    <a:bodyPr/>
                    <a:lstStyle/>
                    <a:p>
                      <a:pPr algn="ctr"/>
                      <a:r>
                        <a:rPr lang="en-US" dirty="0">
                          <a:latin typeface="Montserrat" pitchFamily="2" charset="77"/>
                        </a:rPr>
                        <a:t>c</a:t>
                      </a:r>
                      <a:r>
                        <a:rPr lang="en-US" baseline="-25000" dirty="0">
                          <a:latin typeface="Montserrat" pitchFamily="2" charset="77"/>
                        </a:rPr>
                        <a:t>1</a:t>
                      </a:r>
                    </a:p>
                  </a:txBody>
                  <a:tcPr/>
                </a:tc>
                <a:tc>
                  <a:txBody>
                    <a:bodyPr/>
                    <a:lstStyle/>
                    <a:p>
                      <a:pPr algn="ctr"/>
                      <a:r>
                        <a:rPr lang="en-US" dirty="0">
                          <a:latin typeface="Montserrat" pitchFamily="2" charset="77"/>
                        </a:rPr>
                        <a:t>c</a:t>
                      </a:r>
                      <a:r>
                        <a:rPr lang="en-US" baseline="-25000" dirty="0">
                          <a:latin typeface="Montserrat" pitchFamily="2" charset="77"/>
                        </a:rPr>
                        <a:t>2</a:t>
                      </a:r>
                    </a:p>
                  </a:txBody>
                  <a:tcPr/>
                </a:tc>
                <a:extLst>
                  <a:ext uri="{0D108BD9-81ED-4DB2-BD59-A6C34878D82A}">
                    <a16:rowId xmlns:a16="http://schemas.microsoft.com/office/drawing/2014/main" val="3901881411"/>
                  </a:ext>
                </a:extLst>
              </a:tr>
            </a:tbl>
          </a:graphicData>
        </a:graphic>
      </p:graphicFrame>
      <p:graphicFrame>
        <p:nvGraphicFramePr>
          <p:cNvPr id="9" name="Table 3">
            <a:extLst>
              <a:ext uri="{FF2B5EF4-FFF2-40B4-BE49-F238E27FC236}">
                <a16:creationId xmlns:a16="http://schemas.microsoft.com/office/drawing/2014/main" id="{63755B21-D824-C041-A769-39F5AA6F4581}"/>
              </a:ext>
            </a:extLst>
          </p:cNvPr>
          <p:cNvGraphicFramePr>
            <a:graphicFrameLocks noGrp="1"/>
          </p:cNvGraphicFramePr>
          <p:nvPr>
            <p:extLst>
              <p:ext uri="{D42A27DB-BD31-4B8C-83A1-F6EECF244321}">
                <p14:modId xmlns:p14="http://schemas.microsoft.com/office/powerpoint/2010/main" val="158919482"/>
              </p:ext>
            </p:extLst>
          </p:nvPr>
        </p:nvGraphicFramePr>
        <p:xfrm>
          <a:off x="838200" y="2497666"/>
          <a:ext cx="2676525" cy="1107440"/>
        </p:xfrm>
        <a:graphic>
          <a:graphicData uri="http://schemas.openxmlformats.org/drawingml/2006/table">
            <a:tbl>
              <a:tblPr firstRow="1" bandRow="1">
                <a:tableStyleId>{18603FDC-E32A-4AB5-989C-0864C3EAD2B8}</a:tableStyleId>
              </a:tblPr>
              <a:tblGrid>
                <a:gridCol w="892175">
                  <a:extLst>
                    <a:ext uri="{9D8B030D-6E8A-4147-A177-3AD203B41FA5}">
                      <a16:colId xmlns:a16="http://schemas.microsoft.com/office/drawing/2014/main" val="3059736367"/>
                    </a:ext>
                  </a:extLst>
                </a:gridCol>
                <a:gridCol w="892175">
                  <a:extLst>
                    <a:ext uri="{9D8B030D-6E8A-4147-A177-3AD203B41FA5}">
                      <a16:colId xmlns:a16="http://schemas.microsoft.com/office/drawing/2014/main" val="3185954920"/>
                    </a:ext>
                  </a:extLst>
                </a:gridCol>
                <a:gridCol w="892175">
                  <a:extLst>
                    <a:ext uri="{9D8B030D-6E8A-4147-A177-3AD203B41FA5}">
                      <a16:colId xmlns:a16="http://schemas.microsoft.com/office/drawing/2014/main" val="716585545"/>
                    </a:ext>
                  </a:extLst>
                </a:gridCol>
              </a:tblGrid>
              <a:tr h="0">
                <a:tc>
                  <a:txBody>
                    <a:bodyPr/>
                    <a:lstStyle/>
                    <a:p>
                      <a:pPr algn="ctr"/>
                      <a:r>
                        <a:rPr lang="en-US" dirty="0">
                          <a:latin typeface="Montserrat" pitchFamily="2" charset="77"/>
                        </a:rPr>
                        <a:t>A</a:t>
                      </a:r>
                    </a:p>
                  </a:txBody>
                  <a:tcPr/>
                </a:tc>
                <a:tc>
                  <a:txBody>
                    <a:bodyPr/>
                    <a:lstStyle/>
                    <a:p>
                      <a:pPr algn="ctr"/>
                      <a:r>
                        <a:rPr lang="en-US" dirty="0">
                          <a:latin typeface="Montserrat" pitchFamily="2" charset="77"/>
                        </a:rPr>
                        <a:t>B</a:t>
                      </a:r>
                    </a:p>
                  </a:txBody>
                  <a:tcPr/>
                </a:tc>
                <a:tc>
                  <a:txBody>
                    <a:bodyPr/>
                    <a:lstStyle/>
                    <a:p>
                      <a:pPr algn="ctr"/>
                      <a:r>
                        <a:rPr lang="en-US" dirty="0">
                          <a:latin typeface="Montserrat" pitchFamily="2" charset="77"/>
                        </a:rPr>
                        <a:t>C</a:t>
                      </a:r>
                    </a:p>
                  </a:txBody>
                  <a:tcPr/>
                </a:tc>
                <a:extLst>
                  <a:ext uri="{0D108BD9-81ED-4DB2-BD59-A6C34878D82A}">
                    <a16:rowId xmlns:a16="http://schemas.microsoft.com/office/drawing/2014/main" val="3683653755"/>
                  </a:ext>
                </a:extLst>
              </a:tr>
              <a:tr h="370840">
                <a:tc>
                  <a:txBody>
                    <a:bodyPr/>
                    <a:lstStyle/>
                    <a:p>
                      <a:pPr algn="ctr"/>
                      <a:r>
                        <a:rPr lang="en-US" dirty="0">
                          <a:latin typeface="Montserrat" pitchFamily="2" charset="77"/>
                        </a:rPr>
                        <a:t>a</a:t>
                      </a:r>
                      <a:r>
                        <a:rPr lang="en-US" baseline="-25000" dirty="0">
                          <a:latin typeface="Montserrat" pitchFamily="2" charset="77"/>
                        </a:rPr>
                        <a:t>1</a:t>
                      </a:r>
                    </a:p>
                  </a:txBody>
                  <a:tcPr/>
                </a:tc>
                <a:tc>
                  <a:txBody>
                    <a:bodyPr/>
                    <a:lstStyle/>
                    <a:p>
                      <a:pPr algn="ctr"/>
                      <a:r>
                        <a:rPr lang="en-US" dirty="0">
                          <a:latin typeface="Montserrat" pitchFamily="2" charset="77"/>
                        </a:rPr>
                        <a:t>b</a:t>
                      </a:r>
                      <a:r>
                        <a:rPr lang="en-US" baseline="-25000" dirty="0">
                          <a:latin typeface="Montserrat" pitchFamily="2" charset="77"/>
                        </a:rPr>
                        <a:t>1</a:t>
                      </a:r>
                    </a:p>
                  </a:txBody>
                  <a:tcPr/>
                </a:tc>
                <a:tc>
                  <a:txBody>
                    <a:bodyPr/>
                    <a:lstStyle/>
                    <a:p>
                      <a:pPr algn="ctr"/>
                      <a:r>
                        <a:rPr lang="en-US" dirty="0">
                          <a:latin typeface="Montserrat" pitchFamily="2" charset="77"/>
                        </a:rPr>
                        <a:t>c</a:t>
                      </a:r>
                      <a:r>
                        <a:rPr lang="en-US" baseline="-25000" dirty="0">
                          <a:latin typeface="Montserrat" pitchFamily="2" charset="77"/>
                        </a:rPr>
                        <a:t>1</a:t>
                      </a: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A</a:t>
                      </a:r>
                      <a:r>
                        <a:rPr lang="en-US" baseline="-25000" dirty="0">
                          <a:latin typeface="Montserrat" pitchFamily="2" charset="77"/>
                        </a:rPr>
                        <a:t>2</a:t>
                      </a:r>
                    </a:p>
                  </a:txBody>
                  <a:tcPr/>
                </a:tc>
                <a:tc>
                  <a:txBody>
                    <a:bodyPr/>
                    <a:lstStyle/>
                    <a:p>
                      <a:pPr algn="ctr"/>
                      <a:r>
                        <a:rPr lang="en-US" dirty="0">
                          <a:latin typeface="Montserrat" pitchFamily="2" charset="77"/>
                        </a:rPr>
                        <a:t>b2</a:t>
                      </a:r>
                    </a:p>
                  </a:txBody>
                  <a:tcPr/>
                </a:tc>
                <a:tc>
                  <a:txBody>
                    <a:bodyPr/>
                    <a:lstStyle/>
                    <a:p>
                      <a:pPr algn="ctr"/>
                      <a:r>
                        <a:rPr lang="en-US" dirty="0">
                          <a:latin typeface="Montserrat" pitchFamily="2" charset="77"/>
                        </a:rPr>
                        <a:t>c</a:t>
                      </a:r>
                      <a:r>
                        <a:rPr lang="en-US" baseline="-25000" dirty="0">
                          <a:latin typeface="Montserrat" pitchFamily="2" charset="77"/>
                        </a:rPr>
                        <a:t>2</a:t>
                      </a:r>
                    </a:p>
                  </a:txBody>
                  <a:tcPr/>
                </a:tc>
                <a:extLst>
                  <a:ext uri="{0D108BD9-81ED-4DB2-BD59-A6C34878D82A}">
                    <a16:rowId xmlns:a16="http://schemas.microsoft.com/office/drawing/2014/main" val="1847881961"/>
                  </a:ext>
                </a:extLst>
              </a:tr>
            </a:tbl>
          </a:graphicData>
        </a:graphic>
      </p:graphicFrame>
      <p:sp>
        <p:nvSpPr>
          <p:cNvPr id="4" name="TextBox 3">
            <a:extLst>
              <a:ext uri="{FF2B5EF4-FFF2-40B4-BE49-F238E27FC236}">
                <a16:creationId xmlns:a16="http://schemas.microsoft.com/office/drawing/2014/main" id="{7EC9F9FD-9240-C14B-833D-17FC61CFE7D4}"/>
              </a:ext>
            </a:extLst>
          </p:cNvPr>
          <p:cNvSpPr txBox="1"/>
          <p:nvPr/>
        </p:nvSpPr>
        <p:spPr>
          <a:xfrm>
            <a:off x="1983140" y="3955471"/>
            <a:ext cx="386644" cy="461665"/>
          </a:xfrm>
          <a:prstGeom prst="rect">
            <a:avLst/>
          </a:prstGeom>
          <a:noFill/>
        </p:spPr>
        <p:txBody>
          <a:bodyPr wrap="none" rtlCol="0">
            <a:spAutoFit/>
          </a:bodyPr>
          <a:lstStyle/>
          <a:p>
            <a:r>
              <a:rPr lang="en-US" sz="2400" dirty="0">
                <a:latin typeface="Montserrat" pitchFamily="2" charset="77"/>
              </a:rPr>
              <a:t>X</a:t>
            </a:r>
          </a:p>
        </p:txBody>
      </p:sp>
      <p:sp>
        <p:nvSpPr>
          <p:cNvPr id="10" name="TextBox 9">
            <a:extLst>
              <a:ext uri="{FF2B5EF4-FFF2-40B4-BE49-F238E27FC236}">
                <a16:creationId xmlns:a16="http://schemas.microsoft.com/office/drawing/2014/main" id="{9BE5645A-7A14-FE47-B610-1BEAFE49D98B}"/>
              </a:ext>
            </a:extLst>
          </p:cNvPr>
          <p:cNvSpPr txBox="1"/>
          <p:nvPr/>
        </p:nvSpPr>
        <p:spPr>
          <a:xfrm>
            <a:off x="5280378" y="3955470"/>
            <a:ext cx="503664" cy="461665"/>
          </a:xfrm>
          <a:prstGeom prst="rect">
            <a:avLst/>
          </a:prstGeom>
          <a:noFill/>
        </p:spPr>
        <p:txBody>
          <a:bodyPr wrap="none" rtlCol="0">
            <a:spAutoFit/>
          </a:bodyPr>
          <a:lstStyle/>
          <a:p>
            <a:r>
              <a:rPr lang="en-US" sz="2400" dirty="0">
                <a:latin typeface="Montserrat" pitchFamily="2" charset="77"/>
              </a:rPr>
              <a:t>X</a:t>
            </a:r>
            <a:r>
              <a:rPr lang="en-US" sz="2400" baseline="30000" dirty="0">
                <a:latin typeface="Montserrat" pitchFamily="2" charset="77"/>
              </a:rPr>
              <a:t>T</a:t>
            </a:r>
          </a:p>
        </p:txBody>
      </p:sp>
      <p:sp>
        <p:nvSpPr>
          <p:cNvPr id="11" name="TextBox 10">
            <a:extLst>
              <a:ext uri="{FF2B5EF4-FFF2-40B4-BE49-F238E27FC236}">
                <a16:creationId xmlns:a16="http://schemas.microsoft.com/office/drawing/2014/main" id="{A6DAA33A-34A1-B64D-BAB8-F8FEE08942C0}"/>
              </a:ext>
            </a:extLst>
          </p:cNvPr>
          <p:cNvSpPr txBox="1"/>
          <p:nvPr/>
        </p:nvSpPr>
        <p:spPr>
          <a:xfrm>
            <a:off x="9257295" y="3955470"/>
            <a:ext cx="716863" cy="461665"/>
          </a:xfrm>
          <a:prstGeom prst="rect">
            <a:avLst/>
          </a:prstGeom>
          <a:noFill/>
        </p:spPr>
        <p:txBody>
          <a:bodyPr wrap="none" rtlCol="0">
            <a:spAutoFit/>
          </a:bodyPr>
          <a:lstStyle/>
          <a:p>
            <a:r>
              <a:rPr lang="en-US" sz="2400" dirty="0" err="1">
                <a:latin typeface="Montserrat" pitchFamily="2" charset="77"/>
              </a:rPr>
              <a:t>cov</a:t>
            </a:r>
            <a:endParaRPr lang="en-US" sz="2400" baseline="30000" dirty="0">
              <a:latin typeface="Montserrat" pitchFamily="2" charset="77"/>
            </a:endParaRPr>
          </a:p>
        </p:txBody>
      </p:sp>
      <p:sp>
        <p:nvSpPr>
          <p:cNvPr id="13" name="TextBox 12">
            <a:extLst>
              <a:ext uri="{FF2B5EF4-FFF2-40B4-BE49-F238E27FC236}">
                <a16:creationId xmlns:a16="http://schemas.microsoft.com/office/drawing/2014/main" id="{C726E4C7-FEA1-D346-93AA-F1D262DF85DF}"/>
              </a:ext>
            </a:extLst>
          </p:cNvPr>
          <p:cNvSpPr txBox="1"/>
          <p:nvPr/>
        </p:nvSpPr>
        <p:spPr>
          <a:xfrm>
            <a:off x="7087872" y="2820553"/>
            <a:ext cx="360996" cy="461665"/>
          </a:xfrm>
          <a:prstGeom prst="rect">
            <a:avLst/>
          </a:prstGeom>
          <a:noFill/>
        </p:spPr>
        <p:txBody>
          <a:bodyPr wrap="none" rtlCol="0">
            <a:spAutoFit/>
          </a:bodyPr>
          <a:lstStyle/>
          <a:p>
            <a:r>
              <a:rPr lang="en-US" sz="2400" dirty="0">
                <a:latin typeface="Montserrat" pitchFamily="2" charset="77"/>
              </a:rPr>
              <a:t>=</a:t>
            </a:r>
            <a:endParaRPr lang="en-US" sz="2400" baseline="30000" dirty="0">
              <a:latin typeface="Montserrat" pitchFamily="2" charset="77"/>
            </a:endParaRPr>
          </a:p>
        </p:txBody>
      </p:sp>
      <p:sp>
        <p:nvSpPr>
          <p:cNvPr id="5" name="TextBox 4">
            <a:extLst>
              <a:ext uri="{FF2B5EF4-FFF2-40B4-BE49-F238E27FC236}">
                <a16:creationId xmlns:a16="http://schemas.microsoft.com/office/drawing/2014/main" id="{7AA27406-095A-874B-8EA1-A07354B8589D}"/>
              </a:ext>
            </a:extLst>
          </p:cNvPr>
          <p:cNvSpPr txBox="1"/>
          <p:nvPr/>
        </p:nvSpPr>
        <p:spPr>
          <a:xfrm>
            <a:off x="903111" y="4770377"/>
            <a:ext cx="10180638" cy="1477328"/>
          </a:xfrm>
          <a:prstGeom prst="rect">
            <a:avLst/>
          </a:prstGeom>
          <a:noFill/>
        </p:spPr>
        <p:txBody>
          <a:bodyPr wrap="square" rtlCol="0">
            <a:spAutoFit/>
          </a:bodyPr>
          <a:lstStyle/>
          <a:p>
            <a:r>
              <a:rPr lang="en-US" dirty="0">
                <a:latin typeface="Montserrat" pitchFamily="2" charset="77"/>
              </a:rPr>
              <a:t>Note - </a:t>
            </a:r>
            <a:r>
              <a:rPr lang="en-IN" dirty="0">
                <a:latin typeface="Montserrat" pitchFamily="2" charset="77"/>
              </a:rPr>
              <a:t>A </a:t>
            </a:r>
            <a:r>
              <a:rPr lang="en-IN" b="1" dirty="0">
                <a:latin typeface="Montserrat" pitchFamily="2" charset="77"/>
              </a:rPr>
              <a:t>dot product</a:t>
            </a:r>
            <a:r>
              <a:rPr lang="en-IN" dirty="0">
                <a:latin typeface="Montserrat" pitchFamily="2" charset="77"/>
              </a:rPr>
              <a:t> is the </a:t>
            </a:r>
            <a:r>
              <a:rPr lang="en-IN" b="1" dirty="0">
                <a:latin typeface="Montserrat" pitchFamily="2" charset="77"/>
              </a:rPr>
              <a:t>product</a:t>
            </a:r>
            <a:r>
              <a:rPr lang="en-IN" dirty="0">
                <a:latin typeface="Montserrat" pitchFamily="2" charset="77"/>
              </a:rPr>
              <a:t> of the magnitude of the vectors </a:t>
            </a:r>
            <a:r>
              <a:rPr lang="en-IN" b="1" dirty="0">
                <a:latin typeface="Montserrat" pitchFamily="2" charset="77"/>
              </a:rPr>
              <a:t>and</a:t>
            </a:r>
            <a:r>
              <a:rPr lang="en-IN" dirty="0">
                <a:latin typeface="Montserrat" pitchFamily="2" charset="77"/>
              </a:rPr>
              <a:t> the cos of the angle between them.</a:t>
            </a:r>
          </a:p>
          <a:p>
            <a:endParaRPr lang="en-US" dirty="0">
              <a:latin typeface="Montserrat" pitchFamily="2" charset="77"/>
            </a:endParaRPr>
          </a:p>
          <a:p>
            <a:r>
              <a:rPr lang="en-US" dirty="0">
                <a:latin typeface="Montserrat" pitchFamily="2" charset="77"/>
              </a:rPr>
              <a:t>Now to find the direction of maximum variance is done by calculating the Eigenvalues and Eigenvectors of the covariance matrix ……</a:t>
            </a:r>
          </a:p>
        </p:txBody>
      </p:sp>
      <p:sp>
        <p:nvSpPr>
          <p:cNvPr id="14" name="Footer Placeholder 13">
            <a:extLst>
              <a:ext uri="{FF2B5EF4-FFF2-40B4-BE49-F238E27FC236}">
                <a16:creationId xmlns:a16="http://schemas.microsoft.com/office/drawing/2014/main" id="{7344C1BE-0DD0-EB48-AE7D-4D2A165458A5}"/>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509084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Finding the Eigenvectors and Eigenvalues</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normAutofit fontScale="85000" lnSpcReduction="10000"/>
          </a:bodyPr>
          <a:lstStyle/>
          <a:p>
            <a:pPr>
              <a:lnSpc>
                <a:spcPct val="120000"/>
              </a:lnSpc>
            </a:pPr>
            <a:r>
              <a:rPr lang="en-US" dirty="0">
                <a:latin typeface="Montserrat" pitchFamily="2" charset="77"/>
              </a:rPr>
              <a:t>What are Eigenvectors</a:t>
            </a:r>
          </a:p>
          <a:p>
            <a:pPr lvl="1">
              <a:lnSpc>
                <a:spcPct val="120000"/>
              </a:lnSpc>
            </a:pPr>
            <a:r>
              <a:rPr lang="en-US" dirty="0">
                <a:latin typeface="Montserrat" pitchFamily="2" charset="77"/>
              </a:rPr>
              <a:t>For square matrix, like covariance matrix and Eigenvector Z, is a non-zero vector, which when multiplied by matrix get scaled by a constant lambda.</a:t>
            </a:r>
          </a:p>
          <a:p>
            <a:pPr lvl="1">
              <a:lnSpc>
                <a:spcPct val="120000"/>
              </a:lnSpc>
            </a:pPr>
            <a:r>
              <a:rPr lang="en-US" dirty="0">
                <a:latin typeface="Montserrat" pitchFamily="2" charset="77"/>
              </a:rPr>
              <a:t>For </a:t>
            </a:r>
            <a:r>
              <a:rPr lang="en-US" dirty="0" err="1">
                <a:latin typeface="Montserrat" pitchFamily="2" charset="77"/>
              </a:rPr>
              <a:t>nxn</a:t>
            </a:r>
            <a:r>
              <a:rPr lang="en-US" dirty="0">
                <a:latin typeface="Montserrat" pitchFamily="2" charset="77"/>
              </a:rPr>
              <a:t> matrix, there are n independent Eigenvectors. These Eigenvectors are perpendicular to each other.</a:t>
            </a:r>
          </a:p>
          <a:p>
            <a:pPr lvl="1">
              <a:lnSpc>
                <a:spcPct val="120000"/>
              </a:lnSpc>
            </a:pPr>
            <a:r>
              <a:rPr lang="en-US" dirty="0">
                <a:latin typeface="Montserrat" pitchFamily="2" charset="77"/>
              </a:rPr>
              <a:t>As far as PCA is concerned Eigenvectors of a covariance matrix, gives the direction of the variance of data.</a:t>
            </a:r>
          </a:p>
          <a:p>
            <a:pPr lvl="1">
              <a:lnSpc>
                <a:spcPct val="120000"/>
              </a:lnSpc>
            </a:pPr>
            <a:r>
              <a:rPr lang="en-US" dirty="0">
                <a:latin typeface="Montserrat" pitchFamily="2" charset="77"/>
              </a:rPr>
              <a:t>The magnitude of constant lambda, is the measure of the amount of variance explained by its corresponding Eigenvectors</a:t>
            </a:r>
          </a:p>
          <a:p>
            <a:pPr lvl="1">
              <a:lnSpc>
                <a:spcPct val="120000"/>
              </a:lnSpc>
            </a:pPr>
            <a:r>
              <a:rPr lang="en-US" dirty="0">
                <a:latin typeface="Montserrat" pitchFamily="2" charset="77"/>
              </a:rPr>
              <a:t>Larger the Eigenvalue more the variance in the direction of its Eigenvector</a:t>
            </a:r>
          </a:p>
          <a:p>
            <a:pPr>
              <a:lnSpc>
                <a:spcPct val="120000"/>
              </a:lnSpc>
            </a:pPr>
            <a:endParaRPr lang="en-US" dirty="0">
              <a:latin typeface="Montserrat" pitchFamily="2" charset="77"/>
            </a:endParaRPr>
          </a:p>
        </p:txBody>
      </p:sp>
      <p:sp>
        <p:nvSpPr>
          <p:cNvPr id="4" name="Footer Placeholder 3">
            <a:extLst>
              <a:ext uri="{FF2B5EF4-FFF2-40B4-BE49-F238E27FC236}">
                <a16:creationId xmlns:a16="http://schemas.microsoft.com/office/drawing/2014/main" id="{B3367194-3B84-7940-96F3-787AF5A369A3}"/>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7170168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77F60BE1-8477-C14A-A983-3FC8135E0010}"/>
              </a:ext>
            </a:extLst>
          </p:cNvPr>
          <p:cNvSpPr txBox="1"/>
          <p:nvPr/>
        </p:nvSpPr>
        <p:spPr>
          <a:xfrm>
            <a:off x="1123244" y="2397948"/>
            <a:ext cx="9945511" cy="2062103"/>
          </a:xfrm>
          <a:prstGeom prst="rect">
            <a:avLst/>
          </a:prstGeom>
          <a:noFill/>
        </p:spPr>
        <p:txBody>
          <a:bodyPr wrap="square" rtlCol="0">
            <a:spAutoFit/>
          </a:bodyPr>
          <a:lstStyle/>
          <a:p>
            <a:pPr algn="ctr"/>
            <a:r>
              <a:rPr lang="en-IN" sz="3200" dirty="0">
                <a:latin typeface="Montserrat" pitchFamily="2" charset="77"/>
              </a:rPr>
              <a:t>An eigenvalue is the same as the amount of variability captured by a principal component, and an eigenvector is the principal component itself.</a:t>
            </a:r>
            <a:endParaRPr lang="en-US" sz="3200" dirty="0">
              <a:latin typeface="Montserrat" pitchFamily="2" charset="77"/>
            </a:endParaRPr>
          </a:p>
        </p:txBody>
      </p:sp>
      <p:sp>
        <p:nvSpPr>
          <p:cNvPr id="9" name="Footer Placeholder 8">
            <a:extLst>
              <a:ext uri="{FF2B5EF4-FFF2-40B4-BE49-F238E27FC236}">
                <a16:creationId xmlns:a16="http://schemas.microsoft.com/office/drawing/2014/main" id="{323AA84D-0382-144A-8432-DC0EF260F3FC}"/>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727269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Finding the Eigenvectors and Eigenvalues</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normAutofit fontScale="85000" lnSpcReduction="10000"/>
          </a:bodyPr>
          <a:lstStyle/>
          <a:p>
            <a:pPr>
              <a:lnSpc>
                <a:spcPct val="120000"/>
              </a:lnSpc>
            </a:pPr>
            <a:r>
              <a:rPr lang="en-US" dirty="0">
                <a:latin typeface="Montserrat" pitchFamily="2" charset="77"/>
              </a:rPr>
              <a:t>What are Eigenvectors</a:t>
            </a:r>
          </a:p>
          <a:p>
            <a:pPr lvl="1">
              <a:lnSpc>
                <a:spcPct val="120000"/>
              </a:lnSpc>
            </a:pPr>
            <a:r>
              <a:rPr lang="en-US" dirty="0">
                <a:latin typeface="Montserrat" pitchFamily="2" charset="77"/>
              </a:rPr>
              <a:t>For square matrix, like covariance matrix and Eigenvector Z, is a non-zero vector, which when multiplied by matrix get scaled by a constant lambda.</a:t>
            </a:r>
          </a:p>
          <a:p>
            <a:pPr lvl="1">
              <a:lnSpc>
                <a:spcPct val="120000"/>
              </a:lnSpc>
            </a:pPr>
            <a:r>
              <a:rPr lang="en-US" dirty="0">
                <a:latin typeface="Montserrat" pitchFamily="2" charset="77"/>
              </a:rPr>
              <a:t>For </a:t>
            </a:r>
            <a:r>
              <a:rPr lang="en-US" dirty="0" err="1">
                <a:latin typeface="Montserrat" pitchFamily="2" charset="77"/>
              </a:rPr>
              <a:t>nxn</a:t>
            </a:r>
            <a:r>
              <a:rPr lang="en-US" dirty="0">
                <a:latin typeface="Montserrat" pitchFamily="2" charset="77"/>
              </a:rPr>
              <a:t> matrix, there are n independent Eigenvectors. These Eigenvectors are perpendicular to each other.</a:t>
            </a:r>
          </a:p>
          <a:p>
            <a:pPr lvl="1">
              <a:lnSpc>
                <a:spcPct val="120000"/>
              </a:lnSpc>
            </a:pPr>
            <a:r>
              <a:rPr lang="en-US" dirty="0">
                <a:latin typeface="Montserrat" pitchFamily="2" charset="77"/>
              </a:rPr>
              <a:t>As far as PCA is concerned Eigenvectors of a covariance matrix, gives the direction of the variance of data.</a:t>
            </a:r>
          </a:p>
          <a:p>
            <a:pPr lvl="1">
              <a:lnSpc>
                <a:spcPct val="120000"/>
              </a:lnSpc>
            </a:pPr>
            <a:r>
              <a:rPr lang="en-US" dirty="0">
                <a:latin typeface="Montserrat" pitchFamily="2" charset="77"/>
              </a:rPr>
              <a:t>The magnitude of constant lambda, is the measure of the amount of variance explained by its corresponding Eigenvectors</a:t>
            </a:r>
          </a:p>
          <a:p>
            <a:pPr lvl="1">
              <a:lnSpc>
                <a:spcPct val="120000"/>
              </a:lnSpc>
            </a:pPr>
            <a:r>
              <a:rPr lang="en-US" dirty="0">
                <a:latin typeface="Montserrat" pitchFamily="2" charset="77"/>
              </a:rPr>
              <a:t>Larger the Eigenvalue more the variance in the direction of its Eigenvector</a:t>
            </a:r>
          </a:p>
          <a:p>
            <a:pPr>
              <a:lnSpc>
                <a:spcPct val="120000"/>
              </a:lnSpc>
            </a:pPr>
            <a:endParaRPr lang="en-US" dirty="0">
              <a:latin typeface="Montserrat" pitchFamily="2" charset="77"/>
            </a:endParaRPr>
          </a:p>
        </p:txBody>
      </p:sp>
      <p:sp>
        <p:nvSpPr>
          <p:cNvPr id="4" name="Footer Placeholder 3">
            <a:extLst>
              <a:ext uri="{FF2B5EF4-FFF2-40B4-BE49-F238E27FC236}">
                <a16:creationId xmlns:a16="http://schemas.microsoft.com/office/drawing/2014/main" id="{64FE7C68-30C2-5C4E-9D99-02E290C0B012}"/>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4022377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Finding the Eigenvectors and Eigenvalues</a:t>
            </a: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2F5AF40-2FE3-3A47-97A1-FBC5951CA3AB}"/>
                  </a:ext>
                </a:extLst>
              </p:cNvPr>
              <p:cNvSpPr txBox="1"/>
              <p:nvPr/>
            </p:nvSpPr>
            <p:spPr>
              <a:xfrm>
                <a:off x="3586819" y="2505221"/>
                <a:ext cx="5018361" cy="923779"/>
              </a:xfrm>
              <a:prstGeom prst="rect">
                <a:avLst/>
              </a:prstGeom>
              <a:noFill/>
            </p:spPr>
            <p:txBody>
              <a:bodyPr wrap="none" lIns="0" tIns="0" rIns="0" bIns="0" rtlCol="0">
                <a:spAutoFit/>
              </a:bodyPr>
              <a:lstStyle/>
              <a:p>
                <a14:m>
                  <m:oMath xmlns:m="http://schemas.openxmlformats.org/officeDocument/2006/math">
                    <m:d>
                      <m:dPr>
                        <m:begChr m:val="["/>
                        <m:endChr m:val="]"/>
                        <m:ctrlPr>
                          <a:rPr lang="en-US" sz="3600" i="1" smtClean="0">
                            <a:latin typeface="Cambria Math" panose="02040503050406030204" pitchFamily="18" charset="0"/>
                          </a:rPr>
                        </m:ctrlPr>
                      </m:dPr>
                      <m:e>
                        <m:m>
                          <m:mPr>
                            <m:mcs>
                              <m:mc>
                                <m:mcPr>
                                  <m:count m:val="2"/>
                                  <m:mcJc m:val="center"/>
                                </m:mcPr>
                              </m:mc>
                            </m:mcs>
                            <m:ctrlPr>
                              <a:rPr lang="en-US" sz="3600" i="1" smtClean="0">
                                <a:latin typeface="Cambria Math" panose="02040503050406030204" pitchFamily="18" charset="0"/>
                              </a:rPr>
                            </m:ctrlPr>
                          </m:mPr>
                          <m:mr>
                            <m:e>
                              <m:r>
                                <m:rPr>
                                  <m:brk m:alnAt="7"/>
                                </m:rPr>
                                <a:rPr lang="en-US" sz="3600" b="0" i="1" smtClean="0">
                                  <a:latin typeface="Cambria Math" panose="02040503050406030204" pitchFamily="18" charset="0"/>
                                </a:rPr>
                                <m:t>2</m:t>
                              </m:r>
                            </m:e>
                            <m:e>
                              <m:r>
                                <a:rPr lang="en-US" sz="3600" b="0" i="1" smtClean="0">
                                  <a:latin typeface="Cambria Math" panose="02040503050406030204" pitchFamily="18" charset="0"/>
                                </a:rPr>
                                <m:t>1</m:t>
                              </m:r>
                            </m:e>
                          </m:mr>
                          <m:mr>
                            <m:e>
                              <m:r>
                                <a:rPr lang="en-US" sz="3600" b="0" i="1" smtClean="0">
                                  <a:latin typeface="Cambria Math" panose="02040503050406030204" pitchFamily="18" charset="0"/>
                                </a:rPr>
                                <m:t>1</m:t>
                              </m:r>
                            </m:e>
                            <m:e>
                              <m:r>
                                <a:rPr lang="en-US" sz="3600" b="0" i="1" smtClean="0">
                                  <a:latin typeface="Cambria Math" panose="02040503050406030204" pitchFamily="18" charset="0"/>
                                </a:rPr>
                                <m:t>2</m:t>
                              </m:r>
                            </m:e>
                          </m:mr>
                        </m:m>
                      </m:e>
                    </m:d>
                    <m:d>
                      <m:dPr>
                        <m:begChr m:val="["/>
                        <m:endChr m:val="]"/>
                        <m:ctrlPr>
                          <a:rPr lang="en-US" sz="3600" i="1" smtClean="0">
                            <a:latin typeface="Cambria Math" panose="02040503050406030204" pitchFamily="18" charset="0"/>
                          </a:rPr>
                        </m:ctrlPr>
                      </m:dPr>
                      <m:e>
                        <m:m>
                          <m:mPr>
                            <m:mcs>
                              <m:mc>
                                <m:mcPr>
                                  <m:count m:val="1"/>
                                  <m:mcJc m:val="center"/>
                                </m:mcPr>
                              </m:mc>
                            </m:mcs>
                            <m:ctrlPr>
                              <a:rPr lang="en-US" sz="3600" i="1" smtClean="0">
                                <a:latin typeface="Cambria Math" panose="02040503050406030204" pitchFamily="18" charset="0"/>
                              </a:rPr>
                            </m:ctrlPr>
                          </m:mPr>
                          <m:mr>
                            <m:e>
                              <m:r>
                                <m:rPr>
                                  <m:brk m:alnAt="7"/>
                                </m:rPr>
                                <a:rPr lang="en-US" sz="3600" b="0" i="1" smtClean="0">
                                  <a:latin typeface="Cambria Math" panose="02040503050406030204" pitchFamily="18" charset="0"/>
                                </a:rPr>
                                <m:t>1</m:t>
                              </m:r>
                            </m:e>
                          </m:mr>
                          <m:mr>
                            <m:e>
                              <m:r>
                                <a:rPr lang="en-US" sz="3600" b="0" i="1" smtClean="0">
                                  <a:latin typeface="Cambria Math" panose="02040503050406030204" pitchFamily="18" charset="0"/>
                                </a:rPr>
                                <m:t>1</m:t>
                              </m:r>
                            </m:e>
                          </m:mr>
                        </m:m>
                      </m:e>
                    </m:d>
                    <m:r>
                      <a:rPr lang="en-US" sz="3600" b="0" i="0" smtClean="0">
                        <a:latin typeface="Cambria Math" panose="02040503050406030204" pitchFamily="18" charset="0"/>
                      </a:rPr>
                      <m:t>= </m:t>
                    </m:r>
                    <m:d>
                      <m:dPr>
                        <m:begChr m:val="["/>
                        <m:endChr m:val="]"/>
                        <m:ctrlPr>
                          <a:rPr lang="en-US" sz="3600" b="0" i="1" smtClean="0">
                            <a:latin typeface="Cambria Math" panose="02040503050406030204" pitchFamily="18" charset="0"/>
                          </a:rPr>
                        </m:ctrlPr>
                      </m:dPr>
                      <m:e>
                        <m:m>
                          <m:mPr>
                            <m:mcs>
                              <m:mc>
                                <m:mcPr>
                                  <m:count m:val="1"/>
                                  <m:mcJc m:val="center"/>
                                </m:mcPr>
                              </m:mc>
                            </m:mcs>
                            <m:ctrlPr>
                              <a:rPr lang="en-US" sz="3600" b="0" i="1" smtClean="0">
                                <a:latin typeface="Cambria Math" panose="02040503050406030204" pitchFamily="18" charset="0"/>
                              </a:rPr>
                            </m:ctrlPr>
                          </m:mPr>
                          <m:mr>
                            <m:e>
                              <m:r>
                                <m:rPr>
                                  <m:brk m:alnAt="7"/>
                                </m:rPr>
                                <a:rPr lang="en-US" sz="3600" b="0" i="1" smtClean="0">
                                  <a:latin typeface="Cambria Math" panose="02040503050406030204" pitchFamily="18" charset="0"/>
                                </a:rPr>
                                <m:t>3</m:t>
                              </m:r>
                            </m:e>
                          </m:mr>
                          <m:mr>
                            <m:e>
                              <m:r>
                                <a:rPr lang="en-US" sz="3600" b="0" i="1" smtClean="0">
                                  <a:latin typeface="Cambria Math" panose="02040503050406030204" pitchFamily="18" charset="0"/>
                                </a:rPr>
                                <m:t>3</m:t>
                              </m:r>
                            </m:e>
                          </m:mr>
                        </m:m>
                      </m:e>
                    </m:d>
                    <m:r>
                      <a:rPr lang="en-US" sz="3600" b="0" i="1" smtClean="0">
                        <a:latin typeface="Cambria Math" panose="02040503050406030204" pitchFamily="18" charset="0"/>
                      </a:rPr>
                      <m:t>=3 </m:t>
                    </m:r>
                    <m:d>
                      <m:dPr>
                        <m:begChr m:val="["/>
                        <m:endChr m:val="]"/>
                        <m:ctrlPr>
                          <a:rPr lang="en-US" sz="3600" b="0" i="1" smtClean="0">
                            <a:latin typeface="Cambria Math" panose="02040503050406030204" pitchFamily="18" charset="0"/>
                          </a:rPr>
                        </m:ctrlPr>
                      </m:dPr>
                      <m:e>
                        <m:m>
                          <m:mPr>
                            <m:mcs>
                              <m:mc>
                                <m:mcPr>
                                  <m:count m:val="1"/>
                                  <m:mcJc m:val="center"/>
                                </m:mcPr>
                              </m:mc>
                            </m:mcs>
                            <m:ctrlPr>
                              <a:rPr lang="en-US" sz="3600" b="0" i="1" smtClean="0">
                                <a:latin typeface="Cambria Math" panose="02040503050406030204" pitchFamily="18" charset="0"/>
                              </a:rPr>
                            </m:ctrlPr>
                          </m:mPr>
                          <m:mr>
                            <m:e>
                              <m:r>
                                <m:rPr>
                                  <m:brk m:alnAt="7"/>
                                </m:rPr>
                                <a:rPr lang="en-US" sz="3600" b="0" i="1" smtClean="0">
                                  <a:latin typeface="Cambria Math" panose="02040503050406030204" pitchFamily="18" charset="0"/>
                                </a:rPr>
                                <m:t>1</m:t>
                              </m:r>
                            </m:e>
                          </m:mr>
                          <m:mr>
                            <m:e>
                              <m:r>
                                <a:rPr lang="en-US" sz="3600" b="0" i="1" smtClean="0">
                                  <a:latin typeface="Cambria Math" panose="02040503050406030204" pitchFamily="18" charset="0"/>
                                </a:rPr>
                                <m:t>1</m:t>
                              </m:r>
                            </m:e>
                          </m:mr>
                        </m:m>
                      </m:e>
                    </m:d>
                  </m:oMath>
                </a14:m>
                <a:r>
                  <a:rPr lang="en-US" sz="3600" dirty="0">
                    <a:latin typeface="Montserrat" pitchFamily="2" charset="77"/>
                  </a:rPr>
                  <a:t> </a:t>
                </a:r>
              </a:p>
            </p:txBody>
          </p:sp>
        </mc:Choice>
        <mc:Fallback>
          <p:sp>
            <p:nvSpPr>
              <p:cNvPr id="7" name="TextBox 6">
                <a:extLst>
                  <a:ext uri="{FF2B5EF4-FFF2-40B4-BE49-F238E27FC236}">
                    <a16:creationId xmlns:a16="http://schemas.microsoft.com/office/drawing/2014/main" id="{52F5AF40-2FE3-3A47-97A1-FBC5951CA3AB}"/>
                  </a:ext>
                </a:extLst>
              </p:cNvPr>
              <p:cNvSpPr txBox="1">
                <a:spLocks noRot="1" noChangeAspect="1" noMove="1" noResize="1" noEditPoints="1" noAdjustHandles="1" noChangeArrowheads="1" noChangeShapeType="1" noTextEdit="1"/>
              </p:cNvSpPr>
              <p:nvPr/>
            </p:nvSpPr>
            <p:spPr>
              <a:xfrm>
                <a:off x="3586819" y="2505221"/>
                <a:ext cx="5018361" cy="923779"/>
              </a:xfrm>
              <a:prstGeom prst="rect">
                <a:avLst/>
              </a:prstGeom>
              <a:blipFill>
                <a:blip r:embed="rId2"/>
                <a:stretch>
                  <a:fillRect t="-1351" b="-14865"/>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9F98D346-2653-FC4A-AD76-D7F0AA91E107}"/>
              </a:ext>
            </a:extLst>
          </p:cNvPr>
          <p:cNvSpPr txBox="1"/>
          <p:nvPr/>
        </p:nvSpPr>
        <p:spPr>
          <a:xfrm>
            <a:off x="3822700" y="3683000"/>
            <a:ext cx="914033" cy="369332"/>
          </a:xfrm>
          <a:prstGeom prst="rect">
            <a:avLst/>
          </a:prstGeom>
          <a:noFill/>
        </p:spPr>
        <p:txBody>
          <a:bodyPr wrap="none" rtlCol="0">
            <a:spAutoFit/>
          </a:bodyPr>
          <a:lstStyle/>
          <a:p>
            <a:r>
              <a:rPr lang="en-US" dirty="0">
                <a:latin typeface="Montserrat" pitchFamily="2" charset="77"/>
              </a:rPr>
              <a:t>Matrix</a:t>
            </a:r>
          </a:p>
        </p:txBody>
      </p:sp>
      <p:sp>
        <p:nvSpPr>
          <p:cNvPr id="9" name="TextBox 8">
            <a:extLst>
              <a:ext uri="{FF2B5EF4-FFF2-40B4-BE49-F238E27FC236}">
                <a16:creationId xmlns:a16="http://schemas.microsoft.com/office/drawing/2014/main" id="{B8ECADB6-2280-034B-9E9C-4BB2F4868BB5}"/>
              </a:ext>
            </a:extLst>
          </p:cNvPr>
          <p:cNvSpPr txBox="1"/>
          <p:nvPr/>
        </p:nvSpPr>
        <p:spPr>
          <a:xfrm>
            <a:off x="4851400" y="3683000"/>
            <a:ext cx="946093" cy="369332"/>
          </a:xfrm>
          <a:prstGeom prst="rect">
            <a:avLst/>
          </a:prstGeom>
          <a:noFill/>
        </p:spPr>
        <p:txBody>
          <a:bodyPr wrap="none" rtlCol="0">
            <a:spAutoFit/>
          </a:bodyPr>
          <a:lstStyle/>
          <a:p>
            <a:r>
              <a:rPr lang="en-US" dirty="0">
                <a:latin typeface="Montserrat" pitchFamily="2" charset="77"/>
              </a:rPr>
              <a:t>Vector</a:t>
            </a:r>
          </a:p>
        </p:txBody>
      </p:sp>
      <p:sp>
        <p:nvSpPr>
          <p:cNvPr id="10" name="TextBox 9">
            <a:extLst>
              <a:ext uri="{FF2B5EF4-FFF2-40B4-BE49-F238E27FC236}">
                <a16:creationId xmlns:a16="http://schemas.microsoft.com/office/drawing/2014/main" id="{163306A8-DB86-6640-96F1-A2748140DEC9}"/>
              </a:ext>
            </a:extLst>
          </p:cNvPr>
          <p:cNvSpPr txBox="1"/>
          <p:nvPr/>
        </p:nvSpPr>
        <p:spPr>
          <a:xfrm>
            <a:off x="7785100" y="3683000"/>
            <a:ext cx="946093" cy="369332"/>
          </a:xfrm>
          <a:prstGeom prst="rect">
            <a:avLst/>
          </a:prstGeom>
          <a:noFill/>
        </p:spPr>
        <p:txBody>
          <a:bodyPr wrap="none" rtlCol="0">
            <a:spAutoFit/>
          </a:bodyPr>
          <a:lstStyle/>
          <a:p>
            <a:r>
              <a:rPr lang="en-US" dirty="0">
                <a:latin typeface="Montserrat" pitchFamily="2" charset="77"/>
              </a:rPr>
              <a:t>Vector</a:t>
            </a:r>
          </a:p>
        </p:txBody>
      </p:sp>
      <p:sp>
        <p:nvSpPr>
          <p:cNvPr id="11" name="Rectangle 10">
            <a:extLst>
              <a:ext uri="{FF2B5EF4-FFF2-40B4-BE49-F238E27FC236}">
                <a16:creationId xmlns:a16="http://schemas.microsoft.com/office/drawing/2014/main" id="{9AA68AC0-803E-9640-AF30-00F8EAF0FB55}"/>
              </a:ext>
            </a:extLst>
          </p:cNvPr>
          <p:cNvSpPr/>
          <p:nvPr/>
        </p:nvSpPr>
        <p:spPr>
          <a:xfrm>
            <a:off x="7436001" y="3643585"/>
            <a:ext cx="335348" cy="461665"/>
          </a:xfrm>
          <a:prstGeom prst="rect">
            <a:avLst/>
          </a:prstGeom>
        </p:spPr>
        <p:txBody>
          <a:bodyPr wrap="none">
            <a:spAutoFit/>
          </a:bodyPr>
          <a:lstStyle/>
          <a:p>
            <a:r>
              <a:rPr lang="en-US" sz="2400" dirty="0" err="1">
                <a:latin typeface="Montserrat" pitchFamily="2" charset="77"/>
              </a:rPr>
              <a:t>ƛ</a:t>
            </a:r>
            <a:endParaRPr lang="en-US" sz="2400" dirty="0"/>
          </a:p>
        </p:txBody>
      </p:sp>
      <p:sp>
        <p:nvSpPr>
          <p:cNvPr id="12" name="Footer Placeholder 11">
            <a:extLst>
              <a:ext uri="{FF2B5EF4-FFF2-40B4-BE49-F238E27FC236}">
                <a16:creationId xmlns:a16="http://schemas.microsoft.com/office/drawing/2014/main" id="{B7694117-59E5-2B41-9268-3364F75192F1}"/>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773285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Selecting the Principal Components</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normAutofit/>
          </a:bodyPr>
          <a:lstStyle/>
          <a:p>
            <a:pPr>
              <a:lnSpc>
                <a:spcPct val="120000"/>
              </a:lnSpc>
            </a:pPr>
            <a:r>
              <a:rPr lang="en-US" dirty="0">
                <a:latin typeface="Montserrat" pitchFamily="2" charset="77"/>
              </a:rPr>
              <a:t>To reduce the dimension of data from n to k, we need to select k direction or Eigenvectors as our principal components. </a:t>
            </a:r>
          </a:p>
          <a:p>
            <a:pPr>
              <a:lnSpc>
                <a:spcPct val="120000"/>
              </a:lnSpc>
            </a:pPr>
            <a:r>
              <a:rPr lang="en-US" dirty="0">
                <a:latin typeface="Montserrat" pitchFamily="2" charset="77"/>
              </a:rPr>
              <a:t>We would make our choice on the basis of the Eigenvalues. </a:t>
            </a:r>
          </a:p>
          <a:p>
            <a:pPr>
              <a:lnSpc>
                <a:spcPct val="120000"/>
              </a:lnSpc>
            </a:pPr>
            <a:endParaRPr lang="en-US" dirty="0">
              <a:latin typeface="Montserrat" pitchFamily="2" charset="77"/>
            </a:endParaRPr>
          </a:p>
        </p:txBody>
      </p:sp>
      <p:sp>
        <p:nvSpPr>
          <p:cNvPr id="4" name="Footer Placeholder 3">
            <a:extLst>
              <a:ext uri="{FF2B5EF4-FFF2-40B4-BE49-F238E27FC236}">
                <a16:creationId xmlns:a16="http://schemas.microsoft.com/office/drawing/2014/main" id="{B4A7A5B5-7EFF-8C4A-9D39-8764739045CD}"/>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42487942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Selecting the Principal Components</a:t>
            </a:r>
          </a:p>
        </p:txBody>
      </p:sp>
      <p:graphicFrame>
        <p:nvGraphicFramePr>
          <p:cNvPr id="7" name="Table 3">
            <a:extLst>
              <a:ext uri="{FF2B5EF4-FFF2-40B4-BE49-F238E27FC236}">
                <a16:creationId xmlns:a16="http://schemas.microsoft.com/office/drawing/2014/main" id="{099EA95F-71D6-E149-892F-DFF49FCE0151}"/>
              </a:ext>
            </a:extLst>
          </p:cNvPr>
          <p:cNvGraphicFramePr>
            <a:graphicFrameLocks noGrp="1"/>
          </p:cNvGraphicFramePr>
          <p:nvPr>
            <p:extLst>
              <p:ext uri="{D42A27DB-BD31-4B8C-83A1-F6EECF244321}">
                <p14:modId xmlns:p14="http://schemas.microsoft.com/office/powerpoint/2010/main" val="1126742983"/>
              </p:ext>
            </p:extLst>
          </p:nvPr>
        </p:nvGraphicFramePr>
        <p:xfrm>
          <a:off x="3843338" y="1948272"/>
          <a:ext cx="2676525" cy="1112520"/>
        </p:xfrm>
        <a:graphic>
          <a:graphicData uri="http://schemas.openxmlformats.org/drawingml/2006/table">
            <a:tbl>
              <a:tblPr bandRow="1">
                <a:tableStyleId>{18603FDC-E32A-4AB5-989C-0864C3EAD2B8}</a:tableStyleId>
              </a:tblPr>
              <a:tblGrid>
                <a:gridCol w="892175">
                  <a:extLst>
                    <a:ext uri="{9D8B030D-6E8A-4147-A177-3AD203B41FA5}">
                      <a16:colId xmlns:a16="http://schemas.microsoft.com/office/drawing/2014/main" val="1716690295"/>
                    </a:ext>
                  </a:extLst>
                </a:gridCol>
                <a:gridCol w="892175">
                  <a:extLst>
                    <a:ext uri="{9D8B030D-6E8A-4147-A177-3AD203B41FA5}">
                      <a16:colId xmlns:a16="http://schemas.microsoft.com/office/drawing/2014/main" val="3059736367"/>
                    </a:ext>
                  </a:extLst>
                </a:gridCol>
                <a:gridCol w="892175">
                  <a:extLst>
                    <a:ext uri="{9D8B030D-6E8A-4147-A177-3AD203B41FA5}">
                      <a16:colId xmlns:a16="http://schemas.microsoft.com/office/drawing/2014/main" val="3185954920"/>
                    </a:ext>
                  </a:extLst>
                </a:gridCol>
              </a:tblGrid>
              <a:tr h="370840">
                <a:tc>
                  <a:txBody>
                    <a:bodyPr/>
                    <a:lstStyle/>
                    <a:p>
                      <a:pPr algn="ctr"/>
                      <a:r>
                        <a:rPr lang="en-US" dirty="0">
                          <a:latin typeface="Montserrat" pitchFamily="2" charset="77"/>
                        </a:rPr>
                        <a:t>5</a:t>
                      </a:r>
                    </a:p>
                  </a:txBody>
                  <a:tcPr/>
                </a:tc>
                <a:tc>
                  <a:txBody>
                    <a:bodyPr/>
                    <a:lstStyle/>
                    <a:p>
                      <a:pPr algn="ctr"/>
                      <a:r>
                        <a:rPr lang="en-US" dirty="0">
                          <a:latin typeface="Montserrat" pitchFamily="2" charset="77"/>
                        </a:rPr>
                        <a:t>-1</a:t>
                      </a:r>
                      <a:endParaRPr lang="en-US" baseline="-25000" dirty="0">
                        <a:latin typeface="Montserrat" pitchFamily="2" charset="77"/>
                      </a:endParaRPr>
                    </a:p>
                  </a:txBody>
                  <a:tcPr/>
                </a:tc>
                <a:tc>
                  <a:txBody>
                    <a:bodyPr/>
                    <a:lstStyle/>
                    <a:p>
                      <a:pPr algn="ctr"/>
                      <a:r>
                        <a:rPr lang="en-US" dirty="0">
                          <a:latin typeface="Montserrat" pitchFamily="2" charset="77"/>
                        </a:rPr>
                        <a:t>0</a:t>
                      </a:r>
                      <a:endParaRPr lang="en-US" baseline="-25000" dirty="0">
                        <a:latin typeface="Montserrat" pitchFamily="2" charset="77"/>
                      </a:endParaRP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-1</a:t>
                      </a:r>
                    </a:p>
                  </a:txBody>
                  <a:tcPr/>
                </a:tc>
                <a:tc>
                  <a:txBody>
                    <a:bodyPr/>
                    <a:lstStyle/>
                    <a:p>
                      <a:pPr algn="ctr"/>
                      <a:r>
                        <a:rPr lang="en-US" dirty="0">
                          <a:latin typeface="Montserrat" pitchFamily="2" charset="77"/>
                        </a:rPr>
                        <a:t>8</a:t>
                      </a:r>
                      <a:endParaRPr lang="en-US" baseline="-25000" dirty="0">
                        <a:latin typeface="Montserrat" pitchFamily="2" charset="77"/>
                      </a:endParaRPr>
                    </a:p>
                  </a:txBody>
                  <a:tcPr/>
                </a:tc>
                <a:tc>
                  <a:txBody>
                    <a:bodyPr/>
                    <a:lstStyle/>
                    <a:p>
                      <a:pPr algn="ctr"/>
                      <a:r>
                        <a:rPr lang="en-US" dirty="0">
                          <a:latin typeface="Montserrat" pitchFamily="2" charset="77"/>
                        </a:rPr>
                        <a:t>3</a:t>
                      </a:r>
                      <a:endParaRPr lang="en-US" baseline="-25000" dirty="0">
                        <a:latin typeface="Montserrat" pitchFamily="2" charset="77"/>
                      </a:endParaRPr>
                    </a:p>
                  </a:txBody>
                  <a:tcPr/>
                </a:tc>
                <a:extLst>
                  <a:ext uri="{0D108BD9-81ED-4DB2-BD59-A6C34878D82A}">
                    <a16:rowId xmlns:a16="http://schemas.microsoft.com/office/drawing/2014/main" val="1847881961"/>
                  </a:ext>
                </a:extLst>
              </a:tr>
              <a:tr h="370840">
                <a:tc>
                  <a:txBody>
                    <a:bodyPr/>
                    <a:lstStyle/>
                    <a:p>
                      <a:pPr algn="ctr"/>
                      <a:r>
                        <a:rPr lang="en-US" dirty="0">
                          <a:latin typeface="Montserrat" pitchFamily="2" charset="77"/>
                        </a:rPr>
                        <a:t>0</a:t>
                      </a:r>
                    </a:p>
                  </a:txBody>
                  <a:tcPr/>
                </a:tc>
                <a:tc>
                  <a:txBody>
                    <a:bodyPr/>
                    <a:lstStyle/>
                    <a:p>
                      <a:pPr algn="ctr"/>
                      <a:r>
                        <a:rPr lang="en-US" dirty="0">
                          <a:latin typeface="Montserrat" pitchFamily="2" charset="77"/>
                        </a:rPr>
                        <a:t>3</a:t>
                      </a:r>
                      <a:endParaRPr lang="en-US" baseline="-25000" dirty="0">
                        <a:latin typeface="Montserrat" pitchFamily="2" charset="77"/>
                      </a:endParaRPr>
                    </a:p>
                  </a:txBody>
                  <a:tcPr/>
                </a:tc>
                <a:tc>
                  <a:txBody>
                    <a:bodyPr/>
                    <a:lstStyle/>
                    <a:p>
                      <a:pPr algn="ctr"/>
                      <a:r>
                        <a:rPr lang="en-US" dirty="0">
                          <a:latin typeface="Montserrat" pitchFamily="2" charset="77"/>
                        </a:rPr>
                        <a:t>1</a:t>
                      </a:r>
                      <a:endParaRPr lang="en-US" baseline="-25000" dirty="0">
                        <a:latin typeface="Montserrat" pitchFamily="2" charset="77"/>
                      </a:endParaRPr>
                    </a:p>
                  </a:txBody>
                  <a:tcPr/>
                </a:tc>
                <a:extLst>
                  <a:ext uri="{0D108BD9-81ED-4DB2-BD59-A6C34878D82A}">
                    <a16:rowId xmlns:a16="http://schemas.microsoft.com/office/drawing/2014/main" val="3901881411"/>
                  </a:ext>
                </a:extLst>
              </a:tr>
            </a:tbl>
          </a:graphicData>
        </a:graphic>
      </p:graphicFrame>
      <p:sp>
        <p:nvSpPr>
          <p:cNvPr id="8" name="TextBox 7">
            <a:extLst>
              <a:ext uri="{FF2B5EF4-FFF2-40B4-BE49-F238E27FC236}">
                <a16:creationId xmlns:a16="http://schemas.microsoft.com/office/drawing/2014/main" id="{4BF06F52-5E67-C94C-82F0-81D69230DD96}"/>
              </a:ext>
            </a:extLst>
          </p:cNvPr>
          <p:cNvSpPr txBox="1"/>
          <p:nvPr/>
        </p:nvSpPr>
        <p:spPr>
          <a:xfrm>
            <a:off x="2628900" y="2319866"/>
            <a:ext cx="962123" cy="369332"/>
          </a:xfrm>
          <a:prstGeom prst="rect">
            <a:avLst/>
          </a:prstGeom>
          <a:noFill/>
        </p:spPr>
        <p:txBody>
          <a:bodyPr wrap="none" rtlCol="0">
            <a:spAutoFit/>
          </a:bodyPr>
          <a:lstStyle/>
          <a:p>
            <a:r>
              <a:rPr lang="en-US" dirty="0">
                <a:latin typeface="Montserrat" pitchFamily="2" charset="77"/>
              </a:rPr>
              <a:t>COV = </a:t>
            </a:r>
          </a:p>
        </p:txBody>
      </p:sp>
      <p:sp>
        <p:nvSpPr>
          <p:cNvPr id="9" name="TextBox 8">
            <a:extLst>
              <a:ext uri="{FF2B5EF4-FFF2-40B4-BE49-F238E27FC236}">
                <a16:creationId xmlns:a16="http://schemas.microsoft.com/office/drawing/2014/main" id="{498D76AB-6AE4-E440-9A82-66310E379422}"/>
              </a:ext>
            </a:extLst>
          </p:cNvPr>
          <p:cNvSpPr txBox="1"/>
          <p:nvPr/>
        </p:nvSpPr>
        <p:spPr>
          <a:xfrm>
            <a:off x="7569200" y="1904367"/>
            <a:ext cx="1484702" cy="1200329"/>
          </a:xfrm>
          <a:prstGeom prst="rect">
            <a:avLst/>
          </a:prstGeom>
          <a:noFill/>
        </p:spPr>
        <p:txBody>
          <a:bodyPr wrap="none" rtlCol="0">
            <a:spAutoFit/>
          </a:bodyPr>
          <a:lstStyle/>
          <a:p>
            <a:r>
              <a:rPr lang="en-US" sz="2400" dirty="0">
                <a:latin typeface="Montserrat" pitchFamily="2" charset="77"/>
              </a:rPr>
              <a:t>ƛ</a:t>
            </a:r>
            <a:r>
              <a:rPr lang="en-US" sz="2400" baseline="-25000" dirty="0">
                <a:latin typeface="Montserrat" pitchFamily="2" charset="77"/>
              </a:rPr>
              <a:t>1</a:t>
            </a:r>
            <a:r>
              <a:rPr lang="en-US" sz="2400" dirty="0">
                <a:latin typeface="Montserrat" pitchFamily="2" charset="77"/>
              </a:rPr>
              <a:t>  = 4.82</a:t>
            </a:r>
          </a:p>
          <a:p>
            <a:r>
              <a:rPr lang="en-US" sz="2400" dirty="0">
                <a:latin typeface="Montserrat" pitchFamily="2" charset="77"/>
              </a:rPr>
              <a:t>ƛ</a:t>
            </a:r>
            <a:r>
              <a:rPr lang="en-US" sz="2400" baseline="-25000" dirty="0">
                <a:latin typeface="Montserrat" pitchFamily="2" charset="77"/>
              </a:rPr>
              <a:t>2</a:t>
            </a:r>
            <a:r>
              <a:rPr lang="en-US" sz="2400" dirty="0">
                <a:latin typeface="Montserrat" pitchFamily="2" charset="77"/>
              </a:rPr>
              <a:t> = -0.13</a:t>
            </a:r>
          </a:p>
          <a:p>
            <a:r>
              <a:rPr lang="en-US" sz="2400" dirty="0">
                <a:latin typeface="Montserrat" pitchFamily="2" charset="77"/>
              </a:rPr>
              <a:t>ƛ</a:t>
            </a:r>
            <a:r>
              <a:rPr lang="en-US" sz="2400" baseline="-25000" dirty="0">
                <a:latin typeface="Montserrat" pitchFamily="2" charset="77"/>
              </a:rPr>
              <a:t>3</a:t>
            </a:r>
            <a:r>
              <a:rPr lang="en-US" sz="2400" dirty="0">
                <a:latin typeface="Montserrat" pitchFamily="2" charset="77"/>
              </a:rPr>
              <a:t> =   9.31</a:t>
            </a:r>
          </a:p>
        </p:txBody>
      </p:sp>
      <p:graphicFrame>
        <p:nvGraphicFramePr>
          <p:cNvPr id="10" name="Table 3">
            <a:extLst>
              <a:ext uri="{FF2B5EF4-FFF2-40B4-BE49-F238E27FC236}">
                <a16:creationId xmlns:a16="http://schemas.microsoft.com/office/drawing/2014/main" id="{DACF6BCC-A27E-AF4F-BB7A-148F7B2882C2}"/>
              </a:ext>
            </a:extLst>
          </p:cNvPr>
          <p:cNvGraphicFramePr>
            <a:graphicFrameLocks noGrp="1"/>
          </p:cNvGraphicFramePr>
          <p:nvPr>
            <p:extLst>
              <p:ext uri="{D42A27DB-BD31-4B8C-83A1-F6EECF244321}">
                <p14:modId xmlns:p14="http://schemas.microsoft.com/office/powerpoint/2010/main" val="3005526764"/>
              </p:ext>
            </p:extLst>
          </p:nvPr>
        </p:nvGraphicFramePr>
        <p:xfrm>
          <a:off x="3844924" y="3726272"/>
          <a:ext cx="1258886" cy="1112520"/>
        </p:xfrm>
        <a:graphic>
          <a:graphicData uri="http://schemas.openxmlformats.org/drawingml/2006/table">
            <a:tbl>
              <a:tblPr bandRow="1">
                <a:tableStyleId>{18603FDC-E32A-4AB5-989C-0864C3EAD2B8}</a:tableStyleId>
              </a:tblPr>
              <a:tblGrid>
                <a:gridCol w="1258886">
                  <a:extLst>
                    <a:ext uri="{9D8B030D-6E8A-4147-A177-3AD203B41FA5}">
                      <a16:colId xmlns:a16="http://schemas.microsoft.com/office/drawing/2014/main" val="1716690295"/>
                    </a:ext>
                  </a:extLst>
                </a:gridCol>
              </a:tblGrid>
              <a:tr h="370840">
                <a:tc>
                  <a:txBody>
                    <a:bodyPr/>
                    <a:lstStyle/>
                    <a:p>
                      <a:pPr algn="ctr"/>
                      <a:r>
                        <a:rPr lang="en-US" dirty="0">
                          <a:latin typeface="Montserrat" pitchFamily="2" charset="77"/>
                        </a:rPr>
                        <a:t>-0.919</a:t>
                      </a: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0.176</a:t>
                      </a:r>
                    </a:p>
                  </a:txBody>
                  <a:tcPr/>
                </a:tc>
                <a:extLst>
                  <a:ext uri="{0D108BD9-81ED-4DB2-BD59-A6C34878D82A}">
                    <a16:rowId xmlns:a16="http://schemas.microsoft.com/office/drawing/2014/main" val="1847881961"/>
                  </a:ext>
                </a:extLst>
              </a:tr>
              <a:tr h="370840">
                <a:tc>
                  <a:txBody>
                    <a:bodyPr/>
                    <a:lstStyle/>
                    <a:p>
                      <a:pPr algn="ctr"/>
                      <a:r>
                        <a:rPr lang="en-US" dirty="0">
                          <a:latin typeface="Montserrat" pitchFamily="2" charset="77"/>
                        </a:rPr>
                        <a:t>-0.353</a:t>
                      </a:r>
                    </a:p>
                  </a:txBody>
                  <a:tcPr/>
                </a:tc>
                <a:extLst>
                  <a:ext uri="{0D108BD9-81ED-4DB2-BD59-A6C34878D82A}">
                    <a16:rowId xmlns:a16="http://schemas.microsoft.com/office/drawing/2014/main" val="3901881411"/>
                  </a:ext>
                </a:extLst>
              </a:tr>
            </a:tbl>
          </a:graphicData>
        </a:graphic>
      </p:graphicFrame>
      <p:graphicFrame>
        <p:nvGraphicFramePr>
          <p:cNvPr id="11" name="Table 3">
            <a:extLst>
              <a:ext uri="{FF2B5EF4-FFF2-40B4-BE49-F238E27FC236}">
                <a16:creationId xmlns:a16="http://schemas.microsoft.com/office/drawing/2014/main" id="{ADB7A1C2-0AC1-F543-9B8E-5A7056BBF96D}"/>
              </a:ext>
            </a:extLst>
          </p:cNvPr>
          <p:cNvGraphicFramePr>
            <a:graphicFrameLocks noGrp="1"/>
          </p:cNvGraphicFramePr>
          <p:nvPr>
            <p:extLst>
              <p:ext uri="{D42A27DB-BD31-4B8C-83A1-F6EECF244321}">
                <p14:modId xmlns:p14="http://schemas.microsoft.com/office/powerpoint/2010/main" val="363370113"/>
              </p:ext>
            </p:extLst>
          </p:nvPr>
        </p:nvGraphicFramePr>
        <p:xfrm>
          <a:off x="5707062" y="3726272"/>
          <a:ext cx="1258886" cy="1112520"/>
        </p:xfrm>
        <a:graphic>
          <a:graphicData uri="http://schemas.openxmlformats.org/drawingml/2006/table">
            <a:tbl>
              <a:tblPr bandRow="1">
                <a:tableStyleId>{18603FDC-E32A-4AB5-989C-0864C3EAD2B8}</a:tableStyleId>
              </a:tblPr>
              <a:tblGrid>
                <a:gridCol w="1258886">
                  <a:extLst>
                    <a:ext uri="{9D8B030D-6E8A-4147-A177-3AD203B41FA5}">
                      <a16:colId xmlns:a16="http://schemas.microsoft.com/office/drawing/2014/main" val="1716690295"/>
                    </a:ext>
                  </a:extLst>
                </a:gridCol>
              </a:tblGrid>
              <a:tr h="370840">
                <a:tc>
                  <a:txBody>
                    <a:bodyPr/>
                    <a:lstStyle/>
                    <a:p>
                      <a:pPr algn="ctr"/>
                      <a:r>
                        <a:rPr lang="en-US" dirty="0">
                          <a:latin typeface="Montserrat" pitchFamily="2" charset="77"/>
                        </a:rPr>
                        <a:t>-0.332</a:t>
                      </a: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0.138</a:t>
                      </a:r>
                    </a:p>
                  </a:txBody>
                  <a:tcPr/>
                </a:tc>
                <a:extLst>
                  <a:ext uri="{0D108BD9-81ED-4DB2-BD59-A6C34878D82A}">
                    <a16:rowId xmlns:a16="http://schemas.microsoft.com/office/drawing/2014/main" val="1847881961"/>
                  </a:ext>
                </a:extLst>
              </a:tr>
              <a:tr h="370840">
                <a:tc>
                  <a:txBody>
                    <a:bodyPr/>
                    <a:lstStyle/>
                    <a:p>
                      <a:pPr algn="ctr"/>
                      <a:r>
                        <a:rPr lang="en-US" dirty="0">
                          <a:latin typeface="Montserrat" pitchFamily="2" charset="77"/>
                        </a:rPr>
                        <a:t>0.933</a:t>
                      </a:r>
                    </a:p>
                  </a:txBody>
                  <a:tcPr/>
                </a:tc>
                <a:extLst>
                  <a:ext uri="{0D108BD9-81ED-4DB2-BD59-A6C34878D82A}">
                    <a16:rowId xmlns:a16="http://schemas.microsoft.com/office/drawing/2014/main" val="3901881411"/>
                  </a:ext>
                </a:extLst>
              </a:tr>
            </a:tbl>
          </a:graphicData>
        </a:graphic>
      </p:graphicFrame>
      <p:graphicFrame>
        <p:nvGraphicFramePr>
          <p:cNvPr id="12" name="Table 3">
            <a:extLst>
              <a:ext uri="{FF2B5EF4-FFF2-40B4-BE49-F238E27FC236}">
                <a16:creationId xmlns:a16="http://schemas.microsoft.com/office/drawing/2014/main" id="{60512513-7289-594B-885A-DE00FCB7D68B}"/>
              </a:ext>
            </a:extLst>
          </p:cNvPr>
          <p:cNvGraphicFramePr>
            <a:graphicFrameLocks noGrp="1"/>
          </p:cNvGraphicFramePr>
          <p:nvPr>
            <p:extLst>
              <p:ext uri="{D42A27DB-BD31-4B8C-83A1-F6EECF244321}">
                <p14:modId xmlns:p14="http://schemas.microsoft.com/office/powerpoint/2010/main" val="1706037421"/>
              </p:ext>
            </p:extLst>
          </p:nvPr>
        </p:nvGraphicFramePr>
        <p:xfrm>
          <a:off x="7569200" y="3726272"/>
          <a:ext cx="1258886" cy="1112520"/>
        </p:xfrm>
        <a:graphic>
          <a:graphicData uri="http://schemas.openxmlformats.org/drawingml/2006/table">
            <a:tbl>
              <a:tblPr bandRow="1">
                <a:tableStyleId>{18603FDC-E32A-4AB5-989C-0864C3EAD2B8}</a:tableStyleId>
              </a:tblPr>
              <a:tblGrid>
                <a:gridCol w="1258886">
                  <a:extLst>
                    <a:ext uri="{9D8B030D-6E8A-4147-A177-3AD203B41FA5}">
                      <a16:colId xmlns:a16="http://schemas.microsoft.com/office/drawing/2014/main" val="1716690295"/>
                    </a:ext>
                  </a:extLst>
                </a:gridCol>
              </a:tblGrid>
              <a:tr h="370840">
                <a:tc>
                  <a:txBody>
                    <a:bodyPr/>
                    <a:lstStyle/>
                    <a:p>
                      <a:pPr algn="ctr"/>
                      <a:r>
                        <a:rPr lang="en-US" dirty="0">
                          <a:latin typeface="Montserrat" pitchFamily="2" charset="77"/>
                        </a:rPr>
                        <a:t>0.213</a:t>
                      </a:r>
                    </a:p>
                  </a:txBody>
                  <a:tcPr/>
                </a:tc>
                <a:extLst>
                  <a:ext uri="{0D108BD9-81ED-4DB2-BD59-A6C34878D82A}">
                    <a16:rowId xmlns:a16="http://schemas.microsoft.com/office/drawing/2014/main" val="3069193731"/>
                  </a:ext>
                </a:extLst>
              </a:tr>
              <a:tr h="370840">
                <a:tc>
                  <a:txBody>
                    <a:bodyPr/>
                    <a:lstStyle/>
                    <a:p>
                      <a:pPr algn="ctr"/>
                      <a:r>
                        <a:rPr lang="en-US" dirty="0">
                          <a:latin typeface="Montserrat" pitchFamily="2" charset="77"/>
                        </a:rPr>
                        <a:t>0.974</a:t>
                      </a:r>
                    </a:p>
                  </a:txBody>
                  <a:tcPr/>
                </a:tc>
                <a:extLst>
                  <a:ext uri="{0D108BD9-81ED-4DB2-BD59-A6C34878D82A}">
                    <a16:rowId xmlns:a16="http://schemas.microsoft.com/office/drawing/2014/main" val="1847881961"/>
                  </a:ext>
                </a:extLst>
              </a:tr>
              <a:tr h="370840">
                <a:tc>
                  <a:txBody>
                    <a:bodyPr/>
                    <a:lstStyle/>
                    <a:p>
                      <a:pPr algn="ctr"/>
                      <a:r>
                        <a:rPr lang="en-US" dirty="0">
                          <a:latin typeface="Montserrat" pitchFamily="2" charset="77"/>
                        </a:rPr>
                        <a:t>-0.069</a:t>
                      </a:r>
                    </a:p>
                  </a:txBody>
                  <a:tcPr/>
                </a:tc>
                <a:extLst>
                  <a:ext uri="{0D108BD9-81ED-4DB2-BD59-A6C34878D82A}">
                    <a16:rowId xmlns:a16="http://schemas.microsoft.com/office/drawing/2014/main" val="3901881411"/>
                  </a:ext>
                </a:extLst>
              </a:tr>
            </a:tbl>
          </a:graphicData>
        </a:graphic>
      </p:graphicFrame>
      <p:sp>
        <p:nvSpPr>
          <p:cNvPr id="13" name="TextBox 12">
            <a:extLst>
              <a:ext uri="{FF2B5EF4-FFF2-40B4-BE49-F238E27FC236}">
                <a16:creationId xmlns:a16="http://schemas.microsoft.com/office/drawing/2014/main" id="{AFD185B5-58C7-CE4D-B13B-088D42120ADA}"/>
              </a:ext>
            </a:extLst>
          </p:cNvPr>
          <p:cNvSpPr txBox="1"/>
          <p:nvPr/>
        </p:nvSpPr>
        <p:spPr>
          <a:xfrm>
            <a:off x="4292600" y="5118100"/>
            <a:ext cx="473206" cy="461665"/>
          </a:xfrm>
          <a:prstGeom prst="rect">
            <a:avLst/>
          </a:prstGeom>
          <a:noFill/>
        </p:spPr>
        <p:txBody>
          <a:bodyPr wrap="none" rtlCol="0">
            <a:spAutoFit/>
          </a:bodyPr>
          <a:lstStyle/>
          <a:p>
            <a:r>
              <a:rPr lang="en-US" sz="2400" dirty="0">
                <a:latin typeface="Montserrat" pitchFamily="2" charset="77"/>
              </a:rPr>
              <a:t>V</a:t>
            </a:r>
            <a:r>
              <a:rPr lang="en-US" sz="2400" baseline="-25000" dirty="0">
                <a:latin typeface="Montserrat" pitchFamily="2" charset="77"/>
              </a:rPr>
              <a:t>1</a:t>
            </a:r>
          </a:p>
        </p:txBody>
      </p:sp>
      <p:sp>
        <p:nvSpPr>
          <p:cNvPr id="14" name="TextBox 13">
            <a:extLst>
              <a:ext uri="{FF2B5EF4-FFF2-40B4-BE49-F238E27FC236}">
                <a16:creationId xmlns:a16="http://schemas.microsoft.com/office/drawing/2014/main" id="{5089E734-EF8A-6444-8717-85473410441C}"/>
              </a:ext>
            </a:extLst>
          </p:cNvPr>
          <p:cNvSpPr txBox="1"/>
          <p:nvPr/>
        </p:nvSpPr>
        <p:spPr>
          <a:xfrm>
            <a:off x="6099902" y="5118100"/>
            <a:ext cx="516488" cy="461665"/>
          </a:xfrm>
          <a:prstGeom prst="rect">
            <a:avLst/>
          </a:prstGeom>
          <a:noFill/>
        </p:spPr>
        <p:txBody>
          <a:bodyPr wrap="none" rtlCol="0">
            <a:spAutoFit/>
          </a:bodyPr>
          <a:lstStyle/>
          <a:p>
            <a:r>
              <a:rPr lang="en-US" sz="2400" dirty="0">
                <a:latin typeface="Montserrat" pitchFamily="2" charset="77"/>
              </a:rPr>
              <a:t>V</a:t>
            </a:r>
            <a:r>
              <a:rPr lang="en-US" sz="2400" baseline="-25000" dirty="0">
                <a:latin typeface="Montserrat" pitchFamily="2" charset="77"/>
              </a:rPr>
              <a:t>2</a:t>
            </a:r>
          </a:p>
        </p:txBody>
      </p:sp>
      <p:sp>
        <p:nvSpPr>
          <p:cNvPr id="15" name="TextBox 14">
            <a:extLst>
              <a:ext uri="{FF2B5EF4-FFF2-40B4-BE49-F238E27FC236}">
                <a16:creationId xmlns:a16="http://schemas.microsoft.com/office/drawing/2014/main" id="{F1262BC1-581F-B248-B61A-985414403F4C}"/>
              </a:ext>
            </a:extLst>
          </p:cNvPr>
          <p:cNvSpPr txBox="1"/>
          <p:nvPr/>
        </p:nvSpPr>
        <p:spPr>
          <a:xfrm>
            <a:off x="7937476" y="5118100"/>
            <a:ext cx="514885" cy="461665"/>
          </a:xfrm>
          <a:prstGeom prst="rect">
            <a:avLst/>
          </a:prstGeom>
          <a:noFill/>
        </p:spPr>
        <p:txBody>
          <a:bodyPr wrap="none" rtlCol="0">
            <a:spAutoFit/>
          </a:bodyPr>
          <a:lstStyle/>
          <a:p>
            <a:r>
              <a:rPr lang="en-US" sz="2400" dirty="0">
                <a:latin typeface="Montserrat" pitchFamily="2" charset="77"/>
              </a:rPr>
              <a:t>V</a:t>
            </a:r>
            <a:r>
              <a:rPr lang="en-US" sz="2400" baseline="-25000" dirty="0">
                <a:latin typeface="Montserrat" pitchFamily="2" charset="77"/>
              </a:rPr>
              <a:t>3</a:t>
            </a:r>
          </a:p>
        </p:txBody>
      </p:sp>
      <p:sp>
        <p:nvSpPr>
          <p:cNvPr id="16" name="Footer Placeholder 15">
            <a:extLst>
              <a:ext uri="{FF2B5EF4-FFF2-40B4-BE49-F238E27FC236}">
                <a16:creationId xmlns:a16="http://schemas.microsoft.com/office/drawing/2014/main" id="{22F8E3A6-9D0F-7C45-B058-E41A9BC77046}"/>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7141923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Selecting the Principal Components</a:t>
            </a:r>
          </a:p>
        </p:txBody>
      </p:sp>
      <p:sp>
        <p:nvSpPr>
          <p:cNvPr id="3" name="Content Placeholder 2">
            <a:extLst>
              <a:ext uri="{FF2B5EF4-FFF2-40B4-BE49-F238E27FC236}">
                <a16:creationId xmlns:a16="http://schemas.microsoft.com/office/drawing/2014/main" id="{9DA62BF3-39AE-D642-8AC6-5A486507B7B4}"/>
              </a:ext>
            </a:extLst>
          </p:cNvPr>
          <p:cNvSpPr>
            <a:spLocks noGrp="1"/>
          </p:cNvSpPr>
          <p:nvPr>
            <p:ph idx="1"/>
          </p:nvPr>
        </p:nvSpPr>
        <p:spPr/>
        <p:txBody>
          <a:bodyPr>
            <a:normAutofit fontScale="85000" lnSpcReduction="10000"/>
          </a:bodyPr>
          <a:lstStyle/>
          <a:p>
            <a:pPr marL="514350" indent="-514350">
              <a:lnSpc>
                <a:spcPct val="120000"/>
              </a:lnSpc>
              <a:buFont typeface="+mj-lt"/>
              <a:buAutoNum type="arabicPeriod"/>
            </a:pPr>
            <a:r>
              <a:rPr lang="en-US" dirty="0">
                <a:latin typeface="Montserrat" pitchFamily="2" charset="77"/>
              </a:rPr>
              <a:t>Arrange the Eigenvalues by their magnitude. The magnitudes of the Eigenvalues indicates the amount of variance explained by the Eigenvectors. </a:t>
            </a:r>
          </a:p>
          <a:p>
            <a:pPr marL="514350" indent="-514350">
              <a:lnSpc>
                <a:spcPct val="120000"/>
              </a:lnSpc>
              <a:buFont typeface="+mj-lt"/>
              <a:buAutoNum type="arabicPeriod"/>
            </a:pPr>
            <a:r>
              <a:rPr lang="en-US" dirty="0">
                <a:latin typeface="Montserrat" pitchFamily="2" charset="77"/>
              </a:rPr>
              <a:t>Calculate the percentage of variance explained by each Eigenvalues to find how much variance is explained by each Eigenvector. (Divide each magnitude by sum of all the magnitudes).The resulting number is equal to percentage of the total variance explained by each Eigenvector. </a:t>
            </a:r>
          </a:p>
          <a:p>
            <a:pPr marL="514350" indent="-514350">
              <a:lnSpc>
                <a:spcPct val="120000"/>
              </a:lnSpc>
              <a:buFont typeface="+mj-lt"/>
              <a:buAutoNum type="arabicPeriod"/>
            </a:pPr>
            <a:r>
              <a:rPr lang="en-US" dirty="0">
                <a:latin typeface="Montserrat" pitchFamily="2" charset="77"/>
              </a:rPr>
              <a:t>Finally choose the top k Eigenvectors as principal components</a:t>
            </a:r>
          </a:p>
        </p:txBody>
      </p:sp>
      <p:sp>
        <p:nvSpPr>
          <p:cNvPr id="4" name="Footer Placeholder 3">
            <a:extLst>
              <a:ext uri="{FF2B5EF4-FFF2-40B4-BE49-F238E27FC236}">
                <a16:creationId xmlns:a16="http://schemas.microsoft.com/office/drawing/2014/main" id="{7DDA7D3F-2AED-604E-AFC1-3DBE9ABFC4D0}"/>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9070315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Selecting the Principal Components</a:t>
            </a:r>
          </a:p>
        </p:txBody>
      </p:sp>
      <p:sp>
        <p:nvSpPr>
          <p:cNvPr id="6" name="TextBox 5">
            <a:extLst>
              <a:ext uri="{FF2B5EF4-FFF2-40B4-BE49-F238E27FC236}">
                <a16:creationId xmlns:a16="http://schemas.microsoft.com/office/drawing/2014/main" id="{7C19AAB4-8A72-5A4A-B469-231772D10276}"/>
              </a:ext>
            </a:extLst>
          </p:cNvPr>
          <p:cNvSpPr txBox="1"/>
          <p:nvPr/>
        </p:nvSpPr>
        <p:spPr>
          <a:xfrm>
            <a:off x="838200" y="1796871"/>
            <a:ext cx="6910866" cy="2308324"/>
          </a:xfrm>
          <a:prstGeom prst="rect">
            <a:avLst/>
          </a:prstGeom>
          <a:noFill/>
        </p:spPr>
        <p:txBody>
          <a:bodyPr wrap="none" rtlCol="0">
            <a:spAutoFit/>
          </a:bodyPr>
          <a:lstStyle/>
          <a:p>
            <a:pPr marL="342900" indent="-342900">
              <a:buFont typeface="Arial" panose="020B0604020202020204" pitchFamily="34" charset="0"/>
              <a:buChar char="•"/>
            </a:pPr>
            <a:r>
              <a:rPr lang="en-US" sz="2400" dirty="0">
                <a:latin typeface="Montserrat" pitchFamily="2" charset="77"/>
              </a:rPr>
              <a:t>|ƛ</a:t>
            </a:r>
            <a:r>
              <a:rPr lang="en-US" sz="2400" baseline="-25000" dirty="0">
                <a:latin typeface="Montserrat" pitchFamily="2" charset="77"/>
              </a:rPr>
              <a:t>3</a:t>
            </a:r>
            <a:r>
              <a:rPr lang="en-US" sz="2400" dirty="0">
                <a:latin typeface="Montserrat" pitchFamily="2" charset="77"/>
              </a:rPr>
              <a:t>| =   9.31 &gt; |ƛ</a:t>
            </a:r>
            <a:r>
              <a:rPr lang="en-US" sz="2400" baseline="-25000" dirty="0">
                <a:latin typeface="Montserrat" pitchFamily="2" charset="77"/>
              </a:rPr>
              <a:t>1</a:t>
            </a:r>
            <a:r>
              <a:rPr lang="en-US" sz="2400" dirty="0">
                <a:latin typeface="Montserrat" pitchFamily="2" charset="77"/>
              </a:rPr>
              <a:t>|  = 4.82 &gt; |ƛ</a:t>
            </a:r>
            <a:r>
              <a:rPr lang="en-US" sz="2400" baseline="-25000" dirty="0">
                <a:latin typeface="Montserrat" pitchFamily="2" charset="77"/>
              </a:rPr>
              <a:t>2</a:t>
            </a:r>
            <a:r>
              <a:rPr lang="en-US" sz="2400" dirty="0">
                <a:latin typeface="Montserrat" pitchFamily="2" charset="77"/>
              </a:rPr>
              <a:t>| = 0.13</a:t>
            </a:r>
          </a:p>
          <a:p>
            <a:pPr marL="342900" indent="-342900">
              <a:buFont typeface="Arial" panose="020B0604020202020204" pitchFamily="34" charset="0"/>
              <a:buChar char="•"/>
            </a:pPr>
            <a:r>
              <a:rPr lang="en-US" sz="2400" dirty="0">
                <a:latin typeface="Montserrat" pitchFamily="2" charset="77"/>
              </a:rPr>
              <a:t>|ƛ</a:t>
            </a:r>
            <a:r>
              <a:rPr lang="en-US" sz="2400" baseline="-25000" dirty="0">
                <a:latin typeface="Montserrat" pitchFamily="2" charset="77"/>
              </a:rPr>
              <a:t>3</a:t>
            </a:r>
            <a:r>
              <a:rPr lang="en-US" sz="2400" dirty="0">
                <a:latin typeface="Montserrat" pitchFamily="2" charset="77"/>
              </a:rPr>
              <a:t>| + |ƛ</a:t>
            </a:r>
            <a:r>
              <a:rPr lang="en-US" sz="2400" baseline="-25000" dirty="0">
                <a:latin typeface="Montserrat" pitchFamily="2" charset="77"/>
              </a:rPr>
              <a:t>1</a:t>
            </a:r>
            <a:r>
              <a:rPr lang="en-US" sz="2400" dirty="0">
                <a:latin typeface="Montserrat" pitchFamily="2" charset="77"/>
              </a:rPr>
              <a:t>|  + |ƛ</a:t>
            </a:r>
            <a:r>
              <a:rPr lang="en-US" sz="2400" baseline="-25000" dirty="0">
                <a:latin typeface="Montserrat" pitchFamily="2" charset="77"/>
              </a:rPr>
              <a:t>2</a:t>
            </a:r>
            <a:r>
              <a:rPr lang="en-US" sz="2400" dirty="0">
                <a:latin typeface="Montserrat" pitchFamily="2" charset="77"/>
              </a:rPr>
              <a:t>| = 9.31 + 4.82 + 0.13 = </a:t>
            </a:r>
            <a:r>
              <a:rPr lang="en-US" sz="2400" b="1" dirty="0">
                <a:latin typeface="Montserrat" pitchFamily="2" charset="77"/>
              </a:rPr>
              <a:t>14.26</a:t>
            </a:r>
          </a:p>
          <a:p>
            <a:pPr marL="342900" indent="-342900">
              <a:buFont typeface="Arial" panose="020B0604020202020204" pitchFamily="34" charset="0"/>
              <a:buChar char="•"/>
            </a:pPr>
            <a:r>
              <a:rPr lang="en-US" sz="2400" dirty="0">
                <a:latin typeface="Montserrat" pitchFamily="2" charset="77"/>
              </a:rPr>
              <a:t>Percentage contribution to total variance</a:t>
            </a:r>
          </a:p>
          <a:p>
            <a:pPr marL="800100" lvl="1" indent="-342900">
              <a:buFont typeface="Arial" panose="020B0604020202020204" pitchFamily="34" charset="0"/>
              <a:buChar char="•"/>
            </a:pPr>
            <a:r>
              <a:rPr lang="en-US" sz="2400" dirty="0">
                <a:latin typeface="Montserrat" pitchFamily="2" charset="77"/>
              </a:rPr>
              <a:t>|ƛ</a:t>
            </a:r>
            <a:r>
              <a:rPr lang="en-US" sz="2400" baseline="-25000" dirty="0">
                <a:latin typeface="Montserrat" pitchFamily="2" charset="77"/>
              </a:rPr>
              <a:t>3</a:t>
            </a:r>
            <a:r>
              <a:rPr lang="en-US" sz="2400" dirty="0">
                <a:latin typeface="Montserrat" pitchFamily="2" charset="77"/>
              </a:rPr>
              <a:t>|/14.26 = 0.65 (65%)</a:t>
            </a:r>
          </a:p>
          <a:p>
            <a:pPr marL="800100" lvl="1" indent="-342900">
              <a:buFont typeface="Arial" panose="020B0604020202020204" pitchFamily="34" charset="0"/>
              <a:buChar char="•"/>
            </a:pPr>
            <a:r>
              <a:rPr lang="en-US" sz="2400" dirty="0">
                <a:latin typeface="Montserrat" pitchFamily="2" charset="77"/>
              </a:rPr>
              <a:t>|ƛ</a:t>
            </a:r>
            <a:r>
              <a:rPr lang="en-US" sz="2400" baseline="-25000" dirty="0">
                <a:latin typeface="Montserrat" pitchFamily="2" charset="77"/>
              </a:rPr>
              <a:t>1</a:t>
            </a:r>
            <a:r>
              <a:rPr lang="en-US" sz="2400" dirty="0">
                <a:latin typeface="Montserrat" pitchFamily="2" charset="77"/>
              </a:rPr>
              <a:t>|/14.26 = 0.34 (34%)</a:t>
            </a:r>
          </a:p>
          <a:p>
            <a:pPr marL="800100" lvl="1" indent="-342900">
              <a:buFont typeface="Arial" panose="020B0604020202020204" pitchFamily="34" charset="0"/>
              <a:buChar char="•"/>
            </a:pPr>
            <a:r>
              <a:rPr lang="en-US" sz="2400" dirty="0">
                <a:latin typeface="Montserrat" pitchFamily="2" charset="77"/>
              </a:rPr>
              <a:t>|ƛ</a:t>
            </a:r>
            <a:r>
              <a:rPr lang="en-US" sz="2400" baseline="-25000" dirty="0">
                <a:latin typeface="Montserrat" pitchFamily="2" charset="77"/>
              </a:rPr>
              <a:t>2</a:t>
            </a:r>
            <a:r>
              <a:rPr lang="en-US" sz="2400" dirty="0">
                <a:latin typeface="Montserrat" pitchFamily="2" charset="77"/>
              </a:rPr>
              <a:t>|/14.26 = 0.01 (1%) </a:t>
            </a:r>
          </a:p>
        </p:txBody>
      </p:sp>
      <p:sp>
        <p:nvSpPr>
          <p:cNvPr id="7" name="Footer Placeholder 6">
            <a:extLst>
              <a:ext uri="{FF2B5EF4-FFF2-40B4-BE49-F238E27FC236}">
                <a16:creationId xmlns:a16="http://schemas.microsoft.com/office/drawing/2014/main" id="{0F283190-E5CA-F840-B298-53F7B511CDF4}"/>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6139529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Strengths and Weakness of PCA</a:t>
            </a:r>
          </a:p>
        </p:txBody>
      </p:sp>
      <p:sp>
        <p:nvSpPr>
          <p:cNvPr id="6" name="TextBox 5">
            <a:extLst>
              <a:ext uri="{FF2B5EF4-FFF2-40B4-BE49-F238E27FC236}">
                <a16:creationId xmlns:a16="http://schemas.microsoft.com/office/drawing/2014/main" id="{7C19AAB4-8A72-5A4A-B469-231772D10276}"/>
              </a:ext>
            </a:extLst>
          </p:cNvPr>
          <p:cNvSpPr txBox="1"/>
          <p:nvPr/>
        </p:nvSpPr>
        <p:spPr>
          <a:xfrm>
            <a:off x="838200" y="1796871"/>
            <a:ext cx="10608733"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ontserrat" pitchFamily="2" charset="77"/>
              </a:rPr>
              <a:t>Strength</a:t>
            </a:r>
          </a:p>
          <a:p>
            <a:pPr marL="800100" lvl="1" indent="-342900">
              <a:buFont typeface="Arial" panose="020B0604020202020204" pitchFamily="34" charset="0"/>
              <a:buChar char="•"/>
            </a:pPr>
            <a:r>
              <a:rPr lang="en-US" sz="2400" dirty="0">
                <a:latin typeface="Montserrat" pitchFamily="2" charset="77"/>
              </a:rPr>
              <a:t>Versatility, fast and simple. Easy to test algorithm with and without PCA to compare performance. </a:t>
            </a:r>
          </a:p>
          <a:p>
            <a:pPr marL="800100" lvl="1" indent="-342900">
              <a:buFont typeface="Arial" panose="020B0604020202020204" pitchFamily="34" charset="0"/>
              <a:buChar char="•"/>
            </a:pPr>
            <a:r>
              <a:rPr lang="en-US" sz="2400" dirty="0">
                <a:latin typeface="Montserrat" pitchFamily="2" charset="77"/>
              </a:rPr>
              <a:t>Variations and extensions to tackle specific roadblocks (e.g. Kernel PCA, Sparse PCA)</a:t>
            </a:r>
          </a:p>
          <a:p>
            <a:pPr marL="342900" indent="-342900">
              <a:buFont typeface="Arial" panose="020B0604020202020204" pitchFamily="34" charset="0"/>
              <a:buChar char="•"/>
            </a:pPr>
            <a:r>
              <a:rPr lang="en-US" sz="2400" dirty="0">
                <a:latin typeface="Montserrat" pitchFamily="2" charset="77"/>
              </a:rPr>
              <a:t>Weakness</a:t>
            </a:r>
          </a:p>
          <a:p>
            <a:pPr marL="800100" lvl="1" indent="-342900">
              <a:buFont typeface="Arial" panose="020B0604020202020204" pitchFamily="34" charset="0"/>
              <a:buChar char="•"/>
            </a:pPr>
            <a:r>
              <a:rPr lang="en-US" sz="2400" dirty="0">
                <a:latin typeface="Montserrat" pitchFamily="2" charset="77"/>
              </a:rPr>
              <a:t>Not interpretable</a:t>
            </a:r>
          </a:p>
          <a:p>
            <a:pPr marL="800100" lvl="1" indent="-342900">
              <a:buFont typeface="Arial" panose="020B0604020202020204" pitchFamily="34" charset="0"/>
              <a:buChar char="•"/>
            </a:pPr>
            <a:r>
              <a:rPr lang="en-US" sz="2400" dirty="0">
                <a:latin typeface="Montserrat" pitchFamily="2" charset="77"/>
              </a:rPr>
              <a:t>You have to manually set or tune a threshold for cumulative explained variance</a:t>
            </a:r>
          </a:p>
          <a:p>
            <a:pPr lvl="1"/>
            <a:endParaRPr lang="en-US" sz="2400" dirty="0">
              <a:latin typeface="Montserrat" pitchFamily="2" charset="77"/>
            </a:endParaRPr>
          </a:p>
        </p:txBody>
      </p:sp>
      <p:sp>
        <p:nvSpPr>
          <p:cNvPr id="3" name="Footer Placeholder 2">
            <a:extLst>
              <a:ext uri="{FF2B5EF4-FFF2-40B4-BE49-F238E27FC236}">
                <a16:creationId xmlns:a16="http://schemas.microsoft.com/office/drawing/2014/main" id="{9985A250-AE37-5C42-A8A3-55EC6421BB07}"/>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14023726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When not to use PCA</a:t>
            </a:r>
          </a:p>
        </p:txBody>
      </p:sp>
      <p:sp>
        <p:nvSpPr>
          <p:cNvPr id="6" name="TextBox 5">
            <a:extLst>
              <a:ext uri="{FF2B5EF4-FFF2-40B4-BE49-F238E27FC236}">
                <a16:creationId xmlns:a16="http://schemas.microsoft.com/office/drawing/2014/main" id="{7C19AAB4-8A72-5A4A-B469-231772D10276}"/>
              </a:ext>
            </a:extLst>
          </p:cNvPr>
          <p:cNvSpPr txBox="1"/>
          <p:nvPr/>
        </p:nvSpPr>
        <p:spPr>
          <a:xfrm>
            <a:off x="838200" y="1796871"/>
            <a:ext cx="10608733" cy="3046988"/>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Montserrat" pitchFamily="2" charset="77"/>
              </a:rPr>
              <a:t>If the variables are weakly correlated. If the relationship is weak between variables, PCA does not work well to reduce data. As a general thumb rule – if most of the correlation coefficient in are smaller than 0.3, do not use PCA.</a:t>
            </a:r>
          </a:p>
          <a:p>
            <a:pPr marL="342900" indent="-342900">
              <a:buFont typeface="Arial" panose="020B0604020202020204" pitchFamily="34" charset="0"/>
              <a:buChar char="•"/>
            </a:pPr>
            <a:endParaRPr lang="en-US" sz="2400" dirty="0">
              <a:latin typeface="Montserrat" pitchFamily="2" charset="77"/>
            </a:endParaRPr>
          </a:p>
          <a:p>
            <a:pPr marL="342900" indent="-342900">
              <a:buFont typeface="Arial" panose="020B0604020202020204" pitchFamily="34" charset="0"/>
              <a:buChar char="•"/>
            </a:pPr>
            <a:r>
              <a:rPr lang="en-US" sz="2400" dirty="0">
                <a:latin typeface="Montserrat" pitchFamily="2" charset="77"/>
              </a:rPr>
              <a:t>When reduced number of features do not explain maximum variance in the data. </a:t>
            </a:r>
          </a:p>
          <a:p>
            <a:pPr lvl="1"/>
            <a:endParaRPr lang="en-US" sz="2400" dirty="0">
              <a:latin typeface="Montserrat" pitchFamily="2" charset="77"/>
            </a:endParaRPr>
          </a:p>
        </p:txBody>
      </p:sp>
      <p:sp>
        <p:nvSpPr>
          <p:cNvPr id="3" name="Footer Placeholder 2">
            <a:extLst>
              <a:ext uri="{FF2B5EF4-FFF2-40B4-BE49-F238E27FC236}">
                <a16:creationId xmlns:a16="http://schemas.microsoft.com/office/drawing/2014/main" id="{D2814FBF-95AE-8F45-B20F-0D1EB71D5572}"/>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3063570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3" name="Rectangle 82">
            <a:extLst>
              <a:ext uri="{FF2B5EF4-FFF2-40B4-BE49-F238E27FC236}">
                <a16:creationId xmlns:a16="http://schemas.microsoft.com/office/drawing/2014/main" id="{E73BBE33-B533-4661-8A6A-6BD8D05EB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E3B8A58-16D2-964A-8D4A-04C5B4B2B811}"/>
              </a:ext>
            </a:extLst>
          </p:cNvPr>
          <p:cNvSpPr>
            <a:spLocks noGrp="1"/>
          </p:cNvSpPr>
          <p:nvPr>
            <p:ph type="title"/>
          </p:nvPr>
        </p:nvSpPr>
        <p:spPr>
          <a:xfrm>
            <a:off x="372536" y="557189"/>
            <a:ext cx="4066101" cy="2785947"/>
          </a:xfrm>
        </p:spPr>
        <p:txBody>
          <a:bodyPr vert="horz" lIns="91440" tIns="45720" rIns="91440" bIns="45720" rtlCol="0" anchor="b">
            <a:normAutofit/>
          </a:bodyPr>
          <a:lstStyle/>
          <a:p>
            <a:r>
              <a:rPr lang="en-US" sz="4800" kern="1200" dirty="0">
                <a:solidFill>
                  <a:schemeClr val="tx1"/>
                </a:solidFill>
                <a:latin typeface="Montserrat" pitchFamily="2" charset="77"/>
              </a:rPr>
              <a:t>Applications of PCA</a:t>
            </a:r>
          </a:p>
        </p:txBody>
      </p:sp>
      <p:pic>
        <p:nvPicPr>
          <p:cNvPr id="3084" name="Picture 12" descr="Image result for text messages">
            <a:extLst>
              <a:ext uri="{FF2B5EF4-FFF2-40B4-BE49-F238E27FC236}">
                <a16:creationId xmlns:a16="http://schemas.microsoft.com/office/drawing/2014/main" id="{7B836249-4D5B-354D-9491-518456336D0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7762" b="-5"/>
          <a:stretch/>
        </p:blipFill>
        <p:spPr bwMode="auto">
          <a:xfrm>
            <a:off x="4657343" y="-2"/>
            <a:ext cx="2745766" cy="222875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result for survey data">
            <a:extLst>
              <a:ext uri="{FF2B5EF4-FFF2-40B4-BE49-F238E27FC236}">
                <a16:creationId xmlns:a16="http://schemas.microsoft.com/office/drawing/2014/main" id="{7EF9F28E-7A37-3349-8264-79247DFCAB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3" b="3"/>
          <a:stretch/>
        </p:blipFill>
        <p:spPr bwMode="auto">
          <a:xfrm>
            <a:off x="4657343" y="2400474"/>
            <a:ext cx="2742158" cy="2057043"/>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Image result for driverless car">
            <a:extLst>
              <a:ext uri="{FF2B5EF4-FFF2-40B4-BE49-F238E27FC236}">
                <a16:creationId xmlns:a16="http://schemas.microsoft.com/office/drawing/2014/main" id="{15DFB38F-5F27-A146-8437-D8D8EB14EF4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6797" r="10970" b="-1"/>
          <a:stretch/>
        </p:blipFill>
        <p:spPr bwMode="auto">
          <a:xfrm>
            <a:off x="7570565" y="10"/>
            <a:ext cx="4614002" cy="3337539"/>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F3F8BBB9-4D54-1247-981B-9999C4A87E45}"/>
              </a:ext>
            </a:extLst>
          </p:cNvPr>
          <p:cNvSpPr>
            <a:spLocks noGrp="1"/>
          </p:cNvSpPr>
          <p:nvPr>
            <p:ph type="ftr" sz="quarter" idx="11"/>
          </p:nvPr>
        </p:nvSpPr>
        <p:spPr>
          <a:xfrm>
            <a:off x="833120" y="6356350"/>
            <a:ext cx="3200400" cy="365125"/>
          </a:xfrm>
        </p:spPr>
        <p:txBody>
          <a:bodyPr vert="horz" lIns="91440" tIns="45720" rIns="91440" bIns="45720" rtlCol="0" anchor="ctr">
            <a:normAutofit/>
          </a:bodyPr>
          <a:lstStyle/>
          <a:p>
            <a:pPr algn="l">
              <a:spcAft>
                <a:spcPts val="600"/>
              </a:spcAft>
            </a:pPr>
            <a:r>
              <a:rPr lang="en-US" kern="1200">
                <a:solidFill>
                  <a:schemeClr val="tx1">
                    <a:tint val="75000"/>
                  </a:schemeClr>
                </a:solidFill>
                <a:latin typeface="+mn-lt"/>
                <a:ea typeface="+mn-ea"/>
                <a:cs typeface="+mn-cs"/>
              </a:rPr>
              <a:t>Copyright Amit Pandey, 2021</a:t>
            </a:r>
          </a:p>
        </p:txBody>
      </p:sp>
      <p:pic>
        <p:nvPicPr>
          <p:cNvPr id="3086" name="Picture 14" descr="Image result for microarray">
            <a:extLst>
              <a:ext uri="{FF2B5EF4-FFF2-40B4-BE49-F238E27FC236}">
                <a16:creationId xmlns:a16="http://schemas.microsoft.com/office/drawing/2014/main" id="{9776541C-89E4-7B48-A740-252FB788CEB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989" r="12773" b="-5"/>
          <a:stretch/>
        </p:blipFill>
        <p:spPr bwMode="auto">
          <a:xfrm>
            <a:off x="4653627" y="4629236"/>
            <a:ext cx="2745764" cy="2228764"/>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Image result for video streaming">
            <a:extLst>
              <a:ext uri="{FF2B5EF4-FFF2-40B4-BE49-F238E27FC236}">
                <a16:creationId xmlns:a16="http://schemas.microsoft.com/office/drawing/2014/main" id="{79013A8C-2748-DD4B-B7A9-72EBAE86D97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346" r="13150" b="-2"/>
          <a:stretch/>
        </p:blipFill>
        <p:spPr bwMode="auto">
          <a:xfrm>
            <a:off x="7570565" y="3509264"/>
            <a:ext cx="4614002" cy="33487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131586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98448-D5C8-8E4A-BD1F-B63663831AF9}"/>
              </a:ext>
            </a:extLst>
          </p:cNvPr>
          <p:cNvSpPr>
            <a:spLocks noGrp="1"/>
          </p:cNvSpPr>
          <p:nvPr>
            <p:ph type="title"/>
          </p:nvPr>
        </p:nvSpPr>
        <p:spPr/>
        <p:txBody>
          <a:bodyPr>
            <a:normAutofit/>
          </a:bodyPr>
          <a:lstStyle/>
          <a:p>
            <a:r>
              <a:rPr lang="en-US" sz="3600" dirty="0">
                <a:latin typeface="Montserrat" pitchFamily="2" charset="77"/>
              </a:rPr>
              <a:t>Reference Materials</a:t>
            </a:r>
          </a:p>
        </p:txBody>
      </p:sp>
      <p:sp>
        <p:nvSpPr>
          <p:cNvPr id="6" name="TextBox 5">
            <a:extLst>
              <a:ext uri="{FF2B5EF4-FFF2-40B4-BE49-F238E27FC236}">
                <a16:creationId xmlns:a16="http://schemas.microsoft.com/office/drawing/2014/main" id="{7C19AAB4-8A72-5A4A-B469-231772D10276}"/>
              </a:ext>
            </a:extLst>
          </p:cNvPr>
          <p:cNvSpPr txBox="1"/>
          <p:nvPr/>
        </p:nvSpPr>
        <p:spPr>
          <a:xfrm>
            <a:off x="838200" y="1796871"/>
            <a:ext cx="11033790" cy="2245808"/>
          </a:xfrm>
          <a:prstGeom prst="rect">
            <a:avLst/>
          </a:prstGeom>
          <a:noFill/>
        </p:spPr>
        <p:txBody>
          <a:bodyPr wrap="none" rtlCol="0">
            <a:spAutoFit/>
          </a:bodyPr>
          <a:lstStyle/>
          <a:p>
            <a:pPr marL="342900" indent="-342900">
              <a:lnSpc>
                <a:spcPct val="150000"/>
              </a:lnSpc>
              <a:buFont typeface="Arial" panose="020B0604020202020204" pitchFamily="34" charset="0"/>
              <a:buChar char="•"/>
            </a:pPr>
            <a:r>
              <a:rPr lang="en-US" sz="2400" dirty="0">
                <a:latin typeface="Montserrat" pitchFamily="2" charset="77"/>
                <a:hlinkClick r:id="rId2"/>
              </a:rPr>
              <a:t>Eigenvectors and eigenvalues | Essence of linear algebra, Chapter 14</a:t>
            </a:r>
            <a:endParaRPr lang="en-US" sz="2400" dirty="0">
              <a:latin typeface="Montserrat" pitchFamily="2" charset="77"/>
              <a:hlinkClick r:id="rId3"/>
            </a:endParaRPr>
          </a:p>
          <a:p>
            <a:pPr marL="342900" indent="-342900">
              <a:lnSpc>
                <a:spcPct val="150000"/>
              </a:lnSpc>
              <a:buFont typeface="Arial" panose="020B0604020202020204" pitchFamily="34" charset="0"/>
              <a:buChar char="•"/>
            </a:pPr>
            <a:r>
              <a:rPr lang="en-US" sz="2400" dirty="0">
                <a:latin typeface="Montserrat" pitchFamily="2" charset="77"/>
                <a:hlinkClick r:id="rId3"/>
              </a:rPr>
              <a:t>MIT Chapter 6 – Eigenvalues and Eigenvectors</a:t>
            </a:r>
            <a:endParaRPr lang="en-US" sz="2400" dirty="0">
              <a:latin typeface="Montserrat" pitchFamily="2" charset="77"/>
            </a:endParaRPr>
          </a:p>
          <a:p>
            <a:pPr marL="342900" indent="-342900">
              <a:lnSpc>
                <a:spcPct val="150000"/>
              </a:lnSpc>
              <a:buFont typeface="Arial" panose="020B0604020202020204" pitchFamily="34" charset="0"/>
              <a:buChar char="•"/>
            </a:pPr>
            <a:r>
              <a:rPr lang="en-US" sz="2400" dirty="0">
                <a:latin typeface="Montserrat" pitchFamily="2" charset="77"/>
                <a:hlinkClick r:id="rId4"/>
              </a:rPr>
              <a:t>Faces recognition example using eigenfaces and SVMs</a:t>
            </a:r>
            <a:endParaRPr lang="en-US" sz="2400" dirty="0">
              <a:latin typeface="Montserrat" pitchFamily="2" charset="77"/>
            </a:endParaRPr>
          </a:p>
          <a:p>
            <a:pPr marL="342900" indent="-342900">
              <a:lnSpc>
                <a:spcPct val="150000"/>
              </a:lnSpc>
              <a:buFont typeface="Arial" panose="020B0604020202020204" pitchFamily="34" charset="0"/>
              <a:buChar char="•"/>
            </a:pPr>
            <a:r>
              <a:rPr lang="en-US" sz="2400" dirty="0">
                <a:latin typeface="Montserrat" pitchFamily="2" charset="77"/>
                <a:hlinkClick r:id="rId5"/>
              </a:rPr>
              <a:t>Application of Eigenvalues and Eigenvectors of a square matrix</a:t>
            </a:r>
            <a:endParaRPr lang="en-US" sz="2400" dirty="0">
              <a:latin typeface="Montserrat" pitchFamily="2" charset="77"/>
            </a:endParaRPr>
          </a:p>
        </p:txBody>
      </p:sp>
      <p:sp>
        <p:nvSpPr>
          <p:cNvPr id="3" name="Footer Placeholder 2">
            <a:extLst>
              <a:ext uri="{FF2B5EF4-FFF2-40B4-BE49-F238E27FC236}">
                <a16:creationId xmlns:a16="http://schemas.microsoft.com/office/drawing/2014/main" id="{9B102E40-A66F-704F-9194-BEF7ACC87D28}"/>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37978278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7F55CB-724C-4B42-B4A6-B68281BEF6C4}"/>
              </a:ext>
            </a:extLst>
          </p:cNvPr>
          <p:cNvSpPr txBox="1"/>
          <p:nvPr/>
        </p:nvSpPr>
        <p:spPr>
          <a:xfrm>
            <a:off x="1893567" y="2582614"/>
            <a:ext cx="8404865" cy="1692771"/>
          </a:xfrm>
          <a:prstGeom prst="rect">
            <a:avLst/>
          </a:prstGeom>
          <a:noFill/>
        </p:spPr>
        <p:txBody>
          <a:bodyPr wrap="none" rtlCol="0">
            <a:spAutoFit/>
          </a:bodyPr>
          <a:lstStyle/>
          <a:p>
            <a:pPr algn="ctr"/>
            <a:r>
              <a:rPr lang="en-US" sz="4000" dirty="0">
                <a:latin typeface="Montserrat" pitchFamily="2" charset="77"/>
              </a:rPr>
              <a:t>THANK YOU</a:t>
            </a:r>
          </a:p>
          <a:p>
            <a:pPr algn="ctr"/>
            <a:endParaRPr lang="en-US" sz="3200" dirty="0">
              <a:latin typeface="Montserrat" pitchFamily="2" charset="77"/>
            </a:endParaRPr>
          </a:p>
          <a:p>
            <a:pPr algn="ctr"/>
            <a:r>
              <a:rPr lang="en-US" sz="3200" dirty="0">
                <a:latin typeface="Montserrat" pitchFamily="2" charset="77"/>
              </a:rPr>
              <a:t>Contact – </a:t>
            </a:r>
            <a:r>
              <a:rPr lang="en-US" sz="3200" dirty="0" err="1">
                <a:latin typeface="Montserrat" pitchFamily="2" charset="77"/>
                <a:hlinkClick r:id="rId2"/>
              </a:rPr>
              <a:t>amitpandeylearn@gmail.com</a:t>
            </a:r>
            <a:endParaRPr lang="en-US" sz="3200" dirty="0">
              <a:latin typeface="Montserrat" pitchFamily="2" charset="77"/>
            </a:endParaRPr>
          </a:p>
        </p:txBody>
      </p:sp>
      <p:sp>
        <p:nvSpPr>
          <p:cNvPr id="7" name="Footer Placeholder 6">
            <a:extLst>
              <a:ext uri="{FF2B5EF4-FFF2-40B4-BE49-F238E27FC236}">
                <a16:creationId xmlns:a16="http://schemas.microsoft.com/office/drawing/2014/main" id="{2568E127-86A3-D54F-BD80-0C4756B062C2}"/>
              </a:ext>
            </a:extLst>
          </p:cNvPr>
          <p:cNvSpPr>
            <a:spLocks noGrp="1"/>
          </p:cNvSpPr>
          <p:nvPr>
            <p:ph type="ftr" sz="quarter" idx="11"/>
          </p:nvPr>
        </p:nvSpPr>
        <p:spPr/>
        <p:txBody>
          <a:bodyPr/>
          <a:lstStyle/>
          <a:p>
            <a:r>
              <a:rPr lang="en-US"/>
              <a:t>Copyright Amit Pandey, 2021</a:t>
            </a:r>
          </a:p>
        </p:txBody>
      </p:sp>
    </p:spTree>
    <p:extLst>
      <p:ext uri="{BB962C8B-B14F-4D97-AF65-F5344CB8AC3E}">
        <p14:creationId xmlns:p14="http://schemas.microsoft.com/office/powerpoint/2010/main" val="2936689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1015</TotalTime>
  <Words>1895</Words>
  <Application>Microsoft Macintosh PowerPoint</Application>
  <PresentationFormat>Widescreen</PresentationFormat>
  <Paragraphs>514</Paragraphs>
  <Slides>42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42</vt:i4>
      </vt:variant>
    </vt:vector>
  </HeadingPairs>
  <TitlesOfParts>
    <vt:vector size="49" baseType="lpstr">
      <vt:lpstr>Arial</vt:lpstr>
      <vt:lpstr>Bradley Hand</vt:lpstr>
      <vt:lpstr>Calibri</vt:lpstr>
      <vt:lpstr>Calibri Light</vt:lpstr>
      <vt:lpstr>Cambria Math</vt:lpstr>
      <vt:lpstr>Montserrat</vt:lpstr>
      <vt:lpstr>Office Theme</vt:lpstr>
      <vt:lpstr>PowerPoint Presentation</vt:lpstr>
      <vt:lpstr>DIMENSIONALITY REDUCTION TECHNIQUES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n-Dimensional Case</vt:lpstr>
      <vt:lpstr>Steps for Principal Component Analysis</vt:lpstr>
      <vt:lpstr>Why Standardization matters?</vt:lpstr>
      <vt:lpstr>Computation of Covariance matrix</vt:lpstr>
      <vt:lpstr>Computation of Covariance matrix</vt:lpstr>
      <vt:lpstr>Computation of Covariance matrix</vt:lpstr>
      <vt:lpstr>Finding the Eigenvectors and Eigenvalues</vt:lpstr>
      <vt:lpstr>PowerPoint Presentation</vt:lpstr>
      <vt:lpstr>Finding the Eigenvectors and Eigenvalues</vt:lpstr>
      <vt:lpstr>Finding the Eigenvectors and Eigenvalues</vt:lpstr>
      <vt:lpstr>Selecting the Principal Components</vt:lpstr>
      <vt:lpstr>Selecting the Principal Components</vt:lpstr>
      <vt:lpstr>Selecting the Principal Components</vt:lpstr>
      <vt:lpstr>Selecting the Principal Components</vt:lpstr>
      <vt:lpstr>Strengths and Weakness of PCA</vt:lpstr>
      <vt:lpstr>When not to use PCA</vt:lpstr>
      <vt:lpstr>Applications of PCA</vt:lpstr>
      <vt:lpstr>Reference Materials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Amit Pandey</dc:creator>
  <cp:lastModifiedBy>Amit Pandey</cp:lastModifiedBy>
  <cp:revision>114</cp:revision>
  <dcterms:created xsi:type="dcterms:W3CDTF">2021-02-11T20:28:37Z</dcterms:created>
  <dcterms:modified xsi:type="dcterms:W3CDTF">2021-02-13T05:36:13Z</dcterms:modified>
</cp:coreProperties>
</file>