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Inter" panose="02000503000000020004" pitchFamily="2" charset="0"/>
      <p:regular r:id="rId26"/>
      <p:bold r:id="rId27"/>
      <p:italic r:id="rId28"/>
      <p:boldItalic r:id="rId29"/>
    </p:embeddedFont>
    <p:embeddedFont>
      <p:font typeface="Lato" panose="020F0502020204030203" pitchFamily="34" charset="0"/>
      <p:regular r:id="rId30"/>
      <p:bold r:id="rId31"/>
      <p:italic r:id="rId32"/>
      <p:boldItalic r:id="rId33"/>
    </p:embeddedFont>
    <p:embeddedFont>
      <p:font typeface="Play" pitchFamily="2" charset="0"/>
      <p:regular r:id="rId34"/>
      <p:bold r:id="rId35"/>
    </p:embeddedFont>
    <p:embeddedFont>
      <p:font typeface="Proxima Nova" panose="02000506030000020004" pitchFamily="2" charset="0"/>
      <p:regular r:id="rId36"/>
      <p:bold r:id="rId37"/>
      <p:italic r:id="rId38"/>
      <p:boldItalic r:id="rId39"/>
    </p:embeddedFont>
    <p:embeddedFont>
      <p:font typeface="Roboto" panose="02000000000000000000" pitchFamily="2" charset="0"/>
      <p:regular r:id="rId40"/>
      <p:bold r:id="rId41"/>
      <p:italic r:id="rId42"/>
      <p:boldItalic r:id="rId43"/>
    </p:embeddedFont>
    <p:embeddedFont>
      <p:font typeface="Trebuchet MS" panose="020B0703020202090204" pitchFamily="34" charset="0"/>
      <p:regular r:id="rId44"/>
      <p:bold r:id="rId45"/>
      <p: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4C0B47E-CC9D-43A6-8C5E-068AE1E5ADA8}">
  <a:tblStyle styleId="{84C0B47E-CC9D-43A6-8C5E-068AE1E5ADA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94716"/>
  </p:normalViewPr>
  <p:slideViewPr>
    <p:cSldViewPr snapToGrid="0">
      <p:cViewPr>
        <p:scale>
          <a:sx n="114" d="100"/>
          <a:sy n="114" d="100"/>
        </p:scale>
        <p:origin x="60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108" name="Google Shape;10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sz="1450">
                <a:solidFill>
                  <a:srgbClr val="444746"/>
                </a:solidFill>
                <a:latin typeface="Roboto"/>
                <a:ea typeface="Roboto"/>
                <a:cs typeface="Roboto"/>
                <a:sym typeface="Roboto"/>
              </a:rPr>
              <a:t>Note to SMEs: Start the session with a recall of the concepts taught in core content would help build a connection between the two</a:t>
            </a:r>
            <a:endParaRPr sz="1450">
              <a:solidFill>
                <a:srgbClr val="444746"/>
              </a:solidFill>
              <a:latin typeface="Roboto"/>
              <a:ea typeface="Roboto"/>
              <a:cs typeface="Roboto"/>
              <a:sym typeface="Roboto"/>
            </a:endParaRPr>
          </a:p>
          <a:p>
            <a:pPr marL="0" lvl="0" indent="0" algn="l" rtl="0">
              <a:lnSpc>
                <a:spcPct val="100000"/>
              </a:lnSpc>
              <a:spcBef>
                <a:spcPts val="0"/>
              </a:spcBef>
              <a:spcAft>
                <a:spcPts val="0"/>
              </a:spcAft>
              <a:buClr>
                <a:schemeClr val="dk1"/>
              </a:buClr>
              <a:buSzPts val="1100"/>
              <a:buFont typeface="Arial"/>
              <a:buNone/>
            </a:pPr>
            <a:endParaRPr sz="1500">
              <a:latin typeface="Arial"/>
              <a:ea typeface="Arial"/>
              <a:cs typeface="Arial"/>
              <a:sym typeface="Arial"/>
            </a:endParaRPr>
          </a:p>
          <a:p>
            <a:pPr marL="0" lvl="0" indent="0" algn="l" rtl="0">
              <a:lnSpc>
                <a:spcPct val="100000"/>
              </a:lnSpc>
              <a:spcBef>
                <a:spcPts val="0"/>
              </a:spcBef>
              <a:spcAft>
                <a:spcPts val="0"/>
              </a:spcAft>
              <a:buClr>
                <a:srgbClr val="444746"/>
              </a:buClr>
              <a:buSzPts val="1400"/>
              <a:buFont typeface="Roboto"/>
              <a:buNone/>
            </a:pPr>
            <a:r>
              <a:rPr lang="en-US" sz="1450">
                <a:solidFill>
                  <a:srgbClr val="444746"/>
                </a:solidFill>
                <a:latin typeface="Roboto"/>
                <a:ea typeface="Roboto"/>
                <a:cs typeface="Roboto"/>
                <a:sym typeface="Roboto"/>
              </a:rPr>
              <a:t>For example, if teaching a session on e-skills, asking the learners what they understood from the first module or the core concepts that were taught in module</a:t>
            </a:r>
            <a:endParaRPr sz="1600"/>
          </a:p>
        </p:txBody>
      </p:sp>
      <p:sp>
        <p:nvSpPr>
          <p:cNvPr id="117" name="Google Shape;11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307" name="Google Shape;30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85228" y="6205184"/>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E72D40"/>
              </a:buClr>
              <a:buSzPts val="1400"/>
              <a:buFont typeface="Arial"/>
              <a:buNone/>
              <a:defRPr>
                <a:solidFill>
                  <a:srgbClr val="E72D40"/>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19" name="Google Shape;19;p2"/>
          <p:cNvSpPr txBox="1">
            <a:spLocks noGrp="1"/>
          </p:cNvSpPr>
          <p:nvPr>
            <p:ph type="sldNum" idx="12"/>
          </p:nvPr>
        </p:nvSpPr>
        <p:spPr>
          <a:xfrm>
            <a:off x="8822635" y="534987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E72D4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E72D4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E72D4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E72D4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E72D4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E72D4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E72D4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E72D4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E72D4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2"/>
          <p:cNvSpPr/>
          <p:nvPr/>
        </p:nvSpPr>
        <p:spPr>
          <a:xfrm>
            <a:off x="0" y="2"/>
            <a:ext cx="12192000" cy="6205183"/>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pic>
        <p:nvPicPr>
          <p:cNvPr id="21" name="Google Shape;21;p2"/>
          <p:cNvPicPr preferRelativeResize="0"/>
          <p:nvPr/>
        </p:nvPicPr>
        <p:blipFill rotWithShape="1">
          <a:blip r:embed="rId2">
            <a:alphaModFix/>
          </a:blip>
          <a:srcRect/>
          <a:stretch/>
        </p:blipFill>
        <p:spPr>
          <a:xfrm>
            <a:off x="885229" y="762518"/>
            <a:ext cx="2743200" cy="731991"/>
          </a:xfrm>
          <a:prstGeom prst="rect">
            <a:avLst/>
          </a:prstGeom>
          <a:noFill/>
          <a:ln>
            <a:noFill/>
          </a:ln>
        </p:spPr>
      </p:pic>
    </p:spTree>
  </p:cSld>
  <p:clrMapOvr>
    <a:masterClrMapping/>
  </p:clrMapOvr>
  <p:extLst>
    <p:ext uri="{DCECCB84-F9BA-43D5-87BE-67443E8EF086}">
      <p15:sldGuideLst xmlns:p15="http://schemas.microsoft.com/office/powerpoint/2012/main">
        <p15:guide id="1" pos="397">
          <p15:clr>
            <a:srgbClr val="FBAE40"/>
          </p15:clr>
        </p15:guide>
        <p15:guide id="2" orient="horz" pos="378">
          <p15:clr>
            <a:srgbClr val="FBAE40"/>
          </p15:clr>
        </p15:guide>
        <p15:guide id="3" orient="horz" pos="923">
          <p15:clr>
            <a:srgbClr val="FBAE40"/>
          </p15:clr>
        </p15:guide>
        <p15:guide id="4" orient="horz" pos="1756">
          <p15:clr>
            <a:srgbClr val="FBAE40"/>
          </p15:clr>
        </p15:guide>
        <p15:guide id="5" pos="33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vider">
  <p:cSld name="Divider">
    <p:spTree>
      <p:nvGrpSpPr>
        <p:cNvPr id="1" name="Shape 22"/>
        <p:cNvGrpSpPr/>
        <p:nvPr/>
      </p:nvGrpSpPr>
      <p:grpSpPr>
        <a:xfrm>
          <a:off x="0" y="0"/>
          <a:ext cx="0" cy="0"/>
          <a:chOff x="0" y="0"/>
          <a:chExt cx="0" cy="0"/>
        </a:xfrm>
      </p:grpSpPr>
      <p:sp>
        <p:nvSpPr>
          <p:cNvPr id="23" name="Google Shape;23;p3"/>
          <p:cNvSpPr/>
          <p:nvPr/>
        </p:nvSpPr>
        <p:spPr>
          <a:xfrm>
            <a:off x="-575" y="0"/>
            <a:ext cx="12192000" cy="6858000"/>
          </a:xfrm>
          <a:prstGeom prst="rect">
            <a:avLst/>
          </a:prstGeom>
          <a:solidFill>
            <a:srgbClr val="F1333F"/>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sp>
        <p:nvSpPr>
          <p:cNvPr id="24" name="Google Shape;24;p3"/>
          <p:cNvSpPr txBox="1">
            <a:spLocks noGrp="1"/>
          </p:cNvSpPr>
          <p:nvPr>
            <p:ph type="title"/>
          </p:nvPr>
        </p:nvSpPr>
        <p:spPr>
          <a:xfrm>
            <a:off x="840317" y="725998"/>
            <a:ext cx="7987424" cy="749876"/>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lt1"/>
              </a:buClr>
              <a:buSzPts val="1400"/>
              <a:buFont typeface="Arial"/>
              <a:buNone/>
              <a:defRPr>
                <a:solidFill>
                  <a:schemeClr val="lt1"/>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26" name="Google Shape;26;p3"/>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2400" b="0" i="0" u="none" strike="noStrike" cap="none">
                <a:solidFill>
                  <a:schemeClr val="lt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27" name="Google Shape;27;p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3"/>
          <p:cNvPicPr preferRelativeResize="0"/>
          <p:nvPr/>
        </p:nvPicPr>
        <p:blipFill rotWithShape="1">
          <a:blip r:embed="rId2">
            <a:alphaModFix/>
          </a:blip>
          <a:srcRect/>
          <a:stretch/>
        </p:blipFill>
        <p:spPr>
          <a:xfrm>
            <a:off x="10149227" y="404813"/>
            <a:ext cx="1213040" cy="323851"/>
          </a:xfrm>
          <a:prstGeom prst="rect">
            <a:avLst/>
          </a:prstGeom>
          <a:noFill/>
          <a:ln>
            <a:noFill/>
          </a:ln>
        </p:spPr>
      </p:pic>
      <p:sp>
        <p:nvSpPr>
          <p:cNvPr id="29" name="Google Shape;29;p3"/>
          <p:cNvSpPr/>
          <p:nvPr/>
        </p:nvSpPr>
        <p:spPr>
          <a:xfrm>
            <a:off x="0" y="0"/>
            <a:ext cx="12192000" cy="6858000"/>
          </a:xfrm>
          <a:prstGeom prst="rect">
            <a:avLst/>
          </a:prstGeom>
          <a:solidFill>
            <a:srgbClr val="F1333F"/>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pic>
        <p:nvPicPr>
          <p:cNvPr id="30" name="Google Shape;30;p3"/>
          <p:cNvPicPr preferRelativeResize="0"/>
          <p:nvPr/>
        </p:nvPicPr>
        <p:blipFill rotWithShape="1">
          <a:blip r:embed="rId3">
            <a:alphaModFix/>
          </a:blip>
          <a:srcRect/>
          <a:stretch/>
        </p:blipFill>
        <p:spPr>
          <a:xfrm>
            <a:off x="10572384" y="280085"/>
            <a:ext cx="1084840" cy="2896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Doughnut Chart">
  <p:cSld name="Title and Doughnut Chart">
    <p:spTree>
      <p:nvGrpSpPr>
        <p:cNvPr id="1" name="Shape 31"/>
        <p:cNvGrpSpPr/>
        <p:nvPr/>
      </p:nvGrpSpPr>
      <p:grpSpPr>
        <a:xfrm>
          <a:off x="0" y="0"/>
          <a:ext cx="0" cy="0"/>
          <a:chOff x="0" y="0"/>
          <a:chExt cx="0" cy="0"/>
        </a:xfrm>
      </p:grpSpPr>
      <p:sp>
        <p:nvSpPr>
          <p:cNvPr id="32" name="Google Shape;32;p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757575"/>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33" name="Google Shape;33;p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4" name="Google Shape;34;p4"/>
          <p:cNvSpPr/>
          <p:nvPr/>
        </p:nvSpPr>
        <p:spPr>
          <a:xfrm>
            <a:off x="0" y="0"/>
            <a:ext cx="12192000" cy="849149"/>
          </a:xfrm>
          <a:prstGeom prst="rect">
            <a:avLst/>
          </a:prstGeom>
          <a:solidFill>
            <a:srgbClr val="F533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35" name="Google Shape;35;p4"/>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200"/>
              <a:buFont typeface="Proxima Nova"/>
              <a:buNone/>
              <a:defRPr sz="3200" b="0" i="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6" name="Google Shape;36;p4"/>
          <p:cNvPicPr preferRelativeResize="0"/>
          <p:nvPr/>
        </p:nvPicPr>
        <p:blipFill rotWithShape="1">
          <a:blip r:embed="rId2">
            <a:alphaModFix/>
          </a:blip>
          <a:srcRect/>
          <a:stretch/>
        </p:blipFill>
        <p:spPr>
          <a:xfrm>
            <a:off x="10572384" y="280085"/>
            <a:ext cx="1084840" cy="289624"/>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9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
        <p:cNvGrpSpPr/>
        <p:nvPr/>
      </p:nvGrpSpPr>
      <p:grpSpPr>
        <a:xfrm>
          <a:off x="0" y="0"/>
          <a:ext cx="0" cy="0"/>
          <a:chOff x="0" y="0"/>
          <a:chExt cx="0" cy="0"/>
        </a:xfrm>
      </p:grpSpPr>
      <p:sp>
        <p:nvSpPr>
          <p:cNvPr id="38" name="Google Shape;38;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0" name="Google Shape;4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52" name="Google Shape;5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5" name="Google Shape;65;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7" name="Google Shape;67;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
        <p:cNvGrpSpPr/>
        <p:nvPr/>
      </p:nvGrpSpPr>
      <p:grpSpPr>
        <a:xfrm>
          <a:off x="0" y="0"/>
          <a:ext cx="0" cy="0"/>
          <a:chOff x="0" y="0"/>
          <a:chExt cx="0" cy="0"/>
        </a:xfrm>
      </p:grpSpPr>
      <p:sp>
        <p:nvSpPr>
          <p:cNvPr id="77" name="Google Shape;77;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3" name="Google Shape;83;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4" name="Google Shape;8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7"/>
        <p:cNvGrpSpPr/>
        <p:nvPr/>
      </p:nvGrpSpPr>
      <p:grpSpPr>
        <a:xfrm>
          <a:off x="0" y="0"/>
          <a:ext cx="0" cy="0"/>
          <a:chOff x="0" y="0"/>
          <a:chExt cx="0" cy="0"/>
        </a:xfrm>
      </p:grpSpPr>
      <p:sp>
        <p:nvSpPr>
          <p:cNvPr id="88" name="Google Shape;88;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3"/>
          <p:cNvSpPr>
            <a:spLocks noGrp="1"/>
          </p:cNvSpPr>
          <p:nvPr>
            <p:ph type="pic" idx="2"/>
          </p:nvPr>
        </p:nvSpPr>
        <p:spPr>
          <a:xfrm>
            <a:off x="5183188" y="987425"/>
            <a:ext cx="6172200" cy="4873625"/>
          </a:xfrm>
          <a:prstGeom prst="rect">
            <a:avLst/>
          </a:prstGeom>
          <a:noFill/>
          <a:ln>
            <a:noFill/>
          </a:ln>
        </p:spPr>
      </p:sp>
      <p:sp>
        <p:nvSpPr>
          <p:cNvPr id="90" name="Google Shape;90;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1" name="Google Shape;9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4"/>
        <p:cNvGrpSpPr/>
        <p:nvPr/>
      </p:nvGrpSpPr>
      <p:grpSpPr>
        <a:xfrm>
          <a:off x="0" y="0"/>
          <a:ext cx="0" cy="0"/>
          <a:chOff x="0" y="0"/>
          <a:chExt cx="0" cy="0"/>
        </a:xfrm>
      </p:grpSpPr>
      <p:sp>
        <p:nvSpPr>
          <p:cNvPr id="95" name="Google Shape;95;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0"/>
        <p:cNvGrpSpPr/>
        <p:nvPr/>
      </p:nvGrpSpPr>
      <p:grpSpPr>
        <a:xfrm>
          <a:off x="0" y="0"/>
          <a:ext cx="0" cy="0"/>
          <a:chOff x="0" y="0"/>
          <a:chExt cx="0" cy="0"/>
        </a:xfrm>
      </p:grpSpPr>
      <p:sp>
        <p:nvSpPr>
          <p:cNvPr id="101" name="Google Shape;101;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p:nvPr/>
        </p:nvSpPr>
        <p:spPr>
          <a:xfrm>
            <a:off x="2217008" y="2163946"/>
            <a:ext cx="9193696" cy="1562647"/>
          </a:xfrm>
          <a:prstGeom prst="rect">
            <a:avLst/>
          </a:prstGeom>
          <a:noFill/>
          <a:ln>
            <a:noFill/>
          </a:ln>
        </p:spPr>
        <p:txBody>
          <a:bodyPr spcFirstLastPara="1" wrap="square" lIns="121900" tIns="60950" rIns="121900" bIns="60950" anchor="b" anchorCtr="0">
            <a:noAutofit/>
          </a:bodyPr>
          <a:lstStyle/>
          <a:p>
            <a:pPr marL="0" marR="0" lvl="0" indent="0" algn="l" rtl="0">
              <a:lnSpc>
                <a:spcPct val="90000"/>
              </a:lnSpc>
              <a:spcBef>
                <a:spcPts val="0"/>
              </a:spcBef>
              <a:spcAft>
                <a:spcPts val="0"/>
              </a:spcAft>
              <a:buNone/>
            </a:pPr>
            <a:r>
              <a:rPr lang="en-US" sz="5333" b="0" i="0" u="none" strike="noStrike" cap="none">
                <a:solidFill>
                  <a:schemeClr val="dk1"/>
                </a:solidFill>
                <a:latin typeface="Proxima Nova"/>
                <a:ea typeface="Proxima Nova"/>
                <a:cs typeface="Proxima Nova"/>
                <a:sym typeface="Proxima Nova"/>
              </a:rPr>
              <a:t>The LJMU Experience</a:t>
            </a:r>
            <a:endParaRPr sz="1400" b="0" i="0" u="none" strike="noStrike" cap="none">
              <a:solidFill>
                <a:schemeClr val="dk1"/>
              </a:solidFill>
              <a:latin typeface="Arial"/>
              <a:ea typeface="Arial"/>
              <a:cs typeface="Arial"/>
              <a:sym typeface="Arial"/>
            </a:endParaRPr>
          </a:p>
        </p:txBody>
      </p:sp>
      <p:pic>
        <p:nvPicPr>
          <p:cNvPr id="111" name="Google Shape;111;p16"/>
          <p:cNvPicPr preferRelativeResize="0"/>
          <p:nvPr/>
        </p:nvPicPr>
        <p:blipFill rotWithShape="1">
          <a:blip r:embed="rId3">
            <a:alphaModFix/>
          </a:blip>
          <a:srcRect l="1643" t="602" r="5947" b="21205"/>
          <a:stretch/>
        </p:blipFill>
        <p:spPr>
          <a:xfrm>
            <a:off x="11151" y="-19325"/>
            <a:ext cx="12192003" cy="6877329"/>
          </a:xfrm>
          <a:prstGeom prst="rect">
            <a:avLst/>
          </a:prstGeom>
          <a:noFill/>
          <a:ln>
            <a:noFill/>
          </a:ln>
        </p:spPr>
      </p:pic>
      <p:pic>
        <p:nvPicPr>
          <p:cNvPr id="112" name="Google Shape;112;p16"/>
          <p:cNvPicPr preferRelativeResize="0"/>
          <p:nvPr/>
        </p:nvPicPr>
        <p:blipFill rotWithShape="1">
          <a:blip r:embed="rId4">
            <a:alphaModFix/>
          </a:blip>
          <a:srcRect/>
          <a:stretch/>
        </p:blipFill>
        <p:spPr>
          <a:xfrm>
            <a:off x="10109828" y="0"/>
            <a:ext cx="1808723" cy="2103309"/>
          </a:xfrm>
          <a:prstGeom prst="rect">
            <a:avLst/>
          </a:prstGeom>
          <a:noFill/>
          <a:ln>
            <a:noFill/>
          </a:ln>
        </p:spPr>
      </p:pic>
      <p:sp>
        <p:nvSpPr>
          <p:cNvPr id="113" name="Google Shape;113;p16"/>
          <p:cNvSpPr txBox="1">
            <a:spLocks noGrp="1"/>
          </p:cNvSpPr>
          <p:nvPr>
            <p:ph type="sldNum" idx="12"/>
          </p:nvPr>
        </p:nvSpPr>
        <p:spPr>
          <a:xfrm>
            <a:off x="8822635" y="5349876"/>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1</a:t>
            </a:fld>
            <a:endParaRPr/>
          </a:p>
        </p:txBody>
      </p:sp>
      <p:sp>
        <p:nvSpPr>
          <p:cNvPr id="114" name="Google Shape;114;p16"/>
          <p:cNvSpPr/>
          <p:nvPr/>
        </p:nvSpPr>
        <p:spPr>
          <a:xfrm>
            <a:off x="761350" y="3397025"/>
            <a:ext cx="7307475" cy="18522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None/>
            </a:pPr>
            <a:r>
              <a:rPr lang="en-US" sz="3600" b="1" i="0" u="none" strike="noStrike" cap="none" dirty="0">
                <a:solidFill>
                  <a:schemeClr val="dk1"/>
                </a:solidFill>
                <a:latin typeface="Times New Roman"/>
                <a:ea typeface="Times New Roman"/>
                <a:cs typeface="Times New Roman"/>
                <a:sym typeface="Times New Roman"/>
              </a:rPr>
              <a:t>Topic : Semantic Processing</a:t>
            </a:r>
            <a:endParaRPr sz="3600" b="1"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3600" b="1"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36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7"/>
          <p:cNvSpPr txBox="1">
            <a:spLocks noGrp="1"/>
          </p:cNvSpPr>
          <p:nvPr>
            <p:ph type="dt" idx="10"/>
          </p:nvPr>
        </p:nvSpPr>
        <p:spPr>
          <a:xfrm>
            <a:off x="850900" y="6356351"/>
            <a:ext cx="2743200" cy="365200"/>
          </a:xfrm>
          <a:prstGeom prst="rect">
            <a:avLst/>
          </a:prstGeom>
          <a:noFill/>
          <a:ln>
            <a:noFill/>
          </a:ln>
        </p:spPr>
        <p:txBody>
          <a:bodyPr spcFirstLastPara="1" wrap="square" lIns="121900" tIns="60925" rIns="121900" bIns="60925" anchor="ctr" anchorCtr="0">
            <a:noAutofit/>
          </a:bodyPr>
          <a:lstStyle/>
          <a:p>
            <a:pPr marL="0" lvl="0" indent="0" algn="l" rtl="0">
              <a:lnSpc>
                <a:spcPct val="100000"/>
              </a:lnSpc>
              <a:spcBef>
                <a:spcPts val="0"/>
              </a:spcBef>
              <a:spcAft>
                <a:spcPts val="0"/>
              </a:spcAft>
              <a:buClr>
                <a:schemeClr val="lt1"/>
              </a:buClr>
              <a:buSzPts val="1400"/>
              <a:buFont typeface="Proxima Nova"/>
              <a:buNone/>
            </a:pPr>
            <a:r>
              <a:rPr lang="en-US" sz="1200">
                <a:latin typeface="Proxima Nova"/>
                <a:ea typeface="Proxima Nova"/>
                <a:cs typeface="Proxima Nova"/>
                <a:sym typeface="Proxima Nova"/>
              </a:rPr>
              <a:t>23/05/19</a:t>
            </a:r>
            <a:endParaRPr sz="1200">
              <a:latin typeface="Proxima Nova"/>
              <a:ea typeface="Proxima Nova"/>
              <a:cs typeface="Proxima Nova"/>
              <a:sym typeface="Proxima Nova"/>
            </a:endParaRPr>
          </a:p>
        </p:txBody>
      </p:sp>
      <p:sp>
        <p:nvSpPr>
          <p:cNvPr id="120" name="Google Shape;120;p17"/>
          <p:cNvSpPr txBox="1">
            <a:spLocks noGrp="1"/>
          </p:cNvSpPr>
          <p:nvPr>
            <p:ph type="sldNum" idx="12"/>
          </p:nvPr>
        </p:nvSpPr>
        <p:spPr>
          <a:xfrm>
            <a:off x="8623300" y="6356351"/>
            <a:ext cx="2743200" cy="3652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a:t>2</a:t>
            </a:fld>
            <a:endParaRPr/>
          </a:p>
        </p:txBody>
      </p:sp>
      <p:sp>
        <p:nvSpPr>
          <p:cNvPr id="121" name="Google Shape;121;p17"/>
          <p:cNvSpPr txBox="1"/>
          <p:nvPr/>
        </p:nvSpPr>
        <p:spPr>
          <a:xfrm>
            <a:off x="850900" y="873209"/>
            <a:ext cx="5910000" cy="697600"/>
          </a:xfrm>
          <a:prstGeom prst="rect">
            <a:avLst/>
          </a:prstGeom>
          <a:noFill/>
          <a:ln>
            <a:noFill/>
          </a:ln>
        </p:spPr>
        <p:txBody>
          <a:bodyPr spcFirstLastPara="1" wrap="square" lIns="121900" tIns="60925" rIns="121900" bIns="60925" anchor="t" anchorCtr="0">
            <a:noAutofit/>
          </a:bodyPr>
          <a:lstStyle/>
          <a:p>
            <a:pPr marL="0" marR="0" lvl="0" indent="0" algn="l" rtl="0">
              <a:spcBef>
                <a:spcPts val="0"/>
              </a:spcBef>
              <a:spcAft>
                <a:spcPts val="0"/>
              </a:spcAft>
              <a:buNone/>
            </a:pPr>
            <a:r>
              <a:rPr lang="en-US" sz="3733" b="0" i="0" u="none" strike="noStrike" cap="none">
                <a:solidFill>
                  <a:schemeClr val="lt1"/>
                </a:solidFill>
                <a:latin typeface="Lato"/>
                <a:ea typeface="Lato"/>
                <a:cs typeface="Lato"/>
                <a:sym typeface="Lato"/>
              </a:rPr>
              <a:t>Agenda</a:t>
            </a:r>
            <a:endParaRPr sz="3733" b="0" i="0" u="none" strike="noStrike" cap="none">
              <a:solidFill>
                <a:schemeClr val="lt1"/>
              </a:solidFill>
              <a:latin typeface="Lato"/>
              <a:ea typeface="Lato"/>
              <a:cs typeface="Lato"/>
              <a:sym typeface="Lato"/>
            </a:endParaRPr>
          </a:p>
        </p:txBody>
      </p:sp>
      <p:sp>
        <p:nvSpPr>
          <p:cNvPr id="122" name="Google Shape;122;p17"/>
          <p:cNvSpPr txBox="1"/>
          <p:nvPr/>
        </p:nvSpPr>
        <p:spPr>
          <a:xfrm>
            <a:off x="850900" y="2010032"/>
            <a:ext cx="651600" cy="492400"/>
          </a:xfrm>
          <a:prstGeom prst="rect">
            <a:avLst/>
          </a:prstGeom>
          <a:noFill/>
          <a:ln>
            <a:noFill/>
          </a:ln>
        </p:spPr>
        <p:txBody>
          <a:bodyPr spcFirstLastPara="1" wrap="square" lIns="121900" tIns="60925" rIns="121900" bIns="60925" anchor="t" anchorCtr="0">
            <a:noAutofit/>
          </a:bodyPr>
          <a:lstStyle/>
          <a:p>
            <a:pPr marL="0" marR="0" lvl="0" indent="0" algn="l" rtl="0">
              <a:spcBef>
                <a:spcPts val="0"/>
              </a:spcBef>
              <a:spcAft>
                <a:spcPts val="0"/>
              </a:spcAft>
              <a:buNone/>
            </a:pPr>
            <a:r>
              <a:rPr lang="en-US" sz="2400" b="0" i="0" u="none" strike="noStrike" cap="none">
                <a:solidFill>
                  <a:schemeClr val="lt1"/>
                </a:solidFill>
                <a:latin typeface="Lato"/>
                <a:ea typeface="Lato"/>
                <a:cs typeface="Lato"/>
                <a:sym typeface="Lato"/>
              </a:rPr>
              <a:t>1.</a:t>
            </a:r>
            <a:endParaRPr sz="1867" b="0" i="0" u="none" strike="noStrike" cap="none">
              <a:solidFill>
                <a:schemeClr val="dk1"/>
              </a:solidFill>
              <a:latin typeface="Lato"/>
              <a:ea typeface="Lato"/>
              <a:cs typeface="Lato"/>
              <a:sym typeface="Lato"/>
            </a:endParaRPr>
          </a:p>
        </p:txBody>
      </p:sp>
      <p:sp>
        <p:nvSpPr>
          <p:cNvPr id="123" name="Google Shape;123;p17"/>
          <p:cNvSpPr txBox="1"/>
          <p:nvPr/>
        </p:nvSpPr>
        <p:spPr>
          <a:xfrm>
            <a:off x="850891" y="2844807"/>
            <a:ext cx="651600" cy="492400"/>
          </a:xfrm>
          <a:prstGeom prst="rect">
            <a:avLst/>
          </a:prstGeom>
          <a:noFill/>
          <a:ln>
            <a:noFill/>
          </a:ln>
        </p:spPr>
        <p:txBody>
          <a:bodyPr spcFirstLastPara="1" wrap="square" lIns="121900" tIns="60925" rIns="121900" bIns="60925" anchor="t" anchorCtr="0">
            <a:noAutofit/>
          </a:bodyPr>
          <a:lstStyle/>
          <a:p>
            <a:pPr marL="0" marR="0" lvl="0" indent="0" algn="l" rtl="0">
              <a:spcBef>
                <a:spcPts val="0"/>
              </a:spcBef>
              <a:spcAft>
                <a:spcPts val="0"/>
              </a:spcAft>
              <a:buNone/>
            </a:pPr>
            <a:r>
              <a:rPr lang="en-US" sz="2400" b="0" i="0" u="none" strike="noStrike" cap="none">
                <a:solidFill>
                  <a:schemeClr val="lt1"/>
                </a:solidFill>
                <a:latin typeface="Lato"/>
                <a:ea typeface="Lato"/>
                <a:cs typeface="Lato"/>
                <a:sym typeface="Lato"/>
              </a:rPr>
              <a:t>2.</a:t>
            </a:r>
            <a:endParaRPr sz="2400" b="0" i="0" u="none" strike="noStrike" cap="none">
              <a:solidFill>
                <a:schemeClr val="lt1"/>
              </a:solidFill>
              <a:latin typeface="Lato"/>
              <a:ea typeface="Lato"/>
              <a:cs typeface="Lato"/>
              <a:sym typeface="Lato"/>
            </a:endParaRPr>
          </a:p>
        </p:txBody>
      </p:sp>
      <p:sp>
        <p:nvSpPr>
          <p:cNvPr id="124" name="Google Shape;124;p17"/>
          <p:cNvSpPr txBox="1"/>
          <p:nvPr/>
        </p:nvSpPr>
        <p:spPr>
          <a:xfrm>
            <a:off x="850891" y="3492319"/>
            <a:ext cx="651600" cy="492400"/>
          </a:xfrm>
          <a:prstGeom prst="rect">
            <a:avLst/>
          </a:prstGeom>
          <a:noFill/>
          <a:ln>
            <a:noFill/>
          </a:ln>
        </p:spPr>
        <p:txBody>
          <a:bodyPr spcFirstLastPara="1" wrap="square" lIns="121900" tIns="60925" rIns="121900" bIns="60925" anchor="t" anchorCtr="0">
            <a:noAutofit/>
          </a:bodyPr>
          <a:lstStyle/>
          <a:p>
            <a:pPr marL="0" marR="0" lvl="0" indent="0" algn="l" rtl="0">
              <a:spcBef>
                <a:spcPts val="0"/>
              </a:spcBef>
              <a:spcAft>
                <a:spcPts val="0"/>
              </a:spcAft>
              <a:buNone/>
            </a:pPr>
            <a:r>
              <a:rPr lang="en-US" sz="2400" b="0" i="0" u="none" strike="noStrike" cap="none">
                <a:solidFill>
                  <a:schemeClr val="lt1"/>
                </a:solidFill>
                <a:latin typeface="Lato"/>
                <a:ea typeface="Lato"/>
                <a:cs typeface="Lato"/>
                <a:sym typeface="Lato"/>
              </a:rPr>
              <a:t>3.</a:t>
            </a:r>
            <a:endParaRPr sz="2400" b="0" i="0" u="none" strike="noStrike" cap="none">
              <a:solidFill>
                <a:schemeClr val="lt1"/>
              </a:solidFill>
              <a:latin typeface="Lato"/>
              <a:ea typeface="Lato"/>
              <a:cs typeface="Lato"/>
              <a:sym typeface="Lato"/>
            </a:endParaRPr>
          </a:p>
        </p:txBody>
      </p:sp>
      <p:sp>
        <p:nvSpPr>
          <p:cNvPr id="125" name="Google Shape;125;p17"/>
          <p:cNvSpPr txBox="1"/>
          <p:nvPr/>
        </p:nvSpPr>
        <p:spPr>
          <a:xfrm>
            <a:off x="1502491" y="3535669"/>
            <a:ext cx="7783024" cy="492400"/>
          </a:xfrm>
          <a:prstGeom prst="rect">
            <a:avLst/>
          </a:prstGeom>
          <a:noFill/>
          <a:ln>
            <a:noFill/>
          </a:ln>
        </p:spPr>
        <p:txBody>
          <a:bodyPr spcFirstLastPara="1" wrap="square" lIns="121900" tIns="60925" rIns="121900" bIns="60925" anchor="t" anchorCtr="0">
            <a:noAutofit/>
          </a:bodyPr>
          <a:lstStyle/>
          <a:p>
            <a:pPr marL="0" marR="0" lvl="0" indent="0" algn="l" rtl="0">
              <a:spcBef>
                <a:spcPts val="0"/>
              </a:spcBef>
              <a:spcAft>
                <a:spcPts val="0"/>
              </a:spcAft>
              <a:buClr>
                <a:schemeClr val="lt1"/>
              </a:buClr>
              <a:buSzPts val="1800"/>
              <a:buFont typeface="Arial"/>
              <a:buNone/>
            </a:pPr>
            <a:r>
              <a:rPr lang="en-US" sz="1800" b="1" i="0" u="none" strike="noStrike" cap="none">
                <a:solidFill>
                  <a:schemeClr val="lt1"/>
                </a:solidFill>
                <a:latin typeface="Arial"/>
                <a:ea typeface="Arial"/>
                <a:cs typeface="Arial"/>
                <a:sym typeface="Arial"/>
              </a:rPr>
              <a:t>Applying Vector Operations and Understanding Word Relationships </a:t>
            </a:r>
            <a:endParaRPr sz="2400" b="1" i="0" u="none" strike="noStrike" cap="none">
              <a:solidFill>
                <a:schemeClr val="lt1"/>
              </a:solidFill>
              <a:latin typeface="Lato"/>
              <a:ea typeface="Lato"/>
              <a:cs typeface="Lato"/>
              <a:sym typeface="Lato"/>
            </a:endParaRPr>
          </a:p>
        </p:txBody>
      </p:sp>
      <p:sp>
        <p:nvSpPr>
          <p:cNvPr id="126" name="Google Shape;126;p17"/>
          <p:cNvSpPr txBox="1"/>
          <p:nvPr/>
        </p:nvSpPr>
        <p:spPr>
          <a:xfrm>
            <a:off x="1482576" y="2851401"/>
            <a:ext cx="9858533" cy="492400"/>
          </a:xfrm>
          <a:prstGeom prst="rect">
            <a:avLst/>
          </a:prstGeom>
          <a:noFill/>
          <a:ln>
            <a:noFill/>
          </a:ln>
        </p:spPr>
        <p:txBody>
          <a:bodyPr spcFirstLastPara="1" wrap="square" lIns="121900" tIns="60925" rIns="121900" bIns="60925" anchor="t" anchorCtr="0">
            <a:noAutofit/>
          </a:bodyPr>
          <a:lstStyle/>
          <a:p>
            <a:pPr marL="0" marR="0" lvl="0" indent="0" algn="l" rtl="0">
              <a:spcBef>
                <a:spcPts val="0"/>
              </a:spcBef>
              <a:spcAft>
                <a:spcPts val="0"/>
              </a:spcAft>
              <a:buNone/>
            </a:pPr>
            <a:r>
              <a:rPr lang="en-US" sz="1800" b="1" i="0" u="none" strike="noStrike" cap="none">
                <a:solidFill>
                  <a:schemeClr val="lt1"/>
                </a:solidFill>
                <a:latin typeface="Arial"/>
                <a:ea typeface="Arial"/>
                <a:cs typeface="Arial"/>
                <a:sym typeface="Arial"/>
              </a:rPr>
              <a:t>Training Word2Vec Models and Analogies </a:t>
            </a:r>
            <a:endParaRPr sz="2400" b="1" i="0" u="none" strike="noStrike" cap="none">
              <a:solidFill>
                <a:schemeClr val="lt1"/>
              </a:solidFill>
              <a:latin typeface="Lato"/>
              <a:ea typeface="Lato"/>
              <a:cs typeface="Lato"/>
              <a:sym typeface="Lato"/>
            </a:endParaRPr>
          </a:p>
        </p:txBody>
      </p:sp>
      <p:sp>
        <p:nvSpPr>
          <p:cNvPr id="127" name="Google Shape;127;p17"/>
          <p:cNvSpPr txBox="1"/>
          <p:nvPr/>
        </p:nvSpPr>
        <p:spPr>
          <a:xfrm>
            <a:off x="1342867" y="2070200"/>
            <a:ext cx="9858532" cy="492400"/>
          </a:xfrm>
          <a:prstGeom prst="rect">
            <a:avLst/>
          </a:prstGeom>
          <a:noFill/>
          <a:ln>
            <a:noFill/>
          </a:ln>
        </p:spPr>
        <p:txBody>
          <a:bodyPr spcFirstLastPara="1" wrap="square" lIns="121900" tIns="60925" rIns="121900" bIns="60925" anchor="t" anchorCtr="0">
            <a:noAutofit/>
          </a:bodyPr>
          <a:lstStyle/>
          <a:p>
            <a:pPr marL="0" marR="0" lvl="0" indent="0" algn="l" rtl="0">
              <a:spcBef>
                <a:spcPts val="0"/>
              </a:spcBef>
              <a:spcAft>
                <a:spcPts val="0"/>
              </a:spcAft>
              <a:buNone/>
            </a:pPr>
            <a:r>
              <a:rPr lang="en-US" sz="1800" b="1" i="0" u="none" strike="noStrike" cap="none">
                <a:solidFill>
                  <a:schemeClr val="lt1"/>
                </a:solidFill>
                <a:latin typeface="Arial"/>
                <a:ea typeface="Arial"/>
                <a:cs typeface="Arial"/>
                <a:sym typeface="Arial"/>
              </a:rPr>
              <a:t>Introduction to Word2Vec models and Setup with Gensim</a:t>
            </a:r>
            <a:endParaRPr sz="2400" b="1" i="0" u="none" strike="noStrike" cap="none">
              <a:solidFill>
                <a:schemeClr val="lt1"/>
              </a:solidFill>
              <a:latin typeface="Lato"/>
              <a:ea typeface="Lato"/>
              <a:cs typeface="Lato"/>
              <a:sym typeface="Lato"/>
            </a:endParaRPr>
          </a:p>
        </p:txBody>
      </p:sp>
      <p:sp>
        <p:nvSpPr>
          <p:cNvPr id="128" name="Google Shape;128;p17"/>
          <p:cNvSpPr txBox="1"/>
          <p:nvPr/>
        </p:nvSpPr>
        <p:spPr>
          <a:xfrm>
            <a:off x="850891" y="4296612"/>
            <a:ext cx="651600" cy="492400"/>
          </a:xfrm>
          <a:prstGeom prst="rect">
            <a:avLst/>
          </a:prstGeom>
          <a:noFill/>
          <a:ln>
            <a:noFill/>
          </a:ln>
        </p:spPr>
        <p:txBody>
          <a:bodyPr spcFirstLastPara="1" wrap="square" lIns="121900" tIns="60925" rIns="121900" bIns="60925" anchor="t" anchorCtr="0">
            <a:noAutofit/>
          </a:bodyPr>
          <a:lstStyle/>
          <a:p>
            <a:pPr marL="0" marR="0" lvl="0" indent="0" algn="l" rtl="0">
              <a:spcBef>
                <a:spcPts val="0"/>
              </a:spcBef>
              <a:spcAft>
                <a:spcPts val="0"/>
              </a:spcAft>
              <a:buNone/>
            </a:pPr>
            <a:r>
              <a:rPr lang="en-US" sz="2400" b="0" i="0" u="none" strike="noStrike" cap="none">
                <a:solidFill>
                  <a:schemeClr val="lt1"/>
                </a:solidFill>
                <a:latin typeface="Lato"/>
                <a:ea typeface="Lato"/>
                <a:cs typeface="Lato"/>
                <a:sym typeface="Lato"/>
              </a:rPr>
              <a:t>4.</a:t>
            </a:r>
            <a:endParaRPr sz="2400" b="0" i="0" u="none" strike="noStrike" cap="none">
              <a:solidFill>
                <a:schemeClr val="lt1"/>
              </a:solidFill>
              <a:latin typeface="Lato"/>
              <a:ea typeface="Lato"/>
              <a:cs typeface="Lato"/>
              <a:sym typeface="Lato"/>
            </a:endParaRPr>
          </a:p>
        </p:txBody>
      </p:sp>
      <p:sp>
        <p:nvSpPr>
          <p:cNvPr id="129" name="Google Shape;129;p17"/>
          <p:cNvSpPr txBox="1"/>
          <p:nvPr/>
        </p:nvSpPr>
        <p:spPr>
          <a:xfrm>
            <a:off x="1572830" y="4319338"/>
            <a:ext cx="7783024" cy="492400"/>
          </a:xfrm>
          <a:prstGeom prst="rect">
            <a:avLst/>
          </a:prstGeom>
          <a:noFill/>
          <a:ln>
            <a:noFill/>
          </a:ln>
        </p:spPr>
        <p:txBody>
          <a:bodyPr spcFirstLastPara="1" wrap="square" lIns="121900" tIns="60925" rIns="121900" bIns="60925" anchor="t" anchorCtr="0">
            <a:noAutofit/>
          </a:bodyPr>
          <a:lstStyle/>
          <a:p>
            <a:pPr marL="0" marR="0" lvl="0" indent="0" algn="l" rtl="0">
              <a:spcBef>
                <a:spcPts val="0"/>
              </a:spcBef>
              <a:spcAft>
                <a:spcPts val="0"/>
              </a:spcAft>
              <a:buClr>
                <a:schemeClr val="lt1"/>
              </a:buClr>
              <a:buSzPts val="1800"/>
              <a:buFont typeface="Arial"/>
              <a:buNone/>
            </a:pPr>
            <a:r>
              <a:rPr lang="en-US" sz="1800" b="1" i="0" u="none" strike="noStrike" cap="none">
                <a:solidFill>
                  <a:schemeClr val="lt1"/>
                </a:solidFill>
                <a:latin typeface="Arial"/>
                <a:ea typeface="Arial"/>
                <a:cs typeface="Arial"/>
                <a:sym typeface="Arial"/>
              </a:rPr>
              <a:t>QnR</a:t>
            </a:r>
            <a:br>
              <a:rPr lang="en-US" sz="3200" b="0" i="0" u="none" strike="noStrike" cap="none">
                <a:solidFill>
                  <a:schemeClr val="lt1"/>
                </a:solidFill>
                <a:latin typeface="Calibri"/>
                <a:ea typeface="Calibri"/>
                <a:cs typeface="Calibri"/>
                <a:sym typeface="Calibri"/>
              </a:rPr>
            </a:br>
            <a:br>
              <a:rPr lang="en-US" sz="3200" b="0" i="0" u="none" strike="noStrike" cap="none">
                <a:solidFill>
                  <a:schemeClr val="lt1"/>
                </a:solidFill>
                <a:latin typeface="Calibri"/>
                <a:ea typeface="Calibri"/>
                <a:cs typeface="Calibri"/>
                <a:sym typeface="Calibri"/>
              </a:rPr>
            </a:br>
            <a:endParaRPr sz="3200" b="0" i="0" u="none" strike="noStrike" cap="non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8"/>
          <p:cNvSpPr txBox="1">
            <a:spLocks noGrp="1"/>
          </p:cNvSpPr>
          <p:nvPr>
            <p:ph type="title"/>
          </p:nvPr>
        </p:nvSpPr>
        <p:spPr>
          <a:xfrm>
            <a:off x="422239" y="162623"/>
            <a:ext cx="4981204" cy="510085"/>
          </a:xfrm>
          <a:prstGeom prst="rect">
            <a:avLst/>
          </a:prstGeom>
          <a:noFill/>
          <a:ln>
            <a:noFill/>
          </a:ln>
        </p:spPr>
        <p:txBody>
          <a:bodyPr spcFirstLastPara="1" wrap="square" lIns="121900" tIns="121900" rIns="121900" bIns="121900" anchor="t" anchorCtr="0">
            <a:normAutofit fontScale="90000"/>
          </a:bodyPr>
          <a:lstStyle/>
          <a:p>
            <a:pPr marL="0" lvl="0" indent="0" algn="l" rtl="0">
              <a:lnSpc>
                <a:spcPct val="90000"/>
              </a:lnSpc>
              <a:spcBef>
                <a:spcPts val="0"/>
              </a:spcBef>
              <a:spcAft>
                <a:spcPts val="0"/>
              </a:spcAft>
              <a:buClr>
                <a:schemeClr val="lt1"/>
              </a:buClr>
              <a:buSzPct val="111111"/>
              <a:buFont typeface="Proxima Nova"/>
              <a:buNone/>
            </a:pPr>
            <a:r>
              <a:rPr lang="en-US" b="1"/>
              <a:t>What is Embedding?</a:t>
            </a:r>
            <a:endParaRPr b="1"/>
          </a:p>
        </p:txBody>
      </p:sp>
      <p:sp>
        <p:nvSpPr>
          <p:cNvPr id="135" name="Google Shape;135;p18"/>
          <p:cNvSpPr txBox="1"/>
          <p:nvPr/>
        </p:nvSpPr>
        <p:spPr>
          <a:xfrm>
            <a:off x="555172" y="1265983"/>
            <a:ext cx="6094324"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42424"/>
              </a:buClr>
              <a:buSzPts val="1800"/>
              <a:buFont typeface="Arial"/>
              <a:buNone/>
            </a:pPr>
            <a:r>
              <a:rPr lang="en-US" sz="1800" b="1" i="1" u="none" strike="noStrike" cap="none">
                <a:solidFill>
                  <a:srgbClr val="242424"/>
                </a:solidFill>
                <a:latin typeface="Arial"/>
                <a:ea typeface="Arial"/>
                <a:cs typeface="Arial"/>
                <a:sym typeface="Arial"/>
              </a:rPr>
              <a:t>Vector</a:t>
            </a:r>
            <a:r>
              <a:rPr lang="en-US" sz="1800" b="0" i="1" u="none" strike="noStrike" cap="none">
                <a:solidFill>
                  <a:srgbClr val="242424"/>
                </a:solidFill>
                <a:latin typeface="Arial"/>
                <a:ea typeface="Arial"/>
                <a:cs typeface="Arial"/>
                <a:sym typeface="Arial"/>
              </a:rPr>
              <a:t>- A quantity having direction as well as magnitude, especially as determining the position of one point in space relative to another.</a:t>
            </a:r>
            <a:endParaRPr sz="1800" b="0" i="0" u="none" strike="noStrike" cap="none">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br>
              <a:rPr lang="en-US" sz="1800" b="0" i="0" u="none" strike="noStrike" cap="none">
                <a:solidFill>
                  <a:schemeClr val="dk1"/>
                </a:solidFill>
                <a:latin typeface="Arial"/>
                <a:ea typeface="Arial"/>
                <a:cs typeface="Arial"/>
                <a:sym typeface="Arial"/>
              </a:rPr>
            </a:br>
            <a:endParaRPr sz="1800" b="0" i="0" u="none" strike="noStrike" cap="none">
              <a:solidFill>
                <a:schemeClr val="dk1"/>
              </a:solidFill>
              <a:latin typeface="Arial"/>
              <a:ea typeface="Arial"/>
              <a:cs typeface="Arial"/>
              <a:sym typeface="Arial"/>
            </a:endParaRPr>
          </a:p>
        </p:txBody>
      </p:sp>
      <p:pic>
        <p:nvPicPr>
          <p:cNvPr id="136" name="Google Shape;136;p18"/>
          <p:cNvPicPr preferRelativeResize="0"/>
          <p:nvPr/>
        </p:nvPicPr>
        <p:blipFill rotWithShape="1">
          <a:blip r:embed="rId3">
            <a:alphaModFix/>
          </a:blip>
          <a:srcRect/>
          <a:stretch/>
        </p:blipFill>
        <p:spPr>
          <a:xfrm>
            <a:off x="7047087" y="1053507"/>
            <a:ext cx="4810125" cy="4972050"/>
          </a:xfrm>
          <a:prstGeom prst="rect">
            <a:avLst/>
          </a:prstGeom>
          <a:noFill/>
          <a:ln>
            <a:noFill/>
          </a:ln>
        </p:spPr>
      </p:pic>
      <p:pic>
        <p:nvPicPr>
          <p:cNvPr id="137" name="Google Shape;137;p18"/>
          <p:cNvPicPr preferRelativeResize="0"/>
          <p:nvPr/>
        </p:nvPicPr>
        <p:blipFill rotWithShape="1">
          <a:blip r:embed="rId4">
            <a:alphaModFix/>
          </a:blip>
          <a:srcRect/>
          <a:stretch/>
        </p:blipFill>
        <p:spPr>
          <a:xfrm>
            <a:off x="758808" y="2543065"/>
            <a:ext cx="3419475" cy="31432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9"/>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One-hot vector</a:t>
            </a:r>
            <a:endParaRPr b="1"/>
          </a:p>
        </p:txBody>
      </p:sp>
      <p:pic>
        <p:nvPicPr>
          <p:cNvPr id="143" name="Google Shape;143;p19"/>
          <p:cNvPicPr preferRelativeResize="0"/>
          <p:nvPr/>
        </p:nvPicPr>
        <p:blipFill rotWithShape="1">
          <a:blip r:embed="rId3">
            <a:alphaModFix/>
          </a:blip>
          <a:srcRect/>
          <a:stretch/>
        </p:blipFill>
        <p:spPr>
          <a:xfrm>
            <a:off x="113526" y="1998897"/>
            <a:ext cx="8849960" cy="4696480"/>
          </a:xfrm>
          <a:prstGeom prst="rect">
            <a:avLst/>
          </a:prstGeom>
          <a:noFill/>
          <a:ln>
            <a:noFill/>
          </a:ln>
        </p:spPr>
      </p:pic>
      <p:sp>
        <p:nvSpPr>
          <p:cNvPr id="144" name="Google Shape;144;p19"/>
          <p:cNvSpPr/>
          <p:nvPr/>
        </p:nvSpPr>
        <p:spPr>
          <a:xfrm>
            <a:off x="251209" y="966133"/>
            <a:ext cx="8146782" cy="107721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Each word is represented by a </a:t>
            </a:r>
            <a:r>
              <a:rPr lang="en-US" sz="1600" b="1" i="0" u="none" strike="noStrike" cap="none">
                <a:solidFill>
                  <a:schemeClr val="dk1"/>
                </a:solidFill>
                <a:latin typeface="Calibri"/>
                <a:ea typeface="Calibri"/>
                <a:cs typeface="Calibri"/>
                <a:sym typeface="Calibri"/>
              </a:rPr>
              <a:t>1-hot vector</a:t>
            </a:r>
            <a:r>
              <a:rPr lang="en-US" sz="1600" b="0" i="0" u="none" strike="noStrike" cap="none">
                <a:solidFill>
                  <a:schemeClr val="dk1"/>
                </a:solidFill>
                <a:latin typeface="Calibri"/>
                <a:ea typeface="Calibri"/>
                <a:cs typeface="Calibri"/>
                <a:sym typeface="Calibri"/>
              </a:rPr>
              <a:t> of size 10,000:</a:t>
            </a:r>
            <a:endParaRPr/>
          </a:p>
          <a:p>
            <a:pPr marL="0" marR="0" lvl="0" indent="-101600" algn="l" rtl="0">
              <a:lnSpc>
                <a:spcPct val="100000"/>
              </a:lnSpc>
              <a:spcBef>
                <a:spcPts val="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All elements are zero except one position that corresponds to the word’s index.</a:t>
            </a:r>
            <a:endParaRPr/>
          </a:p>
          <a:p>
            <a:pPr marL="0" marR="0" lvl="0" indent="-101600" algn="l" rtl="0">
              <a:lnSpc>
                <a:spcPct val="100000"/>
              </a:lnSpc>
              <a:spcBef>
                <a:spcPts val="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E.g., for the word “Orange” (index 6257), the one-hot vector has 1 at position 6257, rest are 0.</a:t>
            </a:r>
            <a:endParaRPr/>
          </a:p>
          <a:p>
            <a:pPr marL="0" marR="0" lvl="0" indent="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145" name="Google Shape;145;p19"/>
          <p:cNvSpPr txBox="1"/>
          <p:nvPr/>
        </p:nvSpPr>
        <p:spPr>
          <a:xfrm>
            <a:off x="9180362" y="2690336"/>
            <a:ext cx="2898112"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These vectors are </a:t>
            </a:r>
            <a:r>
              <a:rPr lang="en-US" sz="1800" b="1" i="0" u="none" strike="noStrike" cap="none">
                <a:solidFill>
                  <a:schemeClr val="dk1"/>
                </a:solidFill>
                <a:latin typeface="Arial"/>
                <a:ea typeface="Arial"/>
                <a:cs typeface="Arial"/>
                <a:sym typeface="Arial"/>
              </a:rPr>
              <a:t>sparse</a:t>
            </a:r>
            <a:r>
              <a:rPr lang="en-US" sz="1800" b="0" i="0" u="none" strike="noStrike" cap="none">
                <a:solidFill>
                  <a:schemeClr val="dk1"/>
                </a:solidFill>
                <a:latin typeface="Arial"/>
                <a:ea typeface="Arial"/>
                <a:cs typeface="Arial"/>
                <a:sym typeface="Arial"/>
              </a:rPr>
              <a:t>, </a:t>
            </a:r>
            <a:r>
              <a:rPr lang="en-US" sz="1800" b="1" i="0" u="none" strike="noStrike" cap="none">
                <a:solidFill>
                  <a:schemeClr val="dk1"/>
                </a:solidFill>
                <a:latin typeface="Arial"/>
                <a:ea typeface="Arial"/>
                <a:cs typeface="Arial"/>
                <a:sym typeface="Arial"/>
              </a:rPr>
              <a:t>high-dimensional</a:t>
            </a:r>
            <a:r>
              <a:rPr lang="en-US" sz="1800" b="0" i="0" u="none" strike="noStrike" cap="none">
                <a:solidFill>
                  <a:schemeClr val="dk1"/>
                </a:solidFill>
                <a:latin typeface="Arial"/>
                <a:ea typeface="Arial"/>
                <a:cs typeface="Arial"/>
                <a:sym typeface="Arial"/>
              </a:rPr>
              <a:t>, and </a:t>
            </a:r>
            <a:r>
              <a:rPr lang="en-US" sz="1800" b="1" i="0" u="none" strike="noStrike" cap="none">
                <a:solidFill>
                  <a:schemeClr val="dk1"/>
                </a:solidFill>
                <a:latin typeface="Arial"/>
                <a:ea typeface="Arial"/>
                <a:cs typeface="Arial"/>
                <a:sym typeface="Arial"/>
              </a:rPr>
              <a:t>do not capture meaning or relationships</a:t>
            </a:r>
            <a:r>
              <a:rPr lang="en-US" sz="1800" b="0" i="0" u="none" strike="noStrike" cap="none">
                <a:solidFill>
                  <a:schemeClr val="dk1"/>
                </a:solidFill>
                <a:latin typeface="Arial"/>
                <a:ea typeface="Arial"/>
                <a:cs typeface="Arial"/>
                <a:sym typeface="Arial"/>
              </a:rPr>
              <a:t> between words.</a:t>
            </a:r>
            <a:endParaRPr sz="18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txBox="1">
            <a:spLocks noGrp="1"/>
          </p:cNvSpPr>
          <p:nvPr>
            <p:ph type="title"/>
          </p:nvPr>
        </p:nvSpPr>
        <p:spPr>
          <a:xfrm>
            <a:off x="422238" y="162623"/>
            <a:ext cx="9294517"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Featurized representation: word embedding</a:t>
            </a:r>
            <a:endParaRPr b="1"/>
          </a:p>
        </p:txBody>
      </p:sp>
      <p:pic>
        <p:nvPicPr>
          <p:cNvPr id="151" name="Google Shape;151;p20"/>
          <p:cNvPicPr preferRelativeResize="0"/>
          <p:nvPr/>
        </p:nvPicPr>
        <p:blipFill rotWithShape="1">
          <a:blip r:embed="rId3">
            <a:alphaModFix/>
          </a:blip>
          <a:srcRect/>
          <a:stretch/>
        </p:blipFill>
        <p:spPr>
          <a:xfrm>
            <a:off x="115936" y="2247345"/>
            <a:ext cx="7957187" cy="4186775"/>
          </a:xfrm>
          <a:prstGeom prst="rect">
            <a:avLst/>
          </a:prstGeom>
          <a:noFill/>
          <a:ln>
            <a:noFill/>
          </a:ln>
        </p:spPr>
      </p:pic>
      <p:sp>
        <p:nvSpPr>
          <p:cNvPr id="152" name="Google Shape;152;p20"/>
          <p:cNvSpPr txBox="1"/>
          <p:nvPr/>
        </p:nvSpPr>
        <p:spPr>
          <a:xfrm>
            <a:off x="263769" y="1047016"/>
            <a:ext cx="795718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Instead of sparse one-hot vectors, we now represent each word with a </a:t>
            </a:r>
            <a:r>
              <a:rPr lang="en-US" sz="1800" b="1">
                <a:solidFill>
                  <a:schemeClr val="dk1"/>
                </a:solidFill>
                <a:latin typeface="Arial"/>
                <a:ea typeface="Arial"/>
                <a:cs typeface="Arial"/>
                <a:sym typeface="Arial"/>
              </a:rPr>
              <a:t>dense vector</a:t>
            </a:r>
            <a:r>
              <a:rPr lang="en-US" sz="1800">
                <a:solidFill>
                  <a:schemeClr val="dk1"/>
                </a:solidFill>
                <a:latin typeface="Arial"/>
                <a:ea typeface="Arial"/>
                <a:cs typeface="Arial"/>
                <a:sym typeface="Arial"/>
              </a:rPr>
              <a:t> of real numbers (size 300), capturing </a:t>
            </a:r>
            <a:r>
              <a:rPr lang="en-US" sz="1800" b="1">
                <a:solidFill>
                  <a:schemeClr val="dk1"/>
                </a:solidFill>
                <a:latin typeface="Arial"/>
                <a:ea typeface="Arial"/>
                <a:cs typeface="Arial"/>
                <a:sym typeface="Arial"/>
              </a:rPr>
              <a:t>semantic features</a:t>
            </a:r>
            <a:r>
              <a:rPr lang="en-US" sz="1800">
                <a:solidFill>
                  <a:schemeClr val="dk1"/>
                </a:solidFill>
                <a:latin typeface="Arial"/>
                <a:ea typeface="Arial"/>
                <a:cs typeface="Arial"/>
                <a:sym typeface="Arial"/>
              </a:rPr>
              <a:t> like </a:t>
            </a:r>
            <a:r>
              <a:rPr lang="en-US" sz="1800" b="1">
                <a:solidFill>
                  <a:schemeClr val="dk1"/>
                </a:solidFill>
                <a:latin typeface="Arial"/>
                <a:ea typeface="Arial"/>
                <a:cs typeface="Arial"/>
                <a:sym typeface="Arial"/>
              </a:rPr>
              <a:t>gender</a:t>
            </a:r>
            <a:r>
              <a:rPr lang="en-US" sz="1800">
                <a:solidFill>
                  <a:schemeClr val="dk1"/>
                </a:solidFill>
                <a:latin typeface="Arial"/>
                <a:ea typeface="Arial"/>
                <a:cs typeface="Arial"/>
                <a:sym typeface="Arial"/>
              </a:rPr>
              <a:t>, </a:t>
            </a:r>
            <a:r>
              <a:rPr lang="en-US" sz="1800" b="1">
                <a:solidFill>
                  <a:schemeClr val="dk1"/>
                </a:solidFill>
                <a:latin typeface="Arial"/>
                <a:ea typeface="Arial"/>
                <a:cs typeface="Arial"/>
                <a:sym typeface="Arial"/>
              </a:rPr>
              <a:t>royalty</a:t>
            </a:r>
            <a:r>
              <a:rPr lang="en-US" sz="1800">
                <a:solidFill>
                  <a:schemeClr val="dk1"/>
                </a:solidFill>
                <a:latin typeface="Arial"/>
                <a:ea typeface="Arial"/>
                <a:cs typeface="Arial"/>
                <a:sym typeface="Arial"/>
              </a:rPr>
              <a:t>, </a:t>
            </a:r>
            <a:r>
              <a:rPr lang="en-US" sz="1800" b="1">
                <a:solidFill>
                  <a:schemeClr val="dk1"/>
                </a:solidFill>
                <a:latin typeface="Arial"/>
                <a:ea typeface="Arial"/>
                <a:cs typeface="Arial"/>
                <a:sym typeface="Arial"/>
              </a:rPr>
              <a:t>age</a:t>
            </a:r>
            <a:r>
              <a:rPr lang="en-US" sz="1800">
                <a:solidFill>
                  <a:schemeClr val="dk1"/>
                </a:solidFill>
                <a:latin typeface="Arial"/>
                <a:ea typeface="Arial"/>
                <a:cs typeface="Arial"/>
                <a:sym typeface="Arial"/>
              </a:rPr>
              <a:t>, or </a:t>
            </a:r>
            <a:r>
              <a:rPr lang="en-US" sz="1800" b="1">
                <a:solidFill>
                  <a:schemeClr val="dk1"/>
                </a:solidFill>
                <a:latin typeface="Arial"/>
                <a:ea typeface="Arial"/>
                <a:cs typeface="Arial"/>
                <a:sym typeface="Arial"/>
              </a:rPr>
              <a:t>food</a:t>
            </a: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153" name="Google Shape;153;p20"/>
          <p:cNvSpPr txBox="1"/>
          <p:nvPr/>
        </p:nvSpPr>
        <p:spPr>
          <a:xfrm>
            <a:off x="8386187" y="2881255"/>
            <a:ext cx="3551255"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Now the model knows:</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 Both "apple" and "orange" have </a:t>
            </a:r>
            <a:r>
              <a:rPr lang="en-US" sz="1800" b="1">
                <a:solidFill>
                  <a:schemeClr val="dk1"/>
                </a:solidFill>
                <a:latin typeface="Arial"/>
                <a:ea typeface="Arial"/>
                <a:cs typeface="Arial"/>
                <a:sym typeface="Arial"/>
              </a:rPr>
              <a:t>high food feature values</a:t>
            </a:r>
            <a:r>
              <a:rPr lang="en-US" sz="1800">
                <a:solidFill>
                  <a:schemeClr val="dk1"/>
                </a:solidFill>
                <a:latin typeface="Arial"/>
                <a:ea typeface="Arial"/>
                <a:cs typeface="Arial"/>
                <a:sym typeface="Arial"/>
              </a:rPr>
              <a:t>, so they're </a:t>
            </a:r>
            <a:r>
              <a:rPr lang="en-US" sz="1800" b="1">
                <a:solidFill>
                  <a:schemeClr val="dk1"/>
                </a:solidFill>
                <a:latin typeface="Arial"/>
                <a:ea typeface="Arial"/>
                <a:cs typeface="Arial"/>
                <a:sym typeface="Arial"/>
              </a:rPr>
              <a:t>similar</a:t>
            </a:r>
            <a:r>
              <a:rPr lang="en-US" sz="1800">
                <a:solidFill>
                  <a:schemeClr val="dk1"/>
                </a:solidFill>
                <a:latin typeface="Arial"/>
                <a:ea typeface="Arial"/>
                <a:cs typeface="Arial"/>
                <a:sym typeface="Arial"/>
              </a:rPr>
              <a:t>.</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 "Man" and "Woman" differ in </a:t>
            </a:r>
            <a:r>
              <a:rPr lang="en-US" sz="1800" b="1">
                <a:solidFill>
                  <a:schemeClr val="dk1"/>
                </a:solidFill>
                <a:latin typeface="Arial"/>
                <a:ea typeface="Arial"/>
                <a:cs typeface="Arial"/>
                <a:sym typeface="Arial"/>
              </a:rPr>
              <a:t>gender</a:t>
            </a:r>
            <a:r>
              <a:rPr lang="en-US" sz="1800">
                <a:solidFill>
                  <a:schemeClr val="dk1"/>
                </a:solidFill>
                <a:latin typeface="Arial"/>
                <a:ea typeface="Arial"/>
                <a:cs typeface="Arial"/>
                <a:sym typeface="Arial"/>
              </a:rPr>
              <a:t>, not in food.</a:t>
            </a:r>
            <a:endParaRPr sz="18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1"/>
          <p:cNvSpPr txBox="1">
            <a:spLocks noGrp="1"/>
          </p:cNvSpPr>
          <p:nvPr>
            <p:ph type="title"/>
          </p:nvPr>
        </p:nvSpPr>
        <p:spPr>
          <a:xfrm>
            <a:off x="422238" y="162623"/>
            <a:ext cx="7616441"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Embedding Matrix Mechanism</a:t>
            </a:r>
            <a:endParaRPr b="1"/>
          </a:p>
        </p:txBody>
      </p:sp>
      <p:pic>
        <p:nvPicPr>
          <p:cNvPr id="159" name="Google Shape;159;p21"/>
          <p:cNvPicPr preferRelativeResize="0"/>
          <p:nvPr/>
        </p:nvPicPr>
        <p:blipFill rotWithShape="1">
          <a:blip r:embed="rId3">
            <a:alphaModFix/>
          </a:blip>
          <a:srcRect/>
          <a:stretch/>
        </p:blipFill>
        <p:spPr>
          <a:xfrm>
            <a:off x="301656" y="2261758"/>
            <a:ext cx="7857603" cy="4433619"/>
          </a:xfrm>
          <a:prstGeom prst="rect">
            <a:avLst/>
          </a:prstGeom>
          <a:noFill/>
          <a:ln>
            <a:noFill/>
          </a:ln>
        </p:spPr>
      </p:pic>
      <p:sp>
        <p:nvSpPr>
          <p:cNvPr id="160" name="Google Shape;160;p21"/>
          <p:cNvSpPr/>
          <p:nvPr/>
        </p:nvSpPr>
        <p:spPr>
          <a:xfrm>
            <a:off x="110532" y="1006326"/>
            <a:ext cx="11517897" cy="107721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We store all 10,000 word vectors (each of size 300) in an </a:t>
            </a:r>
            <a:r>
              <a:rPr lang="en-US" sz="1600" b="1" i="0" u="none" strike="noStrike" cap="none">
                <a:solidFill>
                  <a:schemeClr val="dk1"/>
                </a:solidFill>
                <a:latin typeface="Calibri"/>
                <a:ea typeface="Calibri"/>
                <a:cs typeface="Calibri"/>
                <a:sym typeface="Calibri"/>
              </a:rPr>
              <a:t>embedding matrix</a:t>
            </a:r>
            <a:r>
              <a:rPr lang="en-US" sz="1600" b="0" i="0" u="none" strike="noStrike" cap="none">
                <a:solidFill>
                  <a:schemeClr val="dk1"/>
                </a:solidFill>
                <a:latin typeface="Calibri"/>
                <a:ea typeface="Calibri"/>
                <a:cs typeface="Calibri"/>
                <a:sym typeface="Calibri"/>
              </a:rPr>
              <a:t> E of shape (10,000 × 300). Each row corresponds to a word.</a:t>
            </a:r>
            <a:endParaRPr/>
          </a:p>
          <a:p>
            <a:pPr marL="0" marR="0" lvl="0" indent="-101600" algn="l" rtl="0">
              <a:lnSpc>
                <a:spcPct val="100000"/>
              </a:lnSpc>
              <a:spcBef>
                <a:spcPts val="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For word </a:t>
            </a:r>
            <a:r>
              <a:rPr lang="en-US" sz="1600" b="1" i="0" u="none" strike="noStrike" cap="none">
                <a:solidFill>
                  <a:schemeClr val="dk1"/>
                </a:solidFill>
                <a:latin typeface="Calibri"/>
                <a:ea typeface="Calibri"/>
                <a:cs typeface="Calibri"/>
                <a:sym typeface="Calibri"/>
              </a:rPr>
              <a:t>"orange"</a:t>
            </a:r>
            <a:r>
              <a:rPr lang="en-US" sz="1600" b="0" i="0" u="none" strike="noStrike" cap="none">
                <a:solidFill>
                  <a:schemeClr val="dk1"/>
                </a:solidFill>
                <a:latin typeface="Calibri"/>
                <a:ea typeface="Calibri"/>
                <a:cs typeface="Calibri"/>
                <a:sym typeface="Calibri"/>
              </a:rPr>
              <a:t>, index = 6257</a:t>
            </a:r>
            <a:endParaRPr/>
          </a:p>
          <a:p>
            <a:pPr marL="0" marR="0" lvl="0" indent="-101600" algn="l" rtl="0">
              <a:lnSpc>
                <a:spcPct val="100000"/>
              </a:lnSpc>
              <a:spcBef>
                <a:spcPts val="0"/>
              </a:spcBef>
              <a:spcAft>
                <a:spcPts val="0"/>
              </a:spcAft>
              <a:buClr>
                <a:schemeClr val="dk1"/>
              </a:buClr>
              <a:buSzPts val="1600"/>
              <a:buFont typeface="Calibri"/>
              <a:buChar char="•"/>
            </a:pPr>
            <a:r>
              <a:rPr lang="en-US" sz="1600" b="0" i="0" u="none" strike="noStrike" cap="none">
                <a:solidFill>
                  <a:schemeClr val="dk1"/>
                </a:solidFill>
                <a:latin typeface="Calibri"/>
                <a:ea typeface="Calibri"/>
                <a:cs typeface="Calibri"/>
                <a:sym typeface="Calibri"/>
              </a:rPr>
              <a:t>One-hot vector o₆₂₅₇ = [0, ..., 1 at 6257, ..., 0]</a:t>
            </a:r>
            <a:endParaRPr/>
          </a:p>
          <a:p>
            <a:pPr marL="0" marR="0" lvl="0" indent="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Calibri"/>
              <a:ea typeface="Calibri"/>
              <a:cs typeface="Calibri"/>
              <a:sym typeface="Calibri"/>
            </a:endParaRPr>
          </a:p>
        </p:txBody>
      </p:sp>
      <p:pic>
        <p:nvPicPr>
          <p:cNvPr id="161" name="Google Shape;161;p21"/>
          <p:cNvPicPr preferRelativeResize="0"/>
          <p:nvPr/>
        </p:nvPicPr>
        <p:blipFill rotWithShape="1">
          <a:blip r:embed="rId4">
            <a:alphaModFix/>
          </a:blip>
          <a:srcRect/>
          <a:stretch/>
        </p:blipFill>
        <p:spPr>
          <a:xfrm>
            <a:off x="8265635" y="1517302"/>
            <a:ext cx="3362794" cy="628738"/>
          </a:xfrm>
          <a:prstGeom prst="rect">
            <a:avLst/>
          </a:prstGeom>
          <a:noFill/>
          <a:ln>
            <a:noFill/>
          </a:ln>
        </p:spPr>
      </p:pic>
      <p:sp>
        <p:nvSpPr>
          <p:cNvPr id="162" name="Google Shape;162;p21"/>
          <p:cNvSpPr txBox="1"/>
          <p:nvPr/>
        </p:nvSpPr>
        <p:spPr>
          <a:xfrm>
            <a:off x="8605784" y="2594520"/>
            <a:ext cx="3234316"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1" i="0" u="none" strike="noStrike">
                <a:solidFill>
                  <a:schemeClr val="dk1"/>
                </a:solidFill>
                <a:latin typeface="Arial"/>
                <a:ea typeface="Arial"/>
                <a:cs typeface="Arial"/>
                <a:sym typeface="Arial"/>
              </a:rPr>
              <a:t>E.Oj=ej (E=embedded matrix, O=1-hot representation)</a:t>
            </a:r>
            <a:endParaRPr sz="1800" b="1">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br>
              <a:rPr lang="en-US" sz="1800" b="1">
                <a:solidFill>
                  <a:schemeClr val="dk1"/>
                </a:solidFill>
                <a:latin typeface="Arial"/>
                <a:ea typeface="Arial"/>
                <a:cs typeface="Arial"/>
                <a:sym typeface="Arial"/>
              </a:rPr>
            </a:br>
            <a:endParaRPr sz="1800" b="1">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2"/>
          <p:cNvSpPr txBox="1">
            <a:spLocks noGrp="1"/>
          </p:cNvSpPr>
          <p:nvPr>
            <p:ph type="title"/>
          </p:nvPr>
        </p:nvSpPr>
        <p:spPr>
          <a:xfrm>
            <a:off x="422239" y="162623"/>
            <a:ext cx="6531220"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TF-IDF vs Word Embedding</a:t>
            </a:r>
            <a:endParaRPr b="1"/>
          </a:p>
        </p:txBody>
      </p:sp>
      <p:graphicFrame>
        <p:nvGraphicFramePr>
          <p:cNvPr id="168" name="Google Shape;168;p22"/>
          <p:cNvGraphicFramePr/>
          <p:nvPr/>
        </p:nvGraphicFramePr>
        <p:xfrm>
          <a:off x="663191" y="974689"/>
          <a:ext cx="9978000" cy="5767505"/>
        </p:xfrm>
        <a:graphic>
          <a:graphicData uri="http://schemas.openxmlformats.org/drawingml/2006/table">
            <a:tbl>
              <a:tblPr>
                <a:noFill/>
                <a:tableStyleId>{84C0B47E-CC9D-43A6-8C5E-068AE1E5ADA8}</a:tableStyleId>
              </a:tblPr>
              <a:tblGrid>
                <a:gridCol w="3326000">
                  <a:extLst>
                    <a:ext uri="{9D8B030D-6E8A-4147-A177-3AD203B41FA5}">
                      <a16:colId xmlns:a16="http://schemas.microsoft.com/office/drawing/2014/main" val="20000"/>
                    </a:ext>
                  </a:extLst>
                </a:gridCol>
                <a:gridCol w="3326000">
                  <a:extLst>
                    <a:ext uri="{9D8B030D-6E8A-4147-A177-3AD203B41FA5}">
                      <a16:colId xmlns:a16="http://schemas.microsoft.com/office/drawing/2014/main" val="20001"/>
                    </a:ext>
                  </a:extLst>
                </a:gridCol>
                <a:gridCol w="3326000">
                  <a:extLst>
                    <a:ext uri="{9D8B030D-6E8A-4147-A177-3AD203B41FA5}">
                      <a16:colId xmlns:a16="http://schemas.microsoft.com/office/drawing/2014/main" val="20002"/>
                    </a:ext>
                  </a:extLst>
                </a:gridCol>
              </a:tblGrid>
              <a:tr h="465600">
                <a:tc>
                  <a:txBody>
                    <a:bodyPr/>
                    <a:lstStyle/>
                    <a:p>
                      <a:pPr marL="0" marR="0" lvl="0" indent="0" algn="l" rtl="0">
                        <a:spcBef>
                          <a:spcPts val="0"/>
                        </a:spcBef>
                        <a:spcAft>
                          <a:spcPts val="0"/>
                        </a:spcAft>
                        <a:buNone/>
                      </a:pPr>
                      <a:r>
                        <a:rPr lang="en-US" sz="1400" u="none" strike="noStrike" cap="none">
                          <a:latin typeface="Calibri"/>
                          <a:ea typeface="Calibri"/>
                          <a:cs typeface="Calibri"/>
                          <a:sym typeface="Calibri"/>
                        </a:rPr>
                        <a:t>🔍 Aspect</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 TF-IDF (Bag-of-Words)</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 Word Embeddings (Dense Vectors)</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65600">
                <a:tc>
                  <a:txBody>
                    <a:bodyPr/>
                    <a:lstStyle/>
                    <a:p>
                      <a:pPr marL="0" marR="0" lvl="0" indent="0" algn="l" rtl="0">
                        <a:spcBef>
                          <a:spcPts val="0"/>
                        </a:spcBef>
                        <a:spcAft>
                          <a:spcPts val="0"/>
                        </a:spcAft>
                        <a:buNone/>
                      </a:pPr>
                      <a:r>
                        <a:rPr lang="en-US" sz="1400" b="1">
                          <a:latin typeface="Calibri"/>
                          <a:ea typeface="Calibri"/>
                          <a:cs typeface="Calibri"/>
                          <a:sym typeface="Calibri"/>
                        </a:rPr>
                        <a:t>Meaning/Semantics</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No meaning captured. </a:t>
                      </a:r>
                      <a:r>
                        <a:rPr lang="en-US" sz="1400" i="1">
                          <a:latin typeface="Calibri"/>
                          <a:ea typeface="Calibri"/>
                          <a:cs typeface="Calibri"/>
                          <a:sym typeface="Calibri"/>
                        </a:rPr>
                        <a:t>“car” ≠ “vehicle”</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Captures meaning. </a:t>
                      </a:r>
                      <a:r>
                        <a:rPr lang="en-US" sz="1400" i="1">
                          <a:latin typeface="Calibri"/>
                          <a:ea typeface="Calibri"/>
                          <a:cs typeface="Calibri"/>
                          <a:sym typeface="Calibri"/>
                        </a:rPr>
                        <a:t>“car” ≈ “vehicle”</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65275">
                <a:tc>
                  <a:txBody>
                    <a:bodyPr/>
                    <a:lstStyle/>
                    <a:p>
                      <a:pPr marL="0" marR="0" lvl="0" indent="0" algn="l" rtl="0">
                        <a:spcBef>
                          <a:spcPts val="0"/>
                        </a:spcBef>
                        <a:spcAft>
                          <a:spcPts val="0"/>
                        </a:spcAft>
                        <a:buNone/>
                      </a:pPr>
                      <a:r>
                        <a:rPr lang="en-US" sz="1400" b="1">
                          <a:latin typeface="Calibri"/>
                          <a:ea typeface="Calibri"/>
                          <a:cs typeface="Calibri"/>
                          <a:sym typeface="Calibri"/>
                        </a:rPr>
                        <a:t>Word Order</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Ignored. </a:t>
                      </a:r>
                      <a:r>
                        <a:rPr lang="en-US" sz="1400" i="1">
                          <a:latin typeface="Calibri"/>
                          <a:ea typeface="Calibri"/>
                          <a:cs typeface="Calibri"/>
                          <a:sym typeface="Calibri"/>
                        </a:rPr>
                        <a:t>“Dog bites man” = “Man bites dog”</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Handled (in contextual embeddings). Understands the sentence meaning.</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65600">
                <a:tc>
                  <a:txBody>
                    <a:bodyPr/>
                    <a:lstStyle/>
                    <a:p>
                      <a:pPr marL="0" marR="0" lvl="0" indent="0" algn="l" rtl="0">
                        <a:spcBef>
                          <a:spcPts val="0"/>
                        </a:spcBef>
                        <a:spcAft>
                          <a:spcPts val="0"/>
                        </a:spcAft>
                        <a:buNone/>
                      </a:pPr>
                      <a:r>
                        <a:rPr lang="en-US" sz="1400" b="1">
                          <a:latin typeface="Calibri"/>
                          <a:ea typeface="Calibri"/>
                          <a:cs typeface="Calibri"/>
                          <a:sym typeface="Calibri"/>
                        </a:rPr>
                        <a:t>Context</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Not captured. </a:t>
                      </a:r>
                      <a:r>
                        <a:rPr lang="en-US" sz="1400" i="1">
                          <a:latin typeface="Calibri"/>
                          <a:ea typeface="Calibri"/>
                          <a:cs typeface="Calibri"/>
                          <a:sym typeface="Calibri"/>
                        </a:rPr>
                        <a:t>“apple” in tech vs. fruit is treated the same</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Captures context. </a:t>
                      </a:r>
                      <a:r>
                        <a:rPr lang="en-US" sz="1400" i="1">
                          <a:latin typeface="Calibri"/>
                          <a:ea typeface="Calibri"/>
                          <a:cs typeface="Calibri"/>
                          <a:sym typeface="Calibri"/>
                        </a:rPr>
                        <a:t>“apple” (fruit) ≠ “Apple” (company)</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65600">
                <a:tc>
                  <a:txBody>
                    <a:bodyPr/>
                    <a:lstStyle/>
                    <a:p>
                      <a:pPr marL="0" marR="0" lvl="0" indent="0" algn="l" rtl="0">
                        <a:spcBef>
                          <a:spcPts val="0"/>
                        </a:spcBef>
                        <a:spcAft>
                          <a:spcPts val="0"/>
                        </a:spcAft>
                        <a:buNone/>
                      </a:pPr>
                      <a:r>
                        <a:rPr lang="en-US" sz="1400" b="1">
                          <a:latin typeface="Calibri"/>
                          <a:ea typeface="Calibri"/>
                          <a:cs typeface="Calibri"/>
                          <a:sym typeface="Calibri"/>
                        </a:rPr>
                        <a:t>Vector Type</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Sparse, high-dimensional (e.g., 10,000+ features)</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Dense, low-dimensional (e.g., 300 features)</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65275">
                <a:tc>
                  <a:txBody>
                    <a:bodyPr/>
                    <a:lstStyle/>
                    <a:p>
                      <a:pPr marL="0" marR="0" lvl="0" indent="0" algn="l" rtl="0">
                        <a:spcBef>
                          <a:spcPts val="0"/>
                        </a:spcBef>
                        <a:spcAft>
                          <a:spcPts val="0"/>
                        </a:spcAft>
                        <a:buNone/>
                      </a:pPr>
                      <a:r>
                        <a:rPr lang="en-US" sz="1400" b="1">
                          <a:latin typeface="Calibri"/>
                          <a:ea typeface="Calibri"/>
                          <a:cs typeface="Calibri"/>
                          <a:sym typeface="Calibri"/>
                        </a:rPr>
                        <a:t>Generalization</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Cannot handle unseen words (OOV = Out-of-Vocabulary)</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Can estimate unseen words (esp. with subword models like fastText)</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665275">
                <a:tc>
                  <a:txBody>
                    <a:bodyPr/>
                    <a:lstStyle/>
                    <a:p>
                      <a:pPr marL="0" marR="0" lvl="0" indent="0" algn="l" rtl="0">
                        <a:spcBef>
                          <a:spcPts val="0"/>
                        </a:spcBef>
                        <a:spcAft>
                          <a:spcPts val="0"/>
                        </a:spcAft>
                        <a:buNone/>
                      </a:pPr>
                      <a:r>
                        <a:rPr lang="en-US" sz="1400" b="1">
                          <a:latin typeface="Calibri"/>
                          <a:ea typeface="Calibri"/>
                          <a:cs typeface="Calibri"/>
                          <a:sym typeface="Calibri"/>
                        </a:rPr>
                        <a:t>Pretraining</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Not applicable — must train from scratch on your dataset</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Pretrained on large corpora (e.g., GloVe, Word2Vec, BERT) — ready to use</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465600">
                <a:tc>
                  <a:txBody>
                    <a:bodyPr/>
                    <a:lstStyle/>
                    <a:p>
                      <a:pPr marL="0" marR="0" lvl="0" indent="0" algn="l" rtl="0">
                        <a:spcBef>
                          <a:spcPts val="0"/>
                        </a:spcBef>
                        <a:spcAft>
                          <a:spcPts val="0"/>
                        </a:spcAft>
                        <a:buNone/>
                      </a:pPr>
                      <a:r>
                        <a:rPr lang="en-US" sz="1400" b="1">
                          <a:latin typeface="Calibri"/>
                          <a:ea typeface="Calibri"/>
                          <a:cs typeface="Calibri"/>
                          <a:sym typeface="Calibri"/>
                        </a:rPr>
                        <a:t>Relationship Handling</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No understanding of synonyms or analogies</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Understands: </a:t>
                      </a:r>
                      <a:r>
                        <a:rPr lang="en-US" sz="1400" i="1">
                          <a:latin typeface="Calibri"/>
                          <a:ea typeface="Calibri"/>
                          <a:cs typeface="Calibri"/>
                          <a:sym typeface="Calibri"/>
                        </a:rPr>
                        <a:t>“king” - “man” + “woman” ≈ “queen”</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465600">
                <a:tc>
                  <a:txBody>
                    <a:bodyPr/>
                    <a:lstStyle/>
                    <a:p>
                      <a:pPr marL="0" marR="0" lvl="0" indent="0" algn="l" rtl="0">
                        <a:spcBef>
                          <a:spcPts val="0"/>
                        </a:spcBef>
                        <a:spcAft>
                          <a:spcPts val="0"/>
                        </a:spcAft>
                        <a:buNone/>
                      </a:pPr>
                      <a:r>
                        <a:rPr lang="en-US" sz="1400" b="1">
                          <a:latin typeface="Calibri"/>
                          <a:ea typeface="Calibri"/>
                          <a:cs typeface="Calibri"/>
                          <a:sym typeface="Calibri"/>
                        </a:rPr>
                        <a:t>Topic Clustering</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No clustering — words are isolated</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i="1">
                          <a:latin typeface="Calibri"/>
                          <a:ea typeface="Calibri"/>
                          <a:cs typeface="Calibri"/>
                          <a:sym typeface="Calibri"/>
                        </a:rPr>
                        <a:t>“apple”, “pear”, “banana”</a:t>
                      </a:r>
                      <a:r>
                        <a:rPr lang="en-US" sz="1400">
                          <a:latin typeface="Calibri"/>
                          <a:ea typeface="Calibri"/>
                          <a:cs typeface="Calibri"/>
                          <a:sym typeface="Calibri"/>
                        </a:rPr>
                        <a:t> cluster in the “fruit” region</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465600">
                <a:tc>
                  <a:txBody>
                    <a:bodyPr/>
                    <a:lstStyle/>
                    <a:p>
                      <a:pPr marL="0" marR="0" lvl="0" indent="0" algn="l" rtl="0">
                        <a:spcBef>
                          <a:spcPts val="0"/>
                        </a:spcBef>
                        <a:spcAft>
                          <a:spcPts val="0"/>
                        </a:spcAft>
                        <a:buNone/>
                      </a:pPr>
                      <a:r>
                        <a:rPr lang="en-US" sz="1400" b="1">
                          <a:latin typeface="Calibri"/>
                          <a:ea typeface="Calibri"/>
                          <a:cs typeface="Calibri"/>
                          <a:sym typeface="Calibri"/>
                        </a:rPr>
                        <a:t>Size &amp; Efficiency</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Inefficient — long and mostly zeros</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Efficient — short, information-rich vectors</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465600">
                <a:tc>
                  <a:txBody>
                    <a:bodyPr/>
                    <a:lstStyle/>
                    <a:p>
                      <a:pPr marL="0" marR="0" lvl="0" indent="0" algn="l" rtl="0">
                        <a:spcBef>
                          <a:spcPts val="0"/>
                        </a:spcBef>
                        <a:spcAft>
                          <a:spcPts val="0"/>
                        </a:spcAft>
                        <a:buNone/>
                      </a:pPr>
                      <a:r>
                        <a:rPr lang="en-US" sz="1400" b="1">
                          <a:latin typeface="Calibri"/>
                          <a:ea typeface="Calibri"/>
                          <a:cs typeface="Calibri"/>
                          <a:sym typeface="Calibri"/>
                        </a:rPr>
                        <a:t>Use Case Fit</a:t>
                      </a:r>
                      <a:endParaRPr sz="1400">
                        <a:latin typeface="Calibri"/>
                        <a:ea typeface="Calibri"/>
                        <a:cs typeface="Calibri"/>
                        <a:sym typeface="Calibri"/>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Good for simple, interpretable models</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400">
                          <a:latin typeface="Calibri"/>
                          <a:ea typeface="Calibri"/>
                          <a:cs typeface="Calibri"/>
                          <a:sym typeface="Calibri"/>
                        </a:rPr>
                        <a:t>Better for deep learning and semantic tasks</a:t>
                      </a:r>
                      <a:endParaRPr/>
                    </a:p>
                  </a:txBody>
                  <a:tcPr marL="50600" marR="50600" marT="25300" marB="25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3"/>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Word2Vec</a:t>
            </a:r>
            <a:endParaRPr b="1"/>
          </a:p>
        </p:txBody>
      </p:sp>
      <p:sp>
        <p:nvSpPr>
          <p:cNvPr id="174" name="Google Shape;174;p23"/>
          <p:cNvSpPr txBox="1"/>
          <p:nvPr/>
        </p:nvSpPr>
        <p:spPr>
          <a:xfrm>
            <a:off x="422239" y="1120676"/>
            <a:ext cx="11090868"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83838"/>
              </a:buClr>
              <a:buSzPts val="1800"/>
              <a:buFont typeface="Inter"/>
              <a:buNone/>
            </a:pPr>
            <a:r>
              <a:rPr lang="en-US" sz="1800" b="0" i="0" u="none" strike="noStrike">
                <a:solidFill>
                  <a:srgbClr val="383838"/>
                </a:solidFill>
                <a:latin typeface="Inter"/>
                <a:ea typeface="Inter"/>
                <a:cs typeface="Inter"/>
                <a:sym typeface="Inter"/>
              </a:rPr>
              <a:t>Word2Vec creates vectors of the words that are distributed numerical representations of word features – these word features could comprise of words that represent the context of the individual words present in our vocabulary. Word embeddings eventually help in establishing the association of a word with another similar meaning word through the created vectors.</a:t>
            </a:r>
            <a:endParaRPr sz="1800" b="0">
              <a:solidFill>
                <a:schemeClr val="dk1"/>
              </a:solidFill>
              <a:latin typeface="Arial"/>
              <a:ea typeface="Arial"/>
              <a:cs typeface="Arial"/>
              <a:sym typeface="Arial"/>
            </a:endParaRPr>
          </a:p>
          <a:p>
            <a:pPr marL="0" marR="0" lvl="0" indent="0" algn="l" rtl="0">
              <a:spcBef>
                <a:spcPts val="0"/>
              </a:spcBef>
              <a:spcAft>
                <a:spcPts val="0"/>
              </a:spcAft>
              <a:buClr>
                <a:srgbClr val="383838"/>
              </a:buClr>
              <a:buSzPts val="1800"/>
              <a:buFont typeface="Inter"/>
              <a:buNone/>
            </a:pPr>
            <a:r>
              <a:rPr lang="en-US" sz="1800" b="0" i="0" u="none" strike="noStrike">
                <a:solidFill>
                  <a:srgbClr val="383838"/>
                </a:solidFill>
                <a:latin typeface="Inter"/>
                <a:ea typeface="Inter"/>
                <a:cs typeface="Inter"/>
                <a:sym typeface="Inter"/>
              </a:rPr>
              <a:t>As seen in the image below where word embeddings are plotted, similar meaning words are closer in space, indicating their semantic similarity.</a:t>
            </a:r>
            <a:endParaRPr sz="1800" b="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br>
              <a:rPr lang="en-US" sz="1800" b="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pic>
        <p:nvPicPr>
          <p:cNvPr id="175" name="Google Shape;175;p23" descr="Word2Vec For Word Embeddings"/>
          <p:cNvPicPr preferRelativeResize="0"/>
          <p:nvPr/>
        </p:nvPicPr>
        <p:blipFill rotWithShape="1">
          <a:blip r:embed="rId3">
            <a:alphaModFix/>
          </a:blip>
          <a:srcRect/>
          <a:stretch/>
        </p:blipFill>
        <p:spPr>
          <a:xfrm>
            <a:off x="1334861" y="3184624"/>
            <a:ext cx="2990850" cy="2552700"/>
          </a:xfrm>
          <a:prstGeom prst="rect">
            <a:avLst/>
          </a:prstGeom>
          <a:noFill/>
          <a:ln>
            <a:noFill/>
          </a:ln>
        </p:spPr>
      </p:pic>
      <p:sp>
        <p:nvSpPr>
          <p:cNvPr id="176" name="Google Shape;176;p23"/>
          <p:cNvSpPr txBox="1"/>
          <p:nvPr/>
        </p:nvSpPr>
        <p:spPr>
          <a:xfrm>
            <a:off x="5418783" y="3607248"/>
            <a:ext cx="6094324"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83838"/>
              </a:buClr>
              <a:buSzPts val="1800"/>
              <a:buFont typeface="Inter"/>
              <a:buNone/>
            </a:pPr>
            <a:r>
              <a:rPr lang="en-US" sz="1800" b="0" i="0" u="none" strike="noStrike">
                <a:solidFill>
                  <a:srgbClr val="383838"/>
                </a:solidFill>
                <a:latin typeface="Inter"/>
                <a:ea typeface="Inter"/>
                <a:cs typeface="Inter"/>
                <a:sym typeface="Inter"/>
              </a:rPr>
              <a:t>Two different model architectures that can be used by Word2Vec to create the word embeddings are the Continuous Bag of Words (CBOW) model &amp; the Skip-Gram model.</a:t>
            </a:r>
            <a:endParaRPr sz="1800" b="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4"/>
          <p:cNvSpPr txBox="1">
            <a:spLocks noGrp="1"/>
          </p:cNvSpPr>
          <p:nvPr>
            <p:ph type="title"/>
          </p:nvPr>
        </p:nvSpPr>
        <p:spPr>
          <a:xfrm>
            <a:off x="422238" y="162623"/>
            <a:ext cx="5988609"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Continuous Bag Of Words</a:t>
            </a:r>
            <a:endParaRPr b="1"/>
          </a:p>
        </p:txBody>
      </p:sp>
      <p:sp>
        <p:nvSpPr>
          <p:cNvPr id="182" name="Google Shape;182;p24"/>
          <p:cNvSpPr/>
          <p:nvPr/>
        </p:nvSpPr>
        <p:spPr>
          <a:xfrm>
            <a:off x="422239" y="985298"/>
            <a:ext cx="9471247" cy="923330"/>
          </a:xfrm>
          <a:prstGeom prst="rect">
            <a:avLst/>
          </a:prstGeom>
          <a:noFill/>
          <a:ln>
            <a:noFill/>
          </a:ln>
        </p:spPr>
        <p:txBody>
          <a:bodyPr spcFirstLastPara="1" wrap="square" lIns="91425" tIns="45700" rIns="91425" bIns="45700" anchor="ctr" anchorCtr="0">
            <a:noAutofit/>
          </a:bodyPr>
          <a:lstStyle/>
          <a:p>
            <a:pPr marL="0" marR="0" lvl="0" indent="-114300" algn="l" rtl="0">
              <a:lnSpc>
                <a:spcPct val="100000"/>
              </a:lnSpc>
              <a:spcBef>
                <a:spcPts val="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CBOW is a type of </a:t>
            </a:r>
            <a:r>
              <a:rPr lang="en-US" sz="1800" b="1" i="0" u="none" strike="noStrike" cap="none">
                <a:solidFill>
                  <a:schemeClr val="dk1"/>
                </a:solidFill>
                <a:latin typeface="Calibri"/>
                <a:ea typeface="Calibri"/>
                <a:cs typeface="Calibri"/>
                <a:sym typeface="Calibri"/>
              </a:rPr>
              <a:t>word2vec</a:t>
            </a:r>
            <a:r>
              <a:rPr lang="en-US" sz="1800" b="0" i="0" u="none" strike="noStrike" cap="none">
                <a:solidFill>
                  <a:schemeClr val="dk1"/>
                </a:solidFill>
                <a:latin typeface="Calibri"/>
                <a:ea typeface="Calibri"/>
                <a:cs typeface="Calibri"/>
                <a:sym typeface="Calibri"/>
              </a:rPr>
              <a:t> model introduced by Mikolov et al. (2013).</a:t>
            </a:r>
            <a:endParaRPr/>
          </a:p>
          <a:p>
            <a:pPr marL="0" marR="0" lvl="0" indent="-114300" algn="l" rtl="0">
              <a:lnSpc>
                <a:spcPct val="100000"/>
              </a:lnSpc>
              <a:spcBef>
                <a:spcPts val="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The idea is to </a:t>
            </a:r>
            <a:r>
              <a:rPr lang="en-US" sz="1800" b="1" i="0" u="none" strike="noStrike" cap="none">
                <a:solidFill>
                  <a:schemeClr val="dk1"/>
                </a:solidFill>
                <a:latin typeface="Calibri"/>
                <a:ea typeface="Calibri"/>
                <a:cs typeface="Calibri"/>
                <a:sym typeface="Calibri"/>
              </a:rPr>
              <a:t>predict a target word</a:t>
            </a:r>
            <a:r>
              <a:rPr lang="en-US" sz="1800" b="0" i="0" u="none" strike="noStrike" cap="none">
                <a:solidFill>
                  <a:schemeClr val="dk1"/>
                </a:solidFill>
                <a:latin typeface="Calibri"/>
                <a:ea typeface="Calibri"/>
                <a:cs typeface="Calibri"/>
                <a:sym typeface="Calibri"/>
              </a:rPr>
              <a:t> based on the </a:t>
            </a:r>
            <a:r>
              <a:rPr lang="en-US" sz="1800" b="1" i="0" u="none" strike="noStrike" cap="none">
                <a:solidFill>
                  <a:schemeClr val="dk1"/>
                </a:solidFill>
                <a:latin typeface="Calibri"/>
                <a:ea typeface="Calibri"/>
                <a:cs typeface="Calibri"/>
                <a:sym typeface="Calibri"/>
              </a:rPr>
              <a:t>surrounding context words</a:t>
            </a:r>
            <a:r>
              <a:rPr lang="en-US" sz="1800" b="0" i="0" u="none" strike="noStrike" cap="none">
                <a:solidFill>
                  <a:schemeClr val="dk1"/>
                </a:solidFill>
                <a:latin typeface="Calibri"/>
                <a:ea typeface="Calibri"/>
                <a:cs typeface="Calibri"/>
                <a:sym typeface="Calibri"/>
              </a:rPr>
              <a:t>.</a:t>
            </a:r>
            <a:endParaRPr/>
          </a:p>
          <a:p>
            <a:pPr marL="0" marR="0" lvl="0" indent="-114300" algn="l" rtl="0">
              <a:lnSpc>
                <a:spcPct val="100000"/>
              </a:lnSpc>
              <a:spcBef>
                <a:spcPts val="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Given a window of context words around a missing word, CBOW tries to predict the missing word.</a:t>
            </a:r>
            <a:endParaRPr/>
          </a:p>
        </p:txBody>
      </p:sp>
      <p:pic>
        <p:nvPicPr>
          <p:cNvPr id="183" name="Google Shape;183;p24"/>
          <p:cNvPicPr preferRelativeResize="0"/>
          <p:nvPr/>
        </p:nvPicPr>
        <p:blipFill rotWithShape="1">
          <a:blip r:embed="rId3">
            <a:alphaModFix/>
          </a:blip>
          <a:srcRect/>
          <a:stretch/>
        </p:blipFill>
        <p:spPr>
          <a:xfrm>
            <a:off x="1258869" y="1827347"/>
            <a:ext cx="4676358" cy="3203305"/>
          </a:xfrm>
          <a:prstGeom prst="rect">
            <a:avLst/>
          </a:prstGeom>
          <a:noFill/>
          <a:ln>
            <a:noFill/>
          </a:ln>
        </p:spPr>
      </p:pic>
      <p:pic>
        <p:nvPicPr>
          <p:cNvPr id="184" name="Google Shape;184;p24"/>
          <p:cNvPicPr preferRelativeResize="0"/>
          <p:nvPr/>
        </p:nvPicPr>
        <p:blipFill rotWithShape="1">
          <a:blip r:embed="rId4">
            <a:alphaModFix/>
          </a:blip>
          <a:srcRect/>
          <a:stretch/>
        </p:blipFill>
        <p:spPr>
          <a:xfrm>
            <a:off x="6551106" y="1908628"/>
            <a:ext cx="4932816" cy="4836240"/>
          </a:xfrm>
          <a:prstGeom prst="rect">
            <a:avLst/>
          </a:prstGeom>
          <a:noFill/>
          <a:ln>
            <a:noFill/>
          </a:ln>
        </p:spPr>
      </p:pic>
      <p:sp>
        <p:nvSpPr>
          <p:cNvPr id="185" name="Google Shape;185;p24"/>
          <p:cNvSpPr txBox="1"/>
          <p:nvPr/>
        </p:nvSpPr>
        <p:spPr>
          <a:xfrm>
            <a:off x="369380" y="4949373"/>
            <a:ext cx="6094324"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a:solidFill>
                  <a:srgbClr val="383838"/>
                </a:solidFill>
                <a:latin typeface="Inter"/>
                <a:ea typeface="Inter"/>
                <a:cs typeface="Inter"/>
                <a:sym typeface="Inter"/>
              </a:rPr>
              <a:t>For example, if we consider the sentence – “Word2Vec has a deep learning model working in the backend.”, there can be pairs of context words and target (center) words. If we consider a context window size of 1, we will have pairs like </a:t>
            </a:r>
            <a:r>
              <a:rPr lang="en-US" sz="1800" b="1" i="0" u="none" strike="noStrike">
                <a:solidFill>
                  <a:srgbClr val="383838"/>
                </a:solidFill>
                <a:latin typeface="Inter"/>
                <a:ea typeface="Inter"/>
                <a:cs typeface="Inter"/>
                <a:sym typeface="Inter"/>
              </a:rPr>
              <a:t>([deep, model], learning), ([model, in], working), ([a, learning), deep)</a:t>
            </a:r>
            <a:r>
              <a:rPr lang="en-US" sz="1800" b="0" i="0" u="none" strike="noStrike">
                <a:solidFill>
                  <a:srgbClr val="383838"/>
                </a:solidFill>
                <a:latin typeface="Inter"/>
                <a:ea typeface="Inter"/>
                <a:cs typeface="Inter"/>
                <a:sym typeface="Inter"/>
              </a:rPr>
              <a:t> etc.</a:t>
            </a:r>
            <a:endParaRPr sz="18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5"/>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CBOW</a:t>
            </a:r>
            <a:endParaRPr b="1"/>
          </a:p>
        </p:txBody>
      </p:sp>
      <p:pic>
        <p:nvPicPr>
          <p:cNvPr id="191" name="Google Shape;191;p25" descr="CBOW deep learning model | Word2Vec For Word Embeddings"/>
          <p:cNvPicPr preferRelativeResize="0"/>
          <p:nvPr/>
        </p:nvPicPr>
        <p:blipFill rotWithShape="1">
          <a:blip r:embed="rId3">
            <a:alphaModFix/>
          </a:blip>
          <a:srcRect/>
          <a:stretch/>
        </p:blipFill>
        <p:spPr>
          <a:xfrm>
            <a:off x="502419" y="1007826"/>
            <a:ext cx="5395964" cy="5422479"/>
          </a:xfrm>
          <a:prstGeom prst="rect">
            <a:avLst/>
          </a:prstGeom>
          <a:noFill/>
          <a:ln>
            <a:noFill/>
          </a:ln>
        </p:spPr>
      </p:pic>
      <p:sp>
        <p:nvSpPr>
          <p:cNvPr id="192" name="Google Shape;192;p25"/>
          <p:cNvSpPr txBox="1"/>
          <p:nvPr/>
        </p:nvSpPr>
        <p:spPr>
          <a:xfrm>
            <a:off x="6021475" y="1133742"/>
            <a:ext cx="6094324" cy="2585323"/>
          </a:xfrm>
          <a:prstGeom prst="rect">
            <a:avLst/>
          </a:prstGeom>
          <a:noFill/>
          <a:ln>
            <a:noFill/>
          </a:ln>
        </p:spPr>
        <p:txBody>
          <a:bodyPr spcFirstLastPara="1" wrap="square" lIns="91425" tIns="45700" rIns="91425" bIns="45700" anchor="t" anchorCtr="0">
            <a:spAutoFit/>
          </a:bodyPr>
          <a:lstStyle/>
          <a:p>
            <a:pPr marL="0" marR="0" lvl="0" indent="-114300" algn="l" rtl="0">
              <a:spcBef>
                <a:spcPts val="0"/>
              </a:spcBef>
              <a:spcAft>
                <a:spcPts val="0"/>
              </a:spcAft>
              <a:buClr>
                <a:srgbClr val="383838"/>
              </a:buClr>
              <a:buSzPts val="1800"/>
              <a:buFont typeface="Arial"/>
              <a:buChar char="•"/>
            </a:pPr>
            <a:r>
              <a:rPr lang="en-US" sz="1800" b="0" i="0" u="none" strike="noStrike">
                <a:solidFill>
                  <a:srgbClr val="383838"/>
                </a:solidFill>
                <a:latin typeface="Inter"/>
                <a:ea typeface="Inter"/>
                <a:cs typeface="Inter"/>
                <a:sym typeface="Inter"/>
              </a:rPr>
              <a:t>The context words are first passed as an input to an embedding layer (initialized with some random weights) as shown in the Figure below.</a:t>
            </a:r>
            <a:endParaRPr sz="1800" b="0" i="0" u="none" strike="noStrike">
              <a:solidFill>
                <a:srgbClr val="383838"/>
              </a:solidFill>
              <a:latin typeface="Arial"/>
              <a:ea typeface="Arial"/>
              <a:cs typeface="Arial"/>
              <a:sym typeface="Arial"/>
            </a:endParaRPr>
          </a:p>
          <a:p>
            <a:pPr marL="0" marR="0" lvl="0" indent="-114300" algn="l" rtl="0">
              <a:spcBef>
                <a:spcPts val="0"/>
              </a:spcBef>
              <a:spcAft>
                <a:spcPts val="0"/>
              </a:spcAft>
              <a:buClr>
                <a:srgbClr val="383838"/>
              </a:buClr>
              <a:buSzPts val="1800"/>
              <a:buFont typeface="Arial"/>
              <a:buChar char="•"/>
            </a:pPr>
            <a:r>
              <a:rPr lang="en-US" sz="1800" b="0" i="0" u="none" strike="noStrike">
                <a:solidFill>
                  <a:srgbClr val="383838"/>
                </a:solidFill>
                <a:latin typeface="Inter"/>
                <a:ea typeface="Inter"/>
                <a:cs typeface="Inter"/>
                <a:sym typeface="Inter"/>
              </a:rPr>
              <a:t>The word embeddings are then passed to a lambda layer where we average out the word embeddings.</a:t>
            </a:r>
            <a:endParaRPr sz="1800" b="0" i="0" u="none" strike="noStrike">
              <a:solidFill>
                <a:srgbClr val="383838"/>
              </a:solidFill>
              <a:latin typeface="Arial"/>
              <a:ea typeface="Arial"/>
              <a:cs typeface="Arial"/>
              <a:sym typeface="Arial"/>
            </a:endParaRPr>
          </a:p>
          <a:p>
            <a:pPr marL="0" marR="0" lvl="0" indent="-114300" algn="l" rtl="0">
              <a:spcBef>
                <a:spcPts val="0"/>
              </a:spcBef>
              <a:spcAft>
                <a:spcPts val="0"/>
              </a:spcAft>
              <a:buClr>
                <a:srgbClr val="383838"/>
              </a:buClr>
              <a:buSzPts val="1800"/>
              <a:buFont typeface="Arial"/>
              <a:buChar char="•"/>
            </a:pPr>
            <a:r>
              <a:rPr lang="en-US" sz="1800" b="0" i="0" u="none" strike="noStrike">
                <a:solidFill>
                  <a:srgbClr val="383838"/>
                </a:solidFill>
                <a:latin typeface="Inter"/>
                <a:ea typeface="Inter"/>
                <a:cs typeface="Inter"/>
                <a:sym typeface="Inter"/>
              </a:rPr>
              <a:t>We then pass these embeddings to a dense SoftMax layer that predicts our target word. We match this with our target word and compute the loss and then we perform backpropagation with each epoch to update the embedding layer in the process.</a:t>
            </a:r>
            <a:endParaRPr sz="1800" b="0" i="0" u="none" strike="noStrike">
              <a:solidFill>
                <a:srgbClr val="383838"/>
              </a:solidFill>
              <a:latin typeface="Arial"/>
              <a:ea typeface="Arial"/>
              <a:cs typeface="Arial"/>
              <a:sym typeface="Arial"/>
            </a:endParaRPr>
          </a:p>
        </p:txBody>
      </p:sp>
      <p:sp>
        <p:nvSpPr>
          <p:cNvPr id="193" name="Google Shape;193;p25"/>
          <p:cNvSpPr txBox="1"/>
          <p:nvPr/>
        </p:nvSpPr>
        <p:spPr>
          <a:xfrm>
            <a:off x="6021475" y="4103134"/>
            <a:ext cx="609432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a:solidFill>
                  <a:srgbClr val="383838"/>
                </a:solidFill>
                <a:latin typeface="Inter"/>
                <a:ea typeface="Inter"/>
                <a:cs typeface="Inter"/>
                <a:sym typeface="Inter"/>
              </a:rPr>
              <a:t>We can extract out the embeddings of the needed words from our embedding layer, once the training is completed.</a:t>
            </a:r>
            <a:endParaRPr sz="18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6"/>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CBOW</a:t>
            </a:r>
            <a:endParaRPr b="1"/>
          </a:p>
        </p:txBody>
      </p:sp>
      <p:pic>
        <p:nvPicPr>
          <p:cNvPr id="199" name="Google Shape;199;p26" descr="Learning Word Embedding | Lil'Log"/>
          <p:cNvPicPr preferRelativeResize="0"/>
          <p:nvPr/>
        </p:nvPicPr>
        <p:blipFill rotWithShape="1">
          <a:blip r:embed="rId3">
            <a:alphaModFix/>
          </a:blip>
          <a:srcRect/>
          <a:stretch/>
        </p:blipFill>
        <p:spPr>
          <a:xfrm>
            <a:off x="498498" y="822116"/>
            <a:ext cx="8385105" cy="5722536"/>
          </a:xfrm>
          <a:prstGeom prst="rect">
            <a:avLst/>
          </a:prstGeom>
          <a:noFill/>
          <a:ln>
            <a:noFill/>
          </a:ln>
        </p:spPr>
      </p:pic>
      <p:sp>
        <p:nvSpPr>
          <p:cNvPr id="200" name="Google Shape;200;p26"/>
          <p:cNvSpPr txBox="1"/>
          <p:nvPr/>
        </p:nvSpPr>
        <p:spPr>
          <a:xfrm>
            <a:off x="9204290" y="1306900"/>
            <a:ext cx="2489212"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The optimal window size depends on the nature of your data and the task at hand:</a:t>
            </a:r>
            <a:endParaRPr/>
          </a:p>
          <a:p>
            <a:pPr marL="0" marR="0" lvl="0" indent="-114300" algn="l" rtl="0">
              <a:spcBef>
                <a:spcPts val="0"/>
              </a:spcBef>
              <a:spcAft>
                <a:spcPts val="0"/>
              </a:spcAft>
              <a:buClr>
                <a:schemeClr val="dk1"/>
              </a:buClr>
              <a:buSzPts val="1800"/>
              <a:buFont typeface="Arial"/>
              <a:buChar char="•"/>
            </a:pPr>
            <a:r>
              <a:rPr lang="en-US" sz="1800" b="1">
                <a:solidFill>
                  <a:schemeClr val="dk1"/>
                </a:solidFill>
                <a:latin typeface="Arial"/>
                <a:ea typeface="Arial"/>
                <a:cs typeface="Arial"/>
                <a:sym typeface="Arial"/>
              </a:rPr>
              <a:t>Smaller Window (e.g., 1–3)</a:t>
            </a:r>
            <a:r>
              <a:rPr lang="en-US" sz="1800">
                <a:solidFill>
                  <a:schemeClr val="dk1"/>
                </a:solidFill>
                <a:latin typeface="Arial"/>
                <a:ea typeface="Arial"/>
                <a:cs typeface="Arial"/>
                <a:sym typeface="Arial"/>
              </a:rPr>
              <a:t>: Better for capturing syntactic relationships, such as grammar and word order.</a:t>
            </a:r>
            <a:endParaRPr/>
          </a:p>
          <a:p>
            <a:pPr marL="0" marR="0" lvl="0" indent="-114300" algn="l" rtl="0">
              <a:spcBef>
                <a:spcPts val="0"/>
              </a:spcBef>
              <a:spcAft>
                <a:spcPts val="0"/>
              </a:spcAft>
              <a:buClr>
                <a:schemeClr val="dk1"/>
              </a:buClr>
              <a:buSzPts val="1800"/>
              <a:buFont typeface="Arial"/>
              <a:buChar char="•"/>
            </a:pPr>
            <a:r>
              <a:rPr lang="en-US" sz="1800" b="1">
                <a:solidFill>
                  <a:schemeClr val="dk1"/>
                </a:solidFill>
                <a:latin typeface="Arial"/>
                <a:ea typeface="Arial"/>
                <a:cs typeface="Arial"/>
                <a:sym typeface="Arial"/>
              </a:rPr>
              <a:t>Larger Window (e.g., 5–10)</a:t>
            </a:r>
            <a:r>
              <a:rPr lang="en-US" sz="1800">
                <a:solidFill>
                  <a:schemeClr val="dk1"/>
                </a:solidFill>
                <a:latin typeface="Arial"/>
                <a:ea typeface="Arial"/>
                <a:cs typeface="Arial"/>
                <a:sym typeface="Arial"/>
              </a:rPr>
              <a:t>: More effective for capturing semantic relationships, such as word meanings and associations.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7"/>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Skip Gram</a:t>
            </a:r>
            <a:endParaRPr b="1"/>
          </a:p>
        </p:txBody>
      </p:sp>
      <p:pic>
        <p:nvPicPr>
          <p:cNvPr id="206" name="Google Shape;206;p27"/>
          <p:cNvPicPr preferRelativeResize="0"/>
          <p:nvPr/>
        </p:nvPicPr>
        <p:blipFill rotWithShape="1">
          <a:blip r:embed="rId3">
            <a:alphaModFix/>
          </a:blip>
          <a:srcRect/>
          <a:stretch/>
        </p:blipFill>
        <p:spPr>
          <a:xfrm>
            <a:off x="606826" y="968200"/>
            <a:ext cx="4105275" cy="5524500"/>
          </a:xfrm>
          <a:prstGeom prst="rect">
            <a:avLst/>
          </a:prstGeom>
          <a:noFill/>
          <a:ln>
            <a:noFill/>
          </a:ln>
        </p:spPr>
      </p:pic>
      <p:sp>
        <p:nvSpPr>
          <p:cNvPr id="207" name="Google Shape;207;p27"/>
          <p:cNvSpPr txBox="1"/>
          <p:nvPr/>
        </p:nvSpPr>
        <p:spPr>
          <a:xfrm>
            <a:off x="5076930" y="1082935"/>
            <a:ext cx="6094324"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a:t>
            </a:r>
            <a:r>
              <a:rPr lang="en-US" sz="1800" b="1">
                <a:solidFill>
                  <a:schemeClr val="dk1"/>
                </a:solidFill>
                <a:latin typeface="Arial"/>
                <a:ea typeface="Arial"/>
                <a:cs typeface="Arial"/>
                <a:sym typeface="Arial"/>
              </a:rPr>
              <a:t>Skip-Gram</a:t>
            </a:r>
            <a:r>
              <a:rPr lang="en-US" sz="1800">
                <a:solidFill>
                  <a:schemeClr val="dk1"/>
                </a:solidFill>
                <a:latin typeface="Arial"/>
                <a:ea typeface="Arial"/>
                <a:cs typeface="Arial"/>
                <a:sym typeface="Arial"/>
              </a:rPr>
              <a:t> model works by using a </a:t>
            </a:r>
            <a:r>
              <a:rPr lang="en-US" sz="1800" b="1">
                <a:solidFill>
                  <a:schemeClr val="dk1"/>
                </a:solidFill>
                <a:latin typeface="Arial"/>
                <a:ea typeface="Arial"/>
                <a:cs typeface="Arial"/>
                <a:sym typeface="Arial"/>
              </a:rPr>
              <a:t>target word</a:t>
            </a:r>
            <a:r>
              <a:rPr lang="en-US" sz="1800">
                <a:solidFill>
                  <a:schemeClr val="dk1"/>
                </a:solidFill>
                <a:latin typeface="Arial"/>
                <a:ea typeface="Arial"/>
                <a:cs typeface="Arial"/>
                <a:sym typeface="Arial"/>
              </a:rPr>
              <a:t> to predict its surrounding </a:t>
            </a:r>
            <a:r>
              <a:rPr lang="en-US" sz="1800" b="1">
                <a:solidFill>
                  <a:schemeClr val="dk1"/>
                </a:solidFill>
                <a:latin typeface="Arial"/>
                <a:ea typeface="Arial"/>
                <a:cs typeface="Arial"/>
                <a:sym typeface="Arial"/>
              </a:rPr>
              <a:t>context words</a:t>
            </a:r>
            <a:r>
              <a:rPr lang="en-US" sz="1800">
                <a:solidFill>
                  <a:schemeClr val="dk1"/>
                </a:solidFill>
                <a:latin typeface="Arial"/>
                <a:ea typeface="Arial"/>
                <a:cs typeface="Arial"/>
                <a:sym typeface="Arial"/>
              </a:rPr>
              <a:t> within a specified window size. The window size defines how many words before and after the target word are considered as context</a:t>
            </a:r>
            <a:endParaRPr sz="1800">
              <a:solidFill>
                <a:schemeClr val="dk1"/>
              </a:solidFill>
              <a:latin typeface="Arial"/>
              <a:ea typeface="Arial"/>
              <a:cs typeface="Arial"/>
              <a:sym typeface="Arial"/>
            </a:endParaRPr>
          </a:p>
        </p:txBody>
      </p:sp>
      <p:sp>
        <p:nvSpPr>
          <p:cNvPr id="208" name="Google Shape;208;p27"/>
          <p:cNvSpPr/>
          <p:nvPr/>
        </p:nvSpPr>
        <p:spPr>
          <a:xfrm>
            <a:off x="5208093" y="2693491"/>
            <a:ext cx="4543616" cy="6463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For example, in the sentence:</a:t>
            </a:r>
            <a:endParaRPr/>
          </a:p>
          <a:p>
            <a:pPr marL="0" marR="0" lvl="0" indent="0" algn="l"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"The quick brown fox jumps over the lazy dog"</a:t>
            </a:r>
            <a:endParaRPr/>
          </a:p>
        </p:txBody>
      </p:sp>
      <p:sp>
        <p:nvSpPr>
          <p:cNvPr id="209" name="Google Shape;209;p27"/>
          <p:cNvSpPr/>
          <p:nvPr/>
        </p:nvSpPr>
        <p:spPr>
          <a:xfrm>
            <a:off x="5208093" y="3959051"/>
            <a:ext cx="12192000" cy="0"/>
          </a:xfrm>
          <a:prstGeom prst="rect">
            <a:avLst/>
          </a:prstGeom>
          <a:noFill/>
          <a:ln>
            <a:noFill/>
          </a:ln>
        </p:spPr>
        <p:txBody>
          <a:bodyPr spcFirstLastPara="1" wrap="square" lIns="91425" tIns="45700" rIns="91425" bIns="45700" anchor="ctr" anchorCtr="0">
            <a:noAutofit/>
          </a:bodyPr>
          <a:lstStyle/>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Target Word</a:t>
            </a:r>
            <a:r>
              <a:rPr lang="en-US" sz="1800" b="0" i="0" u="none" strike="noStrike" cap="none">
                <a:solidFill>
                  <a:schemeClr val="dk1"/>
                </a:solidFill>
                <a:latin typeface="Arial"/>
                <a:ea typeface="Arial"/>
                <a:cs typeface="Arial"/>
                <a:sym typeface="Arial"/>
              </a:rPr>
              <a:t>: "jumps"</a:t>
            </a:r>
            <a:endParaRPr/>
          </a:p>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Window Size</a:t>
            </a:r>
            <a:r>
              <a:rPr lang="en-US" sz="1800" b="0" i="0" u="none" strike="noStrike" cap="none">
                <a:solidFill>
                  <a:schemeClr val="dk1"/>
                </a:solidFill>
                <a:latin typeface="Arial"/>
                <a:ea typeface="Arial"/>
                <a:cs typeface="Arial"/>
                <a:sym typeface="Arial"/>
              </a:rPr>
              <a:t>: 2</a:t>
            </a:r>
            <a:endParaRPr/>
          </a:p>
        </p:txBody>
      </p:sp>
      <p:sp>
        <p:nvSpPr>
          <p:cNvPr id="210" name="Google Shape;210;p27"/>
          <p:cNvSpPr txBox="1"/>
          <p:nvPr/>
        </p:nvSpPr>
        <p:spPr>
          <a:xfrm>
            <a:off x="5208093" y="4472744"/>
            <a:ext cx="60943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context words would be</a:t>
            </a:r>
            <a:endParaRPr sz="1800">
              <a:solidFill>
                <a:schemeClr val="dk1"/>
              </a:solidFill>
              <a:latin typeface="Arial"/>
              <a:ea typeface="Arial"/>
              <a:cs typeface="Arial"/>
              <a:sym typeface="Arial"/>
            </a:endParaRPr>
          </a:p>
        </p:txBody>
      </p:sp>
      <p:sp>
        <p:nvSpPr>
          <p:cNvPr id="211" name="Google Shape;211;p27"/>
          <p:cNvSpPr txBox="1"/>
          <p:nvPr/>
        </p:nvSpPr>
        <p:spPr>
          <a:xfrm>
            <a:off x="5208093" y="4854275"/>
            <a:ext cx="6174712" cy="369332"/>
          </a:xfrm>
          <a:prstGeom prst="rect">
            <a:avLst/>
          </a:prstGeom>
          <a:noFill/>
          <a:ln>
            <a:noFill/>
          </a:ln>
        </p:spPr>
        <p:txBody>
          <a:bodyPr spcFirstLastPara="1" wrap="square" lIns="91425" tIns="45700" rIns="91425" bIns="45700" anchor="t" anchorCtr="0">
            <a:spAutoFit/>
          </a:bodyPr>
          <a:lstStyle/>
          <a:p>
            <a:pPr marL="0" marR="0" lvl="0" indent="-1143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Arial"/>
                <a:ea typeface="Arial"/>
                <a:cs typeface="Arial"/>
                <a:sym typeface="Arial"/>
              </a:rPr>
              <a:t>Before</a:t>
            </a:r>
            <a:r>
              <a:rPr lang="en-US" sz="1800" b="0" i="0" u="none" strike="noStrike" cap="none">
                <a:solidFill>
                  <a:schemeClr val="dk1"/>
                </a:solidFill>
                <a:latin typeface="Arial"/>
                <a:ea typeface="Arial"/>
                <a:cs typeface="Arial"/>
                <a:sym typeface="Arial"/>
              </a:rPr>
              <a:t>: "quick", "brown"</a:t>
            </a:r>
            <a:endParaRPr/>
          </a:p>
        </p:txBody>
      </p:sp>
      <p:sp>
        <p:nvSpPr>
          <p:cNvPr id="212" name="Google Shape;212;p27"/>
          <p:cNvSpPr txBox="1"/>
          <p:nvPr/>
        </p:nvSpPr>
        <p:spPr>
          <a:xfrm>
            <a:off x="5288481" y="5223607"/>
            <a:ext cx="60943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After</a:t>
            </a:r>
            <a:r>
              <a:rPr lang="en-US" sz="1800">
                <a:solidFill>
                  <a:schemeClr val="dk1"/>
                </a:solidFill>
                <a:latin typeface="Arial"/>
                <a:ea typeface="Arial"/>
                <a:cs typeface="Arial"/>
                <a:sym typeface="Arial"/>
              </a:rPr>
              <a:t>: "over", "the"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8"/>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Skip-Gram</a:t>
            </a:r>
            <a:endParaRPr b="1"/>
          </a:p>
        </p:txBody>
      </p:sp>
      <p:sp>
        <p:nvSpPr>
          <p:cNvPr id="218" name="Google Shape;218;p28"/>
          <p:cNvSpPr txBox="1"/>
          <p:nvPr/>
        </p:nvSpPr>
        <p:spPr>
          <a:xfrm>
            <a:off x="203479" y="1006903"/>
            <a:ext cx="6094324"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83838"/>
              </a:buClr>
              <a:buSzPts val="1800"/>
              <a:buFont typeface="Inter"/>
              <a:buNone/>
            </a:pPr>
            <a:r>
              <a:rPr lang="en-US" sz="1800" b="0" i="0" u="none" strike="noStrike">
                <a:solidFill>
                  <a:srgbClr val="383838"/>
                </a:solidFill>
                <a:latin typeface="Inter"/>
                <a:ea typeface="Inter"/>
                <a:cs typeface="Inter"/>
                <a:sym typeface="Inter"/>
              </a:rPr>
              <a:t>So, considering the same sentence – “Word2Vec has a deep learning model working in the backend.” and a context window size of 1, given the centre word ‘learning’, the model tries to predict [‘deep’, ’model’] and so on.</a:t>
            </a:r>
            <a:endParaRPr sz="1800" b="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219" name="Google Shape;219;p28"/>
          <p:cNvSpPr txBox="1"/>
          <p:nvPr/>
        </p:nvSpPr>
        <p:spPr>
          <a:xfrm>
            <a:off x="203479" y="2495259"/>
            <a:ext cx="6094324"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a:solidFill>
                  <a:srgbClr val="383838"/>
                </a:solidFill>
                <a:latin typeface="Inter"/>
                <a:ea typeface="Inter"/>
                <a:cs typeface="Inter"/>
                <a:sym typeface="Inter"/>
              </a:rPr>
              <a:t>Since the skip-gram model has to predict multiple words from a single given word, we feed the model pairs of (X, Y) where X is our input and Y is our label. This is done by creating </a:t>
            </a:r>
            <a:r>
              <a:rPr lang="en-US" sz="1800" b="1" i="1" u="none" strike="noStrike">
                <a:solidFill>
                  <a:srgbClr val="383838"/>
                </a:solidFill>
                <a:latin typeface="Inter"/>
                <a:ea typeface="Inter"/>
                <a:cs typeface="Inter"/>
                <a:sym typeface="Inter"/>
              </a:rPr>
              <a:t>positive input samples and negative input samples</a:t>
            </a:r>
            <a:endParaRPr sz="1800">
              <a:solidFill>
                <a:schemeClr val="dk1"/>
              </a:solidFill>
              <a:latin typeface="Arial"/>
              <a:ea typeface="Arial"/>
              <a:cs typeface="Arial"/>
              <a:sym typeface="Arial"/>
            </a:endParaRPr>
          </a:p>
        </p:txBody>
      </p:sp>
      <p:sp>
        <p:nvSpPr>
          <p:cNvPr id="220" name="Google Shape;220;p28"/>
          <p:cNvSpPr txBox="1"/>
          <p:nvPr/>
        </p:nvSpPr>
        <p:spPr>
          <a:xfrm>
            <a:off x="203479" y="3941354"/>
            <a:ext cx="6094324"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a:solidFill>
                  <a:srgbClr val="383838"/>
                </a:solidFill>
                <a:latin typeface="Inter"/>
                <a:ea typeface="Inter"/>
                <a:cs typeface="Inter"/>
                <a:sym typeface="Inter"/>
              </a:rPr>
              <a:t>Positive Input Samples will have the training data in this form: [(target, context),1] where the target is the target or centre word, context represents the surrounding context words, and label 1 indicates if it is a relevant pair.</a:t>
            </a:r>
            <a:endParaRPr sz="1800">
              <a:solidFill>
                <a:schemeClr val="dk1"/>
              </a:solidFill>
              <a:latin typeface="Arial"/>
              <a:ea typeface="Arial"/>
              <a:cs typeface="Arial"/>
              <a:sym typeface="Arial"/>
            </a:endParaRPr>
          </a:p>
        </p:txBody>
      </p:sp>
      <p:sp>
        <p:nvSpPr>
          <p:cNvPr id="221" name="Google Shape;221;p28"/>
          <p:cNvSpPr txBox="1"/>
          <p:nvPr/>
        </p:nvSpPr>
        <p:spPr>
          <a:xfrm>
            <a:off x="203479" y="5259534"/>
            <a:ext cx="6094324"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383838"/>
              </a:buClr>
              <a:buSzPts val="1800"/>
              <a:buFont typeface="Inter"/>
              <a:buNone/>
            </a:pPr>
            <a:r>
              <a:rPr lang="en-US" sz="1800" b="0" i="0" u="none" strike="noStrike">
                <a:solidFill>
                  <a:srgbClr val="383838"/>
                </a:solidFill>
                <a:latin typeface="Inter"/>
                <a:ea typeface="Inter"/>
                <a:cs typeface="Inter"/>
                <a:sym typeface="Inter"/>
              </a:rPr>
              <a:t>Negative Input Samples will have the training data in the same form: [(target, random),0]. In this case, instead of the actual surrounding words, randomly selected words are fed in along with the target words with a label of 0 indicating that it’s an irrelevant pair.</a:t>
            </a:r>
            <a:endParaRPr sz="1800" b="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
        <p:nvSpPr>
          <p:cNvPr id="222" name="Google Shape;222;p28"/>
          <p:cNvSpPr txBox="1"/>
          <p:nvPr/>
        </p:nvSpPr>
        <p:spPr>
          <a:xfrm>
            <a:off x="6212393" y="987381"/>
            <a:ext cx="609432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a:solidFill>
                  <a:srgbClr val="383838"/>
                </a:solidFill>
                <a:latin typeface="Inter"/>
                <a:ea typeface="Inter"/>
                <a:cs typeface="Inter"/>
                <a:sym typeface="Inter"/>
              </a:rPr>
              <a:t>These samples make the model aware of the contextually relevant words and consequently generate similar embeddings for similar meaning words.</a:t>
            </a:r>
            <a:endParaRPr sz="1800">
              <a:solidFill>
                <a:schemeClr val="dk1"/>
              </a:solidFill>
              <a:latin typeface="Arial"/>
              <a:ea typeface="Arial"/>
              <a:cs typeface="Arial"/>
              <a:sym typeface="Arial"/>
            </a:endParaRPr>
          </a:p>
        </p:txBody>
      </p:sp>
      <p:pic>
        <p:nvPicPr>
          <p:cNvPr id="223" name="Google Shape;223;p28" descr="deep learning method feature engineering"/>
          <p:cNvPicPr preferRelativeResize="0"/>
          <p:nvPr/>
        </p:nvPicPr>
        <p:blipFill rotWithShape="1">
          <a:blip r:embed="rId3">
            <a:alphaModFix/>
          </a:blip>
          <a:srcRect/>
          <a:stretch/>
        </p:blipFill>
        <p:spPr>
          <a:xfrm>
            <a:off x="6846330" y="1910711"/>
            <a:ext cx="4086225" cy="4495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9"/>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Skip Gram</a:t>
            </a:r>
            <a:endParaRPr b="1"/>
          </a:p>
        </p:txBody>
      </p:sp>
      <p:sp>
        <p:nvSpPr>
          <p:cNvPr id="229" name="Google Shape;229;p29"/>
          <p:cNvSpPr txBox="1"/>
          <p:nvPr/>
        </p:nvSpPr>
        <p:spPr>
          <a:xfrm>
            <a:off x="422239" y="995516"/>
            <a:ext cx="6094324" cy="2862322"/>
          </a:xfrm>
          <a:prstGeom prst="rect">
            <a:avLst/>
          </a:prstGeom>
          <a:noFill/>
          <a:ln>
            <a:noFill/>
          </a:ln>
        </p:spPr>
        <p:txBody>
          <a:bodyPr spcFirstLastPara="1" wrap="square" lIns="91425" tIns="45700" rIns="91425" bIns="45700" anchor="t" anchorCtr="0">
            <a:spAutoFit/>
          </a:bodyPr>
          <a:lstStyle/>
          <a:p>
            <a:pPr marL="0" marR="0" lvl="0" indent="-114300" algn="l" rtl="0">
              <a:spcBef>
                <a:spcPts val="0"/>
              </a:spcBef>
              <a:spcAft>
                <a:spcPts val="0"/>
              </a:spcAft>
              <a:buClr>
                <a:srgbClr val="383838"/>
              </a:buClr>
              <a:buSzPts val="1800"/>
              <a:buFont typeface="Arial"/>
              <a:buChar char="•"/>
            </a:pPr>
            <a:r>
              <a:rPr lang="en-US" sz="1800" b="0" i="0" u="none" strike="noStrike">
                <a:solidFill>
                  <a:srgbClr val="383838"/>
                </a:solidFill>
                <a:latin typeface="Inter"/>
                <a:ea typeface="Inter"/>
                <a:cs typeface="Inter"/>
                <a:sym typeface="Inter"/>
              </a:rPr>
              <a:t>Both the target and context word pairs are passed to individual embedding layers from which we get dense word embeddings for each of these two words.</a:t>
            </a:r>
            <a:endParaRPr sz="1800" b="0" i="0" u="none" strike="noStrike">
              <a:solidFill>
                <a:srgbClr val="383838"/>
              </a:solidFill>
              <a:latin typeface="Arial"/>
              <a:ea typeface="Arial"/>
              <a:cs typeface="Arial"/>
              <a:sym typeface="Arial"/>
            </a:endParaRPr>
          </a:p>
          <a:p>
            <a:pPr marL="0" marR="0" lvl="0" indent="-114300" algn="l" rtl="0">
              <a:spcBef>
                <a:spcPts val="0"/>
              </a:spcBef>
              <a:spcAft>
                <a:spcPts val="0"/>
              </a:spcAft>
              <a:buClr>
                <a:srgbClr val="383838"/>
              </a:buClr>
              <a:buSzPts val="1800"/>
              <a:buFont typeface="Arial"/>
              <a:buChar char="•"/>
            </a:pPr>
            <a:r>
              <a:rPr lang="en-US" sz="1800" b="0" i="0" u="none" strike="noStrike">
                <a:solidFill>
                  <a:srgbClr val="383838"/>
                </a:solidFill>
                <a:latin typeface="Inter"/>
                <a:ea typeface="Inter"/>
                <a:cs typeface="Inter"/>
                <a:sym typeface="Inter"/>
              </a:rPr>
              <a:t>We then use a ‘merge layer’ to compute the dot product of these two embeddings and get the dot product value.</a:t>
            </a:r>
            <a:endParaRPr sz="1800" b="0" i="0" u="none" strike="noStrike">
              <a:solidFill>
                <a:srgbClr val="383838"/>
              </a:solidFill>
              <a:latin typeface="Arial"/>
              <a:ea typeface="Arial"/>
              <a:cs typeface="Arial"/>
              <a:sym typeface="Arial"/>
            </a:endParaRPr>
          </a:p>
          <a:p>
            <a:pPr marL="0" marR="0" lvl="0" indent="-114300" algn="l" rtl="0">
              <a:spcBef>
                <a:spcPts val="0"/>
              </a:spcBef>
              <a:spcAft>
                <a:spcPts val="0"/>
              </a:spcAft>
              <a:buClr>
                <a:srgbClr val="383838"/>
              </a:buClr>
              <a:buSzPts val="1800"/>
              <a:buFont typeface="Arial"/>
              <a:buChar char="•"/>
            </a:pPr>
            <a:r>
              <a:rPr lang="en-US" sz="1800" b="0" i="0" u="none" strike="noStrike">
                <a:solidFill>
                  <a:srgbClr val="383838"/>
                </a:solidFill>
                <a:latin typeface="Inter"/>
                <a:ea typeface="Inter"/>
                <a:cs typeface="Inter"/>
                <a:sym typeface="Inter"/>
              </a:rPr>
              <a:t>This dot product value is then sent to a dense sigmoid layer that outputs either 0 or 1.</a:t>
            </a:r>
            <a:endParaRPr sz="1800" b="0" i="0" u="none" strike="noStrike">
              <a:solidFill>
                <a:srgbClr val="383838"/>
              </a:solidFill>
              <a:latin typeface="Arial"/>
              <a:ea typeface="Arial"/>
              <a:cs typeface="Arial"/>
              <a:sym typeface="Arial"/>
            </a:endParaRPr>
          </a:p>
          <a:p>
            <a:pPr marL="0" marR="0" lvl="0" indent="-114300" algn="l" rtl="0">
              <a:spcBef>
                <a:spcPts val="0"/>
              </a:spcBef>
              <a:spcAft>
                <a:spcPts val="0"/>
              </a:spcAft>
              <a:buClr>
                <a:srgbClr val="383838"/>
              </a:buClr>
              <a:buSzPts val="1800"/>
              <a:buFont typeface="Arial"/>
              <a:buChar char="•"/>
            </a:pPr>
            <a:r>
              <a:rPr lang="en-US" sz="1800" b="0" i="0" u="none" strike="noStrike">
                <a:solidFill>
                  <a:srgbClr val="383838"/>
                </a:solidFill>
                <a:latin typeface="Inter"/>
                <a:ea typeface="Inter"/>
                <a:cs typeface="Inter"/>
                <a:sym typeface="Inter"/>
              </a:rPr>
              <a:t>The output is compared with the actual label and the loss is computed followed by backpropagation with each epoch to update the embedding layer in the process.</a:t>
            </a:r>
            <a:endParaRPr sz="1800" b="0" i="0" u="none" strike="noStrike">
              <a:solidFill>
                <a:srgbClr val="383838"/>
              </a:solidFill>
              <a:latin typeface="Arial"/>
              <a:ea typeface="Arial"/>
              <a:cs typeface="Arial"/>
              <a:sym typeface="Arial"/>
            </a:endParaRPr>
          </a:p>
        </p:txBody>
      </p:sp>
      <p:sp>
        <p:nvSpPr>
          <p:cNvPr id="230" name="Google Shape;230;p29"/>
          <p:cNvSpPr txBox="1"/>
          <p:nvPr/>
        </p:nvSpPr>
        <p:spPr>
          <a:xfrm>
            <a:off x="494882" y="4564020"/>
            <a:ext cx="6094324"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42424"/>
              </a:buClr>
              <a:buSzPts val="1800"/>
              <a:buFont typeface="Calibri"/>
              <a:buNone/>
            </a:pPr>
            <a:r>
              <a:rPr lang="en-US" sz="1800" b="0" i="0" u="none" strike="noStrike">
                <a:solidFill>
                  <a:srgbClr val="242424"/>
                </a:solidFill>
                <a:latin typeface="Calibri"/>
                <a:ea typeface="Calibri"/>
                <a:cs typeface="Calibri"/>
                <a:sym typeface="Calibri"/>
              </a:rPr>
              <a:t>The major drawbacks of such Neural Network based Language Models are:</a:t>
            </a:r>
            <a:endParaRPr sz="1800" b="0">
              <a:solidFill>
                <a:schemeClr val="dk1"/>
              </a:solidFill>
              <a:latin typeface="Calibri"/>
              <a:ea typeface="Calibri"/>
              <a:cs typeface="Calibri"/>
              <a:sym typeface="Calibri"/>
            </a:endParaRPr>
          </a:p>
          <a:p>
            <a:pPr marL="0" marR="0" lvl="0" indent="-114300" algn="l" rtl="0">
              <a:spcBef>
                <a:spcPts val="0"/>
              </a:spcBef>
              <a:spcAft>
                <a:spcPts val="0"/>
              </a:spcAft>
              <a:buClr>
                <a:srgbClr val="242424"/>
              </a:buClr>
              <a:buSzPts val="1800"/>
              <a:buFont typeface="Arial"/>
              <a:buChar char="•"/>
            </a:pPr>
            <a:r>
              <a:rPr lang="en-US" sz="1800" b="0" i="0" u="none" strike="noStrike">
                <a:solidFill>
                  <a:srgbClr val="242424"/>
                </a:solidFill>
                <a:latin typeface="Calibri"/>
                <a:ea typeface="Calibri"/>
                <a:cs typeface="Calibri"/>
                <a:sym typeface="Calibri"/>
              </a:rPr>
              <a:t>High Training &amp; Testing time</a:t>
            </a:r>
            <a:endParaRPr/>
          </a:p>
          <a:p>
            <a:pPr marL="0" marR="0" lvl="0" indent="-114300" algn="l" rtl="0">
              <a:spcBef>
                <a:spcPts val="0"/>
              </a:spcBef>
              <a:spcAft>
                <a:spcPts val="0"/>
              </a:spcAft>
              <a:buClr>
                <a:srgbClr val="242424"/>
              </a:buClr>
              <a:buSzPts val="1800"/>
              <a:buFont typeface="Arial"/>
              <a:buChar char="•"/>
            </a:pPr>
            <a:r>
              <a:rPr lang="en-US" sz="1800" b="0" i="0" u="none" strike="noStrike">
                <a:solidFill>
                  <a:srgbClr val="242424"/>
                </a:solidFill>
                <a:latin typeface="Calibri"/>
                <a:ea typeface="Calibri"/>
                <a:cs typeface="Calibri"/>
                <a:sym typeface="Calibri"/>
              </a:rPr>
              <a:t>Inability to capture the statistical information at a global level (they are not considering the count or co-occurrence of words in a global context).</a:t>
            </a:r>
            <a:endParaRPr/>
          </a:p>
        </p:txBody>
      </p:sp>
      <p:pic>
        <p:nvPicPr>
          <p:cNvPr id="231" name="Google Shape;231;p29" descr="Skip-Gram architecture of the Word2Vec ..."/>
          <p:cNvPicPr preferRelativeResize="0"/>
          <p:nvPr/>
        </p:nvPicPr>
        <p:blipFill rotWithShape="1">
          <a:blip r:embed="rId3">
            <a:alphaModFix/>
          </a:blip>
          <a:srcRect/>
          <a:stretch/>
        </p:blipFill>
        <p:spPr>
          <a:xfrm>
            <a:off x="6516563" y="925847"/>
            <a:ext cx="5562390" cy="328508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0"/>
          <p:cNvSpPr txBox="1">
            <a:spLocks noGrp="1"/>
          </p:cNvSpPr>
          <p:nvPr>
            <p:ph type="title"/>
          </p:nvPr>
        </p:nvSpPr>
        <p:spPr>
          <a:xfrm>
            <a:off x="422239" y="162623"/>
            <a:ext cx="3702732" cy="66134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Glove</a:t>
            </a:r>
            <a:endParaRPr b="1"/>
          </a:p>
        </p:txBody>
      </p:sp>
      <p:pic>
        <p:nvPicPr>
          <p:cNvPr id="237" name="Google Shape;237;p30"/>
          <p:cNvPicPr preferRelativeResize="0"/>
          <p:nvPr/>
        </p:nvPicPr>
        <p:blipFill rotWithShape="1">
          <a:blip r:embed="rId3">
            <a:alphaModFix/>
          </a:blip>
          <a:srcRect/>
          <a:stretch/>
        </p:blipFill>
        <p:spPr>
          <a:xfrm>
            <a:off x="142875" y="960717"/>
            <a:ext cx="8850400" cy="2952493"/>
          </a:xfrm>
          <a:prstGeom prst="rect">
            <a:avLst/>
          </a:prstGeom>
          <a:noFill/>
          <a:ln>
            <a:noFill/>
          </a:ln>
        </p:spPr>
      </p:pic>
      <p:sp>
        <p:nvSpPr>
          <p:cNvPr id="238" name="Google Shape;238;p30"/>
          <p:cNvSpPr txBox="1"/>
          <p:nvPr/>
        </p:nvSpPr>
        <p:spPr>
          <a:xfrm>
            <a:off x="142875" y="4127586"/>
            <a:ext cx="6094324"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1" u="none" strike="noStrike">
                <a:solidFill>
                  <a:srgbClr val="242424"/>
                </a:solidFill>
                <a:latin typeface="Arial"/>
                <a:ea typeface="Arial"/>
                <a:cs typeface="Arial"/>
                <a:sym typeface="Arial"/>
              </a:rPr>
              <a:t>“GloVe is a count-based, </a:t>
            </a:r>
            <a:r>
              <a:rPr lang="en-US" sz="1800" b="1" i="1" u="none" strike="noStrike">
                <a:solidFill>
                  <a:srgbClr val="242424"/>
                </a:solidFill>
                <a:latin typeface="Arial"/>
                <a:ea typeface="Arial"/>
                <a:cs typeface="Arial"/>
                <a:sym typeface="Arial"/>
              </a:rPr>
              <a:t>unsupervised learning model</a:t>
            </a:r>
            <a:r>
              <a:rPr lang="en-US" sz="1800" b="0" i="1" u="none" strike="noStrike">
                <a:solidFill>
                  <a:srgbClr val="242424"/>
                </a:solidFill>
                <a:latin typeface="Arial"/>
                <a:ea typeface="Arial"/>
                <a:cs typeface="Arial"/>
                <a:sym typeface="Arial"/>
              </a:rPr>
              <a:t> that uses </a:t>
            </a:r>
            <a:r>
              <a:rPr lang="en-US" sz="1800" b="1" i="1" u="none" strike="noStrike">
                <a:solidFill>
                  <a:srgbClr val="242424"/>
                </a:solidFill>
                <a:latin typeface="Arial"/>
                <a:ea typeface="Arial"/>
                <a:cs typeface="Arial"/>
                <a:sym typeface="Arial"/>
              </a:rPr>
              <a:t>co-occurrence</a:t>
            </a:r>
            <a:r>
              <a:rPr lang="en-US" sz="1800" b="0" i="1" u="none" strike="noStrike">
                <a:solidFill>
                  <a:srgbClr val="242424"/>
                </a:solidFill>
                <a:latin typeface="Arial"/>
                <a:ea typeface="Arial"/>
                <a:cs typeface="Arial"/>
                <a:sym typeface="Arial"/>
              </a:rPr>
              <a:t> (how frequently two words appear together) statistics at a </a:t>
            </a:r>
            <a:r>
              <a:rPr lang="en-US" sz="1800" b="1" i="1" u="none" strike="noStrike">
                <a:solidFill>
                  <a:srgbClr val="242424"/>
                </a:solidFill>
                <a:latin typeface="Arial"/>
                <a:ea typeface="Arial"/>
                <a:cs typeface="Arial"/>
                <a:sym typeface="Arial"/>
              </a:rPr>
              <a:t>Global level</a:t>
            </a:r>
            <a:r>
              <a:rPr lang="en-US" sz="1800" b="0" i="1" u="none" strike="noStrike">
                <a:solidFill>
                  <a:srgbClr val="242424"/>
                </a:solidFill>
                <a:latin typeface="Arial"/>
                <a:ea typeface="Arial"/>
                <a:cs typeface="Arial"/>
                <a:sym typeface="Arial"/>
              </a:rPr>
              <a:t> to model the vector representations of words.”</a:t>
            </a:r>
            <a:endParaRPr sz="1800">
              <a:solidFill>
                <a:schemeClr val="dk1"/>
              </a:solidFill>
              <a:latin typeface="Arial"/>
              <a:ea typeface="Arial"/>
              <a:cs typeface="Arial"/>
              <a:sym typeface="Arial"/>
            </a:endParaRPr>
          </a:p>
        </p:txBody>
      </p:sp>
      <p:sp>
        <p:nvSpPr>
          <p:cNvPr id="239" name="Google Shape;239;p30"/>
          <p:cNvSpPr txBox="1"/>
          <p:nvPr/>
        </p:nvSpPr>
        <p:spPr>
          <a:xfrm>
            <a:off x="5744307" y="4127586"/>
            <a:ext cx="6094324"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42424"/>
              </a:buClr>
              <a:buSzPts val="1800"/>
              <a:buFont typeface="Arial"/>
              <a:buNone/>
            </a:pPr>
            <a:r>
              <a:rPr lang="en-US" sz="1800" b="0" i="0" u="none" strike="noStrike">
                <a:solidFill>
                  <a:srgbClr val="242424"/>
                </a:solidFill>
                <a:latin typeface="Arial"/>
                <a:ea typeface="Arial"/>
                <a:cs typeface="Arial"/>
                <a:sym typeface="Arial"/>
              </a:rPr>
              <a:t>Since the statistics are captured at a global level directly by the model, it is named as ‘Global Vectors’ model.</a:t>
            </a:r>
            <a:endParaRPr sz="1800" b="0">
              <a:solidFill>
                <a:schemeClr val="dk1"/>
              </a:solidFill>
              <a:latin typeface="Arial"/>
              <a:ea typeface="Arial"/>
              <a:cs typeface="Arial"/>
              <a:sym typeface="Arial"/>
            </a:endParaRPr>
          </a:p>
          <a:p>
            <a:pPr marL="0" marR="0" lvl="0" indent="0" algn="l" rtl="0">
              <a:spcBef>
                <a:spcPts val="0"/>
              </a:spcBef>
              <a:spcAft>
                <a:spcPts val="0"/>
              </a:spcAft>
              <a:buClr>
                <a:srgbClr val="242424"/>
              </a:buClr>
              <a:buSzPts val="1800"/>
              <a:buFont typeface="Arial"/>
              <a:buNone/>
            </a:pPr>
            <a:r>
              <a:rPr lang="en-US" sz="1800" b="0" i="0" u="none" strike="noStrike">
                <a:solidFill>
                  <a:srgbClr val="242424"/>
                </a:solidFill>
                <a:latin typeface="Arial"/>
                <a:ea typeface="Arial"/>
                <a:cs typeface="Arial"/>
                <a:sym typeface="Arial"/>
              </a:rPr>
              <a:t>GloVe is introduced by </a:t>
            </a:r>
            <a:r>
              <a:rPr lang="en-US" sz="1800" b="1" i="1" u="none" strike="noStrike">
                <a:solidFill>
                  <a:srgbClr val="242424"/>
                </a:solidFill>
                <a:latin typeface="Arial"/>
                <a:ea typeface="Arial"/>
                <a:cs typeface="Arial"/>
                <a:sym typeface="Arial"/>
              </a:rPr>
              <a:t>Jeffrey Pennington, Richard Socher, Christopher D. Manning</a:t>
            </a:r>
            <a:r>
              <a:rPr lang="en-US" sz="1800" b="0" i="0" u="none" strike="noStrike">
                <a:solidFill>
                  <a:srgbClr val="242424"/>
                </a:solidFill>
                <a:latin typeface="Arial"/>
                <a:ea typeface="Arial"/>
                <a:cs typeface="Arial"/>
                <a:sym typeface="Arial"/>
              </a:rPr>
              <a:t> of Stanford University in the year </a:t>
            </a:r>
            <a:r>
              <a:rPr lang="en-US" sz="1800" b="1" i="1" u="none" strike="noStrike">
                <a:solidFill>
                  <a:srgbClr val="242424"/>
                </a:solidFill>
                <a:latin typeface="Arial"/>
                <a:ea typeface="Arial"/>
                <a:cs typeface="Arial"/>
                <a:sym typeface="Arial"/>
              </a:rPr>
              <a:t>2014 </a:t>
            </a:r>
            <a:r>
              <a:rPr lang="en-US" sz="1800" b="0" i="0" u="none" strike="noStrike">
                <a:solidFill>
                  <a:srgbClr val="242424"/>
                </a:solidFill>
                <a:latin typeface="Arial"/>
                <a:ea typeface="Arial"/>
                <a:cs typeface="Arial"/>
                <a:sym typeface="Arial"/>
              </a:rPr>
              <a:t>and has ever since gained popularity among NLP practitioners due to its simplicity and performance.</a:t>
            </a:r>
            <a:endParaRPr sz="1800">
              <a:solidFill>
                <a:schemeClr val="dk1"/>
              </a:solidFill>
              <a:latin typeface="Arial"/>
              <a:ea typeface="Arial"/>
              <a:cs typeface="Arial"/>
              <a:sym typeface="Arial"/>
            </a:endParaRPr>
          </a:p>
        </p:txBody>
      </p:sp>
      <p:sp>
        <p:nvSpPr>
          <p:cNvPr id="240" name="Google Shape;240;p30"/>
          <p:cNvSpPr txBox="1"/>
          <p:nvPr/>
        </p:nvSpPr>
        <p:spPr>
          <a:xfrm>
            <a:off x="8651630" y="1144301"/>
            <a:ext cx="3689419"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6B6B6B"/>
              </a:buClr>
              <a:buSzPts val="1800"/>
              <a:buFont typeface="Arial"/>
              <a:buNone/>
            </a:pPr>
            <a:r>
              <a:rPr lang="en-US" sz="1800" b="0" i="0" u="none" strike="noStrike">
                <a:solidFill>
                  <a:srgbClr val="6B6B6B"/>
                </a:solidFill>
                <a:latin typeface="Arial"/>
                <a:ea typeface="Arial"/>
                <a:cs typeface="Arial"/>
                <a:sym typeface="Arial"/>
              </a:rPr>
              <a:t>GloVe is based on ratios of probabilities from the word-word co-occurrence matrix, combining the intuitions of count-based models while also capturing the linear structures used by methods like word2vec.</a:t>
            </a:r>
            <a:endParaRPr sz="1800" b="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1"/>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Glove</a:t>
            </a:r>
            <a:endParaRPr b="1"/>
          </a:p>
        </p:txBody>
      </p:sp>
      <p:sp>
        <p:nvSpPr>
          <p:cNvPr id="246" name="Google Shape;246;p31"/>
          <p:cNvSpPr txBox="1"/>
          <p:nvPr/>
        </p:nvSpPr>
        <p:spPr>
          <a:xfrm>
            <a:off x="163285" y="1001209"/>
            <a:ext cx="11904785"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B0E29"/>
              </a:buClr>
              <a:buSzPts val="1800"/>
              <a:buFont typeface="Calibri"/>
              <a:buNone/>
            </a:pPr>
            <a:r>
              <a:rPr lang="en-US" sz="1800" b="0" i="0" u="none" strike="noStrike">
                <a:solidFill>
                  <a:srgbClr val="0B0E29"/>
                </a:solidFill>
                <a:latin typeface="Calibri"/>
                <a:ea typeface="Calibri"/>
                <a:cs typeface="Calibri"/>
                <a:sym typeface="Calibri"/>
              </a:rPr>
              <a:t>The basic idea behind the GloVe word embedding is to derive the relationship between the words from statistics.  Unlike the occurrence matrix, the co-occurrence matrix tells you how often a particular word pair occurs together. Each value in the co-occurrence matrix represents a pair of words occurring together. </a:t>
            </a:r>
            <a:endParaRPr sz="1800" b="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br>
              <a:rPr lang="en-US"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
        <p:nvSpPr>
          <p:cNvPr id="247" name="Google Shape;247;p31"/>
          <p:cNvSpPr txBox="1"/>
          <p:nvPr/>
        </p:nvSpPr>
        <p:spPr>
          <a:xfrm>
            <a:off x="320709" y="2072138"/>
            <a:ext cx="609432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800"/>
              <a:buFont typeface="Trebuchet MS"/>
              <a:buNone/>
            </a:pPr>
            <a:r>
              <a:rPr lang="en-US" sz="1800" b="1" i="0" u="none" strike="noStrike">
                <a:solidFill>
                  <a:srgbClr val="000000"/>
                </a:solidFill>
                <a:latin typeface="Trebuchet MS"/>
                <a:ea typeface="Trebuchet MS"/>
                <a:cs typeface="Trebuchet MS"/>
                <a:sym typeface="Trebuchet MS"/>
              </a:rPr>
              <a:t>Given two corpus:</a:t>
            </a:r>
            <a:endParaRPr sz="1800" b="0">
              <a:solidFill>
                <a:schemeClr val="dk1"/>
              </a:solidFill>
              <a:latin typeface="Arial"/>
              <a:ea typeface="Arial"/>
              <a:cs typeface="Arial"/>
              <a:sym typeface="Arial"/>
            </a:endParaRPr>
          </a:p>
          <a:p>
            <a:pPr marL="0" marR="0" lvl="0" indent="-114300" algn="l" rtl="0">
              <a:spcBef>
                <a:spcPts val="0"/>
              </a:spcBef>
              <a:spcAft>
                <a:spcPts val="0"/>
              </a:spcAft>
              <a:buClr>
                <a:srgbClr val="000000"/>
              </a:buClr>
              <a:buSzPts val="1800"/>
              <a:buFont typeface="Play"/>
              <a:buAutoNum type="arabicPeriod"/>
            </a:pPr>
            <a:r>
              <a:rPr lang="en-US" sz="1800" b="0" i="0" u="none" strike="noStrike">
                <a:solidFill>
                  <a:srgbClr val="000000"/>
                </a:solidFill>
                <a:latin typeface="Trebuchet MS"/>
                <a:ea typeface="Trebuchet MS"/>
                <a:cs typeface="Trebuchet MS"/>
                <a:sym typeface="Trebuchet MS"/>
              </a:rPr>
              <a:t>The fast cat wears no hat</a:t>
            </a:r>
            <a:endParaRPr/>
          </a:p>
          <a:p>
            <a:pPr marL="0" marR="0" lvl="0" indent="-114300" algn="l" rtl="0">
              <a:spcBef>
                <a:spcPts val="0"/>
              </a:spcBef>
              <a:spcAft>
                <a:spcPts val="0"/>
              </a:spcAft>
              <a:buClr>
                <a:srgbClr val="000000"/>
              </a:buClr>
              <a:buSzPts val="1800"/>
              <a:buFont typeface="Play"/>
              <a:buAutoNum type="arabicPeriod"/>
            </a:pPr>
            <a:r>
              <a:rPr lang="en-US" sz="1800" b="0" i="0" u="none" strike="noStrike">
                <a:solidFill>
                  <a:srgbClr val="000000"/>
                </a:solidFill>
                <a:latin typeface="Trebuchet MS"/>
                <a:ea typeface="Trebuchet MS"/>
                <a:cs typeface="Trebuchet MS"/>
                <a:sym typeface="Trebuchet MS"/>
              </a:rPr>
              <a:t>The cat in the hat ran fast</a:t>
            </a:r>
            <a:endParaRPr/>
          </a:p>
        </p:txBody>
      </p:sp>
      <p:sp>
        <p:nvSpPr>
          <p:cNvPr id="248" name="Google Shape;248;p31"/>
          <p:cNvSpPr txBox="1"/>
          <p:nvPr/>
        </p:nvSpPr>
        <p:spPr>
          <a:xfrm>
            <a:off x="6160896" y="1942738"/>
            <a:ext cx="609432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Step 1: Extract unique words (vocabulary)</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Let's lowercase all words and list unique tokens:</a:t>
            </a:r>
            <a:endParaRPr/>
          </a:p>
        </p:txBody>
      </p:sp>
      <p:graphicFrame>
        <p:nvGraphicFramePr>
          <p:cNvPr id="249" name="Google Shape;249;p31"/>
          <p:cNvGraphicFramePr/>
          <p:nvPr/>
        </p:nvGraphicFramePr>
        <p:xfrm>
          <a:off x="8511791" y="2733541"/>
          <a:ext cx="3426500" cy="3291930"/>
        </p:xfrm>
        <a:graphic>
          <a:graphicData uri="http://schemas.openxmlformats.org/drawingml/2006/table">
            <a:tbl>
              <a:tblPr>
                <a:noFill/>
                <a:tableStyleId>{84C0B47E-CC9D-43A6-8C5E-068AE1E5ADA8}</a:tableStyleId>
              </a:tblPr>
              <a:tblGrid>
                <a:gridCol w="1713250">
                  <a:extLst>
                    <a:ext uri="{9D8B030D-6E8A-4147-A177-3AD203B41FA5}">
                      <a16:colId xmlns:a16="http://schemas.microsoft.com/office/drawing/2014/main" val="20000"/>
                    </a:ext>
                  </a:extLst>
                </a:gridCol>
                <a:gridCol w="1713250">
                  <a:extLst>
                    <a:ext uri="{9D8B030D-6E8A-4147-A177-3AD203B41FA5}">
                      <a16:colId xmlns:a16="http://schemas.microsoft.com/office/drawing/2014/main" val="20001"/>
                    </a:ext>
                  </a:extLst>
                </a:gridCol>
              </a:tblGrid>
              <a:tr h="293175">
                <a:tc>
                  <a:txBody>
                    <a:bodyPr/>
                    <a:lstStyle/>
                    <a:p>
                      <a:pPr marL="0" marR="0" lvl="0" indent="0" algn="l" rtl="0">
                        <a:spcBef>
                          <a:spcPts val="0"/>
                        </a:spcBef>
                        <a:spcAft>
                          <a:spcPts val="0"/>
                        </a:spcAft>
                        <a:buNone/>
                      </a:pPr>
                      <a:r>
                        <a:rPr lang="en-US" sz="1800"/>
                        <a:t>Index</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Word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93175">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the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93175">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fast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93175">
                <a:tc>
                  <a:txBody>
                    <a:bodyPr/>
                    <a:lstStyle/>
                    <a:p>
                      <a:pPr marL="0" marR="0" lvl="0" indent="0" algn="l" rtl="0">
                        <a:spcBef>
                          <a:spcPts val="0"/>
                        </a:spcBef>
                        <a:spcAft>
                          <a:spcPts val="0"/>
                        </a:spcAft>
                        <a:buNone/>
                      </a:pPr>
                      <a:r>
                        <a:rPr lang="en-US" sz="1800"/>
                        <a:t>2</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93175">
                <a:tc>
                  <a:txBody>
                    <a:bodyPr/>
                    <a:lstStyle/>
                    <a:p>
                      <a:pPr marL="0" marR="0" lvl="0" indent="0" algn="l" rtl="0">
                        <a:spcBef>
                          <a:spcPts val="0"/>
                        </a:spcBef>
                        <a:spcAft>
                          <a:spcPts val="0"/>
                        </a:spcAft>
                        <a:buNone/>
                      </a:pPr>
                      <a:r>
                        <a:rPr lang="en-US" sz="1800"/>
                        <a:t>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wears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93175">
                <a:tc>
                  <a:txBody>
                    <a:bodyPr/>
                    <a:lstStyle/>
                    <a:p>
                      <a:pPr marL="0" marR="0" lvl="0" indent="0" algn="l" rtl="0">
                        <a:spcBef>
                          <a:spcPts val="0"/>
                        </a:spcBef>
                        <a:spcAft>
                          <a:spcPts val="0"/>
                        </a:spcAft>
                        <a:buNone/>
                      </a:pPr>
                      <a:r>
                        <a:rPr lang="en-US" sz="1800"/>
                        <a:t>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no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293175">
                <a:tc>
                  <a:txBody>
                    <a:bodyPr/>
                    <a:lstStyle/>
                    <a:p>
                      <a:pPr marL="0" marR="0" lvl="0" indent="0" algn="l" rtl="0">
                        <a:spcBef>
                          <a:spcPts val="0"/>
                        </a:spcBef>
                        <a:spcAft>
                          <a:spcPts val="0"/>
                        </a:spcAft>
                        <a:buNone/>
                      </a:pPr>
                      <a:r>
                        <a:rPr lang="en-US" sz="1800"/>
                        <a:t>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hat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293175">
                <a:tc>
                  <a:txBody>
                    <a:bodyPr/>
                    <a:lstStyle/>
                    <a:p>
                      <a:pPr marL="0" marR="0" lvl="0" indent="0" algn="l" rtl="0">
                        <a:spcBef>
                          <a:spcPts val="0"/>
                        </a:spcBef>
                        <a:spcAft>
                          <a:spcPts val="0"/>
                        </a:spcAft>
                        <a:buNone/>
                      </a:pPr>
                      <a:r>
                        <a:rPr lang="en-US" sz="1800"/>
                        <a:t>6</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in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293175">
                <a:tc>
                  <a:txBody>
                    <a:bodyPr/>
                    <a:lstStyle/>
                    <a:p>
                      <a:pPr marL="0" marR="0" lvl="0" indent="0" algn="l" rtl="0">
                        <a:spcBef>
                          <a:spcPts val="0"/>
                        </a:spcBef>
                        <a:spcAft>
                          <a:spcPts val="0"/>
                        </a:spcAft>
                        <a:buNone/>
                      </a:pPr>
                      <a:r>
                        <a:rPr lang="en-US" sz="1800"/>
                        <a:t>7</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ran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250" name="Google Shape;250;p31"/>
          <p:cNvSpPr txBox="1"/>
          <p:nvPr/>
        </p:nvSpPr>
        <p:spPr>
          <a:xfrm>
            <a:off x="5948624" y="2733541"/>
            <a:ext cx="241160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Vocabulary size = 8.</a:t>
            </a:r>
            <a:endParaRPr/>
          </a:p>
        </p:txBody>
      </p:sp>
      <p:sp>
        <p:nvSpPr>
          <p:cNvPr id="251" name="Google Shape;251;p31"/>
          <p:cNvSpPr txBox="1"/>
          <p:nvPr/>
        </p:nvSpPr>
        <p:spPr>
          <a:xfrm>
            <a:off x="341644" y="3293622"/>
            <a:ext cx="612949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Step 2: Define context window</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Use a </a:t>
            </a:r>
            <a:r>
              <a:rPr lang="en-US" sz="1800" b="1">
                <a:solidFill>
                  <a:schemeClr val="dk1"/>
                </a:solidFill>
                <a:latin typeface="Arial"/>
                <a:ea typeface="Arial"/>
                <a:cs typeface="Arial"/>
                <a:sym typeface="Arial"/>
              </a:rPr>
              <a:t>window size = 1</a:t>
            </a:r>
            <a:r>
              <a:rPr lang="en-US" sz="1800">
                <a:solidFill>
                  <a:schemeClr val="dk1"/>
                </a:solidFill>
                <a:latin typeface="Arial"/>
                <a:ea typeface="Arial"/>
                <a:cs typeface="Arial"/>
                <a:sym typeface="Arial"/>
              </a:rPr>
              <a:t> (just the immediate neighbors) for simplicity.</a:t>
            </a:r>
            <a:endParaRPr/>
          </a:p>
        </p:txBody>
      </p:sp>
      <p:sp>
        <p:nvSpPr>
          <p:cNvPr id="252" name="Google Shape;252;p31"/>
          <p:cNvSpPr txBox="1"/>
          <p:nvPr/>
        </p:nvSpPr>
        <p:spPr>
          <a:xfrm>
            <a:off x="341644" y="4407701"/>
            <a:ext cx="6129494"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Step 3: Build co-occurrence matrix XXX</a:t>
            </a:r>
            <a:endParaRPr/>
          </a:p>
          <a:p>
            <a:pPr marL="0" marR="0" lvl="0" indent="-1143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Rows and columns = vocabulary words in order.</a:t>
            </a:r>
            <a:endParaRPr/>
          </a:p>
          <a:p>
            <a:pPr marL="0" marR="0" lvl="0" indent="-1143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Xij = how many times word j appeared </a:t>
            </a:r>
            <a:r>
              <a:rPr lang="en-US" sz="1800" i="1">
                <a:solidFill>
                  <a:schemeClr val="dk1"/>
                </a:solidFill>
                <a:latin typeface="Arial"/>
                <a:ea typeface="Arial"/>
                <a:cs typeface="Arial"/>
                <a:sym typeface="Arial"/>
              </a:rPr>
              <a:t>next to</a:t>
            </a:r>
            <a:r>
              <a:rPr lang="en-US" sz="1800">
                <a:solidFill>
                  <a:schemeClr val="dk1"/>
                </a:solidFill>
                <a:latin typeface="Arial"/>
                <a:ea typeface="Arial"/>
                <a:cs typeface="Arial"/>
                <a:sym typeface="Arial"/>
              </a:rPr>
              <a:t> word i within the context window.</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1">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2"/>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Glove</a:t>
            </a:r>
            <a:endParaRPr b="1"/>
          </a:p>
        </p:txBody>
      </p:sp>
      <p:sp>
        <p:nvSpPr>
          <p:cNvPr id="258" name="Google Shape;258;p32"/>
          <p:cNvSpPr txBox="1"/>
          <p:nvPr/>
        </p:nvSpPr>
        <p:spPr>
          <a:xfrm>
            <a:off x="293915" y="1056306"/>
            <a:ext cx="60943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Step 4: Count co-occurrences in each sentence</a:t>
            </a:r>
            <a:endParaRPr/>
          </a:p>
        </p:txBody>
      </p:sp>
      <p:sp>
        <p:nvSpPr>
          <p:cNvPr id="259" name="Google Shape;259;p32"/>
          <p:cNvSpPr txBox="1"/>
          <p:nvPr/>
        </p:nvSpPr>
        <p:spPr>
          <a:xfrm>
            <a:off x="293915" y="1439904"/>
            <a:ext cx="60943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Sentence 1: "the fast cat wears no hat"</a:t>
            </a:r>
            <a:endParaRPr sz="1800">
              <a:solidFill>
                <a:schemeClr val="dk1"/>
              </a:solidFill>
              <a:latin typeface="Arial"/>
              <a:ea typeface="Arial"/>
              <a:cs typeface="Arial"/>
              <a:sym typeface="Arial"/>
            </a:endParaRPr>
          </a:p>
        </p:txBody>
      </p:sp>
      <p:graphicFrame>
        <p:nvGraphicFramePr>
          <p:cNvPr id="260" name="Google Shape;260;p32"/>
          <p:cNvGraphicFramePr/>
          <p:nvPr/>
        </p:nvGraphicFramePr>
        <p:xfrm>
          <a:off x="293915" y="2011680"/>
          <a:ext cx="6617700" cy="2834710"/>
        </p:xfrm>
        <a:graphic>
          <a:graphicData uri="http://schemas.openxmlformats.org/drawingml/2006/table">
            <a:tbl>
              <a:tblPr>
                <a:noFill/>
                <a:tableStyleId>{84C0B47E-CC9D-43A6-8C5E-068AE1E5ADA8}</a:tableStyleId>
              </a:tblPr>
              <a:tblGrid>
                <a:gridCol w="2205900">
                  <a:extLst>
                    <a:ext uri="{9D8B030D-6E8A-4147-A177-3AD203B41FA5}">
                      <a16:colId xmlns:a16="http://schemas.microsoft.com/office/drawing/2014/main" val="20000"/>
                    </a:ext>
                  </a:extLst>
                </a:gridCol>
                <a:gridCol w="2205900">
                  <a:extLst>
                    <a:ext uri="{9D8B030D-6E8A-4147-A177-3AD203B41FA5}">
                      <a16:colId xmlns:a16="http://schemas.microsoft.com/office/drawing/2014/main" val="20001"/>
                    </a:ext>
                  </a:extLst>
                </a:gridCol>
                <a:gridCol w="2205900">
                  <a:extLst>
                    <a:ext uri="{9D8B030D-6E8A-4147-A177-3AD203B41FA5}">
                      <a16:colId xmlns:a16="http://schemas.microsoft.com/office/drawing/2014/main" val="20002"/>
                    </a:ext>
                  </a:extLst>
                </a:gridCol>
              </a:tblGrid>
              <a:tr h="228600">
                <a:tc>
                  <a:txBody>
                    <a:bodyPr/>
                    <a:lstStyle/>
                    <a:p>
                      <a:pPr marL="0" marR="0" lvl="0" indent="0" algn="l" rtl="0">
                        <a:spcBef>
                          <a:spcPts val="0"/>
                        </a:spcBef>
                        <a:spcAft>
                          <a:spcPts val="0"/>
                        </a:spcAft>
                        <a:buNone/>
                      </a:pPr>
                      <a:r>
                        <a:rPr lang="en-US" sz="1800"/>
                        <a:t>Position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Word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Context words (window=1)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the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fast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fast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the, cat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en-US" sz="1800"/>
                        <a:t>2</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fast, wears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en-US" sz="1800"/>
                        <a:t>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wears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cat, no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None/>
                      </a:pPr>
                      <a:r>
                        <a:rPr lang="en-US" sz="1800"/>
                        <a:t>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no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wears, hat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228600">
                <a:tc>
                  <a:txBody>
                    <a:bodyPr/>
                    <a:lstStyle/>
                    <a:p>
                      <a:pPr marL="0" marR="0" lvl="0" indent="0" algn="l" rtl="0">
                        <a:spcBef>
                          <a:spcPts val="0"/>
                        </a:spcBef>
                        <a:spcAft>
                          <a:spcPts val="0"/>
                        </a:spcAft>
                        <a:buNone/>
                      </a:pPr>
                      <a:r>
                        <a:rPr lang="en-US" sz="1800"/>
                        <a:t>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hat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no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261" name="Google Shape;261;p32"/>
          <p:cNvPicPr preferRelativeResize="0"/>
          <p:nvPr/>
        </p:nvPicPr>
        <p:blipFill rotWithShape="1">
          <a:blip r:embed="rId3">
            <a:alphaModFix/>
          </a:blip>
          <a:srcRect/>
          <a:stretch/>
        </p:blipFill>
        <p:spPr>
          <a:xfrm>
            <a:off x="6911591" y="871640"/>
            <a:ext cx="4690879" cy="2188028"/>
          </a:xfrm>
          <a:prstGeom prst="rect">
            <a:avLst/>
          </a:prstGeom>
          <a:noFill/>
          <a:ln>
            <a:noFill/>
          </a:ln>
        </p:spPr>
      </p:pic>
      <p:sp>
        <p:nvSpPr>
          <p:cNvPr id="262" name="Google Shape;262;p32"/>
          <p:cNvSpPr txBox="1"/>
          <p:nvPr/>
        </p:nvSpPr>
        <p:spPr>
          <a:xfrm>
            <a:off x="6684666" y="3077446"/>
            <a:ext cx="60943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Sentence 2: "the cat in the hat ran fast"</a:t>
            </a:r>
            <a:endParaRPr sz="1800" b="1">
              <a:solidFill>
                <a:schemeClr val="dk1"/>
              </a:solidFill>
              <a:latin typeface="Arial"/>
              <a:ea typeface="Arial"/>
              <a:cs typeface="Arial"/>
              <a:sym typeface="Arial"/>
            </a:endParaRPr>
          </a:p>
        </p:txBody>
      </p:sp>
      <p:graphicFrame>
        <p:nvGraphicFramePr>
          <p:cNvPr id="263" name="Google Shape;263;p32"/>
          <p:cNvGraphicFramePr/>
          <p:nvPr/>
        </p:nvGraphicFramePr>
        <p:xfrm>
          <a:off x="6545664" y="3429000"/>
          <a:ext cx="5846475" cy="3200480"/>
        </p:xfrm>
        <a:graphic>
          <a:graphicData uri="http://schemas.openxmlformats.org/drawingml/2006/table">
            <a:tbl>
              <a:tblPr>
                <a:noFill/>
                <a:tableStyleId>{84C0B47E-CC9D-43A6-8C5E-068AE1E5ADA8}</a:tableStyleId>
              </a:tblPr>
              <a:tblGrid>
                <a:gridCol w="1948825">
                  <a:extLst>
                    <a:ext uri="{9D8B030D-6E8A-4147-A177-3AD203B41FA5}">
                      <a16:colId xmlns:a16="http://schemas.microsoft.com/office/drawing/2014/main" val="20000"/>
                    </a:ext>
                  </a:extLst>
                </a:gridCol>
                <a:gridCol w="1948825">
                  <a:extLst>
                    <a:ext uri="{9D8B030D-6E8A-4147-A177-3AD203B41FA5}">
                      <a16:colId xmlns:a16="http://schemas.microsoft.com/office/drawing/2014/main" val="20001"/>
                    </a:ext>
                  </a:extLst>
                </a:gridCol>
                <a:gridCol w="1948825">
                  <a:extLst>
                    <a:ext uri="{9D8B030D-6E8A-4147-A177-3AD203B41FA5}">
                      <a16:colId xmlns:a16="http://schemas.microsoft.com/office/drawing/2014/main" val="20002"/>
                    </a:ext>
                  </a:extLst>
                </a:gridCol>
              </a:tblGrid>
              <a:tr h="228600">
                <a:tc>
                  <a:txBody>
                    <a:bodyPr/>
                    <a:lstStyle/>
                    <a:p>
                      <a:pPr marL="0" marR="0" lvl="0" indent="0" algn="l" rtl="0">
                        <a:spcBef>
                          <a:spcPts val="0"/>
                        </a:spcBef>
                        <a:spcAft>
                          <a:spcPts val="0"/>
                        </a:spcAft>
                        <a:buNone/>
                      </a:pPr>
                      <a:r>
                        <a:rPr lang="en-US" sz="1800"/>
                        <a:t>Position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Word</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Context words (window=1)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the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the, in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en-US" sz="1800"/>
                        <a:t>2</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in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cat, the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en-US" sz="1800"/>
                        <a:t>3</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the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in, hat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None/>
                      </a:pPr>
                      <a:r>
                        <a:rPr lang="en-US" sz="1800"/>
                        <a:t>4</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hat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the, ran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228600">
                <a:tc>
                  <a:txBody>
                    <a:bodyPr/>
                    <a:lstStyle/>
                    <a:p>
                      <a:pPr marL="0" marR="0" lvl="0" indent="0" algn="l" rtl="0">
                        <a:spcBef>
                          <a:spcPts val="0"/>
                        </a:spcBef>
                        <a:spcAft>
                          <a:spcPts val="0"/>
                        </a:spcAft>
                        <a:buNone/>
                      </a:pPr>
                      <a:r>
                        <a:rPr lang="en-US" sz="1800"/>
                        <a:t>5</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ran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hat, fast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228600">
                <a:tc>
                  <a:txBody>
                    <a:bodyPr/>
                    <a:lstStyle/>
                    <a:p>
                      <a:pPr marL="0" marR="0" lvl="0" indent="0" algn="l" rtl="0">
                        <a:spcBef>
                          <a:spcPts val="0"/>
                        </a:spcBef>
                        <a:spcAft>
                          <a:spcPts val="0"/>
                        </a:spcAft>
                        <a:buNone/>
                      </a:pPr>
                      <a:r>
                        <a:rPr lang="en-US" sz="1800"/>
                        <a:t>6</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fast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ran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3"/>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Glove</a:t>
            </a:r>
            <a:endParaRPr b="1"/>
          </a:p>
        </p:txBody>
      </p:sp>
      <p:pic>
        <p:nvPicPr>
          <p:cNvPr id="269" name="Google Shape;269;p33"/>
          <p:cNvPicPr preferRelativeResize="0"/>
          <p:nvPr/>
        </p:nvPicPr>
        <p:blipFill rotWithShape="1">
          <a:blip r:embed="rId3">
            <a:alphaModFix/>
          </a:blip>
          <a:srcRect/>
          <a:stretch/>
        </p:blipFill>
        <p:spPr>
          <a:xfrm>
            <a:off x="93782" y="868218"/>
            <a:ext cx="4160022" cy="2760242"/>
          </a:xfrm>
          <a:prstGeom prst="rect">
            <a:avLst/>
          </a:prstGeom>
          <a:noFill/>
          <a:ln>
            <a:noFill/>
          </a:ln>
        </p:spPr>
      </p:pic>
      <p:graphicFrame>
        <p:nvGraphicFramePr>
          <p:cNvPr id="270" name="Google Shape;270;p33"/>
          <p:cNvGraphicFramePr/>
          <p:nvPr/>
        </p:nvGraphicFramePr>
        <p:xfrm>
          <a:off x="4582048" y="868218"/>
          <a:ext cx="7516125" cy="3291930"/>
        </p:xfrm>
        <a:graphic>
          <a:graphicData uri="http://schemas.openxmlformats.org/drawingml/2006/table">
            <a:tbl>
              <a:tblPr>
                <a:noFill/>
                <a:tableStyleId>{84C0B47E-CC9D-43A6-8C5E-068AE1E5ADA8}</a:tableStyleId>
              </a:tblPr>
              <a:tblGrid>
                <a:gridCol w="835125">
                  <a:extLst>
                    <a:ext uri="{9D8B030D-6E8A-4147-A177-3AD203B41FA5}">
                      <a16:colId xmlns:a16="http://schemas.microsoft.com/office/drawing/2014/main" val="20000"/>
                    </a:ext>
                  </a:extLst>
                </a:gridCol>
                <a:gridCol w="835125">
                  <a:extLst>
                    <a:ext uri="{9D8B030D-6E8A-4147-A177-3AD203B41FA5}">
                      <a16:colId xmlns:a16="http://schemas.microsoft.com/office/drawing/2014/main" val="20001"/>
                    </a:ext>
                  </a:extLst>
                </a:gridCol>
                <a:gridCol w="835125">
                  <a:extLst>
                    <a:ext uri="{9D8B030D-6E8A-4147-A177-3AD203B41FA5}">
                      <a16:colId xmlns:a16="http://schemas.microsoft.com/office/drawing/2014/main" val="20002"/>
                    </a:ext>
                  </a:extLst>
                </a:gridCol>
                <a:gridCol w="835125">
                  <a:extLst>
                    <a:ext uri="{9D8B030D-6E8A-4147-A177-3AD203B41FA5}">
                      <a16:colId xmlns:a16="http://schemas.microsoft.com/office/drawing/2014/main" val="20003"/>
                    </a:ext>
                  </a:extLst>
                </a:gridCol>
                <a:gridCol w="835125">
                  <a:extLst>
                    <a:ext uri="{9D8B030D-6E8A-4147-A177-3AD203B41FA5}">
                      <a16:colId xmlns:a16="http://schemas.microsoft.com/office/drawing/2014/main" val="20004"/>
                    </a:ext>
                  </a:extLst>
                </a:gridCol>
                <a:gridCol w="835125">
                  <a:extLst>
                    <a:ext uri="{9D8B030D-6E8A-4147-A177-3AD203B41FA5}">
                      <a16:colId xmlns:a16="http://schemas.microsoft.com/office/drawing/2014/main" val="20005"/>
                    </a:ext>
                  </a:extLst>
                </a:gridCol>
                <a:gridCol w="835125">
                  <a:extLst>
                    <a:ext uri="{9D8B030D-6E8A-4147-A177-3AD203B41FA5}">
                      <a16:colId xmlns:a16="http://schemas.microsoft.com/office/drawing/2014/main" val="20006"/>
                    </a:ext>
                  </a:extLst>
                </a:gridCol>
                <a:gridCol w="835125">
                  <a:extLst>
                    <a:ext uri="{9D8B030D-6E8A-4147-A177-3AD203B41FA5}">
                      <a16:colId xmlns:a16="http://schemas.microsoft.com/office/drawing/2014/main" val="20007"/>
                    </a:ext>
                  </a:extLst>
                </a:gridCol>
                <a:gridCol w="835125">
                  <a:extLst>
                    <a:ext uri="{9D8B030D-6E8A-4147-A177-3AD203B41FA5}">
                      <a16:colId xmlns:a16="http://schemas.microsoft.com/office/drawing/2014/main" val="20008"/>
                    </a:ext>
                  </a:extLst>
                </a:gridCol>
              </a:tblGrid>
              <a:tr h="228600">
                <a:tc>
                  <a:txBody>
                    <a:bodyPr/>
                    <a:lstStyle/>
                    <a:p>
                      <a:pPr marL="0" marR="0" lvl="0" indent="0" algn="l" rtl="0">
                        <a:spcBef>
                          <a:spcPts val="0"/>
                        </a:spcBef>
                        <a:spcAft>
                          <a:spcPts val="0"/>
                        </a:spcAft>
                        <a:buNone/>
                      </a:pP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the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fast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cat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wears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no</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hat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in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ran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b="1"/>
                        <a:t>the</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b="1"/>
                        <a:t>fast</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en-US" sz="1800" b="1"/>
                        <a:t>cat</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en-US" sz="1800" b="1"/>
                        <a:t>wears</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28600">
                <a:tc>
                  <a:txBody>
                    <a:bodyPr/>
                    <a:lstStyle/>
                    <a:p>
                      <a:pPr marL="0" marR="0" lvl="0" indent="0" algn="l" rtl="0">
                        <a:spcBef>
                          <a:spcPts val="0"/>
                        </a:spcBef>
                        <a:spcAft>
                          <a:spcPts val="0"/>
                        </a:spcAft>
                        <a:buNone/>
                      </a:pPr>
                      <a:r>
                        <a:rPr lang="en-US" sz="1800" b="1"/>
                        <a:t>no</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228600">
                <a:tc>
                  <a:txBody>
                    <a:bodyPr/>
                    <a:lstStyle/>
                    <a:p>
                      <a:pPr marL="0" marR="0" lvl="0" indent="0" algn="l" rtl="0">
                        <a:spcBef>
                          <a:spcPts val="0"/>
                        </a:spcBef>
                        <a:spcAft>
                          <a:spcPts val="0"/>
                        </a:spcAft>
                        <a:buNone/>
                      </a:pPr>
                      <a:r>
                        <a:rPr lang="en-US" sz="1800" b="1"/>
                        <a:t>hat</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228600">
                <a:tc>
                  <a:txBody>
                    <a:bodyPr/>
                    <a:lstStyle/>
                    <a:p>
                      <a:pPr marL="0" marR="0" lvl="0" indent="0" algn="l" rtl="0">
                        <a:spcBef>
                          <a:spcPts val="0"/>
                        </a:spcBef>
                        <a:spcAft>
                          <a:spcPts val="0"/>
                        </a:spcAft>
                        <a:buNone/>
                      </a:pPr>
                      <a:r>
                        <a:rPr lang="en-US" sz="1800" b="1"/>
                        <a:t>in</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228600">
                <a:tc>
                  <a:txBody>
                    <a:bodyPr/>
                    <a:lstStyle/>
                    <a:p>
                      <a:pPr marL="0" marR="0" lvl="0" indent="0" algn="l" rtl="0">
                        <a:spcBef>
                          <a:spcPts val="0"/>
                        </a:spcBef>
                        <a:spcAft>
                          <a:spcPts val="0"/>
                        </a:spcAft>
                        <a:buNone/>
                      </a:pPr>
                      <a:r>
                        <a:rPr lang="en-US" sz="1800" b="1"/>
                        <a:t>ran</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1</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a:t>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271" name="Google Shape;271;p33"/>
          <p:cNvSpPr/>
          <p:nvPr/>
        </p:nvSpPr>
        <p:spPr>
          <a:xfrm>
            <a:off x="813031" y="4684540"/>
            <a:ext cx="11007180" cy="646331"/>
          </a:xfrm>
          <a:prstGeom prst="rect">
            <a:avLst/>
          </a:prstGeom>
          <a:noFill/>
          <a:ln>
            <a:noFill/>
          </a:ln>
        </p:spPr>
        <p:txBody>
          <a:bodyPr spcFirstLastPara="1" wrap="square" lIns="91425" tIns="45700" rIns="91425" bIns="45700" anchor="ctr" anchorCtr="0">
            <a:noAutofit/>
          </a:bodyPr>
          <a:lstStyle/>
          <a:p>
            <a:pPr marL="0" marR="0" lvl="0" indent="-114300" algn="l" rtl="0">
              <a:lnSpc>
                <a:spcPct val="100000"/>
              </a:lnSpc>
              <a:spcBef>
                <a:spcPts val="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The matrix is </a:t>
            </a:r>
            <a:r>
              <a:rPr lang="en-US" sz="1800" b="1" i="0" u="none" strike="noStrike" cap="none">
                <a:solidFill>
                  <a:schemeClr val="dk1"/>
                </a:solidFill>
                <a:latin typeface="Calibri"/>
                <a:ea typeface="Calibri"/>
                <a:cs typeface="Calibri"/>
                <a:sym typeface="Calibri"/>
              </a:rPr>
              <a:t>not symmetric</a:t>
            </a:r>
            <a:r>
              <a:rPr lang="en-US" sz="1800" b="0" i="0" u="none" strike="noStrike" cap="none">
                <a:solidFill>
                  <a:schemeClr val="dk1"/>
                </a:solidFill>
                <a:latin typeface="Calibri"/>
                <a:ea typeface="Calibri"/>
                <a:cs typeface="Calibri"/>
                <a:sym typeface="Calibri"/>
              </a:rPr>
              <a:t> because co-occurrence depends on the order in the sentence (word vs context word).</a:t>
            </a:r>
            <a:endParaRPr/>
          </a:p>
          <a:p>
            <a:pPr marL="0" marR="0" lvl="0" indent="-114300" algn="l" rtl="0">
              <a:lnSpc>
                <a:spcPct val="100000"/>
              </a:lnSpc>
              <a:spcBef>
                <a:spcPts val="0"/>
              </a:spcBef>
              <a:spcAft>
                <a:spcPts val="0"/>
              </a:spcAft>
              <a:buClr>
                <a:schemeClr val="dk1"/>
              </a:buClr>
              <a:buSzPts val="1800"/>
              <a:buFont typeface="Calibri"/>
              <a:buChar char="•"/>
            </a:pPr>
            <a:r>
              <a:rPr lang="en-US" sz="1800" b="0" i="0" u="none" strike="noStrike" cap="none">
                <a:solidFill>
                  <a:schemeClr val="dk1"/>
                </a:solidFill>
                <a:latin typeface="Calibri"/>
                <a:ea typeface="Calibri"/>
                <a:cs typeface="Calibri"/>
                <a:sym typeface="Calibri"/>
              </a:rPr>
              <a:t>You could make it symmetric by summing Xij+ji​, but GloVe handles the asymmetry.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4"/>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Glove</a:t>
            </a:r>
            <a:endParaRPr b="1"/>
          </a:p>
        </p:txBody>
      </p:sp>
      <p:pic>
        <p:nvPicPr>
          <p:cNvPr id="277" name="Google Shape;277;p34"/>
          <p:cNvPicPr preferRelativeResize="0"/>
          <p:nvPr/>
        </p:nvPicPr>
        <p:blipFill rotWithShape="1">
          <a:blip r:embed="rId3">
            <a:alphaModFix/>
          </a:blip>
          <a:srcRect/>
          <a:stretch/>
        </p:blipFill>
        <p:spPr>
          <a:xfrm>
            <a:off x="196716" y="875944"/>
            <a:ext cx="8402223" cy="2553056"/>
          </a:xfrm>
          <a:prstGeom prst="rect">
            <a:avLst/>
          </a:prstGeom>
          <a:noFill/>
          <a:ln>
            <a:noFill/>
          </a:ln>
        </p:spPr>
      </p:pic>
      <p:pic>
        <p:nvPicPr>
          <p:cNvPr id="278" name="Google Shape;278;p34"/>
          <p:cNvPicPr preferRelativeResize="0"/>
          <p:nvPr/>
        </p:nvPicPr>
        <p:blipFill rotWithShape="1">
          <a:blip r:embed="rId4">
            <a:alphaModFix/>
          </a:blip>
          <a:srcRect/>
          <a:stretch/>
        </p:blipFill>
        <p:spPr>
          <a:xfrm>
            <a:off x="196716" y="3162591"/>
            <a:ext cx="6897063" cy="2562583"/>
          </a:xfrm>
          <a:prstGeom prst="rect">
            <a:avLst/>
          </a:prstGeom>
          <a:noFill/>
          <a:ln>
            <a:noFill/>
          </a:ln>
        </p:spPr>
      </p:pic>
      <p:pic>
        <p:nvPicPr>
          <p:cNvPr id="279" name="Google Shape;279;p34"/>
          <p:cNvPicPr preferRelativeResize="0"/>
          <p:nvPr/>
        </p:nvPicPr>
        <p:blipFill rotWithShape="1">
          <a:blip r:embed="rId5">
            <a:alphaModFix/>
          </a:blip>
          <a:srcRect/>
          <a:stretch/>
        </p:blipFill>
        <p:spPr>
          <a:xfrm>
            <a:off x="7044531" y="3158703"/>
            <a:ext cx="4950753" cy="282335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5"/>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Glove</a:t>
            </a:r>
            <a:endParaRPr b="1"/>
          </a:p>
        </p:txBody>
      </p:sp>
      <p:pic>
        <p:nvPicPr>
          <p:cNvPr id="285" name="Google Shape;285;p35"/>
          <p:cNvPicPr preferRelativeResize="0"/>
          <p:nvPr/>
        </p:nvPicPr>
        <p:blipFill rotWithShape="1">
          <a:blip r:embed="rId3">
            <a:alphaModFix/>
          </a:blip>
          <a:srcRect/>
          <a:stretch/>
        </p:blipFill>
        <p:spPr>
          <a:xfrm>
            <a:off x="614372" y="1086107"/>
            <a:ext cx="5858693" cy="3057952"/>
          </a:xfrm>
          <a:prstGeom prst="rect">
            <a:avLst/>
          </a:prstGeom>
          <a:noFill/>
          <a:ln>
            <a:noFill/>
          </a:ln>
        </p:spPr>
      </p:pic>
      <p:pic>
        <p:nvPicPr>
          <p:cNvPr id="286" name="Google Shape;286;p35"/>
          <p:cNvPicPr preferRelativeResize="0"/>
          <p:nvPr/>
        </p:nvPicPr>
        <p:blipFill rotWithShape="1">
          <a:blip r:embed="rId4">
            <a:alphaModFix/>
          </a:blip>
          <a:srcRect/>
          <a:stretch/>
        </p:blipFill>
        <p:spPr>
          <a:xfrm>
            <a:off x="793414" y="4015852"/>
            <a:ext cx="5058481" cy="198147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6"/>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Analogies</a:t>
            </a:r>
            <a:endParaRPr b="1"/>
          </a:p>
        </p:txBody>
      </p:sp>
      <p:pic>
        <p:nvPicPr>
          <p:cNvPr id="292" name="Google Shape;292;p36"/>
          <p:cNvPicPr preferRelativeResize="0"/>
          <p:nvPr/>
        </p:nvPicPr>
        <p:blipFill rotWithShape="1">
          <a:blip r:embed="rId3">
            <a:alphaModFix/>
          </a:blip>
          <a:srcRect/>
          <a:stretch/>
        </p:blipFill>
        <p:spPr>
          <a:xfrm>
            <a:off x="281562" y="1024304"/>
            <a:ext cx="6457950" cy="2457450"/>
          </a:xfrm>
          <a:prstGeom prst="rect">
            <a:avLst/>
          </a:prstGeom>
          <a:noFill/>
          <a:ln>
            <a:noFill/>
          </a:ln>
        </p:spPr>
      </p:pic>
      <p:sp>
        <p:nvSpPr>
          <p:cNvPr id="293" name="Google Shape;293;p36"/>
          <p:cNvSpPr txBox="1"/>
          <p:nvPr/>
        </p:nvSpPr>
        <p:spPr>
          <a:xfrm>
            <a:off x="7910566" y="1120676"/>
            <a:ext cx="6094324"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242424"/>
              </a:buClr>
              <a:buSzPts val="1800"/>
              <a:buFont typeface="Arial"/>
              <a:buNone/>
            </a:pPr>
            <a:r>
              <a:rPr lang="en-US" sz="1800" b="0" i="1" u="none" strike="noStrike">
                <a:solidFill>
                  <a:srgbClr val="242424"/>
                </a:solidFill>
                <a:latin typeface="Arial"/>
                <a:ea typeface="Arial"/>
                <a:cs typeface="Arial"/>
                <a:sym typeface="Arial"/>
              </a:rPr>
              <a:t>Queen-Woman = King-Man</a:t>
            </a:r>
            <a:endParaRPr sz="1800" b="0">
              <a:solidFill>
                <a:schemeClr val="dk1"/>
              </a:solidFill>
              <a:latin typeface="Arial"/>
              <a:ea typeface="Arial"/>
              <a:cs typeface="Arial"/>
              <a:sym typeface="Arial"/>
            </a:endParaRPr>
          </a:p>
          <a:p>
            <a:pPr marL="0" marR="0" lvl="0" indent="0" algn="l" rtl="0">
              <a:spcBef>
                <a:spcPts val="0"/>
              </a:spcBef>
              <a:spcAft>
                <a:spcPts val="0"/>
              </a:spcAft>
              <a:buClr>
                <a:srgbClr val="242424"/>
              </a:buClr>
              <a:buSzPts val="1800"/>
              <a:buFont typeface="Arial"/>
              <a:buNone/>
            </a:pPr>
            <a:r>
              <a:rPr lang="en-US" sz="1800" b="0" i="0" u="none" strike="noStrike">
                <a:solidFill>
                  <a:srgbClr val="242424"/>
                </a:solidFill>
                <a:latin typeface="Arial"/>
                <a:ea typeface="Arial"/>
                <a:cs typeface="Arial"/>
                <a:sym typeface="Arial"/>
              </a:rPr>
              <a:t>Rewriting,</a:t>
            </a:r>
            <a:endParaRPr sz="1800" b="0">
              <a:solidFill>
                <a:schemeClr val="dk1"/>
              </a:solidFill>
              <a:latin typeface="Arial"/>
              <a:ea typeface="Arial"/>
              <a:cs typeface="Arial"/>
              <a:sym typeface="Arial"/>
            </a:endParaRPr>
          </a:p>
          <a:p>
            <a:pPr marL="0" marR="0" lvl="0" indent="0" algn="l" rtl="0">
              <a:spcBef>
                <a:spcPts val="0"/>
              </a:spcBef>
              <a:spcAft>
                <a:spcPts val="0"/>
              </a:spcAft>
              <a:buClr>
                <a:srgbClr val="242424"/>
              </a:buClr>
              <a:buSzPts val="1800"/>
              <a:buFont typeface="Arial"/>
              <a:buNone/>
            </a:pPr>
            <a:r>
              <a:rPr lang="en-US" sz="1800" b="0" i="1" u="none" strike="noStrike">
                <a:solidFill>
                  <a:srgbClr val="242424"/>
                </a:solidFill>
                <a:latin typeface="Arial"/>
                <a:ea typeface="Arial"/>
                <a:cs typeface="Arial"/>
                <a:sym typeface="Arial"/>
              </a:rPr>
              <a:t>Queen-Woman+Man = King</a:t>
            </a:r>
            <a:endParaRPr sz="1800" b="0">
              <a:solidFill>
                <a:schemeClr val="dk1"/>
              </a:solidFill>
              <a:latin typeface="Arial"/>
              <a:ea typeface="Arial"/>
              <a:cs typeface="Arial"/>
              <a:sym typeface="Arial"/>
            </a:endParaRPr>
          </a:p>
          <a:p>
            <a:pPr marL="0" marR="0" lvl="0" indent="0" algn="l" rtl="0">
              <a:spcBef>
                <a:spcPts val="0"/>
              </a:spcBef>
              <a:spcAft>
                <a:spcPts val="0"/>
              </a:spcAft>
              <a:buClr>
                <a:srgbClr val="000000"/>
              </a:buClr>
              <a:buSzPts val="1800"/>
              <a:buFont typeface="Trebuchet MS"/>
              <a:buNone/>
            </a:pPr>
            <a:br>
              <a:rPr lang="en-US" sz="1800" b="0" i="0" u="none" strike="noStrike">
                <a:solidFill>
                  <a:srgbClr val="000000"/>
                </a:solidFill>
                <a:latin typeface="Trebuchet MS"/>
                <a:ea typeface="Trebuchet MS"/>
                <a:cs typeface="Trebuchet MS"/>
                <a:sym typeface="Trebuchet MS"/>
              </a:rPr>
            </a:br>
            <a:br>
              <a:rPr lang="en-US" sz="1800" b="0" i="0" u="none" strike="noStrike">
                <a:solidFill>
                  <a:srgbClr val="000000"/>
                </a:solidFill>
                <a:latin typeface="Trebuchet MS"/>
                <a:ea typeface="Trebuchet MS"/>
                <a:cs typeface="Trebuchet MS"/>
                <a:sym typeface="Trebuchet MS"/>
              </a:rPr>
            </a:br>
            <a:endParaRPr sz="1800" b="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pic>
        <p:nvPicPr>
          <p:cNvPr id="294" name="Google Shape;294;p36"/>
          <p:cNvPicPr preferRelativeResize="0"/>
          <p:nvPr/>
        </p:nvPicPr>
        <p:blipFill rotWithShape="1">
          <a:blip r:embed="rId4">
            <a:alphaModFix/>
          </a:blip>
          <a:srcRect/>
          <a:stretch/>
        </p:blipFill>
        <p:spPr>
          <a:xfrm>
            <a:off x="5152234" y="3599515"/>
            <a:ext cx="6734687" cy="32584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7"/>
          <p:cNvSpPr txBox="1">
            <a:spLocks noGrp="1"/>
          </p:cNvSpPr>
          <p:nvPr>
            <p:ph type="title"/>
          </p:nvPr>
        </p:nvSpPr>
        <p:spPr>
          <a:xfrm>
            <a:off x="422239" y="162623"/>
            <a:ext cx="4981204" cy="5100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3200"/>
              <a:buFont typeface="Proxima Nova"/>
              <a:buNone/>
            </a:pPr>
            <a:r>
              <a:rPr lang="en-US" b="1"/>
              <a:t>SynSets</a:t>
            </a:r>
            <a:endParaRPr b="1"/>
          </a:p>
        </p:txBody>
      </p:sp>
      <p:sp>
        <p:nvSpPr>
          <p:cNvPr id="300" name="Google Shape;300;p37"/>
          <p:cNvSpPr txBox="1"/>
          <p:nvPr/>
        </p:nvSpPr>
        <p:spPr>
          <a:xfrm>
            <a:off x="422239" y="1040564"/>
            <a:ext cx="609432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Synsets</a:t>
            </a:r>
            <a:r>
              <a:rPr lang="en-US" sz="1800">
                <a:solidFill>
                  <a:schemeClr val="dk1"/>
                </a:solidFill>
                <a:latin typeface="Arial"/>
                <a:ea typeface="Arial"/>
                <a:cs typeface="Arial"/>
                <a:sym typeface="Arial"/>
              </a:rPr>
              <a:t> (short for </a:t>
            </a:r>
            <a:r>
              <a:rPr lang="en-US" sz="1800" b="1">
                <a:solidFill>
                  <a:schemeClr val="dk1"/>
                </a:solidFill>
                <a:latin typeface="Arial"/>
                <a:ea typeface="Arial"/>
                <a:cs typeface="Arial"/>
                <a:sym typeface="Arial"/>
              </a:rPr>
              <a:t>"synonym sets"</a:t>
            </a:r>
            <a:r>
              <a:rPr lang="en-US" sz="1800">
                <a:solidFill>
                  <a:schemeClr val="dk1"/>
                </a:solidFill>
                <a:latin typeface="Arial"/>
                <a:ea typeface="Arial"/>
                <a:cs typeface="Arial"/>
                <a:sym typeface="Arial"/>
              </a:rPr>
              <a:t>) are a fundamental concept in </a:t>
            </a:r>
            <a:r>
              <a:rPr lang="en-US" sz="1800" b="1">
                <a:solidFill>
                  <a:schemeClr val="dk1"/>
                </a:solidFill>
                <a:latin typeface="Arial"/>
                <a:ea typeface="Arial"/>
                <a:cs typeface="Arial"/>
                <a:sym typeface="Arial"/>
              </a:rPr>
              <a:t>WordNet</a:t>
            </a:r>
            <a:r>
              <a:rPr lang="en-US" sz="1800">
                <a:solidFill>
                  <a:schemeClr val="dk1"/>
                </a:solidFill>
                <a:latin typeface="Arial"/>
                <a:ea typeface="Arial"/>
                <a:cs typeface="Arial"/>
                <a:sym typeface="Arial"/>
              </a:rPr>
              <a:t>, a large lexical database of English developed at Princeton.</a:t>
            </a:r>
            <a:endParaRPr/>
          </a:p>
        </p:txBody>
      </p:sp>
      <p:sp>
        <p:nvSpPr>
          <p:cNvPr id="301" name="Google Shape;301;p37"/>
          <p:cNvSpPr txBox="1"/>
          <p:nvPr/>
        </p:nvSpPr>
        <p:spPr>
          <a:xfrm>
            <a:off x="422239" y="2274838"/>
            <a:ext cx="6094324"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A </a:t>
            </a:r>
            <a:r>
              <a:rPr lang="en-US" sz="1800" b="1">
                <a:solidFill>
                  <a:schemeClr val="dk1"/>
                </a:solidFill>
                <a:latin typeface="Arial"/>
                <a:ea typeface="Arial"/>
                <a:cs typeface="Arial"/>
                <a:sym typeface="Arial"/>
              </a:rPr>
              <a:t>synset</a:t>
            </a:r>
            <a:r>
              <a:rPr lang="en-US" sz="1800">
                <a:solidFill>
                  <a:schemeClr val="dk1"/>
                </a:solidFill>
                <a:latin typeface="Arial"/>
                <a:ea typeface="Arial"/>
                <a:cs typeface="Arial"/>
                <a:sym typeface="Arial"/>
              </a:rPr>
              <a:t> is a group of words (or phrases) that are </a:t>
            </a:r>
            <a:r>
              <a:rPr lang="en-US" sz="1800" b="1">
                <a:solidFill>
                  <a:schemeClr val="dk1"/>
                </a:solidFill>
                <a:latin typeface="Arial"/>
                <a:ea typeface="Arial"/>
                <a:cs typeface="Arial"/>
                <a:sym typeface="Arial"/>
              </a:rPr>
              <a:t>synonyms</a:t>
            </a:r>
            <a:r>
              <a:rPr lang="en-US" sz="1800">
                <a:solidFill>
                  <a:schemeClr val="dk1"/>
                </a:solidFill>
                <a:latin typeface="Arial"/>
                <a:ea typeface="Arial"/>
                <a:cs typeface="Arial"/>
                <a:sym typeface="Arial"/>
              </a:rPr>
              <a:t>, meaning they express the </a:t>
            </a:r>
            <a:r>
              <a:rPr lang="en-US" sz="1800" b="1">
                <a:solidFill>
                  <a:schemeClr val="dk1"/>
                </a:solidFill>
                <a:latin typeface="Arial"/>
                <a:ea typeface="Arial"/>
                <a:cs typeface="Arial"/>
                <a:sym typeface="Arial"/>
              </a:rPr>
              <a:t>same concept or meaning</a:t>
            </a:r>
            <a:r>
              <a:rPr lang="en-US" sz="1800">
                <a:solidFill>
                  <a:schemeClr val="dk1"/>
                </a:solidFill>
                <a:latin typeface="Arial"/>
                <a:ea typeface="Arial"/>
                <a:cs typeface="Arial"/>
                <a:sym typeface="Arial"/>
              </a:rPr>
              <a:t>.</a:t>
            </a:r>
            <a:endParaRPr/>
          </a:p>
          <a:p>
            <a:pPr marL="0" marR="0" lvl="0" indent="0" algn="l" rtl="0">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Each synset is also associated with:</a:t>
            </a:r>
            <a:endParaRPr/>
          </a:p>
          <a:p>
            <a:pPr marL="0" marR="0" lvl="0" indent="-1143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 </a:t>
            </a:r>
            <a:r>
              <a:rPr lang="en-US" sz="1800" b="1">
                <a:solidFill>
                  <a:schemeClr val="dk1"/>
                </a:solidFill>
                <a:latin typeface="Arial"/>
                <a:ea typeface="Arial"/>
                <a:cs typeface="Arial"/>
                <a:sym typeface="Arial"/>
              </a:rPr>
              <a:t>definition</a:t>
            </a:r>
            <a:r>
              <a:rPr lang="en-US" sz="1800">
                <a:solidFill>
                  <a:schemeClr val="dk1"/>
                </a:solidFill>
                <a:latin typeface="Arial"/>
                <a:ea typeface="Arial"/>
                <a:cs typeface="Arial"/>
                <a:sym typeface="Arial"/>
              </a:rPr>
              <a:t> (gloss)</a:t>
            </a:r>
            <a:endParaRPr/>
          </a:p>
          <a:p>
            <a:pPr marL="0" marR="0" lvl="0" indent="-114300" algn="l" rtl="0">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One or more </a:t>
            </a:r>
            <a:r>
              <a:rPr lang="en-US" sz="1800" b="1">
                <a:solidFill>
                  <a:schemeClr val="dk1"/>
                </a:solidFill>
                <a:latin typeface="Arial"/>
                <a:ea typeface="Arial"/>
                <a:cs typeface="Arial"/>
                <a:sym typeface="Arial"/>
              </a:rPr>
              <a:t>example sentences</a:t>
            </a:r>
            <a:endParaRPr sz="1800">
              <a:solidFill>
                <a:schemeClr val="dk1"/>
              </a:solidFill>
              <a:latin typeface="Arial"/>
              <a:ea typeface="Arial"/>
              <a:cs typeface="Arial"/>
              <a:sym typeface="Arial"/>
            </a:endParaRPr>
          </a:p>
          <a:p>
            <a:pPr marL="0" marR="0" lvl="0" indent="-114300" algn="l" rtl="0">
              <a:spcBef>
                <a:spcPts val="0"/>
              </a:spcBef>
              <a:spcAft>
                <a:spcPts val="0"/>
              </a:spcAft>
              <a:buClr>
                <a:schemeClr val="dk1"/>
              </a:buClr>
              <a:buSzPts val="1800"/>
              <a:buFont typeface="Arial"/>
              <a:buChar char="•"/>
            </a:pPr>
            <a:r>
              <a:rPr lang="en-US" sz="1800" b="1">
                <a:solidFill>
                  <a:schemeClr val="dk1"/>
                </a:solidFill>
                <a:latin typeface="Arial"/>
                <a:ea typeface="Arial"/>
                <a:cs typeface="Arial"/>
                <a:sym typeface="Arial"/>
              </a:rPr>
              <a:t>Semantic relationships</a:t>
            </a:r>
            <a:r>
              <a:rPr lang="en-US" sz="1800">
                <a:solidFill>
                  <a:schemeClr val="dk1"/>
                </a:solidFill>
                <a:latin typeface="Arial"/>
                <a:ea typeface="Arial"/>
                <a:cs typeface="Arial"/>
                <a:sym typeface="Arial"/>
              </a:rPr>
              <a:t> (like hypernyms, hyponyms, antonyms)</a:t>
            </a:r>
            <a:endParaRPr/>
          </a:p>
        </p:txBody>
      </p:sp>
      <p:sp>
        <p:nvSpPr>
          <p:cNvPr id="302" name="Google Shape;302;p37"/>
          <p:cNvSpPr/>
          <p:nvPr/>
        </p:nvSpPr>
        <p:spPr>
          <a:xfrm>
            <a:off x="6772589" y="1032116"/>
            <a:ext cx="4073359" cy="5232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For the concept of </a:t>
            </a:r>
            <a:r>
              <a:rPr lang="en-US" sz="1400" b="1" i="0" u="none" strike="noStrike" cap="none">
                <a:solidFill>
                  <a:schemeClr val="dk1"/>
                </a:solidFill>
                <a:latin typeface="Calibri"/>
                <a:ea typeface="Calibri"/>
                <a:cs typeface="Calibri"/>
                <a:sym typeface="Calibri"/>
              </a:rPr>
              <a:t>car</a:t>
            </a:r>
            <a:r>
              <a:rPr lang="en-US" sz="1400" b="0" i="0" u="none" strike="noStrike" cap="none">
                <a:solidFill>
                  <a:schemeClr val="dk1"/>
                </a:solidFill>
                <a:latin typeface="Calibri"/>
                <a:ea typeface="Calibri"/>
                <a:cs typeface="Calibri"/>
                <a:sym typeface="Calibri"/>
              </a:rPr>
              <a:t>, WordNet provides this </a:t>
            </a:r>
            <a:r>
              <a:rPr lang="en-US" sz="1400" b="1" i="0" u="none" strike="noStrike" cap="none">
                <a:solidFill>
                  <a:schemeClr val="dk1"/>
                </a:solidFill>
                <a:latin typeface="Calibri"/>
                <a:ea typeface="Calibri"/>
                <a:cs typeface="Calibri"/>
                <a:sym typeface="Calibri"/>
              </a:rPr>
              <a:t>synset</a:t>
            </a:r>
            <a:r>
              <a:rPr lang="en-US" sz="1400" b="0" i="0" u="none" strike="noStrike" cap="none">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303" name="Google Shape;303;p37"/>
          <p:cNvSpPr txBox="1"/>
          <p:nvPr/>
        </p:nvSpPr>
        <p:spPr>
          <a:xfrm>
            <a:off x="6516563" y="1380702"/>
            <a:ext cx="6094324"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car.n.01</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 Synonyms: car, auto, automobile, machine, motorcar</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 Definition: a motor vehicle with four wheels; usually propelled by an internal combustion engine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  → Example: "He needs a car to get to work."</a:t>
            </a:r>
            <a:endParaRPr/>
          </a:p>
        </p:txBody>
      </p:sp>
      <p:sp>
        <p:nvSpPr>
          <p:cNvPr id="304" name="Google Shape;304;p37"/>
          <p:cNvSpPr/>
          <p:nvPr/>
        </p:nvSpPr>
        <p:spPr>
          <a:xfrm>
            <a:off x="6772589" y="3307473"/>
            <a:ext cx="4855112" cy="138499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WordNet organizes words into </a:t>
            </a:r>
            <a:r>
              <a:rPr lang="en-US" sz="1400" b="1" i="0" u="none" strike="noStrike" cap="none">
                <a:solidFill>
                  <a:schemeClr val="dk1"/>
                </a:solidFill>
                <a:latin typeface="Calibri"/>
                <a:ea typeface="Calibri"/>
                <a:cs typeface="Calibri"/>
                <a:sym typeface="Calibri"/>
              </a:rPr>
              <a:t>four major parts of speech</a:t>
            </a:r>
            <a:r>
              <a:rPr lang="en-US" sz="1400" b="0" i="0" u="none" strike="noStrike" cap="none">
                <a:solidFill>
                  <a:schemeClr val="dk1"/>
                </a:solidFill>
                <a:latin typeface="Calibri"/>
                <a:ea typeface="Calibri"/>
                <a:cs typeface="Calibri"/>
                <a:sym typeface="Calibri"/>
              </a:rPr>
              <a:t>:</a:t>
            </a:r>
            <a:endParaRPr/>
          </a:p>
          <a:p>
            <a:pPr marL="0" marR="0" lvl="0" indent="-88900" algn="l" rtl="0">
              <a:lnSpc>
                <a:spcPct val="100000"/>
              </a:lnSpc>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n = noun</a:t>
            </a:r>
            <a:endParaRPr/>
          </a:p>
          <a:p>
            <a:pPr marL="0" marR="0" lvl="0" indent="-88900" algn="l" rtl="0">
              <a:lnSpc>
                <a:spcPct val="100000"/>
              </a:lnSpc>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v = verb</a:t>
            </a:r>
            <a:endParaRPr/>
          </a:p>
          <a:p>
            <a:pPr marL="0" marR="0" lvl="0" indent="-88900" algn="l" rtl="0">
              <a:lnSpc>
                <a:spcPct val="100000"/>
              </a:lnSpc>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a = adjective</a:t>
            </a:r>
            <a:endParaRPr/>
          </a:p>
          <a:p>
            <a:pPr marL="0" marR="0" lvl="0" indent="-88900" algn="l" rtl="0">
              <a:lnSpc>
                <a:spcPct val="100000"/>
              </a:lnSpc>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r = adverb</a:t>
            </a:r>
            <a:endParaRPr/>
          </a:p>
          <a:p>
            <a:pPr marL="0" marR="0" lvl="0" indent="0" algn="l" rtl="0">
              <a:lnSpc>
                <a:spcPct val="100000"/>
              </a:lnSpc>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Each synset is assigned a unique </a:t>
            </a:r>
            <a:r>
              <a:rPr lang="en-US" sz="1400" b="1" i="0" u="none" strike="noStrike" cap="none">
                <a:solidFill>
                  <a:schemeClr val="dk1"/>
                </a:solidFill>
                <a:latin typeface="Calibri"/>
                <a:ea typeface="Calibri"/>
                <a:cs typeface="Calibri"/>
                <a:sym typeface="Calibri"/>
              </a:rPr>
              <a:t>ID</a:t>
            </a:r>
            <a:r>
              <a:rPr lang="en-US" sz="1400" b="0" i="0" u="none" strike="noStrike" cap="none">
                <a:solidFill>
                  <a:schemeClr val="dk1"/>
                </a:solidFill>
                <a:latin typeface="Calibri"/>
                <a:ea typeface="Calibri"/>
                <a:cs typeface="Calibri"/>
                <a:sym typeface="Calibri"/>
              </a:rPr>
              <a:t>, like bank.n.01, run.v.05, etc.</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pic>
        <p:nvPicPr>
          <p:cNvPr id="309" name="Google Shape;309;p38"/>
          <p:cNvPicPr preferRelativeResize="0"/>
          <p:nvPr/>
        </p:nvPicPr>
        <p:blipFill rotWithShape="1">
          <a:blip r:embed="rId3">
            <a:alphaModFix/>
          </a:blip>
          <a:srcRect/>
          <a:stretch/>
        </p:blipFill>
        <p:spPr>
          <a:xfrm>
            <a:off x="10109827" y="0"/>
            <a:ext cx="1808723" cy="2103309"/>
          </a:xfrm>
          <a:prstGeom prst="rect">
            <a:avLst/>
          </a:prstGeom>
          <a:noFill/>
          <a:ln>
            <a:noFill/>
          </a:ln>
        </p:spPr>
      </p:pic>
      <p:sp>
        <p:nvSpPr>
          <p:cNvPr id="310" name="Google Shape;310;p38"/>
          <p:cNvSpPr txBox="1"/>
          <p:nvPr/>
        </p:nvSpPr>
        <p:spPr>
          <a:xfrm>
            <a:off x="1542815" y="954717"/>
            <a:ext cx="2207605" cy="1748161"/>
          </a:xfrm>
          <a:prstGeom prst="rect">
            <a:avLst/>
          </a:prstGeom>
          <a:noFill/>
          <a:ln>
            <a:noFill/>
          </a:ln>
        </p:spPr>
        <p:txBody>
          <a:bodyPr spcFirstLastPara="1" wrap="square" lIns="121900" tIns="60925" rIns="121900" bIns="60925" anchor="t" anchorCtr="0">
            <a:noAutofit/>
          </a:bodyPr>
          <a:lstStyle/>
          <a:p>
            <a:pPr marL="0" marR="0" lvl="0" indent="0" algn="l" rtl="0">
              <a:lnSpc>
                <a:spcPct val="90000"/>
              </a:lnSpc>
              <a:spcBef>
                <a:spcPts val="0"/>
              </a:spcBef>
              <a:spcAft>
                <a:spcPts val="0"/>
              </a:spcAft>
              <a:buNone/>
            </a:pPr>
            <a:endParaRPr sz="1867">
              <a:solidFill>
                <a:schemeClr val="lt1"/>
              </a:solidFill>
              <a:latin typeface="Proxima Nova"/>
              <a:ea typeface="Proxima Nova"/>
              <a:cs typeface="Proxima Nova"/>
              <a:sym typeface="Proxima Nova"/>
            </a:endParaRPr>
          </a:p>
          <a:p>
            <a:pPr marL="0" marR="0" lvl="0" indent="0" algn="l" rtl="0">
              <a:lnSpc>
                <a:spcPct val="90000"/>
              </a:lnSpc>
              <a:spcBef>
                <a:spcPts val="1333"/>
              </a:spcBef>
              <a:spcAft>
                <a:spcPts val="0"/>
              </a:spcAft>
              <a:buNone/>
            </a:pPr>
            <a:endParaRPr sz="1867" i="1">
              <a:solidFill>
                <a:schemeClr val="dk1"/>
              </a:solidFill>
              <a:latin typeface="Proxima Nova"/>
              <a:ea typeface="Proxima Nova"/>
              <a:cs typeface="Proxima Nova"/>
              <a:sym typeface="Proxima Nova"/>
            </a:endParaRPr>
          </a:p>
        </p:txBody>
      </p:sp>
      <p:sp>
        <p:nvSpPr>
          <p:cNvPr id="311" name="Google Shape;311;p38"/>
          <p:cNvSpPr txBox="1">
            <a:spLocks noGrp="1"/>
          </p:cNvSpPr>
          <p:nvPr>
            <p:ph type="dt" idx="10"/>
          </p:nvPr>
        </p:nvSpPr>
        <p:spPr>
          <a:xfrm>
            <a:off x="885228" y="6205183"/>
            <a:ext cx="2743200" cy="365125"/>
          </a:xfrm>
          <a:prstGeom prst="rect">
            <a:avLst/>
          </a:prstGeom>
          <a:noFill/>
          <a:ln>
            <a:noFill/>
          </a:ln>
        </p:spPr>
        <p:txBody>
          <a:bodyPr spcFirstLastPara="1" wrap="square" lIns="121900" tIns="60925" rIns="121900" bIns="60925" anchor="ctr" anchorCtr="0">
            <a:noAutofit/>
          </a:bodyPr>
          <a:lstStyle/>
          <a:p>
            <a:pPr marL="0" lvl="0" indent="0" algn="l" rtl="0">
              <a:lnSpc>
                <a:spcPct val="100000"/>
              </a:lnSpc>
              <a:spcBef>
                <a:spcPts val="0"/>
              </a:spcBef>
              <a:spcAft>
                <a:spcPts val="0"/>
              </a:spcAft>
              <a:buClr>
                <a:srgbClr val="E72D40"/>
              </a:buClr>
              <a:buSzPts val="1400"/>
              <a:buFont typeface="Arial"/>
              <a:buNone/>
            </a:pPr>
            <a:r>
              <a:rPr lang="en-US"/>
              <a:t>23/05/19</a:t>
            </a:r>
            <a:endParaRPr/>
          </a:p>
        </p:txBody>
      </p:sp>
      <p:sp>
        <p:nvSpPr>
          <p:cNvPr id="312" name="Google Shape;312;p38"/>
          <p:cNvSpPr txBox="1">
            <a:spLocks noGrp="1"/>
          </p:cNvSpPr>
          <p:nvPr>
            <p:ph type="sldNum" idx="12"/>
          </p:nvPr>
        </p:nvSpPr>
        <p:spPr>
          <a:xfrm>
            <a:off x="8965501" y="6314275"/>
            <a:ext cx="2743200" cy="3652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
        <p:nvSpPr>
          <p:cNvPr id="313" name="Google Shape;313;p38"/>
          <p:cNvSpPr txBox="1"/>
          <p:nvPr/>
        </p:nvSpPr>
        <p:spPr>
          <a:xfrm>
            <a:off x="885228" y="3429000"/>
            <a:ext cx="4760660" cy="6155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400">
                <a:solidFill>
                  <a:schemeClr val="dk1"/>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3</TotalTime>
  <Words>2203</Words>
  <Application>Microsoft Macintosh PowerPoint</Application>
  <PresentationFormat>Widescreen</PresentationFormat>
  <Paragraphs>312</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Proxima Nova</vt:lpstr>
      <vt:lpstr>Calibri</vt:lpstr>
      <vt:lpstr>Inter</vt:lpstr>
      <vt:lpstr>Times New Roman</vt:lpstr>
      <vt:lpstr>Trebuchet MS</vt:lpstr>
      <vt:lpstr>Lato</vt:lpstr>
      <vt:lpstr>Roboto</vt:lpstr>
      <vt:lpstr>Play</vt:lpstr>
      <vt:lpstr>Office Theme</vt:lpstr>
      <vt:lpstr>PowerPoint Presentation</vt:lpstr>
      <vt:lpstr>PowerPoint Presentation</vt:lpstr>
      <vt:lpstr>What is Embedding?</vt:lpstr>
      <vt:lpstr>One-hot vector</vt:lpstr>
      <vt:lpstr>Featurized representation: word embedding</vt:lpstr>
      <vt:lpstr>Embedding Matrix Mechanism</vt:lpstr>
      <vt:lpstr>TF-IDF vs Word Embedding</vt:lpstr>
      <vt:lpstr>Word2Vec</vt:lpstr>
      <vt:lpstr>Continuous Bag Of Words</vt:lpstr>
      <vt:lpstr>CBOW</vt:lpstr>
      <vt:lpstr>CBOW</vt:lpstr>
      <vt:lpstr>Skip Gram</vt:lpstr>
      <vt:lpstr>Skip-Gram</vt:lpstr>
      <vt:lpstr>Skip Gram</vt:lpstr>
      <vt:lpstr>Glove</vt:lpstr>
      <vt:lpstr>Glove</vt:lpstr>
      <vt:lpstr>Glove</vt:lpstr>
      <vt:lpstr>Glove</vt:lpstr>
      <vt:lpstr>Glove</vt:lpstr>
      <vt:lpstr>Glove</vt:lpstr>
      <vt:lpstr>Analogies</vt:lpstr>
      <vt:lpstr>SynSets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Deven Kalra</cp:lastModifiedBy>
  <cp:revision>1</cp:revision>
  <dcterms:modified xsi:type="dcterms:W3CDTF">2026-04-13T18:14:20Z</dcterms:modified>
</cp:coreProperties>
</file>