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1pPr>
    <a:lvl2pPr marL="0" marR="0" indent="228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2pPr>
    <a:lvl3pPr marL="0" marR="0" indent="457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3pPr>
    <a:lvl4pPr marL="0" marR="0" indent="685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4pPr>
    <a:lvl5pPr marL="0" marR="0" indent="9144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5pPr>
    <a:lvl6pPr marL="0" marR="0" indent="11430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6pPr>
    <a:lvl7pPr marL="0" marR="0" indent="1371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7pPr>
    <a:lvl8pPr marL="0" marR="0" indent="1600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8pPr>
    <a:lvl9pPr marL="0" marR="0" indent="1828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50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Light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 b="def" i="def"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 b="def" i="def"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 b="def" i="def"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 b="def" i="def"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7" name="Shape 117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Shape 12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5" name="Shape 12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>
            <a:lvl1pPr defTabSz="914400">
              <a:lnSpc>
                <a:spcPct val="100000"/>
              </a:lnSpc>
              <a:defRPr sz="1800"/>
            </a:lvl1pPr>
          </a:lstStyle>
          <a:p>
            <a:pPr/>
            <a:r>
              <a:t>An alternative way to handle sequence data with neural networks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4833937" y="2303859"/>
            <a:ext cx="14716126" cy="4643438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4833937" y="7072312"/>
            <a:ext cx="14716126" cy="1589485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4400"/>
            </a:lvl1pPr>
            <a:lvl2pPr marL="0" indent="228600" algn="ctr">
              <a:spcBef>
                <a:spcPts val="0"/>
              </a:spcBef>
              <a:buSzTx/>
              <a:buNone/>
              <a:defRPr sz="4400"/>
            </a:lvl2pPr>
            <a:lvl3pPr marL="0" indent="457200" algn="ctr">
              <a:spcBef>
                <a:spcPts val="0"/>
              </a:spcBef>
              <a:buSzTx/>
              <a:buNone/>
              <a:defRPr sz="4400"/>
            </a:lvl3pPr>
            <a:lvl4pPr marL="0" indent="685800" algn="ctr">
              <a:spcBef>
                <a:spcPts val="0"/>
              </a:spcBef>
              <a:buSzTx/>
              <a:buNone/>
              <a:defRPr sz="4400"/>
            </a:lvl4pPr>
            <a:lvl5pPr marL="0" indent="914400" algn="ctr">
              <a:spcBef>
                <a:spcPts val="0"/>
              </a:spcBef>
              <a:buSzTx/>
              <a:buNone/>
              <a:defRPr sz="4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"/>
          <p:cNvSpPr/>
          <p:nvPr>
            <p:ph type="pic" sz="half" idx="21"/>
          </p:nvPr>
        </p:nvSpPr>
        <p:spPr>
          <a:xfrm>
            <a:off x="5307210" y="892968"/>
            <a:ext cx="13751720" cy="9172589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21" name="Title Text"/>
          <p:cNvSpPr txBox="1"/>
          <p:nvPr>
            <p:ph type="title"/>
          </p:nvPr>
        </p:nvSpPr>
        <p:spPr>
          <a:xfrm>
            <a:off x="4833937" y="9447609"/>
            <a:ext cx="14716126" cy="2000251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22" name="Body Level One…"/>
          <p:cNvSpPr txBox="1"/>
          <p:nvPr>
            <p:ph type="body" sz="quarter" idx="1"/>
          </p:nvPr>
        </p:nvSpPr>
        <p:spPr>
          <a:xfrm>
            <a:off x="4833937" y="11519296"/>
            <a:ext cx="14716126" cy="1589486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4400"/>
            </a:lvl1pPr>
            <a:lvl2pPr marL="0" indent="228600" algn="ctr">
              <a:spcBef>
                <a:spcPts val="0"/>
              </a:spcBef>
              <a:buSzTx/>
              <a:buNone/>
              <a:defRPr sz="4400"/>
            </a:lvl2pPr>
            <a:lvl3pPr marL="0" indent="457200" algn="ctr">
              <a:spcBef>
                <a:spcPts val="0"/>
              </a:spcBef>
              <a:buSzTx/>
              <a:buNone/>
              <a:defRPr sz="4400"/>
            </a:lvl3pPr>
            <a:lvl4pPr marL="0" indent="685800" algn="ctr">
              <a:spcBef>
                <a:spcPts val="0"/>
              </a:spcBef>
              <a:buSzTx/>
              <a:buNone/>
              <a:defRPr sz="4400"/>
            </a:lvl4pPr>
            <a:lvl5pPr marL="0" indent="914400" algn="ctr">
              <a:spcBef>
                <a:spcPts val="0"/>
              </a:spcBef>
              <a:buSzTx/>
              <a:buNone/>
              <a:defRPr sz="4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/>
          <p:nvPr>
            <p:ph type="sldNum" sz="quarter" idx="2"/>
          </p:nvPr>
        </p:nvSpPr>
        <p:spPr>
          <a:xfrm>
            <a:off x="11935814" y="13001625"/>
            <a:ext cx="494513" cy="511175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/>
          <p:nvPr>
            <p:ph type="title"/>
          </p:nvPr>
        </p:nvSpPr>
        <p:spPr>
          <a:xfrm>
            <a:off x="4833937" y="4536281"/>
            <a:ext cx="14716126" cy="4643438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/>
          <p:nvPr>
            <p:ph type="pic" idx="21"/>
          </p:nvPr>
        </p:nvSpPr>
        <p:spPr>
          <a:xfrm>
            <a:off x="6869906" y="892968"/>
            <a:ext cx="17377173" cy="1158478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39" name="Title Text"/>
          <p:cNvSpPr txBox="1"/>
          <p:nvPr>
            <p:ph type="title"/>
          </p:nvPr>
        </p:nvSpPr>
        <p:spPr>
          <a:xfrm>
            <a:off x="4387453" y="892968"/>
            <a:ext cx="7500938" cy="5607845"/>
          </a:xfrm>
          <a:prstGeom prst="rect">
            <a:avLst/>
          </a:prstGeom>
        </p:spPr>
        <p:txBody>
          <a:bodyPr anchor="b"/>
          <a:lstStyle>
            <a:lvl1pPr>
              <a:defRPr sz="8400"/>
            </a:lvl1pPr>
          </a:lstStyle>
          <a:p>
            <a:pPr/>
            <a:r>
              <a:t>Title Text</a:t>
            </a:r>
          </a:p>
        </p:txBody>
      </p:sp>
      <p:sp>
        <p:nvSpPr>
          <p:cNvPr id="40" name="Body Level One…"/>
          <p:cNvSpPr txBox="1"/>
          <p:nvPr>
            <p:ph type="body" sz="quarter" idx="1"/>
          </p:nvPr>
        </p:nvSpPr>
        <p:spPr>
          <a:xfrm>
            <a:off x="4387453" y="6697265"/>
            <a:ext cx="7500938" cy="5768579"/>
          </a:xfrm>
          <a:prstGeom prst="rect">
            <a:avLst/>
          </a:prstGeom>
        </p:spPr>
        <p:txBody>
          <a:bodyPr anchor="t"/>
          <a:lstStyle>
            <a:lvl1pPr marL="0" indent="0" algn="ctr">
              <a:spcBef>
                <a:spcPts val="0"/>
              </a:spcBef>
              <a:buSzTx/>
              <a:buNone/>
              <a:defRPr sz="4400"/>
            </a:lvl1pPr>
            <a:lvl2pPr marL="0" indent="228600" algn="ctr">
              <a:spcBef>
                <a:spcPts val="0"/>
              </a:spcBef>
              <a:buSzTx/>
              <a:buNone/>
              <a:defRPr sz="4400"/>
            </a:lvl2pPr>
            <a:lvl3pPr marL="0" indent="457200" algn="ctr">
              <a:spcBef>
                <a:spcPts val="0"/>
              </a:spcBef>
              <a:buSzTx/>
              <a:buNone/>
              <a:defRPr sz="4400"/>
            </a:lvl3pPr>
            <a:lvl4pPr marL="0" indent="685800" algn="ctr">
              <a:spcBef>
                <a:spcPts val="0"/>
              </a:spcBef>
              <a:buSzTx/>
              <a:buNone/>
              <a:defRPr sz="4400"/>
            </a:lvl4pPr>
            <a:lvl5pPr marL="0" indent="914400" algn="ctr">
              <a:spcBef>
                <a:spcPts val="0"/>
              </a:spcBef>
              <a:buSzTx/>
              <a:buNone/>
              <a:defRPr sz="4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57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latin typeface="Helvetica"/>
                <a:ea typeface="Helvetica"/>
                <a:cs typeface="Helvetica"/>
                <a:sym typeface="Helvetica"/>
              </a:defRPr>
            </a:lvl1pPr>
            <a:lvl2pPr>
              <a:defRPr>
                <a:latin typeface="Helvetica"/>
                <a:ea typeface="Helvetica"/>
                <a:cs typeface="Helvetica"/>
                <a:sym typeface="Helvetica"/>
              </a:defRPr>
            </a:lvl2pPr>
            <a:lvl3pPr>
              <a:defRPr>
                <a:latin typeface="Helvetica"/>
                <a:ea typeface="Helvetica"/>
                <a:cs typeface="Helvetica"/>
                <a:sym typeface="Helvetica"/>
              </a:defRPr>
            </a:lvl3pPr>
            <a:lvl4pPr>
              <a:defRPr>
                <a:latin typeface="Helvetica"/>
                <a:ea typeface="Helvetica"/>
                <a:cs typeface="Helvetica"/>
                <a:sym typeface="Helvetica"/>
              </a:defRPr>
            </a:lvl4pPr>
            <a:lvl5pPr>
              <a:defRPr>
                <a:latin typeface="Helvetica"/>
                <a:ea typeface="Helvetica"/>
                <a:cs typeface="Helvetica"/>
                <a:sym typeface="Helvetica"/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/>
          <p:nvPr>
            <p:ph type="pic" sz="half" idx="21"/>
          </p:nvPr>
        </p:nvSpPr>
        <p:spPr>
          <a:xfrm>
            <a:off x="9423796" y="3661171"/>
            <a:ext cx="13260587" cy="884039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6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7" name="Body Level One…"/>
          <p:cNvSpPr txBox="1"/>
          <p:nvPr>
            <p:ph type="body" sz="quarter" idx="1"/>
          </p:nvPr>
        </p:nvSpPr>
        <p:spPr>
          <a:xfrm>
            <a:off x="4387453" y="3661171"/>
            <a:ext cx="7500938" cy="8840392"/>
          </a:xfrm>
          <a:prstGeom prst="rect">
            <a:avLst/>
          </a:prstGeom>
        </p:spPr>
        <p:txBody>
          <a:bodyPr/>
          <a:lstStyle>
            <a:lvl1pPr marL="465364" indent="-465364">
              <a:spcBef>
                <a:spcPts val="4500"/>
              </a:spcBef>
              <a:defRPr sz="3800"/>
            </a:lvl1pPr>
            <a:lvl2pPr marL="808264" indent="-465364">
              <a:spcBef>
                <a:spcPts val="4500"/>
              </a:spcBef>
              <a:defRPr sz="3800"/>
            </a:lvl2pPr>
            <a:lvl3pPr marL="1151164" indent="-465364">
              <a:spcBef>
                <a:spcPts val="4500"/>
              </a:spcBef>
              <a:defRPr sz="3800"/>
            </a:lvl3pPr>
            <a:lvl4pPr marL="1494064" indent="-465364">
              <a:spcBef>
                <a:spcPts val="4500"/>
              </a:spcBef>
              <a:defRPr sz="3800"/>
            </a:lvl4pPr>
            <a:lvl5pPr marL="1836964" indent="-465364">
              <a:spcBef>
                <a:spcPts val="4500"/>
              </a:spcBef>
              <a:defRPr sz="3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/>
          <p:nvPr>
            <p:ph type="body" idx="1"/>
          </p:nvPr>
        </p:nvSpPr>
        <p:spPr>
          <a:xfrm>
            <a:off x="4387453" y="1785937"/>
            <a:ext cx="15609094" cy="10144126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/>
          <p:nvPr>
            <p:ph type="pic" sz="quarter" idx="21"/>
          </p:nvPr>
        </p:nvSpPr>
        <p:spPr>
          <a:xfrm>
            <a:off x="12442031" y="7069144"/>
            <a:ext cx="8518923" cy="5682241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4" name="Image"/>
          <p:cNvSpPr/>
          <p:nvPr>
            <p:ph type="pic" sz="quarter" idx="22"/>
          </p:nvPr>
        </p:nvSpPr>
        <p:spPr>
          <a:xfrm>
            <a:off x="12192000" y="1246988"/>
            <a:ext cx="8251032" cy="5500689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5" name="Image"/>
          <p:cNvSpPr/>
          <p:nvPr>
            <p:ph type="pic" idx="23"/>
          </p:nvPr>
        </p:nvSpPr>
        <p:spPr>
          <a:xfrm>
            <a:off x="-291704" y="1250156"/>
            <a:ext cx="16841392" cy="11227594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8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/>
          <p:nvPr>
            <p:ph type="body" sz="quarter" idx="21"/>
          </p:nvPr>
        </p:nvSpPr>
        <p:spPr>
          <a:xfrm>
            <a:off x="4833937" y="8947546"/>
            <a:ext cx="14716126" cy="660798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32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–Johnny Appleseed</a:t>
            </a:r>
          </a:p>
        </p:txBody>
      </p:sp>
      <p:sp>
        <p:nvSpPr>
          <p:cNvPr id="94" name="“Type a quote here.”"/>
          <p:cNvSpPr txBox="1"/>
          <p:nvPr>
            <p:ph type="body" sz="quarter" idx="22"/>
          </p:nvPr>
        </p:nvSpPr>
        <p:spPr>
          <a:xfrm>
            <a:off x="4833937" y="6000353"/>
            <a:ext cx="14716126" cy="965201"/>
          </a:xfrm>
          <a:prstGeom prst="rect">
            <a:avLst/>
          </a:prstGeom>
        </p:spPr>
        <p:txBody>
          <a:bodyPr>
            <a:spAutoFit/>
          </a:bodyPr>
          <a:lstStyle>
            <a:lvl1pPr marL="0" indent="0" algn="ctr">
              <a:spcBef>
                <a:spcPts val="0"/>
              </a:spcBef>
              <a:buSzTx/>
              <a:buNone/>
              <a:defRPr sz="5200"/>
            </a:lvl1pPr>
          </a:lstStyle>
          <a:p>
            <a:pPr/>
            <a:r>
              <a:t>“Type a quote here.” </a:t>
            </a:r>
          </a:p>
        </p:txBody>
      </p:sp>
      <p:sp>
        <p:nvSpPr>
          <p:cNvPr id="9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/>
          <p:nvPr>
            <p:ph type="pic" idx="21"/>
          </p:nvPr>
        </p:nvSpPr>
        <p:spPr>
          <a:xfrm>
            <a:off x="1905000" y="0"/>
            <a:ext cx="21420093" cy="14287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pPr/>
          </a:p>
        </p:txBody>
      </p:sp>
      <p:sp>
        <p:nvSpPr>
          <p:cNvPr id="10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387453" y="625078"/>
            <a:ext cx="15609094" cy="3036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387453" y="3661171"/>
            <a:ext cx="15609094" cy="88403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71437" tIns="71437" rIns="71437" bIns="71437" anchor="ctr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11935814" y="13010554"/>
            <a:ext cx="494513" cy="511176"/>
          </a:xfrm>
          <a:prstGeom prst="rect">
            <a:avLst/>
          </a:prstGeom>
          <a:ln w="12700">
            <a:miter lim="400000"/>
          </a:ln>
        </p:spPr>
        <p:txBody>
          <a:bodyPr wrap="none" lIns="71437" tIns="71437" rIns="71437" bIns="71437">
            <a:spAutoFit/>
          </a:bodyPr>
          <a:lstStyle>
            <a:lvl1pPr>
              <a:defRPr sz="24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transition xmlns:p14="http://schemas.microsoft.com/office/powerpoint/2010/main" spd="med" advClick="1"/>
  <p:txStyles>
    <p:title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200" u="none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titleStyle>
    <p:bodyStyle>
      <a:lvl1pPr marL="617361" marR="0" indent="-617361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000" u="none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1pPr>
      <a:lvl2pPr marL="1061861" marR="0" indent="-617361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000" u="none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2pPr>
      <a:lvl3pPr marL="1506361" marR="0" indent="-617361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000" u="none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3pPr>
      <a:lvl4pPr marL="1950861" marR="0" indent="-617361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000" u="none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4pPr>
      <a:lvl5pPr marL="2395361" marR="0" indent="-617361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000" u="none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5pPr>
      <a:lvl6pPr marL="2839861" marR="0" indent="-617361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000" u="none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6pPr>
      <a:lvl7pPr marL="3284361" marR="0" indent="-617361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000" u="none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7pPr>
      <a:lvl8pPr marL="3728861" marR="0" indent="-617361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000" u="none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8pPr>
      <a:lvl9pPr marL="4173361" marR="0" indent="-617361" algn="l" defTabSz="821531" rtl="0" latinLnBrk="0">
        <a:lnSpc>
          <a:spcPct val="100000"/>
        </a:lnSpc>
        <a:spcBef>
          <a:spcPts val="5900"/>
        </a:spcBef>
        <a:spcAft>
          <a:spcPts val="0"/>
        </a:spcAft>
        <a:buClrTx/>
        <a:buSzPct val="75000"/>
        <a:buFontTx/>
        <a:buChar char="•"/>
        <a:tabLst/>
        <a:defRPr b="0" baseline="0" cap="none" i="0" spc="0" strike="noStrike" sz="5000" u="none">
          <a:solidFill>
            <a:srgbClr val="000000"/>
          </a:solidFill>
          <a:uFillTx/>
          <a:latin typeface="+mn-lt"/>
          <a:ea typeface="+mn-ea"/>
          <a:cs typeface="+mn-cs"/>
          <a:sym typeface="Helvetica Light"/>
        </a:defRPr>
      </a:lvl9pPr>
    </p:bodyStyle>
    <p:otherStyle>
      <a:lvl1pPr marL="0" marR="0" indent="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821531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400" u="none"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3" Type="http://schemas.openxmlformats.org/officeDocument/2006/relationships/hyperlink" Target="http://www.deeplearningbook.org" TargetMode="Externa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6.png"/><Relationship Id="rId3" Type="http://schemas.openxmlformats.org/officeDocument/2006/relationships/hyperlink" Target="http://www.deeplearningbook.org" TargetMode="Externa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7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8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9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0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.tif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1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tif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2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3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4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7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18.png"/><Relationship Id="rId3" Type="http://schemas.openxmlformats.org/officeDocument/2006/relationships/hyperlink" Target="http://www.deeplearningbook.org" TargetMode="Externa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utorial on Optimization for Deep Networks"/>
          <p:cNvSpPr txBox="1"/>
          <p:nvPr>
            <p:ph type="ctrTitle"/>
          </p:nvPr>
        </p:nvSpPr>
        <p:spPr>
          <a:xfrm>
            <a:off x="4833937" y="319115"/>
            <a:ext cx="14716126" cy="4643438"/>
          </a:xfrm>
          <a:prstGeom prst="rect">
            <a:avLst/>
          </a:prstGeom>
        </p:spPr>
        <p:txBody>
          <a:bodyPr/>
          <a:lstStyle>
            <a:lvl1pPr>
              <a:defRPr sz="8600">
                <a:solidFill>
                  <a:srgbClr val="1C4587"/>
                </a:solidFill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1C4587"/>
                </a:solidFill>
              </a:rPr>
              <a:t>Tutorial on Optimization for Deep Networks</a:t>
            </a:r>
          </a:p>
        </p:txBody>
      </p:sp>
      <p:sp>
        <p:nvSpPr>
          <p:cNvPr id="120" name="Re-Work Deep Learning Summit…"/>
          <p:cNvSpPr txBox="1"/>
          <p:nvPr>
            <p:ph type="subTitle" sz="quarter" idx="1"/>
          </p:nvPr>
        </p:nvSpPr>
        <p:spPr>
          <a:xfrm>
            <a:off x="4833937" y="10262080"/>
            <a:ext cx="14716126" cy="1589485"/>
          </a:xfrm>
          <a:prstGeom prst="rect">
            <a:avLst/>
          </a:prstGeom>
        </p:spPr>
        <p:txBody>
          <a:bodyPr/>
          <a:lstStyle/>
          <a:p>
            <a:pPr defTabSz="575071">
              <a:defRPr sz="3220">
                <a:latin typeface="Helvetica"/>
                <a:ea typeface="Helvetica"/>
                <a:cs typeface="Helvetica"/>
                <a:sym typeface="Helvetica"/>
              </a:defRPr>
            </a:pPr>
            <a:r>
              <a:t>Re-Work </a:t>
            </a:r>
            <a:r>
              <a:t>Deep Learning Summit</a:t>
            </a:r>
          </a:p>
          <a:p>
            <a:pPr defTabSz="575071">
              <a:defRPr sz="3220">
                <a:latin typeface="Helvetica"/>
                <a:ea typeface="Helvetica"/>
                <a:cs typeface="Helvetica"/>
                <a:sym typeface="Helvetica"/>
              </a:defRPr>
            </a:pPr>
            <a:r>
              <a:t>San Francisco</a:t>
            </a:r>
          </a:p>
          <a:p>
            <a:pPr defTabSz="575071">
              <a:defRPr sz="3220">
                <a:latin typeface="Helvetica"/>
                <a:ea typeface="Helvetica"/>
                <a:cs typeface="Helvetica"/>
                <a:sym typeface="Helvetica"/>
              </a:defRPr>
            </a:pPr>
            <a:r>
              <a:t>Jan 28, 2016</a:t>
            </a:r>
          </a:p>
        </p:txBody>
      </p:sp>
      <p:sp>
        <p:nvSpPr>
          <p:cNvPr id="121" name="Ian Goodfellow…"/>
          <p:cNvSpPr txBox="1"/>
          <p:nvPr/>
        </p:nvSpPr>
        <p:spPr>
          <a:xfrm>
            <a:off x="7566674" y="6324439"/>
            <a:ext cx="9250652" cy="28269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137137" tIns="137137" rIns="137137" bIns="137137" anchor="b">
            <a:spAutoFit/>
          </a:bodyPr>
          <a:lstStyle/>
          <a:p>
            <a:pPr>
              <a:defRPr>
                <a:latin typeface="Helvetica"/>
                <a:ea typeface="Helvetica"/>
                <a:cs typeface="Helvetica"/>
                <a:sym typeface="Helvetica"/>
              </a:defRPr>
            </a:pPr>
            <a:r>
              <a:rPr sz="5600">
                <a:solidFill>
                  <a:srgbClr val="1C4587"/>
                </a:solidFill>
              </a:rPr>
              <a:t>Ian Goodfellow</a:t>
            </a:r>
            <a:endParaRPr sz="5600">
              <a:solidFill>
                <a:srgbClr val="1C4587"/>
              </a:solidFill>
            </a:endParaRPr>
          </a:p>
          <a:p>
            <a:pPr>
              <a:defRPr>
                <a:latin typeface="Helvetica"/>
                <a:ea typeface="Helvetica"/>
                <a:cs typeface="Helvetica"/>
                <a:sym typeface="Helvetica"/>
              </a:defRPr>
            </a:pPr>
            <a:r>
              <a:rPr sz="5600">
                <a:solidFill>
                  <a:srgbClr val="1C4587"/>
                </a:solidFill>
              </a:rPr>
              <a:t>Senior Research Scientist</a:t>
            </a:r>
            <a:endParaRPr sz="5600">
              <a:solidFill>
                <a:srgbClr val="1C4587"/>
              </a:solidFill>
            </a:endParaRPr>
          </a:p>
          <a:p>
            <a:pPr>
              <a:defRPr>
                <a:latin typeface="Helvetica"/>
                <a:ea typeface="Helvetica"/>
                <a:cs typeface="Helvetica"/>
                <a:sym typeface="Helvetica"/>
              </a:defRPr>
            </a:pPr>
            <a:r>
              <a:rPr sz="5600">
                <a:solidFill>
                  <a:srgbClr val="1C4587"/>
                </a:solidFill>
              </a:rPr>
              <a:t>Google Brain</a:t>
            </a:r>
          </a:p>
        </p:txBody>
      </p:sp>
      <p:pic>
        <p:nvPicPr>
          <p:cNvPr id="122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6316783" y="9709274"/>
            <a:ext cx="3409925" cy="2695097"/>
          </a:xfrm>
          <a:prstGeom prst="rect">
            <a:avLst/>
          </a:prstGeom>
          <a:ln w="12700">
            <a:miter lim="400000"/>
          </a:ln>
        </p:spPr>
      </p:pic>
      <p:pic>
        <p:nvPicPr>
          <p:cNvPr id="123" name="Image" descr="Image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3558861" y="10056697"/>
            <a:ext cx="5715001" cy="200025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Double-click to edi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28" name="Double-click to edit"/>
          <p:cNvSpPr txBox="1"/>
          <p:nvPr>
            <p:ph type="body" idx="1"/>
          </p:nvPr>
        </p:nvSpPr>
        <p:spPr>
          <a:xfrm>
            <a:off x="4600104" y="1463776"/>
            <a:ext cx="15609094" cy="8840392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29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953981" y="1632665"/>
            <a:ext cx="20901341" cy="10450670"/>
          </a:xfrm>
          <a:prstGeom prst="rect">
            <a:avLst/>
          </a:prstGeom>
          <a:ln w="12700">
            <a:miter lim="400000"/>
          </a:ln>
        </p:spPr>
      </p:pic>
      <p:sp>
        <p:nvSpPr>
          <p:cNvPr id="130" name="Deep Learning, Goodfellow, Bengio, and Courville 2016"/>
          <p:cNvSpPr txBox="1"/>
          <p:nvPr/>
        </p:nvSpPr>
        <p:spPr>
          <a:xfrm>
            <a:off x="10927009" y="13032506"/>
            <a:ext cx="10164565" cy="625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 i="1" sz="3200">
                <a:latin typeface="Helvetica"/>
                <a:ea typeface="Helvetica"/>
                <a:cs typeface="Helvetica"/>
                <a:sym typeface="Helvetica"/>
              </a:defRPr>
            </a:pPr>
            <a:r>
              <a:t>Deep Learning, </a:t>
            </a:r>
            <a:r>
              <a:rPr i="0"/>
              <a:t>Goodfellow, Bengio, and Courville 2016</a:t>
            </a:r>
          </a:p>
        </p:txBody>
      </p:sp>
      <p:sp>
        <p:nvSpPr>
          <p:cNvPr id="131" name="www.deeplearningbook.org"/>
          <p:cNvSpPr txBox="1"/>
          <p:nvPr/>
        </p:nvSpPr>
        <p:spPr>
          <a:xfrm>
            <a:off x="3333303" y="13032506"/>
            <a:ext cx="5058372" cy="625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3200" u="sng">
                <a:latin typeface="Helvetica"/>
                <a:ea typeface="Helvetica"/>
                <a:cs typeface="Helvetica"/>
                <a:sym typeface="Helvetica"/>
                <a:hlinkClick r:id="rId3" invalidUrl="" action="" tgtFrame="" tooltip="" history="1" highlightClick="0" endSnd="0"/>
              </a:defRPr>
            </a:lvl1pPr>
          </a:lstStyle>
          <a:p>
            <a:pPr>
              <a:defRPr u="none"/>
            </a:pPr>
            <a:r>
              <a:rPr u="sng">
                <a:hlinkClick r:id="rId3" invalidUrl="" action="" tgtFrame="" tooltip="" history="1" highlightClick="0" endSnd="0"/>
              </a:rPr>
              <a:t>www.deeplearningbook.org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No Critical Poin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 Critical Point</a:t>
            </a:r>
          </a:p>
        </p:txBody>
      </p:sp>
      <p:sp>
        <p:nvSpPr>
          <p:cNvPr id="134" name="Double-click to edit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pic>
        <p:nvPicPr>
          <p:cNvPr id="135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145169" y="3557951"/>
            <a:ext cx="18093662" cy="9046832"/>
          </a:xfrm>
          <a:prstGeom prst="rect">
            <a:avLst/>
          </a:prstGeom>
          <a:ln w="12700">
            <a:miter lim="400000"/>
          </a:ln>
        </p:spPr>
      </p:pic>
      <p:sp>
        <p:nvSpPr>
          <p:cNvPr id="136" name="Deep Learning, Goodfellow, Bengio, and Courville 2016"/>
          <p:cNvSpPr txBox="1"/>
          <p:nvPr/>
        </p:nvSpPr>
        <p:spPr>
          <a:xfrm>
            <a:off x="10950637" y="13056134"/>
            <a:ext cx="10164565" cy="625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 i="1" sz="3200">
                <a:latin typeface="Helvetica"/>
                <a:ea typeface="Helvetica"/>
                <a:cs typeface="Helvetica"/>
                <a:sym typeface="Helvetica"/>
              </a:defRPr>
            </a:pPr>
            <a:r>
              <a:t>Deep Learning, </a:t>
            </a:r>
            <a:r>
              <a:rPr i="0"/>
              <a:t>Goodfellow, Bengio, and Courville 2016</a:t>
            </a:r>
          </a:p>
        </p:txBody>
      </p:sp>
      <p:sp>
        <p:nvSpPr>
          <p:cNvPr id="137" name="www.deeplearningbook.org"/>
          <p:cNvSpPr txBox="1"/>
          <p:nvPr/>
        </p:nvSpPr>
        <p:spPr>
          <a:xfrm>
            <a:off x="3097024" y="13056134"/>
            <a:ext cx="5058372" cy="625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3200" u="sng">
                <a:latin typeface="Helvetica"/>
                <a:ea typeface="Helvetica"/>
                <a:cs typeface="Helvetica"/>
                <a:sym typeface="Helvetica"/>
                <a:hlinkClick r:id="rId3" invalidUrl="" action="" tgtFrame="" tooltip="" history="1" highlightClick="0" endSnd="0"/>
              </a:defRPr>
            </a:lvl1pPr>
          </a:lstStyle>
          <a:p>
            <a:pPr>
              <a:defRPr u="none"/>
            </a:pPr>
            <a:r>
              <a:rPr u="sng">
                <a:hlinkClick r:id="rId3" invalidUrl="" action="" tgtFrame="" tooltip="" history="1" highlightClick="0" endSnd="0"/>
              </a:rPr>
              <a:t>www.deeplearningbook.org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379793" y="1110908"/>
            <a:ext cx="17624564" cy="1149428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1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431164" y="1379030"/>
            <a:ext cx="17521672" cy="10957940"/>
          </a:xfrm>
          <a:prstGeom prst="rect">
            <a:avLst/>
          </a:prstGeom>
          <a:ln w="12700">
            <a:miter lim="400000"/>
          </a:ln>
        </p:spPr>
      </p:pic>
      <p:sp>
        <p:nvSpPr>
          <p:cNvPr id="142" name="“Qualitatively Characterizing Neural Network…"/>
          <p:cNvSpPr txBox="1"/>
          <p:nvPr/>
        </p:nvSpPr>
        <p:spPr>
          <a:xfrm>
            <a:off x="12019094" y="12100976"/>
            <a:ext cx="8263930" cy="1590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 sz="3200">
                <a:latin typeface="Helvetica"/>
                <a:ea typeface="Helvetica"/>
                <a:cs typeface="Helvetica"/>
                <a:sym typeface="Helvetica"/>
              </a:defRPr>
            </a:pPr>
            <a:r>
              <a:t>“Qualitatively Characterizing Neural Network </a:t>
            </a:r>
          </a:p>
          <a:p>
            <a:pPr>
              <a:defRPr sz="3200">
                <a:latin typeface="Helvetica"/>
                <a:ea typeface="Helvetica"/>
                <a:cs typeface="Helvetica"/>
                <a:sym typeface="Helvetica"/>
              </a:defRPr>
            </a:pPr>
            <a:r>
              <a:t>Optimization Problems,”</a:t>
            </a:r>
          </a:p>
          <a:p>
            <a:pPr>
              <a:defRPr sz="3200">
                <a:latin typeface="Helvetica"/>
                <a:ea typeface="Helvetica"/>
                <a:cs typeface="Helvetica"/>
                <a:sym typeface="Helvetica"/>
              </a:defRPr>
            </a:pPr>
            <a:r>
              <a:t>Goodfellow, Vinyals and Saxe, ICLR 2015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402464" y="457004"/>
            <a:ext cx="15579073" cy="11809620"/>
          </a:xfrm>
          <a:prstGeom prst="rect">
            <a:avLst/>
          </a:prstGeom>
          <a:ln w="12700">
            <a:miter lim="400000"/>
          </a:ln>
        </p:spPr>
      </p:pic>
      <p:sp>
        <p:nvSpPr>
          <p:cNvPr id="145" name="“Qualitatively Characterizing Neural Network…"/>
          <p:cNvSpPr txBox="1"/>
          <p:nvPr/>
        </p:nvSpPr>
        <p:spPr>
          <a:xfrm>
            <a:off x="12704303" y="12006464"/>
            <a:ext cx="8263931" cy="1590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 sz="3200">
                <a:latin typeface="Helvetica"/>
                <a:ea typeface="Helvetica"/>
                <a:cs typeface="Helvetica"/>
                <a:sym typeface="Helvetica"/>
              </a:defRPr>
            </a:pPr>
            <a:r>
              <a:t>“Qualitatively Characterizing Neural Network </a:t>
            </a:r>
          </a:p>
          <a:p>
            <a:pPr>
              <a:defRPr sz="3200">
                <a:latin typeface="Helvetica"/>
                <a:ea typeface="Helvetica"/>
                <a:cs typeface="Helvetica"/>
                <a:sym typeface="Helvetica"/>
              </a:defRPr>
            </a:pPr>
            <a:r>
              <a:t>Optimization Problems,”</a:t>
            </a:r>
          </a:p>
          <a:p>
            <a:pPr>
              <a:defRPr sz="3200">
                <a:latin typeface="Helvetica"/>
                <a:ea typeface="Helvetica"/>
                <a:cs typeface="Helvetica"/>
                <a:sym typeface="Helvetica"/>
              </a:defRPr>
            </a:pPr>
            <a:r>
              <a:t>Goodfellow, Vinyals and Saxe, ICLR 2015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048000" y="1768846"/>
            <a:ext cx="18288000" cy="10178309"/>
          </a:xfrm>
          <a:prstGeom prst="rect">
            <a:avLst/>
          </a:prstGeom>
          <a:ln w="12700">
            <a:miter lim="400000"/>
          </a:ln>
        </p:spPr>
      </p:pic>
      <p:sp>
        <p:nvSpPr>
          <p:cNvPr id="148" name="“Qualitatively Characterizing Neural Network…"/>
          <p:cNvSpPr txBox="1"/>
          <p:nvPr/>
        </p:nvSpPr>
        <p:spPr>
          <a:xfrm>
            <a:off x="12727931" y="12006464"/>
            <a:ext cx="8263931" cy="1590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 sz="3200">
                <a:latin typeface="Helvetica"/>
                <a:ea typeface="Helvetica"/>
                <a:cs typeface="Helvetica"/>
                <a:sym typeface="Helvetica"/>
              </a:defRPr>
            </a:pPr>
            <a:r>
              <a:t>“Qualitatively Characterizing Neural Network </a:t>
            </a:r>
          </a:p>
          <a:p>
            <a:pPr>
              <a:defRPr sz="3200">
                <a:latin typeface="Helvetica"/>
                <a:ea typeface="Helvetica"/>
                <a:cs typeface="Helvetica"/>
                <a:sym typeface="Helvetica"/>
              </a:defRPr>
            </a:pPr>
            <a:r>
              <a:t>Optimization Problems,”</a:t>
            </a:r>
          </a:p>
          <a:p>
            <a:pPr>
              <a:defRPr sz="3200">
                <a:latin typeface="Helvetica"/>
                <a:ea typeface="Helvetica"/>
                <a:cs typeface="Helvetica"/>
                <a:sym typeface="Helvetica"/>
              </a:defRPr>
            </a:pPr>
            <a:r>
              <a:t>Goodfellow, Vinyals and Saxe, ICLR 2015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996436" y="1461327"/>
            <a:ext cx="14129468" cy="10597102"/>
          </a:xfrm>
          <a:prstGeom prst="rect">
            <a:avLst/>
          </a:prstGeom>
          <a:ln w="12700">
            <a:miter lim="400000"/>
          </a:ln>
        </p:spPr>
      </p:pic>
      <p:sp>
        <p:nvSpPr>
          <p:cNvPr id="151" name="Before SGD step"/>
          <p:cNvSpPr txBox="1"/>
          <p:nvPr/>
        </p:nvSpPr>
        <p:spPr>
          <a:xfrm>
            <a:off x="9302100" y="1441210"/>
            <a:ext cx="4955593" cy="904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Before SGD step</a:t>
            </a:r>
          </a:p>
        </p:txBody>
      </p:sp>
      <p:sp>
        <p:nvSpPr>
          <p:cNvPr id="152" name="After SGD step"/>
          <p:cNvSpPr txBox="1"/>
          <p:nvPr/>
        </p:nvSpPr>
        <p:spPr>
          <a:xfrm>
            <a:off x="9567045" y="10910001"/>
            <a:ext cx="4425703" cy="904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After SGD step</a:t>
            </a:r>
          </a:p>
        </p:txBody>
      </p:sp>
      <p:sp>
        <p:nvSpPr>
          <p:cNvPr id="153" name="“Batch Normalization: Accelerating Deep…"/>
          <p:cNvSpPr txBox="1"/>
          <p:nvPr/>
        </p:nvSpPr>
        <p:spPr>
          <a:xfrm>
            <a:off x="13435359" y="12019664"/>
            <a:ext cx="7468197" cy="1590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 sz="3200">
                <a:latin typeface="Helvetica"/>
                <a:ea typeface="Helvetica"/>
                <a:cs typeface="Helvetica"/>
                <a:sym typeface="Helvetica"/>
              </a:defRPr>
            </a:pPr>
            <a:r>
              <a:t>“Batch Normalization: Accelerating Deep</a:t>
            </a:r>
          </a:p>
          <a:p>
            <a:pPr>
              <a:defRPr sz="3200">
                <a:latin typeface="Helvetica"/>
                <a:ea typeface="Helvetica"/>
                <a:cs typeface="Helvetica"/>
                <a:sym typeface="Helvetica"/>
              </a:defRPr>
            </a:pPr>
            <a:r>
              <a:t>Network Training by Reducing Internal</a:t>
            </a:r>
          </a:p>
          <a:p>
            <a:pPr>
              <a:defRPr sz="3200">
                <a:latin typeface="Helvetica"/>
                <a:ea typeface="Helvetica"/>
                <a:cs typeface="Helvetica"/>
                <a:sym typeface="Helvetica"/>
              </a:defRPr>
            </a:pPr>
            <a:r>
              <a:t>Covariate Shift,” Ioffe and Szegedy 2015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Batch Normalization"/>
          <p:cNvSpPr txBox="1"/>
          <p:nvPr/>
        </p:nvSpPr>
        <p:spPr>
          <a:xfrm>
            <a:off x="6432078" y="282981"/>
            <a:ext cx="11519844" cy="1666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100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Batch Normalization</a:t>
            </a:r>
          </a:p>
        </p:txBody>
      </p:sp>
      <p:sp>
        <p:nvSpPr>
          <p:cNvPr id="156" name="“Batch Normalization: Accelerating Deep…"/>
          <p:cNvSpPr txBox="1"/>
          <p:nvPr/>
        </p:nvSpPr>
        <p:spPr>
          <a:xfrm>
            <a:off x="13125798" y="12006464"/>
            <a:ext cx="7468197" cy="1590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 sz="3200">
                <a:latin typeface="Helvetica"/>
                <a:ea typeface="Helvetica"/>
                <a:cs typeface="Helvetica"/>
                <a:sym typeface="Helvetica"/>
              </a:defRPr>
            </a:pPr>
            <a:r>
              <a:t>“Batch Normalization: Accelerating Deep</a:t>
            </a:r>
          </a:p>
          <a:p>
            <a:pPr>
              <a:defRPr sz="3200">
                <a:latin typeface="Helvetica"/>
                <a:ea typeface="Helvetica"/>
                <a:cs typeface="Helvetica"/>
                <a:sym typeface="Helvetica"/>
              </a:defRPr>
            </a:pPr>
            <a:r>
              <a:t>Network Training by Reducing Internal</a:t>
            </a:r>
          </a:p>
          <a:p>
            <a:pPr>
              <a:defRPr sz="3200">
                <a:latin typeface="Helvetica"/>
                <a:ea typeface="Helvetica"/>
                <a:cs typeface="Helvetica"/>
                <a:sym typeface="Helvetica"/>
              </a:defRPr>
            </a:pPr>
            <a:r>
              <a:t>Covariate Shift,” Ioffe and Szegedy 2015</a:t>
            </a:r>
          </a:p>
        </p:txBody>
      </p:sp>
      <p:pic>
        <p:nvPicPr>
          <p:cNvPr id="157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574653" y="2406469"/>
            <a:ext cx="9400976" cy="9063372"/>
          </a:xfrm>
          <a:prstGeom prst="rect">
            <a:avLst/>
          </a:prstGeom>
          <a:ln w="12700">
            <a:miter lim="400000"/>
          </a:ln>
        </p:spPr>
      </p:pic>
      <p:sp>
        <p:nvSpPr>
          <p:cNvPr id="158" name="2"/>
          <p:cNvSpPr txBox="1"/>
          <p:nvPr/>
        </p:nvSpPr>
        <p:spPr>
          <a:xfrm>
            <a:off x="16253665" y="8232787"/>
            <a:ext cx="508732" cy="904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2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515580" y="1850685"/>
            <a:ext cx="13244388" cy="9933291"/>
          </a:xfrm>
          <a:prstGeom prst="rect">
            <a:avLst/>
          </a:prstGeom>
          <a:ln w="12700">
            <a:miter lim="400000"/>
          </a:ln>
        </p:spPr>
      </p:pic>
      <p:sp>
        <p:nvSpPr>
          <p:cNvPr id="161" name="Before SGD step"/>
          <p:cNvSpPr txBox="1"/>
          <p:nvPr/>
        </p:nvSpPr>
        <p:spPr>
          <a:xfrm>
            <a:off x="9302100" y="1560272"/>
            <a:ext cx="4955593" cy="904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Before SGD step</a:t>
            </a:r>
          </a:p>
        </p:txBody>
      </p:sp>
      <p:sp>
        <p:nvSpPr>
          <p:cNvPr id="162" name="After SGD step"/>
          <p:cNvSpPr txBox="1"/>
          <p:nvPr/>
        </p:nvSpPr>
        <p:spPr>
          <a:xfrm>
            <a:off x="9567045" y="11005252"/>
            <a:ext cx="4425703" cy="904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After SGD step</a:t>
            </a:r>
          </a:p>
        </p:txBody>
      </p:sp>
      <p:sp>
        <p:nvSpPr>
          <p:cNvPr id="163" name="“Batch Normalization: Accelerating Deep…"/>
          <p:cNvSpPr txBox="1"/>
          <p:nvPr/>
        </p:nvSpPr>
        <p:spPr>
          <a:xfrm>
            <a:off x="13435359" y="12019664"/>
            <a:ext cx="7468197" cy="1590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 sz="3200">
                <a:latin typeface="Helvetica"/>
                <a:ea typeface="Helvetica"/>
                <a:cs typeface="Helvetica"/>
                <a:sym typeface="Helvetica"/>
              </a:defRPr>
            </a:pPr>
            <a:r>
              <a:t>“Batch Normalization: Accelerating Deep</a:t>
            </a:r>
          </a:p>
          <a:p>
            <a:pPr>
              <a:defRPr sz="3200">
                <a:latin typeface="Helvetica"/>
                <a:ea typeface="Helvetica"/>
                <a:cs typeface="Helvetica"/>
                <a:sym typeface="Helvetica"/>
              </a:defRPr>
            </a:pPr>
            <a:r>
              <a:t>Network Training by Reducing Internal</a:t>
            </a:r>
          </a:p>
          <a:p>
            <a:pPr>
              <a:defRPr sz="3200">
                <a:latin typeface="Helvetica"/>
                <a:ea typeface="Helvetica"/>
                <a:cs typeface="Helvetica"/>
                <a:sym typeface="Helvetica"/>
              </a:defRPr>
            </a:pPr>
            <a:r>
              <a:t>Covariate Shift,” Ioffe and Szegedy 2015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536341" y="1929415"/>
            <a:ext cx="17311318" cy="9857169"/>
          </a:xfrm>
          <a:prstGeom prst="rect">
            <a:avLst/>
          </a:prstGeom>
          <a:ln w="12700">
            <a:miter lim="400000"/>
          </a:ln>
        </p:spPr>
      </p:pic>
      <p:sp>
        <p:nvSpPr>
          <p:cNvPr id="166" name="“Batch Normalization: Accelerating Deep…"/>
          <p:cNvSpPr txBox="1"/>
          <p:nvPr/>
        </p:nvSpPr>
        <p:spPr>
          <a:xfrm>
            <a:off x="13125798" y="12006464"/>
            <a:ext cx="7468197" cy="1590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 sz="3200">
                <a:latin typeface="Helvetica"/>
                <a:ea typeface="Helvetica"/>
                <a:cs typeface="Helvetica"/>
                <a:sym typeface="Helvetica"/>
              </a:defRPr>
            </a:pPr>
            <a:r>
              <a:t>“Batch Normalization: Accelerating Deep</a:t>
            </a:r>
          </a:p>
          <a:p>
            <a:pPr>
              <a:defRPr sz="3200">
                <a:latin typeface="Helvetica"/>
                <a:ea typeface="Helvetica"/>
                <a:cs typeface="Helvetica"/>
                <a:sym typeface="Helvetica"/>
              </a:defRPr>
            </a:pPr>
            <a:r>
              <a:t>Network Training by Reducing Internal</a:t>
            </a:r>
          </a:p>
          <a:p>
            <a:pPr>
              <a:defRPr sz="3200">
                <a:latin typeface="Helvetica"/>
                <a:ea typeface="Helvetica"/>
                <a:cs typeface="Helvetica"/>
                <a:sym typeface="Helvetica"/>
              </a:defRPr>
            </a:pPr>
            <a:r>
              <a:t>Covariate Shift,” Ioffe and Szegedy 2015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“Net2Net: Accelerating Learning via…"/>
          <p:cNvSpPr txBox="1"/>
          <p:nvPr/>
        </p:nvSpPr>
        <p:spPr>
          <a:xfrm>
            <a:off x="13664364" y="11959209"/>
            <a:ext cx="7430692" cy="1590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 sz="3200">
                <a:latin typeface="Helvetica"/>
                <a:ea typeface="Helvetica"/>
                <a:cs typeface="Helvetica"/>
                <a:sym typeface="Helvetica"/>
              </a:defRPr>
            </a:pPr>
            <a:r>
              <a:t>“Net2Net: Accelerating Learning via</a:t>
            </a:r>
          </a:p>
          <a:p>
            <a:pPr>
              <a:defRPr sz="3200">
                <a:latin typeface="Helvetica"/>
                <a:ea typeface="Helvetica"/>
                <a:cs typeface="Helvetica"/>
                <a:sym typeface="Helvetica"/>
              </a:defRPr>
            </a:pPr>
            <a:r>
              <a:t>Knowledge Transfer.” Chen, Goodfellow,</a:t>
            </a:r>
          </a:p>
          <a:p>
            <a:pPr>
              <a:defRPr sz="3200">
                <a:latin typeface="Helvetica"/>
                <a:ea typeface="Helvetica"/>
                <a:cs typeface="Helvetica"/>
                <a:sym typeface="Helvetica"/>
              </a:defRPr>
            </a:pPr>
            <a:r>
              <a:t>and Shlens, submitted to ICLR 2016</a:t>
            </a:r>
          </a:p>
        </p:txBody>
      </p:sp>
      <p:pic>
        <p:nvPicPr>
          <p:cNvPr id="169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197358" y="2562175"/>
            <a:ext cx="17989285" cy="764295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“Net2Net: Accelerating Learning via…"/>
          <p:cNvSpPr txBox="1"/>
          <p:nvPr/>
        </p:nvSpPr>
        <p:spPr>
          <a:xfrm>
            <a:off x="13664364" y="11959209"/>
            <a:ext cx="7430692" cy="1590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 sz="3200">
                <a:latin typeface="Helvetica"/>
                <a:ea typeface="Helvetica"/>
                <a:cs typeface="Helvetica"/>
                <a:sym typeface="Helvetica"/>
              </a:defRPr>
            </a:pPr>
            <a:r>
              <a:t>“Net2Net: Accelerating Learning via</a:t>
            </a:r>
          </a:p>
          <a:p>
            <a:pPr>
              <a:defRPr sz="3200">
                <a:latin typeface="Helvetica"/>
                <a:ea typeface="Helvetica"/>
                <a:cs typeface="Helvetica"/>
                <a:sym typeface="Helvetica"/>
              </a:defRPr>
            </a:pPr>
            <a:r>
              <a:t>Knowledge Transfer.” Chen, Goodfellow,</a:t>
            </a:r>
          </a:p>
          <a:p>
            <a:pPr>
              <a:defRPr sz="3200">
                <a:latin typeface="Helvetica"/>
                <a:ea typeface="Helvetica"/>
                <a:cs typeface="Helvetica"/>
                <a:sym typeface="Helvetica"/>
              </a:defRPr>
            </a:pPr>
            <a:r>
              <a:t>and Shlens, submitted to ICLR 2016</a:t>
            </a:r>
          </a:p>
        </p:txBody>
      </p:sp>
      <p:pic>
        <p:nvPicPr>
          <p:cNvPr id="172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682360" y="2506353"/>
            <a:ext cx="17019280" cy="870329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115509" y="920672"/>
            <a:ext cx="18152981" cy="3570821"/>
          </a:xfrm>
          <a:prstGeom prst="rect">
            <a:avLst/>
          </a:prstGeom>
          <a:ln w="12700">
            <a:miter lim="400000"/>
          </a:ln>
        </p:spPr>
      </p:pic>
      <p:sp>
        <p:nvSpPr>
          <p:cNvPr id="175" name="“Net2Net: Accelerating Learning via…"/>
          <p:cNvSpPr txBox="1"/>
          <p:nvPr/>
        </p:nvSpPr>
        <p:spPr>
          <a:xfrm>
            <a:off x="13664364" y="11959209"/>
            <a:ext cx="7430692" cy="1590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 sz="3200">
                <a:latin typeface="Helvetica"/>
                <a:ea typeface="Helvetica"/>
                <a:cs typeface="Helvetica"/>
                <a:sym typeface="Helvetica"/>
              </a:defRPr>
            </a:pPr>
            <a:r>
              <a:t>“Net2Net: Accelerating Learning via</a:t>
            </a:r>
          </a:p>
          <a:p>
            <a:pPr>
              <a:defRPr sz="3200">
                <a:latin typeface="Helvetica"/>
                <a:ea typeface="Helvetica"/>
                <a:cs typeface="Helvetica"/>
                <a:sym typeface="Helvetica"/>
              </a:defRPr>
            </a:pPr>
            <a:r>
              <a:t>Knowledge Transfer.” Chen, Goodfellow,</a:t>
            </a:r>
          </a:p>
          <a:p>
            <a:pPr>
              <a:defRPr sz="3200">
                <a:latin typeface="Helvetica"/>
                <a:ea typeface="Helvetica"/>
                <a:cs typeface="Helvetica"/>
                <a:sym typeface="Helvetica"/>
              </a:defRPr>
            </a:pPr>
            <a:r>
              <a:t>and Shlens, submitted to ICLR 2016</a:t>
            </a:r>
          </a:p>
        </p:txBody>
      </p:sp>
      <p:pic>
        <p:nvPicPr>
          <p:cNvPr id="176" name="Image" descr="Image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511211" y="4149878"/>
            <a:ext cx="10342549" cy="764902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188970" y="462036"/>
            <a:ext cx="16124075" cy="11454922"/>
          </a:xfrm>
          <a:prstGeom prst="rect">
            <a:avLst/>
          </a:prstGeom>
          <a:ln w="12700">
            <a:miter lim="400000"/>
          </a:ln>
        </p:spPr>
      </p:pic>
      <p:sp>
        <p:nvSpPr>
          <p:cNvPr id="179" name="“Net2Net: Accelerating Learning via…"/>
          <p:cNvSpPr txBox="1"/>
          <p:nvPr/>
        </p:nvSpPr>
        <p:spPr>
          <a:xfrm>
            <a:off x="13664364" y="11959209"/>
            <a:ext cx="7430692" cy="15906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 sz="3200">
                <a:latin typeface="Helvetica"/>
                <a:ea typeface="Helvetica"/>
                <a:cs typeface="Helvetica"/>
                <a:sym typeface="Helvetica"/>
              </a:defRPr>
            </a:pPr>
            <a:r>
              <a:t>“Net2Net: Accelerating Learning via</a:t>
            </a:r>
          </a:p>
          <a:p>
            <a:pPr>
              <a:defRPr sz="3200">
                <a:latin typeface="Helvetica"/>
                <a:ea typeface="Helvetica"/>
                <a:cs typeface="Helvetica"/>
                <a:sym typeface="Helvetica"/>
              </a:defRPr>
            </a:pPr>
            <a:r>
              <a:t>Knowledge Transfer.” Chen, Goodfellow,</a:t>
            </a:r>
          </a:p>
          <a:p>
            <a:pPr>
              <a:defRPr sz="3200">
                <a:latin typeface="Helvetica"/>
                <a:ea typeface="Helvetica"/>
                <a:cs typeface="Helvetica"/>
                <a:sym typeface="Helvetica"/>
              </a:defRPr>
            </a:pPr>
            <a:r>
              <a:t>and Shlens, submitted to ICLR 2016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1" name="Image" descr="Image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983807" y="1654206"/>
            <a:ext cx="8544472" cy="11230311"/>
          </a:xfrm>
          <a:prstGeom prst="rect">
            <a:avLst/>
          </a:prstGeom>
          <a:ln w="12700">
            <a:miter lim="400000"/>
          </a:ln>
        </p:spPr>
      </p:pic>
      <p:sp>
        <p:nvSpPr>
          <p:cNvPr id="182" name="Deep Learning"/>
          <p:cNvSpPr txBox="1"/>
          <p:nvPr/>
        </p:nvSpPr>
        <p:spPr>
          <a:xfrm>
            <a:off x="13793812" y="3900388"/>
            <a:ext cx="5654626" cy="1146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i="1" sz="6600"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Deep Learning</a:t>
            </a:r>
          </a:p>
        </p:txBody>
      </p:sp>
      <p:sp>
        <p:nvSpPr>
          <p:cNvPr id="183" name="Goodfellow, Bengio,…"/>
          <p:cNvSpPr txBox="1"/>
          <p:nvPr/>
        </p:nvSpPr>
        <p:spPr>
          <a:xfrm>
            <a:off x="13719013" y="5485507"/>
            <a:ext cx="5804224" cy="1666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>
                <a:latin typeface="Helvetica"/>
                <a:ea typeface="Helvetica"/>
                <a:cs typeface="Helvetica"/>
                <a:sym typeface="Helvetica"/>
              </a:defRPr>
            </a:pPr>
            <a:r>
              <a:t>Goodfellow, Bengio,</a:t>
            </a:r>
          </a:p>
          <a:p>
            <a:pPr>
              <a:defRPr>
                <a:latin typeface="Helvetica"/>
                <a:ea typeface="Helvetica"/>
                <a:cs typeface="Helvetica"/>
                <a:sym typeface="Helvetica"/>
              </a:defRPr>
            </a:pPr>
            <a:r>
              <a:t>and Courville</a:t>
            </a:r>
          </a:p>
        </p:txBody>
      </p:sp>
      <p:sp>
        <p:nvSpPr>
          <p:cNvPr id="184" name="www.deeplearningbook.org"/>
          <p:cNvSpPr txBox="1"/>
          <p:nvPr/>
        </p:nvSpPr>
        <p:spPr>
          <a:xfrm>
            <a:off x="12713028" y="8028086"/>
            <a:ext cx="7816194" cy="904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u="sng">
                <a:latin typeface="Helvetica"/>
                <a:ea typeface="Helvetica"/>
                <a:cs typeface="Helvetica"/>
                <a:sym typeface="Helvetica"/>
                <a:hlinkClick r:id="rId3" invalidUrl="" action="" tgtFrame="" tooltip="" history="1" highlightClick="0" endSnd="0"/>
              </a:defRPr>
            </a:lvl1pPr>
          </a:lstStyle>
          <a:p>
            <a:pPr>
              <a:defRPr u="none"/>
            </a:pPr>
            <a:r>
              <a:rPr u="sng">
                <a:hlinkClick r:id="rId3" invalidUrl="" action="" tgtFrame="" tooltip="" history="1" highlightClick="0" endSnd="0"/>
              </a:rPr>
              <a:t>www.deeplearningbook.org</a:t>
            </a:r>
          </a:p>
        </p:txBody>
      </p:sp>
      <p:sp>
        <p:nvSpPr>
          <p:cNvPr id="185" name="In preparation for MIT Press"/>
          <p:cNvSpPr txBox="1"/>
          <p:nvPr/>
        </p:nvSpPr>
        <p:spPr>
          <a:xfrm>
            <a:off x="12596291" y="9743182"/>
            <a:ext cx="8049668" cy="904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>
                <a:latin typeface="Helvetica"/>
                <a:ea typeface="Helvetica"/>
                <a:cs typeface="Helvetica"/>
                <a:sym typeface="Helvetica"/>
              </a:defRPr>
            </a:lvl1pPr>
          </a:lstStyle>
          <a:p>
            <a:pPr/>
            <a:r>
              <a:t>In preparation for MIT Press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_rels/theme1.xml.rels><?xml version="1.0" encoding="UTF-8"?>
<Relationships xmlns="http://schemas.openxmlformats.org/package/2006/relationships"><Relationship Id="rId1" Type="http://schemas.openxmlformats.org/officeDocument/2006/relationships/image" Target="../media/image1.png"/></Relationships>

</file>

<file path=ppt/theme/_rels/theme2.xml.rels><?xml version="1.0" encoding="UTF-8"?>
<Relationships xmlns="http://schemas.openxmlformats.org/package/2006/relationships"><Relationship Id="rId1" Type="http://schemas.openxmlformats.org/officeDocument/2006/relationships/image" Target="../media/image2.png"/></Relationships>
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50800" dist="25400" dir="540000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63500" dist="12700" dir="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50800" dist="25400" dir="540000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>
          <a:outerShdw sx="100000" sy="100000" kx="0" ky="0" algn="b" rotWithShape="0" blurRad="50800" dist="25400" dir="540000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71437" tIns="71437" rIns="71437" bIns="71437" numCol="1" spcCol="38100" rtlCol="0" anchor="ctr" upright="0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 upright="0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5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DCBD23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Helvetica Light"/>
        <a:ea typeface="Helvetica Light"/>
        <a:cs typeface="Helvetica Light"/>
      </a:majorFont>
      <a:minorFont>
        <a:latin typeface="Helvetica Light"/>
        <a:ea typeface="Helvetica Light"/>
        <a:cs typeface="Helvetica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50800" dist="25400" dir="540000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63500" dist="12700" dir="0">
              <a:srgbClr val="000000">
                <a:alpha val="50000"/>
              </a:srgbClr>
            </a:outerShdw>
          </a:effectLst>
        </a:effectStyle>
        <a:effectStyle>
          <a:effectLst>
            <a:outerShdw sx="100000" sy="100000" kx="0" ky="0" algn="b" rotWithShape="0" blurRad="50800" dist="25400" dir="540000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r:embed="rId1"/>
          <a:srcRect l="0" t="0" r="0" b="0"/>
          <a:tile tx="0" ty="0" sx="100000" sy="100000" flip="none" algn="tl"/>
        </a:blipFill>
        <a:ln w="12700" cap="flat">
          <a:noFill/>
          <a:miter lim="400000"/>
        </a:ln>
        <a:effectLst>
          <a:outerShdw sx="100000" sy="100000" kx="0" ky="0" algn="b" rotWithShape="0" blurRad="50800" dist="25400" dir="540000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71437" tIns="71437" rIns="71437" bIns="71437" numCol="1" spcCol="38100" rtlCol="0" anchor="ctr" upright="0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 upright="0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50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Light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