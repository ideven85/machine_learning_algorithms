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  <a:lvl2pPr marL="0" indent="2286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2pPr>
            <a:lvl3pPr marL="0" indent="4572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3pPr>
            <a:lvl4pPr marL="0" indent="68580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(Goodfellow 2016)"/>
          <p:cNvSpPr/>
          <p:nvPr/>
        </p:nvSpPr>
        <p:spPr>
          <a:xfrm>
            <a:off x="11626490" y="9340850"/>
            <a:ext cx="135962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(Goodfellow 2016)</a:t>
            </a:r>
          </a:p>
        </p:txBody>
      </p:sp>
      <p:sp>
        <p:nvSpPr>
          <p:cNvPr id="59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Image"/>
          <p:cNvSpPr/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7" name="Title Tex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8" name="Body Level One…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ody Level One…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Image"/>
          <p:cNvSpPr/>
          <p:nvPr>
            <p:ph type="pic" sz="quarter" idx="21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quarter" idx="22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Image"/>
          <p:cNvSpPr/>
          <p:nvPr>
            <p:ph type="pic" idx="23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7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–Johnny Appleseed"/>
          <p:cNvSpPr/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95" name="“Type a quote here.”"/>
          <p:cNvSpPr/>
          <p:nvPr>
            <p:ph type="body" sz="quarter" idx="2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6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Image"/>
          <p:cNvSpPr/>
          <p:nvPr>
            <p:ph type="pic" idx="21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lide Number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Linear Algebra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Linear Algebra</a:t>
            </a:r>
          </a:p>
        </p:txBody>
      </p:sp>
      <p:sp>
        <p:nvSpPr>
          <p:cNvPr id="121" name="Lecture slides for Chapter 2 of Deep Learning…"/>
          <p:cNvSpPr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14781">
              <a:defRPr sz="2272"/>
            </a:pPr>
            <a:r>
              <a:t>Lecture slides for Chapter 2 of </a:t>
            </a:r>
            <a:r>
              <a:rPr i="1"/>
              <a:t>Deep Learning</a:t>
            </a:r>
          </a:p>
          <a:p>
            <a:pPr defTabSz="414781">
              <a:defRPr sz="2272"/>
            </a:pPr>
            <a:r>
              <a:t>Ian Goodfellow</a:t>
            </a:r>
          </a:p>
          <a:p>
            <a:pPr defTabSz="414781">
              <a:defRPr sz="2272"/>
            </a:pPr>
            <a:r>
              <a:t>2016-06-24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bout this chapter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About this chapter</a:t>
            </a:r>
          </a:p>
        </p:txBody>
      </p:sp>
      <p:sp>
        <p:nvSpPr>
          <p:cNvPr id="124" name="Not a comprehensive survey of all of linear algebra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 a comprehensive survey of all of linear algebra</a:t>
            </a:r>
          </a:p>
          <a:p>
            <a:pPr/>
            <a:r>
              <a:t>Focused on the subset most relevant to deep learning</a:t>
            </a:r>
          </a:p>
          <a:p>
            <a:pPr/>
            <a:r>
              <a:t>Larger subset: e.g., </a:t>
            </a:r>
            <a:r>
              <a:rPr b="1" i="1"/>
              <a:t>Linear Algebra </a:t>
            </a:r>
            <a:r>
              <a:rPr b="1"/>
              <a:t>by Georgi Shilov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cala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Scalars</a:t>
            </a:r>
          </a:p>
        </p:txBody>
      </p:sp>
      <p:sp>
        <p:nvSpPr>
          <p:cNvPr id="127" name="A scalar is a single number…"/>
          <p:cNvSpPr/>
          <p:nvPr>
            <p:ph type="body" idx="1"/>
          </p:nvPr>
        </p:nvSpPr>
        <p:spPr>
          <a:xfrm>
            <a:off x="952500" y="55880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 scalar is a single number</a:t>
            </a:r>
          </a:p>
          <a:p>
            <a:pPr/>
            <a:r>
              <a:t>Integers, real numbers, rational numbers, etc.</a:t>
            </a:r>
          </a:p>
          <a:p>
            <a:pPr/>
            <a:r>
              <a:t>We denote it with italic font:</a:t>
            </a:r>
          </a:p>
        </p:txBody>
      </p:sp>
      <p:pic>
        <p:nvPicPr>
          <p:cNvPr id="12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24550" y="6525514"/>
            <a:ext cx="1155700" cy="3093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Vecto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Vectors</a:t>
            </a:r>
          </a:p>
        </p:txBody>
      </p:sp>
      <p:sp>
        <p:nvSpPr>
          <p:cNvPr id="131" name="A vector is a 1-D array of numbers:…"/>
          <p:cNvSpPr/>
          <p:nvPr>
            <p:ph type="body" idx="1"/>
          </p:nvPr>
        </p:nvSpPr>
        <p:spPr>
          <a:xfrm>
            <a:off x="952500" y="194945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A vector is a 1-D array of numbers:</a:t>
            </a:r>
          </a:p>
          <a:p>
            <a:pPr/>
          </a:p>
          <a:p>
            <a:pPr/>
          </a:p>
          <a:p>
            <a:pPr/>
            <a:r>
              <a:t>Can be real, binary, integer, etc.</a:t>
            </a:r>
          </a:p>
          <a:p>
            <a:pPr/>
            <a:r>
              <a:t>Example notation for type and size: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59974" y="3393054"/>
            <a:ext cx="6091115" cy="18752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34281" y="7899586"/>
            <a:ext cx="1124762" cy="1144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Matric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Matrices</a:t>
            </a:r>
          </a:p>
        </p:txBody>
      </p:sp>
      <p:sp>
        <p:nvSpPr>
          <p:cNvPr id="136" name="A matrix is a 2-D array of numbers: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matrix is a 2-D array of numbers:</a:t>
            </a:r>
          </a:p>
          <a:p>
            <a:pPr/>
          </a:p>
          <a:p>
            <a:pPr/>
          </a:p>
          <a:p>
            <a:pPr/>
            <a:r>
              <a:t>Example notation for type and shape: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6847" y="5099306"/>
            <a:ext cx="6121210" cy="1013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42192" y="8011644"/>
            <a:ext cx="3790520" cy="101301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Shape"/>
          <p:cNvSpPr/>
          <p:nvPr/>
        </p:nvSpPr>
        <p:spPr>
          <a:xfrm>
            <a:off x="3357543" y="5001369"/>
            <a:ext cx="656738" cy="1209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30" h="21415" fill="norm" stroke="1" extrusionOk="0">
                <a:moveTo>
                  <a:pt x="9151" y="0"/>
                </a:moveTo>
                <a:cubicBezTo>
                  <a:pt x="6501" y="1097"/>
                  <a:pt x="4273" y="2686"/>
                  <a:pt x="2680" y="4615"/>
                </a:cubicBezTo>
                <a:cubicBezTo>
                  <a:pt x="-337" y="8271"/>
                  <a:pt x="-862" y="12793"/>
                  <a:pt x="1387" y="16745"/>
                </a:cubicBezTo>
                <a:cubicBezTo>
                  <a:pt x="2768" y="19172"/>
                  <a:pt x="5327" y="21261"/>
                  <a:pt x="8775" y="21407"/>
                </a:cubicBezTo>
                <a:cubicBezTo>
                  <a:pt x="13354" y="21600"/>
                  <a:pt x="16571" y="18491"/>
                  <a:pt x="18260" y="15117"/>
                </a:cubicBezTo>
                <a:cubicBezTo>
                  <a:pt x="20256" y="11133"/>
                  <a:pt x="20738" y="6612"/>
                  <a:pt x="17379" y="3246"/>
                </a:cubicBezTo>
                <a:cubicBezTo>
                  <a:pt x="15428" y="1291"/>
                  <a:pt x="12406" y="98"/>
                  <a:pt x="9151" y="0"/>
                </a:cubicBezTo>
                <a:close/>
              </a:path>
            </a:pathLst>
          </a:custGeom>
          <a:ln w="25400">
            <a:solidFill>
              <a:schemeClr val="accent4">
                <a:hueOff val="384618"/>
                <a:satOff val="3869"/>
                <a:lumOff val="5802"/>
                <a:alpha val="5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40" name="Column"/>
          <p:cNvSpPr txBox="1"/>
          <p:nvPr/>
        </p:nvSpPr>
        <p:spPr>
          <a:xfrm>
            <a:off x="2841169" y="6598429"/>
            <a:ext cx="168972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Column</a:t>
            </a:r>
          </a:p>
        </p:txBody>
      </p:sp>
      <p:sp>
        <p:nvSpPr>
          <p:cNvPr id="141" name="Shape"/>
          <p:cNvSpPr/>
          <p:nvPr/>
        </p:nvSpPr>
        <p:spPr>
          <a:xfrm>
            <a:off x="2801629" y="5071417"/>
            <a:ext cx="2356134" cy="567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30" h="21415" fill="norm" stroke="1" extrusionOk="0">
                <a:moveTo>
                  <a:pt x="9151" y="0"/>
                </a:moveTo>
                <a:cubicBezTo>
                  <a:pt x="6501" y="1097"/>
                  <a:pt x="4273" y="2686"/>
                  <a:pt x="2680" y="4615"/>
                </a:cubicBezTo>
                <a:cubicBezTo>
                  <a:pt x="-337" y="8271"/>
                  <a:pt x="-862" y="12793"/>
                  <a:pt x="1387" y="16745"/>
                </a:cubicBezTo>
                <a:cubicBezTo>
                  <a:pt x="2768" y="19172"/>
                  <a:pt x="5327" y="21261"/>
                  <a:pt x="8775" y="21407"/>
                </a:cubicBezTo>
                <a:cubicBezTo>
                  <a:pt x="13354" y="21600"/>
                  <a:pt x="16571" y="18491"/>
                  <a:pt x="18260" y="15117"/>
                </a:cubicBezTo>
                <a:cubicBezTo>
                  <a:pt x="20256" y="11133"/>
                  <a:pt x="20738" y="6612"/>
                  <a:pt x="17379" y="3246"/>
                </a:cubicBezTo>
                <a:cubicBezTo>
                  <a:pt x="15428" y="1291"/>
                  <a:pt x="12406" y="98"/>
                  <a:pt x="9151" y="0"/>
                </a:cubicBezTo>
                <a:close/>
              </a:path>
            </a:pathLst>
          </a:custGeom>
          <a:ln w="12700">
            <a:solidFill>
              <a:schemeClr val="accent2">
                <a:hueOff val="-2473793"/>
                <a:satOff val="-50209"/>
                <a:lumOff val="23543"/>
                <a:alpha val="5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42" name="Row"/>
          <p:cNvSpPr txBox="1"/>
          <p:nvPr/>
        </p:nvSpPr>
        <p:spPr>
          <a:xfrm>
            <a:off x="5533767" y="4552950"/>
            <a:ext cx="102892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Row</a:t>
            </a:r>
          </a:p>
        </p:txBody>
      </p:sp>
      <p:sp>
        <p:nvSpPr>
          <p:cNvPr id="143" name="Line"/>
          <p:cNvSpPr/>
          <p:nvPr/>
        </p:nvSpPr>
        <p:spPr>
          <a:xfrm flipH="1">
            <a:off x="4460376" y="4865314"/>
            <a:ext cx="993881" cy="22952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44" name="Line"/>
          <p:cNvSpPr/>
          <p:nvPr/>
        </p:nvSpPr>
        <p:spPr>
          <a:xfrm flipV="1">
            <a:off x="3644900" y="6252188"/>
            <a:ext cx="1" cy="58041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nso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Tensors</a:t>
            </a:r>
          </a:p>
        </p:txBody>
      </p:sp>
      <p:sp>
        <p:nvSpPr>
          <p:cNvPr id="147" name="A tensor is an array of numbers, that may have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tensor is an array of numbers, that may have</a:t>
            </a:r>
          </a:p>
          <a:p>
            <a:pPr lvl="1"/>
            <a:r>
              <a:t>zero dimensions, and be a scalar</a:t>
            </a:r>
          </a:p>
          <a:p>
            <a:pPr lvl="1"/>
            <a:r>
              <a:t>one dimension, and be a vector</a:t>
            </a:r>
          </a:p>
          <a:p>
            <a:pPr lvl="1"/>
            <a:r>
              <a:t>two dimensions, and be a matrix</a:t>
            </a:r>
          </a:p>
          <a:p>
            <a:pPr lvl="1"/>
            <a:r>
              <a:t>or more dimensions.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trix Transpos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Matrix Transpose</a:t>
            </a:r>
          </a:p>
        </p:txBody>
      </p:sp>
      <p:pic>
        <p:nvPicPr>
          <p:cNvPr id="15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7833" y="3373302"/>
            <a:ext cx="12509134" cy="37435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56434" y="2775561"/>
            <a:ext cx="7532786" cy="933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16567" y="7695074"/>
            <a:ext cx="10830499" cy="10701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Matrix (Dot) Product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Matrix (Dot) Product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748" y="2319586"/>
            <a:ext cx="10619467" cy="96793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="/>
          <p:cNvSpPr txBox="1"/>
          <p:nvPr/>
        </p:nvSpPr>
        <p:spPr>
          <a:xfrm>
            <a:off x="4674674" y="6304362"/>
            <a:ext cx="46288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700"/>
            </a:lvl1pPr>
          </a:lstStyle>
          <a:p>
            <a:pPr/>
            <a:r>
              <a:t>=</a:t>
            </a:r>
          </a:p>
        </p:txBody>
      </p:sp>
      <p:sp>
        <p:nvSpPr>
          <p:cNvPr id="157" name="•"/>
          <p:cNvSpPr txBox="1"/>
          <p:nvPr/>
        </p:nvSpPr>
        <p:spPr>
          <a:xfrm>
            <a:off x="8004346" y="6304362"/>
            <a:ext cx="323274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700"/>
            </a:lvl1pPr>
          </a:lstStyle>
          <a:p>
            <a:pPr/>
            <a:r>
              <a:t>•</a:t>
            </a:r>
          </a:p>
        </p:txBody>
      </p:sp>
      <p:sp>
        <p:nvSpPr>
          <p:cNvPr id="158" name="m"/>
          <p:cNvSpPr txBox="1"/>
          <p:nvPr/>
        </p:nvSpPr>
        <p:spPr>
          <a:xfrm>
            <a:off x="24015" y="6304362"/>
            <a:ext cx="611524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m</a:t>
            </a:r>
          </a:p>
        </p:txBody>
      </p:sp>
      <p:sp>
        <p:nvSpPr>
          <p:cNvPr id="159" name="p"/>
          <p:cNvSpPr txBox="1"/>
          <p:nvPr/>
        </p:nvSpPr>
        <p:spPr>
          <a:xfrm>
            <a:off x="2383321" y="7977572"/>
            <a:ext cx="44626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p</a:t>
            </a:r>
          </a:p>
        </p:txBody>
      </p:sp>
      <p:sp>
        <p:nvSpPr>
          <p:cNvPr id="160" name="Square"/>
          <p:cNvSpPr/>
          <p:nvPr/>
        </p:nvSpPr>
        <p:spPr>
          <a:xfrm>
            <a:off x="749300" y="5346700"/>
            <a:ext cx="837677" cy="837677"/>
          </a:xfrm>
          <a:prstGeom prst="rect">
            <a:avLst/>
          </a:prstGeom>
          <a:blipFill>
            <a:blip r:embed="rId3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1" name="Square"/>
          <p:cNvSpPr/>
          <p:nvPr/>
        </p:nvSpPr>
        <p:spPr>
          <a:xfrm>
            <a:off x="1705515" y="5346700"/>
            <a:ext cx="837677" cy="83767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2" name="Square"/>
          <p:cNvSpPr/>
          <p:nvPr/>
        </p:nvSpPr>
        <p:spPr>
          <a:xfrm>
            <a:off x="2661730" y="5346700"/>
            <a:ext cx="837678" cy="837677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3" name="Square"/>
          <p:cNvSpPr/>
          <p:nvPr/>
        </p:nvSpPr>
        <p:spPr>
          <a:xfrm>
            <a:off x="749300" y="6291924"/>
            <a:ext cx="837677" cy="837677"/>
          </a:xfrm>
          <a:prstGeom prst="rect">
            <a:avLst/>
          </a:prstGeom>
          <a:blipFill>
            <a:blip r:embed="rId6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4" name="Square"/>
          <p:cNvSpPr/>
          <p:nvPr/>
        </p:nvSpPr>
        <p:spPr>
          <a:xfrm>
            <a:off x="1705515" y="6291924"/>
            <a:ext cx="837677" cy="837677"/>
          </a:xfrm>
          <a:prstGeom prst="rect">
            <a:avLst/>
          </a:prstGeom>
          <a:blipFill>
            <a:blip r:embed="rId7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5" name="Square"/>
          <p:cNvSpPr/>
          <p:nvPr/>
        </p:nvSpPr>
        <p:spPr>
          <a:xfrm>
            <a:off x="2661730" y="6291924"/>
            <a:ext cx="837678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6" name="Square"/>
          <p:cNvSpPr/>
          <p:nvPr/>
        </p:nvSpPr>
        <p:spPr>
          <a:xfrm>
            <a:off x="749300" y="7237148"/>
            <a:ext cx="837677" cy="837678"/>
          </a:xfrm>
          <a:prstGeom prst="rect">
            <a:avLst/>
          </a:prstGeom>
          <a:blipFill>
            <a:blip r:embed="rId8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7" name="Square"/>
          <p:cNvSpPr/>
          <p:nvPr/>
        </p:nvSpPr>
        <p:spPr>
          <a:xfrm>
            <a:off x="1705515" y="7237148"/>
            <a:ext cx="837677" cy="837678"/>
          </a:xfrm>
          <a:prstGeom prst="rect">
            <a:avLst/>
          </a:prstGeom>
          <a:blipFill>
            <a:blip r:embed="rId9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8" name="Square"/>
          <p:cNvSpPr/>
          <p:nvPr/>
        </p:nvSpPr>
        <p:spPr>
          <a:xfrm>
            <a:off x="2661730" y="7237148"/>
            <a:ext cx="837678" cy="837678"/>
          </a:xfrm>
          <a:prstGeom prst="rect">
            <a:avLst/>
          </a:prstGeom>
          <a:blipFill>
            <a:blip r:embed="rId10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69" name="Square"/>
          <p:cNvSpPr/>
          <p:nvPr/>
        </p:nvSpPr>
        <p:spPr>
          <a:xfrm>
            <a:off x="3617946" y="5346700"/>
            <a:ext cx="837677" cy="837677"/>
          </a:xfrm>
          <a:prstGeom prst="rect">
            <a:avLst/>
          </a:prstGeom>
          <a:blipFill>
            <a:blip r:embed="rId11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0" name="Square"/>
          <p:cNvSpPr/>
          <p:nvPr/>
        </p:nvSpPr>
        <p:spPr>
          <a:xfrm>
            <a:off x="3617946" y="6291924"/>
            <a:ext cx="837677" cy="837677"/>
          </a:xfrm>
          <a:prstGeom prst="rect">
            <a:avLst/>
          </a:prstGeom>
          <a:blipFill>
            <a:blip r:embed="rId12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1" name="Square"/>
          <p:cNvSpPr/>
          <p:nvPr/>
        </p:nvSpPr>
        <p:spPr>
          <a:xfrm>
            <a:off x="3617946" y="7237148"/>
            <a:ext cx="837677" cy="837678"/>
          </a:xfrm>
          <a:prstGeom prst="rect">
            <a:avLst/>
          </a:prstGeom>
          <a:blipFill>
            <a:blip r:embed="rId13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2" name="Square"/>
          <p:cNvSpPr/>
          <p:nvPr/>
        </p:nvSpPr>
        <p:spPr>
          <a:xfrm>
            <a:off x="6017005" y="5346700"/>
            <a:ext cx="837678" cy="837677"/>
          </a:xfrm>
          <a:prstGeom prst="rect">
            <a:avLst/>
          </a:prstGeom>
          <a:blipFill>
            <a:blip r:embed="rId14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3" name="Square"/>
          <p:cNvSpPr/>
          <p:nvPr/>
        </p:nvSpPr>
        <p:spPr>
          <a:xfrm>
            <a:off x="6973221" y="5346700"/>
            <a:ext cx="837677" cy="837677"/>
          </a:xfrm>
          <a:prstGeom prst="rect">
            <a:avLst/>
          </a:prstGeom>
          <a:blipFill>
            <a:blip r:embed="rId15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4" name="Square"/>
          <p:cNvSpPr/>
          <p:nvPr/>
        </p:nvSpPr>
        <p:spPr>
          <a:xfrm>
            <a:off x="6017005" y="6291924"/>
            <a:ext cx="837678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5" name="Square"/>
          <p:cNvSpPr/>
          <p:nvPr/>
        </p:nvSpPr>
        <p:spPr>
          <a:xfrm>
            <a:off x="6973221" y="6291924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6" name="Square"/>
          <p:cNvSpPr/>
          <p:nvPr/>
        </p:nvSpPr>
        <p:spPr>
          <a:xfrm>
            <a:off x="6017005" y="7237148"/>
            <a:ext cx="837678" cy="837678"/>
          </a:xfrm>
          <a:prstGeom prst="rect">
            <a:avLst/>
          </a:prstGeom>
          <a:blipFill>
            <a:blip r:embed="rId16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7" name="Square"/>
          <p:cNvSpPr/>
          <p:nvPr/>
        </p:nvSpPr>
        <p:spPr>
          <a:xfrm>
            <a:off x="6973221" y="7237148"/>
            <a:ext cx="837677" cy="837678"/>
          </a:xfrm>
          <a:prstGeom prst="rect">
            <a:avLst/>
          </a:prstGeom>
          <a:blipFill>
            <a:blip r:embed="rId17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8" name="Square"/>
          <p:cNvSpPr/>
          <p:nvPr/>
        </p:nvSpPr>
        <p:spPr>
          <a:xfrm>
            <a:off x="9007696" y="5819312"/>
            <a:ext cx="837677" cy="837677"/>
          </a:xfrm>
          <a:prstGeom prst="rect">
            <a:avLst/>
          </a:prstGeom>
          <a:blipFill>
            <a:blip r:embed="rId18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79" name="Square"/>
          <p:cNvSpPr/>
          <p:nvPr/>
        </p:nvSpPr>
        <p:spPr>
          <a:xfrm>
            <a:off x="9963911" y="5819312"/>
            <a:ext cx="837678" cy="837677"/>
          </a:xfrm>
          <a:prstGeom prst="rect">
            <a:avLst/>
          </a:prstGeom>
          <a:blipFill>
            <a:blip r:embed="rId19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0" name="Square"/>
          <p:cNvSpPr/>
          <p:nvPr/>
        </p:nvSpPr>
        <p:spPr>
          <a:xfrm>
            <a:off x="10920128" y="5819312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1" name="Square"/>
          <p:cNvSpPr/>
          <p:nvPr/>
        </p:nvSpPr>
        <p:spPr>
          <a:xfrm>
            <a:off x="9007696" y="6764536"/>
            <a:ext cx="837677" cy="837677"/>
          </a:xfrm>
          <a:prstGeom prst="rect">
            <a:avLst/>
          </a:prstGeom>
          <a:blipFill>
            <a:blip r:embed="rId20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2" name="Square"/>
          <p:cNvSpPr/>
          <p:nvPr/>
        </p:nvSpPr>
        <p:spPr>
          <a:xfrm>
            <a:off x="9963911" y="6764536"/>
            <a:ext cx="837678" cy="837677"/>
          </a:xfrm>
          <a:prstGeom prst="rect">
            <a:avLst/>
          </a:prstGeom>
          <a:blipFill>
            <a:blip r:embed="rId21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3" name="Square"/>
          <p:cNvSpPr/>
          <p:nvPr/>
        </p:nvSpPr>
        <p:spPr>
          <a:xfrm>
            <a:off x="10920128" y="6764536"/>
            <a:ext cx="837677" cy="837677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4" name="Square"/>
          <p:cNvSpPr/>
          <p:nvPr/>
        </p:nvSpPr>
        <p:spPr>
          <a:xfrm>
            <a:off x="11876343" y="5819312"/>
            <a:ext cx="837677" cy="837677"/>
          </a:xfrm>
          <a:prstGeom prst="rect">
            <a:avLst/>
          </a:prstGeom>
          <a:blipFill>
            <a:blip r:embed="rId22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5" name="Square"/>
          <p:cNvSpPr/>
          <p:nvPr/>
        </p:nvSpPr>
        <p:spPr>
          <a:xfrm>
            <a:off x="11876343" y="6764536"/>
            <a:ext cx="837677" cy="837677"/>
          </a:xfrm>
          <a:prstGeom prst="rect">
            <a:avLst/>
          </a:prstGeom>
          <a:blipFill>
            <a:blip r:embed="rId23"/>
          </a:blip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86" name="m"/>
          <p:cNvSpPr txBox="1"/>
          <p:nvPr/>
        </p:nvSpPr>
        <p:spPr>
          <a:xfrm>
            <a:off x="5317781" y="6304362"/>
            <a:ext cx="611523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m</a:t>
            </a:r>
          </a:p>
        </p:txBody>
      </p:sp>
      <p:sp>
        <p:nvSpPr>
          <p:cNvPr id="187" name="p"/>
          <p:cNvSpPr txBox="1"/>
          <p:nvPr/>
        </p:nvSpPr>
        <p:spPr>
          <a:xfrm>
            <a:off x="10637724" y="7540348"/>
            <a:ext cx="44626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p</a:t>
            </a:r>
          </a:p>
        </p:txBody>
      </p:sp>
      <p:sp>
        <p:nvSpPr>
          <p:cNvPr id="188" name="n"/>
          <p:cNvSpPr txBox="1"/>
          <p:nvPr/>
        </p:nvSpPr>
        <p:spPr>
          <a:xfrm>
            <a:off x="6564442" y="7977572"/>
            <a:ext cx="446269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n</a:t>
            </a:r>
          </a:p>
        </p:txBody>
      </p:sp>
      <p:sp>
        <p:nvSpPr>
          <p:cNvPr id="189" name="n"/>
          <p:cNvSpPr txBox="1"/>
          <p:nvPr/>
        </p:nvSpPr>
        <p:spPr>
          <a:xfrm>
            <a:off x="8478085" y="6304362"/>
            <a:ext cx="446268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700"/>
            </a:lvl1pPr>
          </a:lstStyle>
          <a:p>
            <a:pPr/>
            <a:r>
              <a:t>n</a:t>
            </a:r>
          </a:p>
        </p:txBody>
      </p:sp>
      <p:sp>
        <p:nvSpPr>
          <p:cNvPr id="190" name="Line"/>
          <p:cNvSpPr/>
          <p:nvPr/>
        </p:nvSpPr>
        <p:spPr>
          <a:xfrm>
            <a:off x="7067873" y="6976460"/>
            <a:ext cx="1814849" cy="1471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19293"/>
                </a:lnTo>
                <a:lnTo>
                  <a:pt x="19629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headEnd type="arrow"/>
            <a:tailEnd type="arrow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191" name="Must…"/>
          <p:cNvSpPr txBox="1"/>
          <p:nvPr/>
        </p:nvSpPr>
        <p:spPr>
          <a:xfrm>
            <a:off x="8766507" y="8140700"/>
            <a:ext cx="1082651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800"/>
            </a:pPr>
            <a:r>
              <a:t>Must</a:t>
            </a:r>
          </a:p>
          <a:p>
            <a:pPr>
              <a:defRPr sz="2800"/>
            </a:pPr>
            <a:r>
              <a:t>match</a:t>
            </a:r>
          </a:p>
        </p:txBody>
      </p:sp>
      <p:pic>
        <p:nvPicPr>
          <p:cNvPr id="192" name="Image" descr="Image"/>
          <p:cNvPicPr>
            <a:picLocks noChangeAspect="1"/>
          </p:cNvPicPr>
          <p:nvPr/>
        </p:nvPicPr>
        <p:blipFill>
          <a:blip r:embed="rId24">
            <a:extLst/>
          </a:blip>
          <a:stretch>
            <a:fillRect/>
          </a:stretch>
        </p:blipFill>
        <p:spPr>
          <a:xfrm>
            <a:off x="1498983" y="3199050"/>
            <a:ext cx="9873723" cy="1552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Identity Matrix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Identity Matrix</a:t>
            </a:r>
          </a:p>
        </p:txBody>
      </p:sp>
      <p:pic>
        <p:nvPicPr>
          <p:cNvPr id="19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2373" y="1847644"/>
            <a:ext cx="8340054" cy="39271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1284" y="6799143"/>
            <a:ext cx="12122446" cy="10717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ystems of Equa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Systems of Equations</a:t>
            </a:r>
          </a:p>
        </p:txBody>
      </p:sp>
      <p:pic>
        <p:nvPicPr>
          <p:cNvPr id="19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1490" y="2341664"/>
            <a:ext cx="11253620" cy="1034908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expands to"/>
          <p:cNvSpPr txBox="1"/>
          <p:nvPr/>
        </p:nvSpPr>
        <p:spPr>
          <a:xfrm>
            <a:off x="5326806" y="3448050"/>
            <a:ext cx="235118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expands to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43278" y="4330700"/>
            <a:ext cx="9150044" cy="33358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olving Systems of Equation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Solving Systems of Equations</a:t>
            </a:r>
          </a:p>
        </p:txBody>
      </p:sp>
      <p:sp>
        <p:nvSpPr>
          <p:cNvPr id="204" name="A linear system of equations can have:…"/>
          <p:cNvSpPr/>
          <p:nvPr>
            <p:ph type="body" idx="1"/>
          </p:nvPr>
        </p:nvSpPr>
        <p:spPr>
          <a:xfrm>
            <a:off x="1074281" y="2609849"/>
            <a:ext cx="11099801" cy="6286501"/>
          </a:xfrm>
          <a:prstGeom prst="rect">
            <a:avLst/>
          </a:prstGeom>
        </p:spPr>
        <p:txBody>
          <a:bodyPr/>
          <a:lstStyle/>
          <a:p>
            <a:pPr/>
            <a:r>
              <a:t>A linear system of equations can have:</a:t>
            </a:r>
          </a:p>
          <a:p>
            <a:pPr lvl="1"/>
            <a:r>
              <a:t>No solution</a:t>
            </a:r>
          </a:p>
          <a:p>
            <a:pPr lvl="1"/>
            <a:r>
              <a:t>Many solutions</a:t>
            </a:r>
          </a:p>
          <a:p>
            <a:pPr lvl="1"/>
            <a:r>
              <a:t>Exactly one solution: this means multiplication by the matrix is an invertible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atrix Inversion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Matrix Inversion</a:t>
            </a:r>
          </a:p>
        </p:txBody>
      </p:sp>
      <p:sp>
        <p:nvSpPr>
          <p:cNvPr id="207" name="Matrix inverse:…"/>
          <p:cNvSpPr/>
          <p:nvPr>
            <p:ph type="body" idx="1"/>
          </p:nvPr>
        </p:nvSpPr>
        <p:spPr>
          <a:xfrm>
            <a:off x="825500" y="200025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Matrix inverse:</a:t>
            </a:r>
          </a:p>
          <a:p>
            <a:pPr/>
            <a:r>
              <a:t>Solving a system using an inverse:</a:t>
            </a:r>
          </a:p>
          <a:p>
            <a:pPr/>
          </a:p>
          <a:p>
            <a:pPr/>
          </a:p>
          <a:p>
            <a:pPr/>
            <a:r>
              <a:t>Numerically unstable, but useful for abstract analysis</a:t>
            </a:r>
          </a:p>
        </p:txBody>
      </p:sp>
      <p:pic>
        <p:nvPicPr>
          <p:cNvPr id="20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55774" y="2791398"/>
            <a:ext cx="9921395" cy="802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90018" y="4332793"/>
            <a:ext cx="9683711" cy="24477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Invertibility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Invertibility</a:t>
            </a:r>
          </a:p>
        </p:txBody>
      </p:sp>
      <p:sp>
        <p:nvSpPr>
          <p:cNvPr id="212" name="Matrix can’t be inverted if…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Matrix can’t be inverted if…</a:t>
            </a:r>
          </a:p>
          <a:p>
            <a:pPr lvl="1"/>
            <a:r>
              <a:t>More rows than columns</a:t>
            </a:r>
          </a:p>
          <a:p>
            <a:pPr lvl="1"/>
            <a:r>
              <a:t>More columns than rows</a:t>
            </a:r>
          </a:p>
          <a:p>
            <a:pPr lvl="1"/>
            <a:r>
              <a:t>Redundant rows/columns (“linearly dependent”, “low rank”)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orms which norm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Norms which norm</a:t>
            </a:r>
          </a:p>
        </p:txBody>
      </p:sp>
      <p:sp>
        <p:nvSpPr>
          <p:cNvPr id="215" name="Functions that measure how “large” a vector is…"/>
          <p:cNvSpPr/>
          <p:nvPr>
            <p:ph type="body" sz="half" idx="1"/>
          </p:nvPr>
        </p:nvSpPr>
        <p:spPr>
          <a:xfrm>
            <a:off x="952500" y="2609850"/>
            <a:ext cx="11099800" cy="2904481"/>
          </a:xfrm>
          <a:prstGeom prst="rect">
            <a:avLst/>
          </a:prstGeom>
        </p:spPr>
        <p:txBody>
          <a:bodyPr/>
          <a:lstStyle/>
          <a:p>
            <a:pPr/>
            <a:r>
              <a:t>Functions that measure how “large” a vector is</a:t>
            </a:r>
          </a:p>
          <a:p>
            <a:pPr/>
            <a:r>
              <a:t>Similar to a distance between zero and the point represented by the vector</a:t>
            </a:r>
          </a:p>
        </p:txBody>
      </p:sp>
      <p:pic>
        <p:nvPicPr>
          <p:cNvPr id="2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1005" y="5476991"/>
            <a:ext cx="10582790" cy="27384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Lp norm…"/>
          <p:cNvSpPr/>
          <p:nvPr>
            <p:ph type="body" idx="1"/>
          </p:nvPr>
        </p:nvSpPr>
        <p:spPr>
          <a:xfrm>
            <a:off x="863600" y="2258221"/>
            <a:ext cx="9679690" cy="5602657"/>
          </a:xfrm>
          <a:prstGeom prst="rect">
            <a:avLst/>
          </a:prstGeom>
        </p:spPr>
        <p:txBody>
          <a:bodyPr/>
          <a:lstStyle/>
          <a:p>
            <a:pPr marL="404495" indent="-404495" defTabSz="531622">
              <a:spcBef>
                <a:spcPts val="3800"/>
              </a:spcBef>
              <a:defRPr sz="3276"/>
            </a:pPr>
            <a:r>
              <a:rPr i="1"/>
              <a:t>L</a:t>
            </a:r>
            <a:r>
              <a:rPr baseline="31999" i="1"/>
              <a:t>p</a:t>
            </a:r>
            <a:r>
              <a:t> norm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</a:p>
          <a:p>
            <a:pPr marL="404495" indent="-404495" defTabSz="531622">
              <a:spcBef>
                <a:spcPts val="3800"/>
              </a:spcBef>
              <a:defRPr sz="3276"/>
            </a:pPr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Most popular norm: L2 norm, </a:t>
            </a:r>
            <a:r>
              <a:rPr i="1"/>
              <a:t>p</a:t>
            </a:r>
            <a:r>
              <a:t>=2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L1 norm, </a:t>
            </a:r>
            <a:r>
              <a:rPr i="1"/>
              <a:t>p</a:t>
            </a:r>
            <a:r>
              <a:t>=1:  </a:t>
            </a:r>
          </a:p>
          <a:p>
            <a:pPr marL="404495" indent="-404495" defTabSz="531622">
              <a:spcBef>
                <a:spcPts val="3800"/>
              </a:spcBef>
              <a:defRPr sz="3276"/>
            </a:pPr>
            <a:r>
              <a:t>Max norm, infinite </a:t>
            </a:r>
            <a:r>
              <a:rPr i="1"/>
              <a:t>p:</a:t>
            </a:r>
          </a:p>
        </p:txBody>
      </p:sp>
      <p:sp>
        <p:nvSpPr>
          <p:cNvPr id="219" name="Norm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Norms</a:t>
            </a:r>
          </a:p>
        </p:txBody>
      </p:sp>
      <p:pic>
        <p:nvPicPr>
          <p:cNvPr id="22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6389" y="2504490"/>
            <a:ext cx="5884034" cy="28132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69394" y="5979200"/>
            <a:ext cx="7369084" cy="11835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67618" y="7182906"/>
            <a:ext cx="7369085" cy="9247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Unit vector:…"/>
          <p:cNvSpPr/>
          <p:nvPr>
            <p:ph type="body" idx="1"/>
          </p:nvPr>
        </p:nvSpPr>
        <p:spPr>
          <a:xfrm>
            <a:off x="952500" y="2603500"/>
            <a:ext cx="11099800" cy="5296843"/>
          </a:xfrm>
          <a:prstGeom prst="rect">
            <a:avLst/>
          </a:prstGeom>
        </p:spPr>
        <p:txBody>
          <a:bodyPr/>
          <a:lstStyle/>
          <a:p>
            <a:pPr/>
            <a:r>
              <a:t>Unit vector:</a:t>
            </a:r>
          </a:p>
          <a:p>
            <a:pPr/>
          </a:p>
          <a:p>
            <a:pPr/>
            <a:r>
              <a:t>Symmetric Matrix:</a:t>
            </a:r>
          </a:p>
          <a:p>
            <a:pPr/>
          </a:p>
          <a:p>
            <a:pPr/>
            <a:r>
              <a:t>Orthogonal matrix:</a:t>
            </a:r>
          </a:p>
        </p:txBody>
      </p:sp>
      <p:sp>
        <p:nvSpPr>
          <p:cNvPr id="225" name="Special Matrices and Vector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Special Matrices and Vectors</a:t>
            </a:r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7935" y="3724579"/>
            <a:ext cx="8960563" cy="7868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15483" y="6130761"/>
            <a:ext cx="8785467" cy="7988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27935" y="8141154"/>
            <a:ext cx="8960563" cy="722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202163" y="8665898"/>
            <a:ext cx="2139046" cy="7988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Eigendecomposition"/>
          <p:cNvSpPr/>
          <p:nvPr>
            <p:ph type="title"/>
          </p:nvPr>
        </p:nvSpPr>
        <p:spPr>
          <a:xfrm>
            <a:off x="509657" y="145581"/>
            <a:ext cx="11099801" cy="2159001"/>
          </a:xfrm>
          <a:prstGeom prst="rect">
            <a:avLst/>
          </a:prstGeom>
        </p:spPr>
        <p:txBody>
          <a:bodyPr/>
          <a:lstStyle/>
          <a:p>
            <a:pPr/>
            <a:r>
              <a:t>Eigendecomposition</a:t>
            </a:r>
          </a:p>
        </p:txBody>
      </p:sp>
      <p:sp>
        <p:nvSpPr>
          <p:cNvPr id="232" name="Eigenvector and eigenvalue: Example?…"/>
          <p:cNvSpPr/>
          <p:nvPr>
            <p:ph type="body" idx="1"/>
          </p:nvPr>
        </p:nvSpPr>
        <p:spPr>
          <a:xfrm>
            <a:off x="199797" y="2152953"/>
            <a:ext cx="11852503" cy="6743397"/>
          </a:xfrm>
          <a:prstGeom prst="rect">
            <a:avLst/>
          </a:prstGeom>
        </p:spPr>
        <p:txBody>
          <a:bodyPr/>
          <a:lstStyle/>
          <a:p>
            <a:pPr>
              <a:defRPr u="sng">
                <a:solidFill>
                  <a:srgbClr val="FF2600"/>
                </a:solidFill>
              </a:defRPr>
            </a:pPr>
            <a:r>
              <a:t>Eigenvector and eigenvalue: Example?</a:t>
            </a:r>
          </a:p>
          <a:p>
            <a:pPr/>
            <a:r>
              <a:t>Eigendecomposition of a diagonalizable matrix:</a:t>
            </a:r>
          </a:p>
          <a:p>
            <a:pPr/>
            <a:r>
              <a:t>Every real symmetric matrix has a real, orthogonal eigendecomposition:</a:t>
            </a:r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21269" y="4487951"/>
            <a:ext cx="10230003" cy="9291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00080" y="5723225"/>
            <a:ext cx="8604640" cy="7707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0811" y="7469102"/>
            <a:ext cx="9577699" cy="874302"/>
          </a:xfrm>
          <a:prstGeom prst="rect">
            <a:avLst/>
          </a:prstGeom>
          <a:ln w="12700">
            <a:miter lim="400000"/>
          </a:ln>
        </p:spPr>
      </p:pic>
      <p:sp>
        <p:nvSpPr>
          <p:cNvPr id="236" name="Square"/>
          <p:cNvSpPr/>
          <p:nvPr/>
        </p:nvSpPr>
        <p:spPr>
          <a:xfrm>
            <a:off x="4876800" y="788670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ffect of Eigenvalues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Effect of Eigenvalues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7133" y="2706356"/>
            <a:ext cx="12150534" cy="65341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ingular Value Decomposition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Singular Value Decomposition</a:t>
            </a:r>
          </a:p>
        </p:txBody>
      </p:sp>
      <p:sp>
        <p:nvSpPr>
          <p:cNvPr id="242" name="Similar to eigendecomposition…"/>
          <p:cNvSpPr/>
          <p:nvPr>
            <p:ph type="body" idx="1"/>
          </p:nvPr>
        </p:nvSpPr>
        <p:spPr>
          <a:xfrm>
            <a:off x="1308100" y="260985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Similar to eigendecomposition</a:t>
            </a:r>
          </a:p>
          <a:p>
            <a:pPr/>
            <a:r>
              <a:t>More general; matrix need not be square</a:t>
            </a:r>
          </a:p>
        </p:txBody>
      </p:sp>
      <p:pic>
        <p:nvPicPr>
          <p:cNvPr id="24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9867" y="7165495"/>
            <a:ext cx="8922814" cy="8257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oore-Penrose Pseudoinvers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Moore-Penrose Pseudoinverse</a:t>
            </a:r>
          </a:p>
        </p:txBody>
      </p:sp>
      <p:sp>
        <p:nvSpPr>
          <p:cNvPr id="246" name="If the equation has:…"/>
          <p:cNvSpPr/>
          <p:nvPr>
            <p:ph type="body" idx="1"/>
          </p:nvPr>
        </p:nvSpPr>
        <p:spPr>
          <a:xfrm>
            <a:off x="952500" y="3708151"/>
            <a:ext cx="11099800" cy="5181849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420"/>
            </a:pPr>
            <a:r>
              <a:t>If the equation has:</a:t>
            </a:r>
          </a:p>
          <a:p>
            <a:pPr lvl="1" marL="844550" indent="-422275" defTabSz="554990">
              <a:spcBef>
                <a:spcPts val="3900"/>
              </a:spcBef>
              <a:defRPr sz="3420"/>
            </a:pPr>
            <a:r>
              <a:t>Exactly one solution: this is the same as the inverse.</a:t>
            </a:r>
          </a:p>
          <a:p>
            <a:pPr lvl="1" marL="844550" indent="-422275" defTabSz="554990">
              <a:spcBef>
                <a:spcPts val="3900"/>
              </a:spcBef>
              <a:defRPr sz="3420"/>
            </a:pPr>
            <a:r>
              <a:t>No solution: this gives us the solution with the smallest error</a:t>
            </a:r>
          </a:p>
          <a:p>
            <a:pPr lvl="1" marL="844550" indent="-422275" defTabSz="554990">
              <a:spcBef>
                <a:spcPts val="3900"/>
              </a:spcBef>
              <a:defRPr sz="3420"/>
            </a:pPr>
            <a:r>
              <a:t>Many solutions: this gives us the solution with the smallest norm of </a:t>
            </a:r>
            <a:r>
              <a:rPr b="1" i="1"/>
              <a:t>x</a:t>
            </a:r>
            <a:r>
              <a:t>.</a:t>
            </a:r>
          </a:p>
        </p:txBody>
      </p:sp>
      <p:pic>
        <p:nvPicPr>
          <p:cNvPr id="24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1062" y="2204326"/>
            <a:ext cx="4224240" cy="14582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90633" y="6582351"/>
            <a:ext cx="2010870" cy="7698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omputing the Pseudoinvers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90727">
              <a:defRPr sz="6719"/>
            </a:lvl1pPr>
          </a:lstStyle>
          <a:p>
            <a:pPr/>
            <a:r>
              <a:t>Computing the Pseudoinverse</a:t>
            </a:r>
          </a:p>
        </p:txBody>
      </p:sp>
      <p:pic>
        <p:nvPicPr>
          <p:cNvPr id="25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2500" y="5055841"/>
            <a:ext cx="11099800" cy="1323632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ake reciprocal of non-zero entries"/>
          <p:cNvSpPr txBox="1"/>
          <p:nvPr/>
        </p:nvSpPr>
        <p:spPr>
          <a:xfrm>
            <a:off x="2845063" y="6844369"/>
            <a:ext cx="7128125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Take reciprocal of non-zero entries</a:t>
            </a:r>
          </a:p>
        </p:txBody>
      </p:sp>
      <p:sp>
        <p:nvSpPr>
          <p:cNvPr id="253" name="Line"/>
          <p:cNvSpPr/>
          <p:nvPr/>
        </p:nvSpPr>
        <p:spPr>
          <a:xfrm flipH="1" flipV="1">
            <a:off x="3504545" y="5940039"/>
            <a:ext cx="1713708" cy="103252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>
                <a:latin typeface="+mn-lt"/>
                <a:ea typeface="+mn-ea"/>
                <a:cs typeface="+mn-cs"/>
                <a:sym typeface="Helvetica Light"/>
              </a:defRPr>
            </a:pPr>
          </a:p>
        </p:txBody>
      </p:sp>
      <p:sp>
        <p:nvSpPr>
          <p:cNvPr id="254" name="The SVD allows the computation of the pseudoinverse:"/>
          <p:cNvSpPr txBox="1"/>
          <p:nvPr/>
        </p:nvSpPr>
        <p:spPr>
          <a:xfrm>
            <a:off x="879487" y="4014129"/>
            <a:ext cx="1124582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SVD allows the computation of the pseudoinverse: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race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Trace</a:t>
            </a:r>
          </a:p>
        </p:txBody>
      </p:sp>
      <p:pic>
        <p:nvPicPr>
          <p:cNvPr id="25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9933" y="2418126"/>
            <a:ext cx="12044934" cy="1783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002" y="4735045"/>
            <a:ext cx="12044933" cy="9476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Learning linear algebra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Learning linear algebra</a:t>
            </a:r>
          </a:p>
        </p:txBody>
      </p:sp>
      <p:sp>
        <p:nvSpPr>
          <p:cNvPr id="261" name="Do a lot of practice problems…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a lot of practice problems</a:t>
            </a:r>
          </a:p>
          <a:p>
            <a:pPr/>
            <a:r>
              <a:t>Start out with lots of summation signs and indexing into individual entries</a:t>
            </a:r>
          </a:p>
          <a:p>
            <a:pPr/>
            <a:r>
              <a:t>Eventually you will be able to mostly use matrix and vector product notation quickly and easily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