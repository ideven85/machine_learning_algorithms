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66"/>
  </p:normalViewPr>
  <p:slideViewPr>
    <p:cSldViewPr snapToGrid="0">
      <p:cViewPr varScale="1">
        <p:scale>
          <a:sx n="128" d="100"/>
          <a:sy n="128" d="100"/>
        </p:scale>
        <p:origin x="9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0F06-79BB-E359-C65B-3BD308F7C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97263-89A0-D4C9-72FA-5F801C3BB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13A05-5DB6-8470-3691-A0BA62B9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4E3CD-2DDC-03B3-E3AF-A8FF1C0D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B6D9E-4DF8-04AD-761F-E5F0ABD6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1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FFD3-069B-BA4A-9EDA-6E36890C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6EE7C-BEF3-A1BF-F6DA-22A397FC3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31626-3DE5-6823-BE53-45DB58D2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AA2E5-B5FD-3B08-3B50-5F5226F7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53FD-A7DE-1917-0913-1C0C54AB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6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C57F-9E80-BB4B-8A35-4C2366777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17D42-9AE4-A354-A7A5-D6B9674E4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9F2AB-2009-9524-7B61-5E340B4F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BC58-9FB5-2348-2861-DAF6DD0A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B5D97-C7A5-75B2-3651-48C9D56D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9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E0CC-22EA-1FD5-A510-DB62F137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1794-5579-8318-3F12-79D12572C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8783C-CCC5-6217-D7B3-0467513A1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43A61-9322-A872-20CB-A3D649B7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EF438-B40F-7101-2257-65059E17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C3989-536E-B7B8-09C1-1F1FDD35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9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26EC-F325-2DCE-7B80-44783F9F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7F2E0-7B23-301E-4AC7-7BDB9A7E5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1B9FE-C143-CCA1-9DE6-CF926D292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A3C015-F194-92C9-3AAE-E07586FA4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8346-23EC-6BF2-F4BE-0F829D268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410A6-5194-87DF-6CD7-8198887D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DCD716-83DD-7CCD-B4FD-76871C68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8E67E-9A6B-A06B-5243-F209D4D4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2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99C2-5D68-C3B6-5DCB-F7799F77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D0E78-5E51-E87D-08FD-2F6532DA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EEDC3-67E7-FB1D-AF1D-F115B544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CE530-4777-5BDF-927C-D367171E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0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49545-C8E3-4BB8-828F-759B1B44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D12A1-CA4E-52A3-412C-755EFF2E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CCC17-2884-6BFD-7EA9-75869642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8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BB41-5B86-418D-382C-84DAD34E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969E5-918D-232A-3FAD-4C0CAB997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060DF-B12B-12E5-435B-3F9E46B76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57269-993E-F56F-A5A0-1301B5B7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122DA-FFE4-70AB-78BF-B612105E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717FD-CC5B-7D2E-9521-8F4CB4C0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5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B50E-9EEF-30E1-E658-355CD662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716DF-A854-653D-E8DF-118ADD020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6DA15-75B9-1756-9C5E-32F679F7C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F9250-3CFF-B14B-9B73-DFF0B764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3AD9C-E5DF-4F0C-703C-0534A700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7BC7F-3661-101D-0E70-3FBCB9BD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0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B816-E00E-7787-DB6C-00C72C34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D9EF-DEAB-9B9F-72E9-823B5CFD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3E74C-8369-7F6D-6A04-16EB9998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DAD2-9704-E768-CCA2-3ACBA51F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E3697-762A-F052-7A9E-7DA31AF8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35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2E685-ACD5-7A35-AF9B-5B0A4AA1A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E8B00-CB06-0EAB-0888-0F2FA5152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7DEE-5AB4-2CFC-57F2-19A747A8D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51376-0B3D-47A8-5B17-9A00DBD6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08EF-31CF-B7D5-4CDD-D1A23164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79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90F2A2-6572-A389-4338-89A1FBA0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1F000-BEF6-2D2F-AF0A-DB6754042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F7FC3-702A-B311-96AF-85F06385F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5F652-1136-D94A-AF62-64BEB6748D33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26FE9-175E-C5B3-36C7-710C027FB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36F6-CA22-B479-90C7-B9D9D026A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F15BC-369F-D54C-824C-B1F219CC3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3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B6CE-2232-CA07-C8C0-51D101B51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F8CBC-05C8-0816-C192-6F194A847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6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693A-A966-CA0A-1560-A68D8C17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 would walk away with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5D737D2-C5A2-6B30-7CA3-66C08083A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982537"/>
              </p:ext>
            </p:extLst>
          </p:nvPr>
        </p:nvGraphicFramePr>
        <p:xfrm>
          <a:off x="838200" y="1825625"/>
          <a:ext cx="105155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478">
                  <a:extLst>
                    <a:ext uri="{9D8B030D-6E8A-4147-A177-3AD203B41FA5}">
                      <a16:colId xmlns:a16="http://schemas.microsoft.com/office/drawing/2014/main" val="838909712"/>
                    </a:ext>
                  </a:extLst>
                </a:gridCol>
                <a:gridCol w="4856920">
                  <a:extLst>
                    <a:ext uri="{9D8B030D-6E8A-4147-A177-3AD203B41FA5}">
                      <a16:colId xmlns:a16="http://schemas.microsoft.com/office/drawing/2014/main" val="574117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1713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Concrete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Why it matters in real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6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Business framing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Can turn a vague domain (“real-estate”) into </a:t>
                      </a:r>
                      <a:r>
                        <a:rPr lang="en-IN" i="1" dirty="0"/>
                        <a:t>SMART</a:t>
                      </a:r>
                      <a:r>
                        <a:rPr lang="en-IN" dirty="0"/>
                        <a:t> analytic questions.</a:t>
                      </a:r>
                      <a:br>
                        <a:rPr lang="en-IN" dirty="0"/>
                      </a:br>
                      <a:r>
                        <a:rPr lang="en-IN" dirty="0"/>
                        <a:t>• Know how to interview a product owner for missing context.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Projects sink when data teams can’t translate business asks into answerable hypotheses.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1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Data acquisition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Hands-on with locating, downloading and version-controlling raw assets.</a:t>
                      </a:r>
                      <a:br>
                        <a:rPr lang="en-IN"/>
                      </a:br>
                      <a:r>
                        <a:rPr lang="en-IN"/>
                        <a:t>• Experience merging disjoint sources (North + South CSVs) into one coherent table.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70 % of a data job is just getting the right tables in one place and under Git.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781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Exploratory data analysis (EDA)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Systematic checklist for null audits, schema inspection, type detection, quick visual sweeps.</a:t>
                      </a:r>
                      <a:br>
                        <a:rPr lang="en-IN"/>
                      </a:br>
                      <a:r>
                        <a:rPr lang="en-IN"/>
                        <a:t>• Build intuition for “what’s in the box” before modelling.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Prevents wasted effort cleaning columns nobody will ever use.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652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41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AC8F-F58B-1A2F-34C8-2CBFB63C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147B-0ACF-E977-A7B1-E10DED21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 would walk away with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F5A9D34-9EA6-EFB7-A4E0-22460F8E1D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363488"/>
              </p:ext>
            </p:extLst>
          </p:nvPr>
        </p:nvGraphicFramePr>
        <p:xfrm>
          <a:off x="838200" y="1825625"/>
          <a:ext cx="105155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478">
                  <a:extLst>
                    <a:ext uri="{9D8B030D-6E8A-4147-A177-3AD203B41FA5}">
                      <a16:colId xmlns:a16="http://schemas.microsoft.com/office/drawing/2014/main" val="838909712"/>
                    </a:ext>
                  </a:extLst>
                </a:gridCol>
                <a:gridCol w="4856920">
                  <a:extLst>
                    <a:ext uri="{9D8B030D-6E8A-4147-A177-3AD203B41FA5}">
                      <a16:colId xmlns:a16="http://schemas.microsoft.com/office/drawing/2014/main" val="574117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1713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Concrete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Why it matters in real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6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Data cleaning &amp; preprocessing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Practical recipes: median/“Missing” imputation, ordinal encodings, feature engineering (price per sq ft).</a:t>
                      </a:r>
                      <a:br>
                        <a:rPr lang="en-IN"/>
                      </a:br>
                      <a:r>
                        <a:rPr lang="en-IN"/>
                        <a:t>• Understand when </a:t>
                      </a:r>
                      <a:r>
                        <a:rPr lang="en-IN" i="1"/>
                        <a:t>not</a:t>
                      </a:r>
                      <a:r>
                        <a:rPr lang="en-IN"/>
                        <a:t> to over-clean.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Clean-enough-to-answer &gt; academic perfection; that’s how deadlines are met.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1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Collaboration &amp; agile flow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Operate in 2-3-person squads, push work to a shared repo, update sprint tracker.</a:t>
                      </a:r>
                      <a:br>
                        <a:rPr lang="en-IN"/>
                      </a:br>
                      <a:r>
                        <a:rPr lang="en-IN"/>
                        <a:t>• Use a stripped-down TDSP / Scrum cadence: backlog → sprint → review → next sprint.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Mirrors how data teams succeed in the wild—small iterations, visible progress, peer reviews.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781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Critical review skills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Evaluate peers’ questions and notebooks against a rubric (Specific, Measurable, Actionable…).</a:t>
                      </a:r>
                      <a:br>
                        <a:rPr lang="en-IN"/>
                      </a:br>
                      <a:r>
                        <a:rPr lang="en-IN"/>
                        <a:t>• Give/receive constructive feedback in time-boxed windows.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Code quality is easy; question quality is where seniority shows.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652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80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75AD-0A59-5587-F528-AC46B6DF7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63DD-0789-5AB1-71DC-9EAD08C2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 would walk away with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7EC546C-348C-5E23-89A2-C79496508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877394"/>
              </p:ext>
            </p:extLst>
          </p:nvPr>
        </p:nvGraphicFramePr>
        <p:xfrm>
          <a:off x="838200" y="1825625"/>
          <a:ext cx="105155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478">
                  <a:extLst>
                    <a:ext uri="{9D8B030D-6E8A-4147-A177-3AD203B41FA5}">
                      <a16:colId xmlns:a16="http://schemas.microsoft.com/office/drawing/2014/main" val="838909712"/>
                    </a:ext>
                  </a:extLst>
                </a:gridCol>
                <a:gridCol w="4856920">
                  <a:extLst>
                    <a:ext uri="{9D8B030D-6E8A-4147-A177-3AD203B41FA5}">
                      <a16:colId xmlns:a16="http://schemas.microsoft.com/office/drawing/2014/main" val="574117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1713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Concrete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Why it matters in real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6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Data storytelling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Convert analysis into a five-slide exec deck: business Q → method → insight → recommendation.</a:t>
                      </a:r>
                      <a:br>
                        <a:rPr lang="en-IN"/>
                      </a:br>
                      <a:r>
                        <a:rPr lang="en-IN"/>
                        <a:t>• Defend choices in a live review.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Decision-makers buy stories, not scatter-plots.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1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Toolchain familiarity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Pandas, Matplotlib/Seaborn templated snippets ready to re-use.</a:t>
                      </a:r>
                      <a:br>
                        <a:rPr lang="en-IN"/>
                      </a:br>
                      <a:r>
                        <a:rPr lang="en-IN"/>
                        <a:t>• GitHub / Colab workflow and simple issue-tracking.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“Can you spin up an EDA in 30 min?”—a common screening task.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781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Deliverables portfolio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Merged &amp; documented dataset.</a:t>
                      </a:r>
                      <a:br>
                        <a:rPr lang="en-IN"/>
                      </a:br>
                      <a:r>
                        <a:rPr lang="en-IN"/>
                        <a:t>• Well-commented notebook that answers 3-5 stakeholder questions.</a:t>
                      </a:r>
                      <a:br>
                        <a:rPr lang="en-IN"/>
                      </a:br>
                      <a:r>
                        <a:rPr lang="en-IN"/>
                        <a:t>• Slide deck suitable for a stand-up or hiring panel.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Tangible artefacts to showcase in interviews or performance reviews.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652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30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EE442-210D-596F-C9D2-054D0164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CF4C-EE5D-4D26-6F67-062C6F9C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 would walk away with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A23F1D5-45AD-F67E-D882-1C786EB27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401498"/>
              </p:ext>
            </p:extLst>
          </p:nvPr>
        </p:nvGraphicFramePr>
        <p:xfrm>
          <a:off x="838200" y="1825625"/>
          <a:ext cx="10515597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478">
                  <a:extLst>
                    <a:ext uri="{9D8B030D-6E8A-4147-A177-3AD203B41FA5}">
                      <a16:colId xmlns:a16="http://schemas.microsoft.com/office/drawing/2014/main" val="838909712"/>
                    </a:ext>
                  </a:extLst>
                </a:gridCol>
                <a:gridCol w="4856920">
                  <a:extLst>
                    <a:ext uri="{9D8B030D-6E8A-4147-A177-3AD203B41FA5}">
                      <a16:colId xmlns:a16="http://schemas.microsoft.com/office/drawing/2014/main" val="5741179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1713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Concrete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Why it matters in real jobs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6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Mindset shift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Move from “play with data” to “ship an insight that moves revenue or cost.”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That’s the leap from hobbyist to professional.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14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32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4254-9996-8A7B-1A89-D4FF997D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C5EF-0405-39D7-233A-D250D49F5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Context interview first, SQL later.</a:t>
            </a:r>
            <a:br>
              <a:rPr lang="en-IN" dirty="0"/>
            </a:br>
            <a:r>
              <a:rPr lang="en-IN" dirty="0"/>
              <a:t>Ten targeted questions save weeks of misaligned analysis.</a:t>
            </a:r>
          </a:p>
          <a:p>
            <a:r>
              <a:rPr lang="en-IN" b="1" dirty="0"/>
              <a:t>SMART framing is the guard-rail.</a:t>
            </a:r>
            <a:br>
              <a:rPr lang="en-IN" dirty="0"/>
            </a:br>
            <a:r>
              <a:rPr lang="en-IN" dirty="0"/>
              <a:t>If every word in your analytic question can be under-lined on the dataset or the roadmap, you’re on safe ground.</a:t>
            </a:r>
          </a:p>
          <a:p>
            <a:r>
              <a:rPr lang="en-IN" b="1" dirty="0"/>
              <a:t>Stakeholder fluency builds trust.</a:t>
            </a:r>
            <a:br>
              <a:rPr lang="en-IN" dirty="0"/>
            </a:br>
            <a:r>
              <a:rPr lang="en-IN" dirty="0"/>
              <a:t>Priya now feels the data team “gets” the business, so she’ll champion budget for the modelling phase.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24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D90C-A7AC-B50F-D5AB-8F1452A9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52CE5-FD17-59FB-F6D6-A6C113550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Priya:</a:t>
            </a:r>
            <a:r>
              <a:rPr lang="en-IN" dirty="0"/>
              <a:t> “We need insights on </a:t>
            </a:r>
            <a:r>
              <a:rPr lang="en-IN" b="1" dirty="0"/>
              <a:t>house prices</a:t>
            </a:r>
            <a:r>
              <a:rPr lang="en-IN" dirty="0"/>
              <a:t> so our app can help sellers set better list prices.”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D8E73E-714B-1EEF-A347-8F10D79A5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75076"/>
              </p:ext>
            </p:extLst>
          </p:nvPr>
        </p:nvGraphicFramePr>
        <p:xfrm>
          <a:off x="838200" y="2652395"/>
          <a:ext cx="10515600" cy="38404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4071257">
                  <a:extLst>
                    <a:ext uri="{9D8B030D-6E8A-4147-A177-3AD203B41FA5}">
                      <a16:colId xmlns:a16="http://schemas.microsoft.com/office/drawing/2014/main" val="2139182032"/>
                    </a:ext>
                  </a:extLst>
                </a:gridCol>
                <a:gridCol w="2939143">
                  <a:extLst>
                    <a:ext uri="{9D8B030D-6E8A-4147-A177-3AD203B41FA5}">
                      <a16:colId xmlns:a16="http://schemas.microsoft.com/office/drawing/2014/main" val="12030197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87317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Question to P.O.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Typical P.O. clarification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64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 (Specific)</a:t>
                      </a:r>
                      <a:r>
                        <a:rPr lang="en-IN"/>
                        <a:t> “Which geographies matter most right now?”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Anchor the scope.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“Only Ames city limits.”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36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 (Measurable)</a:t>
                      </a:r>
                      <a:r>
                        <a:rPr lang="en-IN"/>
                        <a:t> “What metric will define better pricing?”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Translate “better” into a KPI.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“List-to-sale price ratio.”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14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 (Actionable)</a:t>
                      </a:r>
                      <a:r>
                        <a:rPr lang="en-IN"/>
                        <a:t> “What decision will change if we answer this?”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Ensure insight ties to a lever.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“We’ll nudge sellers to lower prices by 5 % if data shows consistent over-pricing.”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23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 (Realistic)</a:t>
                      </a:r>
                      <a:r>
                        <a:rPr lang="en-IN"/>
                        <a:t> “Do we already store those columns?”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 data availability.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“Yes – list price, sale price, date, beds, area, neighbourhood.”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352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 (Time-bound)</a:t>
                      </a:r>
                      <a:r>
                        <a:rPr lang="en-IN"/>
                        <a:t> “Which period should we analyse?”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Protect against stale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“Sales closed in the past 12 months.”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30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8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8DF6-2A6E-4020-A2E5-5789D95A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the sprints matter – and why stakeholders should care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6A27E9-1832-716A-13CE-3405142C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070011"/>
              </p:ext>
            </p:extLst>
          </p:nvPr>
        </p:nvGraphicFramePr>
        <p:xfrm>
          <a:off x="838200" y="1825625"/>
          <a:ext cx="105155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6256378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1640118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5904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Stakeholder persona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What they get out of the two-sprint exercise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Why it moves their needle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8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Business owner / P&amp;L head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i="1" dirty="0"/>
                        <a:t>Credible, data-backed answers</a:t>
                      </a:r>
                      <a:r>
                        <a:rPr lang="en-IN" dirty="0"/>
                        <a:t> to 3–5 revenue-relevant questions (e.g., “Which neighbourhoods command a &gt; 10 % price premium per </a:t>
                      </a:r>
                      <a:r>
                        <a:rPr lang="en-IN" dirty="0" err="1"/>
                        <a:t>sq</a:t>
                      </a:r>
                      <a:r>
                        <a:rPr lang="en-IN" dirty="0"/>
                        <a:t> ft?”).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Lets them adjust pricing strategy, marketing focus and inventory mix </a:t>
                      </a:r>
                      <a:r>
                        <a:rPr lang="en-IN" b="1" dirty="0"/>
                        <a:t>this quarter</a:t>
                      </a:r>
                      <a:r>
                        <a:rPr lang="en-IN" dirty="0"/>
                        <a:t> instead of next year.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70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Product manager / innovation lead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 </a:t>
                      </a:r>
                      <a:r>
                        <a:rPr lang="en-IN" b="1"/>
                        <a:t>repeatable TDSP-style workflow</a:t>
                      </a:r>
                      <a:r>
                        <a:rPr lang="en-IN"/>
                        <a:t> baked into Git + tracker that can be cloned for the next dataset.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Converts ad-hoc “data drudgery” into a pipeline that scales across features, releases and markets.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3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Data-science leader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A merged, documented </a:t>
                      </a:r>
                      <a:r>
                        <a:rPr lang="en-IN" b="1" dirty="0"/>
                        <a:t>gold dataset</a:t>
                      </a:r>
                      <a:r>
                        <a:rPr lang="en-IN" dirty="0"/>
                        <a:t> ready for modelling.</a:t>
                      </a:r>
                      <a:br>
                        <a:rPr lang="en-IN" dirty="0"/>
                      </a:br>
                      <a:r>
                        <a:rPr lang="en-IN" dirty="0"/>
                        <a:t>• A vetted set of business questions that double as label definitions or target variables.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Cuts weeks off future model-building; lowers risk of training on dirty or mis-labelled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548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08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F252-2A72-28E3-0D8E-906B6E5D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DC26-4E7C-6FDD-BA91-5C04141E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the sprints matter – and why stakeholders should care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E76ACF-028C-A7CA-01BC-6C49B7173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270576"/>
              </p:ext>
            </p:extLst>
          </p:nvPr>
        </p:nvGraphicFramePr>
        <p:xfrm>
          <a:off x="838200" y="1825625"/>
          <a:ext cx="1051559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6256378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1640118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5904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Stakeholder persona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What they get out of the two-sprint exercise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Why it moves their needle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486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Data engineering / governance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Early visibility of </a:t>
                      </a:r>
                      <a:r>
                        <a:rPr lang="en-IN" b="1"/>
                        <a:t>schema, null-handling rules, encoding conventions</a:t>
                      </a:r>
                      <a:r>
                        <a:rPr lang="en-IN"/>
                        <a:t> agreed by analysts and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Prevents re-work when these assets are promoted to the warehouse or a BI layer.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70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Executive sponsor / CFO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 slide deck that states </a:t>
                      </a:r>
                      <a:r>
                        <a:rPr lang="en-IN" b="1"/>
                        <a:t>“£X–£Y upside / ₹X–₹Y risk avoided”</a:t>
                      </a:r>
                      <a:r>
                        <a:rPr lang="en-IN"/>
                        <a:t> and the assumptions behind it—visible within two short sprints.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Demonstrates ROI on the analytics budget; builds confidence to fund the next phase (predictive or prescriptive).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3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Learners themselves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portfolio-grade notebook + deck that proves they can run an agile data project end-to-end.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Directly marketable skill-set; positions them for billable client work or internal promotions.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548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90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CD78-1D19-D6F0-92E6-863EEFA8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the grunt-work in Sprints 1–2 is the launchpad for every future model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26DAF9-0479-1208-FD5D-6E81F261AC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603082"/>
              </p:ext>
            </p:extLst>
          </p:nvPr>
        </p:nvGraphicFramePr>
        <p:xfrm>
          <a:off x="838200" y="1825625"/>
          <a:ext cx="1051559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682213739"/>
                    </a:ext>
                  </a:extLst>
                </a:gridCol>
                <a:gridCol w="4190998">
                  <a:extLst>
                    <a:ext uri="{9D8B030D-6E8A-4147-A177-3AD203B41FA5}">
                      <a16:colId xmlns:a16="http://schemas.microsoft.com/office/drawing/2014/main" val="10019255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77501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Sprint deliverable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How it removes pain later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Direct impact on modelling accuracy, speed &amp; trust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445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Single, version-controlled “gold” table</a:t>
                      </a:r>
                      <a:r>
                        <a:rPr lang="en-IN"/>
                        <a:t> (North + South merged, schema frozen)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Eliminates constant </a:t>
                      </a:r>
                      <a:r>
                        <a:rPr lang="en-IN" i="1"/>
                        <a:t>“which file did you use?”</a:t>
                      </a:r>
                      <a:r>
                        <a:rPr lang="en-IN"/>
                        <a:t> debates.</a:t>
                      </a:r>
                      <a:br>
                        <a:rPr lang="en-IN"/>
                      </a:br>
                      <a:r>
                        <a:rPr lang="en-IN"/>
                        <a:t>• Lets engineers surface the same table to notebooks, BI, and production pipelines.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leakage &amp; drift drop</a:t>
                      </a:r>
                      <a:r>
                        <a:rPr lang="en-IN"/>
                        <a:t> because training-/serving paths read the </a:t>
                      </a:r>
                      <a:r>
                        <a:rPr lang="en-IN" b="1"/>
                        <a:t>exact</a:t>
                      </a:r>
                      <a:r>
                        <a:rPr lang="en-IN"/>
                        <a:t> same columns.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2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Documented business questions</a:t>
                      </a:r>
                      <a:r>
                        <a:rPr lang="en-IN"/>
                        <a:t> → turned into hypotheses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Each question implies a target variable, a unit of analysis, and a cost/benefit frame.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You know </a:t>
                      </a:r>
                      <a:r>
                        <a:rPr lang="en-IN" b="1"/>
                        <a:t>what to predict, at what granularity, and why it matters</a:t>
                      </a:r>
                      <a:r>
                        <a:rPr lang="en-IN"/>
                        <a:t>—this is half the battle most ML teams lose.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33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Explicit data-quality audit</a:t>
                      </a:r>
                      <a:r>
                        <a:rPr lang="en-IN"/>
                        <a:t> (null counts, type map, domain ranges)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Flags columns that are unusable without heroic cleaning.</a:t>
                      </a:r>
                      <a:br>
                        <a:rPr lang="en-IN"/>
                      </a:br>
                      <a:r>
                        <a:rPr lang="en-IN"/>
                        <a:t>• Creates a “Known Issues” sheet for stakeholders—no surprises post-hoc.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Models don’t get poisoned by phantom categories or silent </a:t>
                      </a:r>
                      <a:r>
                        <a:rPr lang="en-IN" dirty="0" err="1"/>
                        <a:t>NaNs</a:t>
                      </a:r>
                      <a:r>
                        <a:rPr lang="en-IN" dirty="0"/>
                        <a:t>; CV scores mirror real-world performance.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372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70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DC35-D0BD-250E-9D9B-2174013C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9E11-1087-3A77-F364-235201B8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the grunt-work in Sprints 1–2 is the launchpad for every future model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E021C3-D2E9-5E9E-488C-8ACE7581F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996318"/>
              </p:ext>
            </p:extLst>
          </p:nvPr>
        </p:nvGraphicFramePr>
        <p:xfrm>
          <a:off x="838200" y="1825625"/>
          <a:ext cx="1051559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682213739"/>
                    </a:ext>
                  </a:extLst>
                </a:gridCol>
                <a:gridCol w="4190998">
                  <a:extLst>
                    <a:ext uri="{9D8B030D-6E8A-4147-A177-3AD203B41FA5}">
                      <a16:colId xmlns:a16="http://schemas.microsoft.com/office/drawing/2014/main" val="10019255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77501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Sprint deliverable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How it removes pain later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Direct impact on modelling accuracy, speed &amp; trust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445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Baseline imputation &amp; encoding recipes</a:t>
                      </a:r>
                      <a:r>
                        <a:rPr lang="en-IN"/>
                        <a:t> (median, “Missing”, ordinal maps)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Becomes the top of a Scikit-Learn / PySpark pipeline—already battle-tested.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Shaves hours off feature-engineering time; reproducibility baked 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2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Exploratory visuals &amp; correlation heat-maps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Show where the signal likely lives (e.g., OverallQual, Neighborhood, GrLivArea).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Guides </a:t>
                      </a:r>
                      <a:r>
                        <a:rPr lang="en-IN" b="1"/>
                        <a:t>feature prioritisation</a:t>
                      </a:r>
                      <a:r>
                        <a:rPr lang="en-IN"/>
                        <a:t> and </a:t>
                      </a:r>
                      <a:r>
                        <a:rPr lang="en-IN" b="1"/>
                        <a:t>regularisation strategy</a:t>
                      </a:r>
                      <a:r>
                        <a:rPr lang="en-IN"/>
                        <a:t>; fewer blind grid-searches.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33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Agile tracker + Git workflow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• Every experiment (feature set, hyper-params, metrics) tied to a commit and a Jira ticket.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Enables </a:t>
                      </a:r>
                      <a:r>
                        <a:rPr lang="en-IN" b="1" dirty="0"/>
                        <a:t>rapid, parallel prototyping</a:t>
                      </a:r>
                      <a:r>
                        <a:rPr lang="en-IN" dirty="0"/>
                        <a:t> and easy rollback; stakeholders can audit decisions.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372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Slide deck with dollar-value framing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• Converts metrics into money (e.g., “1 % RMSE cut = ₹X crore more accurate pricing”).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Aligns model success criteria with CFO’s KPI; avoids chasing vanity 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31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41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AFCC44-4E4B-036F-A788-B7A8AD9DD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775061"/>
              </p:ext>
            </p:extLst>
          </p:nvPr>
        </p:nvGraphicFramePr>
        <p:xfrm>
          <a:off x="643467" y="855706"/>
          <a:ext cx="10905068" cy="5146591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671352">
                  <a:extLst>
                    <a:ext uri="{9D8B030D-6E8A-4147-A177-3AD203B41FA5}">
                      <a16:colId xmlns:a16="http://schemas.microsoft.com/office/drawing/2014/main" val="54960481"/>
                    </a:ext>
                  </a:extLst>
                </a:gridCol>
                <a:gridCol w="2352935">
                  <a:extLst>
                    <a:ext uri="{9D8B030D-6E8A-4147-A177-3AD203B41FA5}">
                      <a16:colId xmlns:a16="http://schemas.microsoft.com/office/drawing/2014/main" val="914375985"/>
                    </a:ext>
                  </a:extLst>
                </a:gridCol>
                <a:gridCol w="2606328">
                  <a:extLst>
                    <a:ext uri="{9D8B030D-6E8A-4147-A177-3AD203B41FA5}">
                      <a16:colId xmlns:a16="http://schemas.microsoft.com/office/drawing/2014/main" val="3389409120"/>
                    </a:ext>
                  </a:extLst>
                </a:gridCol>
                <a:gridCol w="1990985">
                  <a:extLst>
                    <a:ext uri="{9D8B030D-6E8A-4147-A177-3AD203B41FA5}">
                      <a16:colId xmlns:a16="http://schemas.microsoft.com/office/drawing/2014/main" val="802363552"/>
                    </a:ext>
                  </a:extLst>
                </a:gridCol>
                <a:gridCol w="2283468">
                  <a:extLst>
                    <a:ext uri="{9D8B030D-6E8A-4147-A177-3AD203B41FA5}">
                      <a16:colId xmlns:a16="http://schemas.microsoft.com/office/drawing/2014/main" val="1122925861"/>
                    </a:ext>
                  </a:extLst>
                </a:gridCol>
              </a:tblGrid>
              <a:tr h="314195">
                <a:tc>
                  <a:txBody>
                    <a:bodyPr/>
                    <a:lstStyle/>
                    <a:p>
                      <a:r>
                        <a:rPr lang="en-IN" sz="1000" b="1" cap="none" spc="0" dirty="0">
                          <a:solidFill>
                            <a:schemeClr val="tx1"/>
                          </a:solidFill>
                        </a:rPr>
                        <a:t>Sprint deliverable</a:t>
                      </a: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cap="none" spc="0" dirty="0">
                          <a:solidFill>
                            <a:schemeClr val="tx1"/>
                          </a:solidFill>
                        </a:rPr>
                        <a:t>Concrete Ames-specific example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cap="none" spc="0" dirty="0">
                          <a:solidFill>
                            <a:schemeClr val="tx1"/>
                          </a:solidFill>
                        </a:rPr>
                        <a:t>How it raises accuracy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cap="none" spc="0" dirty="0">
                          <a:solidFill>
                            <a:schemeClr val="tx1"/>
                          </a:solidFill>
                        </a:rPr>
                        <a:t>How it cuts dev time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cap="none" spc="0" dirty="0">
                          <a:solidFill>
                            <a:schemeClr val="tx1"/>
                          </a:solidFill>
                        </a:rPr>
                        <a:t>How it earns stakeholder trust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36244"/>
                  </a:ext>
                </a:extLst>
              </a:tr>
              <a:tr h="778848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Gold, version-controlled dataset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 dirty="0">
                          <a:solidFill>
                            <a:schemeClr val="tx1"/>
                          </a:solidFill>
                        </a:rPr>
                        <a:t>You reconciled </a:t>
                      </a:r>
                      <a:r>
                        <a:rPr lang="en-IN" sz="1000" cap="none" spc="0" dirty="0" err="1">
                          <a:solidFill>
                            <a:schemeClr val="tx1"/>
                          </a:solidFill>
                        </a:rPr>
                        <a:t>Neighborhood</a:t>
                      </a:r>
                      <a:r>
                        <a:rPr lang="en-IN" sz="1000" cap="none" spc="0" dirty="0">
                          <a:solidFill>
                            <a:schemeClr val="tx1"/>
                          </a:solidFill>
                        </a:rPr>
                        <a:t> spellings ("</a:t>
                      </a:r>
                      <a:r>
                        <a:rPr lang="en-IN" sz="1000" cap="none" spc="0" dirty="0" err="1">
                          <a:solidFill>
                            <a:schemeClr val="tx1"/>
                          </a:solidFill>
                        </a:rPr>
                        <a:t>Blueste</a:t>
                      </a:r>
                      <a:r>
                        <a:rPr lang="en-IN" sz="1000" cap="none" spc="0" dirty="0">
                          <a:solidFill>
                            <a:schemeClr val="tx1"/>
                          </a:solidFill>
                        </a:rPr>
                        <a:t>" vs "Bluestone") and fixed column order before committing </a:t>
                      </a:r>
                      <a:r>
                        <a:rPr lang="en-IN" sz="1000" cap="none" spc="0" dirty="0" err="1">
                          <a:solidFill>
                            <a:schemeClr val="tx1"/>
                          </a:solidFill>
                        </a:rPr>
                        <a:t>ames_gold.csv</a:t>
                      </a:r>
                      <a:r>
                        <a:rPr lang="en-IN" sz="1000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 dirty="0">
                          <a:solidFill>
                            <a:schemeClr val="tx1"/>
                          </a:solidFill>
                        </a:rPr>
                        <a:t>Prevents spurious one-hot columns that split signal across two categories → lower noise → tighter error bands.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No more “works on my file” debugging; every notebook import is a clean read.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Stakeholders see a single “source of truth” table in Git—no doubts about which rows fed the model.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503039"/>
                  </a:ext>
                </a:extLst>
              </a:tr>
              <a:tr h="778848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Data-quality audit (null &amp; </a:t>
                      </a:r>
                      <a:r>
                        <a:rPr lang="en-IN" sz="1000" b="1" cap="none" spc="0" err="1">
                          <a:solidFill>
                            <a:schemeClr val="tx1"/>
                          </a:solidFill>
                        </a:rPr>
                        <a:t>dtype</a:t>
                      </a: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 map)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Identified 17 % missing in Lot Frontage and non-numeric Garage Yr Blt entries like "NA".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Median imputation + conversion to int keeps 2 500 extra rows in training; more data always &gt; less data.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Re-usable data_prep.py does impute/convert in one line; every experiment starts ready-to-model.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A published “Known Data Issues” sheet signals transparency—execs know you’re not hiding ugly data.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077660"/>
                  </a:ext>
                </a:extLst>
              </a:tr>
              <a:tr h="623963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Baseline cleaning &amp; encoding recipes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Ordinal map {Ex:5, Gd:4, TA:3, Fa:2, Po:1} for Kitchen Qual, Exter Qual, etc.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Preserves monotonic information; tree/boosting models exploit the rank rather than random one-hot splits → ▲ R².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Copy-paste the mapping dict → instant feature; no reinventing per notebook.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The mapping is domain-intuitive—clients can read “5 means excellent” without code.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738548"/>
                  </a:ext>
                </a:extLst>
              </a:tr>
              <a:tr h="778848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Exploratory insight deck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EDA showed SalePrice is right-skewed; log-transforming cut LinearRegression RMSE from ₹46 L to ₹34 L.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Transformation aligns data with model assumptions → direct metric gain.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You decide log-transform </a:t>
                      </a:r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before</a:t>
                      </a:r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 the grid-search; smaller hyper-param space.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Demonstrating “why we log-transformed” in slides demystifies the maths for non-technical execs.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099235"/>
                  </a:ext>
                </a:extLst>
              </a:tr>
              <a:tr h="623963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Flagship business questions converted to targets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“Do premium neighbourhoods (&gt; ₹10 k / sq ft) consistently sell above list?” ⇒ binary target IsPremiumSale.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Clear target definition eliminates label leakage; classification AUC is meaningful.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No last-minute target-engineering debates; modelling starts on day 1 of Sprint 3.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Stakeholders recognise their own KPI in the target—results feel relevant, not academic.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791487"/>
                  </a:ext>
                </a:extLst>
              </a:tr>
              <a:tr h="623963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Reproducible notebook &amp; pipeline skeleton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preprocess() → train_test_split_time_aware() → model.fit() already scaffolded.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Same preprocessing in train &amp; test removes subtle shift, lifts generalisation.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Spinning a new model (ridge, XGB, LightGBM) is a 10-line diff.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CI notebooks prove every result is reproducible end-to-end; auditors love it.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463915"/>
                  </a:ext>
                </a:extLst>
              </a:tr>
              <a:tr h="623963">
                <a:tc>
                  <a:txBody>
                    <a:bodyPr/>
                    <a:lstStyle/>
                    <a:p>
                      <a:r>
                        <a:rPr lang="en-IN" sz="1000" b="1" cap="none" spc="0">
                          <a:solidFill>
                            <a:schemeClr val="tx1"/>
                          </a:solidFill>
                        </a:rPr>
                        <a:t>Agile tracker + Git hooks</a:t>
                      </a:r>
                      <a:endParaRPr lang="en-IN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6293" marR="19620" marT="66379" marB="6637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Every experiment commit msg: feat: xgb depth=6, log_price, cv=2010-split (RMSE ₹28 L)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Forces disciplined experiment logging—no orphan “best model” you can’t reproduce.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>
                          <a:solidFill>
                            <a:schemeClr val="tx1"/>
                          </a:solidFill>
                        </a:rPr>
                        <a:t>Instant re-runs via make train MODEL=xgb DEPTH=6; parallel work streams safe to merge.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cap="none" spc="0" dirty="0">
                          <a:solidFill>
                            <a:schemeClr val="tx1"/>
                          </a:solidFill>
                        </a:rPr>
                        <a:t>Stakeholders can open the tracker and see progress and metric history in plain English.</a:t>
                      </a:r>
                    </a:p>
                  </a:txBody>
                  <a:tcPr marL="86293" marR="19620" marT="66379" marB="6637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60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37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4E0676-0B2B-984B-603D-859690D37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819637"/>
              </p:ext>
            </p:extLst>
          </p:nvPr>
        </p:nvGraphicFramePr>
        <p:xfrm>
          <a:off x="643467" y="1209205"/>
          <a:ext cx="10905067" cy="443959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1593">
                  <a:extLst>
                    <a:ext uri="{9D8B030D-6E8A-4147-A177-3AD203B41FA5}">
                      <a16:colId xmlns:a16="http://schemas.microsoft.com/office/drawing/2014/main" val="1553490498"/>
                    </a:ext>
                  </a:extLst>
                </a:gridCol>
                <a:gridCol w="3651540">
                  <a:extLst>
                    <a:ext uri="{9D8B030D-6E8A-4147-A177-3AD203B41FA5}">
                      <a16:colId xmlns:a16="http://schemas.microsoft.com/office/drawing/2014/main" val="3960510224"/>
                    </a:ext>
                  </a:extLst>
                </a:gridCol>
                <a:gridCol w="2998126">
                  <a:extLst>
                    <a:ext uri="{9D8B030D-6E8A-4147-A177-3AD203B41FA5}">
                      <a16:colId xmlns:a16="http://schemas.microsoft.com/office/drawing/2014/main" val="1254605963"/>
                    </a:ext>
                  </a:extLst>
                </a:gridCol>
                <a:gridCol w="3653808">
                  <a:extLst>
                    <a:ext uri="{9D8B030D-6E8A-4147-A177-3AD203B41FA5}">
                      <a16:colId xmlns:a16="http://schemas.microsoft.com/office/drawing/2014/main" val="1697777577"/>
                    </a:ext>
                  </a:extLst>
                </a:gridCol>
              </a:tblGrid>
              <a:tr h="230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#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Question I want answered </a:t>
                      </a:r>
                      <a:r>
                        <a:rPr lang="en-IN" sz="1000" b="1" u="none" strike="noStrike">
                          <a:effectLst/>
                        </a:rPr>
                        <a:t>by the end of Sprint 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Why I (stakeholder) care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How the answer steers </a:t>
                      </a:r>
                      <a:r>
                        <a:rPr lang="en-IN" sz="1000" b="1" u="none" strike="noStrike">
                          <a:effectLst/>
                        </a:rPr>
                        <a:t>Sprint 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1740348781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What is the shape &amp; skew of SalePrice; is a log-transform warranted?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A pricing model based on skewed data will miss-price both luxury and bargain homes.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Decide whether np.log(SalePrice) becomes the official target variable.• Drives immediate update to every team’s cleaning pipeline.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595546024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Which </a:t>
                      </a:r>
                      <a:r>
                        <a:rPr lang="en-IN" sz="1000" b="1" u="none" strike="noStrike">
                          <a:effectLst/>
                        </a:rPr>
                        <a:t>five numeric features</a:t>
                      </a:r>
                      <a:r>
                        <a:rPr lang="en-IN" sz="1000" b="0" u="none" strike="noStrike">
                          <a:effectLst/>
                        </a:rPr>
                        <a:t> show the strongest Pearson/Spearman correlation with SalePrice?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Tells me the “low-hanging-fruit” levers (size, quality, age, etc.) for value creation projects.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Teams will prioritise these columns for meticulous imputation and outlier handling.• Sets up feature shortlist for baseline regression in Sprint 3.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156997514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What is the </a:t>
                      </a:r>
                      <a:r>
                        <a:rPr lang="en-IN" sz="1000" b="1" u="none" strike="noStrike">
                          <a:effectLst/>
                        </a:rPr>
                        <a:t>median sale price per Sq Ft</a:t>
                      </a:r>
                      <a:r>
                        <a:rPr lang="en-IN" sz="1000" b="0" u="none" strike="noStrike">
                          <a:effectLst/>
                        </a:rPr>
                        <a:t> for the </a:t>
                      </a:r>
                      <a:r>
                        <a:rPr lang="en-IN" sz="1000" b="1" u="none" strike="noStrike">
                          <a:effectLst/>
                        </a:rPr>
                        <a:t>top-10 neighbourhoods</a:t>
                      </a:r>
                      <a:r>
                        <a:rPr lang="en-IN" sz="1000" b="0" u="none" strike="noStrike">
                          <a:effectLst/>
                        </a:rPr>
                        <a:t> (by transaction count), and are differences &gt; 10 %?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Location strategy: where to focus marketing spend or seller acquisition.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Confirms Neighborhood must be one-hot encoded (not dropped).• If price gaps are huge, a </a:t>
                      </a:r>
                      <a:r>
                        <a:rPr lang="en-IN" sz="1000" b="1" u="none" strike="noStrike">
                          <a:effectLst/>
                        </a:rPr>
                        <a:t>stratified train/test split by neighborhood</a:t>
                      </a:r>
                      <a:r>
                        <a:rPr lang="en-IN" sz="1000" b="0" u="none" strike="noStrike">
                          <a:effectLst/>
                        </a:rPr>
                        <a:t> becomes mandatory in Sprint 2.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882198111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Does Overall Qual show a clear, monotonic lift in price?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Validates that the subjective quality rating actually drives value; if not, we question the rating system.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If monotonic, map Overall Qual directly to an ordinal 1-10 integer in the cleaning script.• Guides interaction feature ideas (Overall Qual × Gr Liv Area).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3936574575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Which columns exceed </a:t>
                      </a:r>
                      <a:r>
                        <a:rPr lang="en-IN" sz="1000" b="1" u="none" strike="noStrike">
                          <a:effectLst/>
                        </a:rPr>
                        <a:t>15 % missingness</a:t>
                      </a:r>
                      <a:r>
                        <a:rPr lang="en-IN" sz="1000" b="0" u="none" strike="noStrike">
                          <a:effectLst/>
                        </a:rPr>
                        <a:t>, and which of those appear systematically missing (e.g., by neighborhood or house style)?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I need to know if we’re losing key signals due to data-entry gaps.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Creates the </a:t>
                      </a:r>
                      <a:r>
                        <a:rPr lang="en-IN" sz="1000" b="1" u="none" strike="noStrike">
                          <a:effectLst/>
                        </a:rPr>
                        <a:t>drop / impute</a:t>
                      </a:r>
                      <a:r>
                        <a:rPr lang="en-IN" sz="1000" b="0" u="none" strike="noStrike">
                          <a:effectLst/>
                        </a:rPr>
                        <a:t> decision table.• Teams draft the exact imputation recipe (median-by-group vs “None” vs drop) in Sprint 2.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2768268487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Are there extreme outliers in SalePrice, Gr Liv Area, or Lot Area (beyond 99th percentile), and are they genuine or data errors?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Outliers can skew model coefficients and damage trust in forecasts.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Teams mark rows for capping or removal.• Defines business rule: “Cap at 99 % or drop if obviously erroneous.”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2272678451"/>
                  </a:ext>
                </a:extLst>
              </a:tr>
              <a:tr h="388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Does month of sale (Mo Sold) reveal any seasonality (&gt; 5 % swing in median price or volume)?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Helps me time marketing promotions and inventory pushes.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• If seasonality exists, Sprint 2 must engineer a </a:t>
                      </a:r>
                      <a:r>
                        <a:rPr lang="en-IN" sz="1000" b="1" u="none" strike="noStrike">
                          <a:effectLst/>
                        </a:rPr>
                        <a:t>seasonal dummy</a:t>
                      </a:r>
                      <a:r>
                        <a:rPr lang="en-IN" sz="1000" b="0" u="none" strike="noStrike">
                          <a:effectLst/>
                        </a:rPr>
                        <a:t> or use </a:t>
                      </a:r>
                      <a:r>
                        <a:rPr lang="en-IN" sz="1000" b="1" u="none" strike="noStrike">
                          <a:effectLst/>
                        </a:rPr>
                        <a:t>time-aware CV splits</a:t>
                      </a:r>
                      <a:r>
                        <a:rPr lang="en-IN" sz="1000" b="0" u="none" strike="noStrike">
                          <a:effectLst/>
                        </a:rPr>
                        <a:t>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414071254"/>
                  </a:ext>
                </a:extLst>
              </a:tr>
              <a:tr h="54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Q8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Which categorical columns have </a:t>
                      </a:r>
                      <a:r>
                        <a:rPr lang="en-IN" sz="1000" b="1" u="none" strike="noStrike">
                          <a:effectLst/>
                        </a:rPr>
                        <a:t>rare levels (&lt; 1 % frequency)</a:t>
                      </a:r>
                      <a:r>
                        <a:rPr lang="en-IN" sz="1000" b="0" u="none" strike="noStrike">
                          <a:effectLst/>
                        </a:rPr>
                        <a:t> that should be binned into “Other”?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>
                          <a:effectLst/>
                        </a:rPr>
                        <a:t>Prevents overfitting on one-off categories, keeps model parsimonious.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u="none" strike="noStrike" dirty="0">
                          <a:effectLst/>
                        </a:rPr>
                        <a:t>• Sprint 2 cleaning script will merge those rare levels so the one-hot matrix doesn’t explode.• Also informs “minimum sample” thresholds for future data collection.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77" marR="52477" marT="26239" marB="26239" anchor="ctr"/>
                </a:tc>
                <a:extLst>
                  <a:ext uri="{0D108BD9-81ED-4DB2-BD59-A6C34878D82A}">
                    <a16:rowId xmlns:a16="http://schemas.microsoft.com/office/drawing/2014/main" val="2736987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258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17B16E-8DBD-B1F4-82F3-E35849D0D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395095"/>
              </p:ext>
            </p:extLst>
          </p:nvPr>
        </p:nvGraphicFramePr>
        <p:xfrm>
          <a:off x="643467" y="828391"/>
          <a:ext cx="10905067" cy="520122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87087">
                  <a:extLst>
                    <a:ext uri="{9D8B030D-6E8A-4147-A177-3AD203B41FA5}">
                      <a16:colId xmlns:a16="http://schemas.microsoft.com/office/drawing/2014/main" val="3764524998"/>
                    </a:ext>
                  </a:extLst>
                </a:gridCol>
                <a:gridCol w="3849384">
                  <a:extLst>
                    <a:ext uri="{9D8B030D-6E8A-4147-A177-3AD203B41FA5}">
                      <a16:colId xmlns:a16="http://schemas.microsoft.com/office/drawing/2014/main" val="790542268"/>
                    </a:ext>
                  </a:extLst>
                </a:gridCol>
                <a:gridCol w="3248314">
                  <a:extLst>
                    <a:ext uri="{9D8B030D-6E8A-4147-A177-3AD203B41FA5}">
                      <a16:colId xmlns:a16="http://schemas.microsoft.com/office/drawing/2014/main" val="3063395640"/>
                    </a:ext>
                  </a:extLst>
                </a:gridCol>
                <a:gridCol w="3420282">
                  <a:extLst>
                    <a:ext uri="{9D8B030D-6E8A-4147-A177-3AD203B41FA5}">
                      <a16:colId xmlns:a16="http://schemas.microsoft.com/office/drawing/2014/main" val="1497801280"/>
                    </a:ext>
                  </a:extLst>
                </a:gridCol>
              </a:tblGrid>
              <a:tr h="215556">
                <a:tc>
                  <a:txBody>
                    <a:bodyPr/>
                    <a:lstStyle/>
                    <a:p>
                      <a:r>
                        <a:rPr lang="en-IN" sz="1000"/>
                        <a:t>#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New high-value question (col names in italics)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Why I (stakeholder) care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How it shapes Sprint 2 work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1960111697"/>
                  </a:ext>
                </a:extLst>
              </a:tr>
              <a:tr h="687241">
                <a:tc>
                  <a:txBody>
                    <a:bodyPr/>
                    <a:lstStyle/>
                    <a:p>
                      <a:r>
                        <a:rPr lang="en-IN" sz="1000" b="1" dirty="0"/>
                        <a:t>1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What’s the distribution of Days on Market (DoM)</a:t>
                      </a:r>
                      <a:r>
                        <a:rPr lang="en-IN" sz="1000"/>
                        <a:t> for each SaleCondition (e.g. “Normal”, “Abnormal”, “Partial”)? ⟶ Need to derive DoM: Yr Sold, Mo Sold vs. listing date if present, else proxy with sale month.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Faster sales = happier clients &amp; higher turnover. If “Abnormal” deals linger 2× longer, we tweak policy &amp; comms.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Engineer SaleDate; create a DoM proxy (e.g. sale month rank). Requires robust date parsing &amp; maybe external listing-date join.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91175235"/>
                  </a:ext>
                </a:extLst>
              </a:tr>
              <a:tr h="530012">
                <a:tc>
                  <a:txBody>
                    <a:bodyPr/>
                    <a:lstStyle/>
                    <a:p>
                      <a:r>
                        <a:rPr lang="en-IN" sz="1000" b="1" dirty="0"/>
                        <a:t>2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Does adding a wood deck or screen porch shorten DoM?</a:t>
                      </a:r>
                      <a:r>
                        <a:rPr lang="en-IN" sz="1000"/>
                        <a:t> Compare DoM medians for Wood Deck SF &gt; 0 or Screen Porch &gt; 0.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Proves or debunks the “deck adds curb appeal” myth. Helps frame upsell packages for sellers.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Need binary flags (HasDeck, HasScreenPorch); impute missing porch fields with 0 early.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1631218745"/>
                  </a:ext>
                </a:extLst>
              </a:tr>
              <a:tr h="530012">
                <a:tc>
                  <a:txBody>
                    <a:bodyPr/>
                    <a:lstStyle/>
                    <a:p>
                      <a:r>
                        <a:rPr lang="en-IN" sz="1000" b="1" dirty="0"/>
                        <a:t>3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 percentage of homes built before 1980 still have a poor heating QC (“Po” or “Fa”) and no central air?</a:t>
                      </a:r>
                      <a:r>
                        <a:rPr lang="en-IN" sz="1000"/>
                        <a:t> Cols: Year Built, Heating QC, Central Air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Signals retrofit opportunity &amp; ESG risk (energy inefficiency). Guides marketing of HVAC upgrades.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Ordinal-encode Heating QC, convert Central Air to boolean.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887107911"/>
                  </a:ext>
                </a:extLst>
              </a:tr>
              <a:tr h="372784">
                <a:tc>
                  <a:txBody>
                    <a:bodyPr/>
                    <a:lstStyle/>
                    <a:p>
                      <a:r>
                        <a:rPr lang="en-IN" sz="1000" b="1" dirty="0"/>
                        <a:t>4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Is there a trend toward larger garage capacity?</a:t>
                      </a:r>
                      <a:r>
                        <a:rPr lang="en-IN" sz="1000"/>
                        <a:t> 〈mean Garage Cars by Yr Built bucket〉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If newer builds skew to 3-car garages, we advise land-use planners &amp; suppliers.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Impute Garage Cars (set 0 if no garage); bin Year Built into decades.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3957761031"/>
                  </a:ext>
                </a:extLst>
              </a:tr>
              <a:tr h="530012">
                <a:tc>
                  <a:txBody>
                    <a:bodyPr/>
                    <a:lstStyle/>
                    <a:p>
                      <a:r>
                        <a:rPr lang="en-IN" sz="1000" b="1" dirty="0"/>
                        <a:t>5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How many sales involve homes with functional problems (“Sev”, “Maj2”, “Maj1” in Functional)?</a:t>
                      </a:r>
                      <a:r>
                        <a:rPr lang="en-IN" sz="1000"/>
                        <a:t> Are they concentrated in specific neighborhoods?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Flags rehab risk and possible disclosure issues.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Ordinal-encode Functional; cross-tabulate with Neighborhood.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1407590286"/>
                  </a:ext>
                </a:extLst>
              </a:tr>
              <a:tr h="372784">
                <a:tc>
                  <a:txBody>
                    <a:bodyPr/>
                    <a:lstStyle/>
                    <a:p>
                      <a:r>
                        <a:rPr lang="en-IN" sz="1000" b="1" dirty="0"/>
                        <a:t>6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Which roof styles dominate in high-snow months (sales Nov–Mar)?</a:t>
                      </a:r>
                      <a:r>
                        <a:rPr lang="en-IN" sz="1000"/>
                        <a:t> Cols: Roof Style, Mo Sold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If gable roofs dominate winter closings, may influence seasonal inventory messaging.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One-hot Roof Style; ensure month field is integer and clean.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2323643186"/>
                  </a:ext>
                </a:extLst>
              </a:tr>
              <a:tr h="372784">
                <a:tc>
                  <a:txBody>
                    <a:bodyPr/>
                    <a:lstStyle/>
                    <a:p>
                      <a:r>
                        <a:rPr lang="en-IN" sz="1000" b="1" dirty="0"/>
                        <a:t>7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Is Slope severity (“Gtl”, “Mod”, “Sev”) correlated to basement exposure (Bsmt Exposure) categories?</a:t>
                      </a:r>
                      <a:endParaRPr lang="en-IN" sz="100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Helps civil engineers assess grading costs; informs lender risk on water intrusion.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Map ordinal codes for Lot Shape and Bsmt Exposure; create chi-square test output.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3822322521"/>
                  </a:ext>
                </a:extLst>
              </a:tr>
              <a:tr h="687241">
                <a:tc>
                  <a:txBody>
                    <a:bodyPr/>
                    <a:lstStyle/>
                    <a:p>
                      <a:r>
                        <a:rPr lang="en-IN" sz="1000" b="1" dirty="0"/>
                        <a:t>8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For homes with SaleCondition = ‘Partial’ (new construction), what proportion sold under the builder’s list price?</a:t>
                      </a:r>
                      <a:r>
                        <a:rPr lang="en-IN" sz="1000"/>
                        <a:t> Needs SalePrice vs. List Price if list price exists or proxy with MS SubClass= 20 (1-story new) difference.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Measures builder discounting behaviour—useful for negotiating volume deals.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Must ensure List Price (if present) is numeric; otherwise craft list-vs-sale proxy via available columns.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1023809187"/>
                  </a:ext>
                </a:extLst>
              </a:tr>
              <a:tr h="372784">
                <a:tc>
                  <a:txBody>
                    <a:bodyPr/>
                    <a:lstStyle/>
                    <a:p>
                      <a:r>
                        <a:rPr lang="en-IN" sz="1000" b="1" dirty="0"/>
                        <a:t>9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How often do pool area &gt; 0 and high overall quality (≥ 8) coincide?</a:t>
                      </a:r>
                      <a:endParaRPr lang="en-IN" sz="100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Targets ultra-luxury buyers for pool-maintenance add-ons.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Binary HasPool; ordinal Overall Qual; create combined flag for modelling later.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3224689839"/>
                  </a:ext>
                </a:extLst>
              </a:tr>
              <a:tr h="530012">
                <a:tc>
                  <a:txBody>
                    <a:bodyPr/>
                    <a:lstStyle/>
                    <a:p>
                      <a:r>
                        <a:rPr lang="en-IN" sz="1000" b="1" dirty="0"/>
                        <a:t>10</a:t>
                      </a:r>
                      <a:endParaRPr lang="en-IN" sz="1000" dirty="0"/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 is the variance in Lot Area within each zoning class (MS Zoning)?</a:t>
                      </a:r>
                      <a:r>
                        <a:rPr lang="en-IN" sz="1000"/>
                        <a:t> Any zoning class showing wide dispersion may hide parcel-splitting opportunities.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Guides land-acquisition and subdivision strategy.</a:t>
                      </a:r>
                    </a:p>
                  </a:txBody>
                  <a:tcPr marL="20592" marR="20592" marT="10296" marB="10296" anchor="ctr"/>
                </a:tc>
                <a:tc>
                  <a:txBody>
                    <a:bodyPr/>
                    <a:lstStyle/>
                    <a:p>
                      <a:r>
                        <a:rPr lang="en-IN" sz="1000" dirty="0" err="1"/>
                        <a:t>Winsorise</a:t>
                      </a:r>
                      <a:r>
                        <a:rPr lang="en-IN" sz="1000" dirty="0"/>
                        <a:t> Lot Area outliers; compute IQR per zoning class; feed into clustering later.</a:t>
                      </a:r>
                    </a:p>
                  </a:txBody>
                  <a:tcPr marL="20592" marR="20592" marT="10296" marB="10296" anchor="ctr"/>
                </a:tc>
                <a:extLst>
                  <a:ext uri="{0D108BD9-81ED-4DB2-BD59-A6C34878D82A}">
                    <a16:rowId xmlns:a16="http://schemas.microsoft.com/office/drawing/2014/main" val="832249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855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C26365-9523-91C1-645A-1B18F4CD2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72183"/>
              </p:ext>
            </p:extLst>
          </p:nvPr>
        </p:nvGraphicFramePr>
        <p:xfrm>
          <a:off x="643467" y="1169993"/>
          <a:ext cx="10905069" cy="45180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55079">
                  <a:extLst>
                    <a:ext uri="{9D8B030D-6E8A-4147-A177-3AD203B41FA5}">
                      <a16:colId xmlns:a16="http://schemas.microsoft.com/office/drawing/2014/main" val="944378923"/>
                    </a:ext>
                  </a:extLst>
                </a:gridCol>
                <a:gridCol w="3119355">
                  <a:extLst>
                    <a:ext uri="{9D8B030D-6E8A-4147-A177-3AD203B41FA5}">
                      <a16:colId xmlns:a16="http://schemas.microsoft.com/office/drawing/2014/main" val="1541677502"/>
                    </a:ext>
                  </a:extLst>
                </a:gridCol>
                <a:gridCol w="1954490">
                  <a:extLst>
                    <a:ext uri="{9D8B030D-6E8A-4147-A177-3AD203B41FA5}">
                      <a16:colId xmlns:a16="http://schemas.microsoft.com/office/drawing/2014/main" val="4014243212"/>
                    </a:ext>
                  </a:extLst>
                </a:gridCol>
                <a:gridCol w="2760625">
                  <a:extLst>
                    <a:ext uri="{9D8B030D-6E8A-4147-A177-3AD203B41FA5}">
                      <a16:colId xmlns:a16="http://schemas.microsoft.com/office/drawing/2014/main" val="268769041"/>
                    </a:ext>
                  </a:extLst>
                </a:gridCol>
                <a:gridCol w="2615520">
                  <a:extLst>
                    <a:ext uri="{9D8B030D-6E8A-4147-A177-3AD203B41FA5}">
                      <a16:colId xmlns:a16="http://schemas.microsoft.com/office/drawing/2014/main" val="1254145952"/>
                    </a:ext>
                  </a:extLst>
                </a:gridCol>
              </a:tblGrid>
              <a:tr h="2066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#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Non-price question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Columns involved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Why it matters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Sprint-2 implication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1337302590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Which neighbourhoods move the most inventory?</a:t>
                      </a:r>
                      <a:r>
                        <a:rPr lang="en-IN" sz="900" b="0" u="none" strike="noStrike">
                          <a:effectLst/>
                        </a:rPr>
                        <a:t>(top 10 by deal count, YOY change)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Neighborhood, Yr Sold, Mo Sold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Guides where to staff extra agents or target listing ads.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Build a </a:t>
                      </a:r>
                      <a:r>
                        <a:rPr lang="en-IN" sz="900" b="1" u="none" strike="noStrike">
                          <a:effectLst/>
                        </a:rPr>
                        <a:t>demand-heat map</a:t>
                      </a:r>
                      <a:r>
                        <a:rPr lang="en-IN" sz="900" b="0" u="none" strike="noStrike">
                          <a:effectLst/>
                        </a:rPr>
                        <a:t>; add a “high-volume flag” feature for future models.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3560953880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2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How long does it take to sell after a major remodel?</a:t>
                      </a:r>
                      <a:r>
                        <a:rPr lang="en-IN" sz="900" b="0" u="none" strike="noStrike">
                          <a:effectLst/>
                        </a:rPr>
                        <a:t>(compare Year Remod/Add vs. Yr Sold)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Year Built, Year Remod/Add, Yr Sold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Quantifies remodel ROI in </a:t>
                      </a:r>
                      <a:r>
                        <a:rPr lang="en-IN" sz="900" b="1" u="none" strike="noStrike">
                          <a:effectLst/>
                        </a:rPr>
                        <a:t>time-to-sale</a:t>
                      </a:r>
                      <a:r>
                        <a:rPr lang="en-IN" sz="900" b="0" u="none" strike="noStrike">
                          <a:effectLst/>
                        </a:rPr>
                        <a:t>, not price.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Engineer Remod Age; sets up classification: “Sold within 60 days?”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1559850794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3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Which exterior materials dominate new builds (post-2005)?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Year Built, Exterior 1st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Tells suppliers which siding/brick lines to stock.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Create a </a:t>
                      </a:r>
                      <a:r>
                        <a:rPr lang="en-IN" sz="900" b="1" u="none" strike="noStrike">
                          <a:effectLst/>
                        </a:rPr>
                        <a:t>material-trend chart</a:t>
                      </a:r>
                      <a:r>
                        <a:rPr lang="en-IN" sz="900" b="0" u="none" strike="noStrike">
                          <a:effectLst/>
                        </a:rPr>
                        <a:t>; time-series encode Exterior 1st.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395879581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4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Are three-season porches replacing decks?</a:t>
                      </a:r>
                      <a:r>
                        <a:rPr lang="en-IN" sz="900" b="0" u="none" strike="noStrike">
                          <a:effectLst/>
                        </a:rPr>
                        <a:t>(trend share of 3Ssn Porch vs. Wood Deck SF &gt; 0)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3Ssn Porch, Wood Deck SF, Yr Sold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Influences upsell packages offered to developers.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Binary flags (Has3SsnPorch, HasDeck); seasonal adoption curves.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4173612705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5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What share of homes lack a garage, and is it rising?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Garage Type, Garage Cars, Yr Sold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Sparks partnership with prefab-garage vendors if the “No Garage” segment grows.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Impute Garage Type = “No Garage”; generate market-size metric.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2156743167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6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Which quality grades (Overall Qual) suffer the most missing data in basement features?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Overall Qual, Bsmt* cols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Tests data-collection bias—low-quality homes often under-surveyed.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Conditional imputation (quality-aware); drives a </a:t>
                      </a:r>
                      <a:r>
                        <a:rPr lang="en-IN" sz="900" b="1" u="none" strike="noStrike">
                          <a:effectLst/>
                        </a:rPr>
                        <a:t>data-collection fix</a:t>
                      </a:r>
                      <a:r>
                        <a:rPr lang="en-IN" sz="900" b="0" u="none" strike="noStrike">
                          <a:effectLst/>
                        </a:rPr>
                        <a:t> request.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4138876204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7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Does fireplace prevalence differ by neighbourhood?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Fireplaces, Neighborhood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Marketing angle for luxury vs. energy-efficient segments.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One-hot encode Neighborhood; interaction feature Fireplaces &gt; 0.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1402204774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8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How many properties violate zoning vs. building class?</a:t>
                      </a:r>
                      <a:r>
                        <a:rPr lang="en-IN" sz="900" b="0" u="none" strike="noStrike">
                          <a:effectLst/>
                        </a:rPr>
                        <a:t>(cross-tab MS Zoning × MS SubClass)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MS Zoning, MS SubClass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Helps legal/compliance team flag risky listings.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Create a </a:t>
                      </a:r>
                      <a:r>
                        <a:rPr lang="en-IN" sz="900" b="1" u="none" strike="noStrike">
                          <a:effectLst/>
                        </a:rPr>
                        <a:t>“zoning-outlier” label</a:t>
                      </a:r>
                      <a:r>
                        <a:rPr lang="en-IN" sz="900" b="0" u="none" strike="noStrike">
                          <a:effectLst/>
                        </a:rPr>
                        <a:t> for risk scoring.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1802015335"/>
                  </a:ext>
                </a:extLst>
              </a:tr>
              <a:tr h="4884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9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What’s the distribution of total bathrooms, and where is undersupply?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Full Bath, Half Bath, Bsmt Full Bath, Bsmt Half Bath, Neighborhood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Identifies reno upsell potential (e.g., add a half-bath before listing).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Engineer Total Bath Count; cluster undersupplied homes.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1965026547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10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Is house age clustering around certain eras?</a:t>
                      </a:r>
                      <a:r>
                        <a:rPr lang="en-IN" sz="900" b="0" u="none" strike="noStrike">
                          <a:effectLst/>
                        </a:rPr>
                        <a:t>(histogram Year Built buckets)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Year Built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Guides vintage-themed marketing; predicts upcoming maintenance surges.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Feature bucketisation (Era_1940s, Era_1960s, …).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2737331200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11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Do lot shapes (“Reg”, “IR1”, …) correlate with specific house styles?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Lot Shape, House Style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Affects subdivision design and land-acquisition strategy.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Cramér’s V test; create joint-probability table.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2181055419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12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1" u="none" strike="noStrike">
                          <a:effectLst/>
                        </a:rPr>
                        <a:t>Where are swimming pools actually present (&lt; 3 % of data)?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Pool Area, Pool QC, Neighborhood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>
                          <a:effectLst/>
                        </a:rPr>
                        <a:t>Luxury-amenity targeting; avoids wasting budget on pool promos where none exist.</a:t>
                      </a:r>
                      <a:endParaRPr lang="en-IN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900" b="0" u="none" strike="noStrike" dirty="0">
                          <a:effectLst/>
                        </a:rPr>
                        <a:t>Flag </a:t>
                      </a:r>
                      <a:r>
                        <a:rPr lang="en-IN" sz="900" b="0" u="none" strike="noStrike" dirty="0" err="1">
                          <a:effectLst/>
                        </a:rPr>
                        <a:t>HasPool</a:t>
                      </a:r>
                      <a:r>
                        <a:rPr lang="en-IN" sz="900" b="0" u="none" strike="noStrike" dirty="0">
                          <a:effectLst/>
                        </a:rPr>
                        <a:t>; drop Pool QC later (97 % missing) with stakeholder consent.</a:t>
                      </a:r>
                      <a:endParaRPr lang="en-IN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965" marR="46965" marT="23482" marB="23482" anchor="ctr"/>
                </a:tc>
                <a:extLst>
                  <a:ext uri="{0D108BD9-81ED-4DB2-BD59-A6C34878D82A}">
                    <a16:rowId xmlns:a16="http://schemas.microsoft.com/office/drawing/2014/main" val="135018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057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3623</Words>
  <Application>Microsoft Macintosh PowerPoint</Application>
  <PresentationFormat>Widescreen</PresentationFormat>
  <Paragraphs>310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What you would walk away with</vt:lpstr>
      <vt:lpstr>What you would walk away with</vt:lpstr>
      <vt:lpstr>What you would walk away with</vt:lpstr>
      <vt:lpstr>What you would walk away with</vt:lpstr>
      <vt:lpstr>Takeaway</vt:lpstr>
      <vt:lpstr>Takeaway</vt:lpstr>
      <vt:lpstr>Why the sprints matter – and why stakeholders should care</vt:lpstr>
      <vt:lpstr>Why the sprints matter – and why stakeholders should care</vt:lpstr>
      <vt:lpstr>Why the grunt-work in Sprints 1–2 is the launchpad for every future model</vt:lpstr>
      <vt:lpstr>Why the grunt-work in Sprints 1–2 is the launchpad for every future model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Pandey</dc:creator>
  <cp:lastModifiedBy>Amit Pandey</cp:lastModifiedBy>
  <cp:revision>3</cp:revision>
  <dcterms:created xsi:type="dcterms:W3CDTF">2025-05-31T02:23:31Z</dcterms:created>
  <dcterms:modified xsi:type="dcterms:W3CDTF">2025-06-01T03:31:43Z</dcterms:modified>
</cp:coreProperties>
</file>