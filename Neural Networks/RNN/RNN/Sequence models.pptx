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75"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1" r:id="rId19"/>
    <p:sldId id="273"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60"/>
    <p:restoredTop sz="94712"/>
  </p:normalViewPr>
  <p:slideViewPr>
    <p:cSldViewPr snapToGrid="0">
      <p:cViewPr varScale="1">
        <p:scale>
          <a:sx n="141" d="100"/>
          <a:sy n="141" d="100"/>
        </p:scale>
        <p:origin x="51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06T05:52:50.825"/>
    </inkml:context>
    <inkml:brush xml:id="br0">
      <inkml:brushProperty name="width" value="0.05" units="cm"/>
      <inkml:brushProperty name="height" value="0.05" units="cm"/>
      <inkml:brushProperty name="color" value="#E71224"/>
    </inkml:brush>
  </inkml:definitions>
  <inkml:trace contextRef="#ctx0" brushRef="#br0">0 14 8191,'4'-8'0,"-1"2"0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06T05:53:25.66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06T06:02:40.137"/>
    </inkml:context>
    <inkml:brush xml:id="br0">
      <inkml:brushProperty name="width" value="0.05" units="cm"/>
      <inkml:brushProperty name="height" value="0.05" units="cm"/>
      <inkml:brushProperty name="color" value="#E71224"/>
    </inkml:brush>
  </inkml:definitions>
  <inkml:trace contextRef="#ctx0" brushRef="#br0">1 307 24575,'0'-18'0,"0"-4"0,0-12 0,7-1 0,13-6 0,10-2 0,2 8 0,15-2 0,-14 19 0,18 2 0,-20 9 0,7 7 0,-8 0 0,-8 10 0,-2 13 0,-11 20 0,-4 24 0,0 11 0,-5 21-632,1-45 0,-2 1 632,-4 4 0,-2 1 0,2 0 0,-3 0 0,-4 0 0,-1-3 0,-5 24 0,2 6 0,10-25 0,2 6 0,4-8 0,0-7 0,0-12 1264,7-6-1264,6-6 0,25 3 0,-9-12 0,23 12 0,-10-17 0,-15 0 0,0-6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9D4DBE-07F2-9A4A-9D66-E027BE0956C2}" type="datetimeFigureOut">
              <a:rPr lang="en-US" smtClean="0"/>
              <a:t>4/6/24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D41DB3-3F43-CE46-8B3D-7361030C1C7F}" type="slidenum">
              <a:rPr lang="en-US" smtClean="0"/>
              <a:t>‹#›</a:t>
            </a:fld>
            <a:endParaRPr lang="en-US"/>
          </a:p>
        </p:txBody>
      </p:sp>
    </p:spTree>
    <p:extLst>
      <p:ext uri="{BB962C8B-B14F-4D97-AF65-F5344CB8AC3E}">
        <p14:creationId xmlns:p14="http://schemas.microsoft.com/office/powerpoint/2010/main" val="587044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D41DB3-3F43-CE46-8B3D-7361030C1C7F}" type="slidenum">
              <a:rPr lang="en-US" smtClean="0"/>
              <a:t>14</a:t>
            </a:fld>
            <a:endParaRPr lang="en-US"/>
          </a:p>
        </p:txBody>
      </p:sp>
    </p:spTree>
    <p:extLst>
      <p:ext uri="{BB962C8B-B14F-4D97-AF65-F5344CB8AC3E}">
        <p14:creationId xmlns:p14="http://schemas.microsoft.com/office/powerpoint/2010/main" val="3754982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2DDDE-C6E5-5628-204C-9EBD25A3B72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74693BD-A487-B2A4-7A3A-41248E9BAD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64C167D-2EA6-3AE2-76D1-9A19C848CF6B}"/>
              </a:ext>
            </a:extLst>
          </p:cNvPr>
          <p:cNvSpPr>
            <a:spLocks noGrp="1"/>
          </p:cNvSpPr>
          <p:nvPr>
            <p:ph type="dt" sz="half" idx="10"/>
          </p:nvPr>
        </p:nvSpPr>
        <p:spPr/>
        <p:txBody>
          <a:bodyPr/>
          <a:lstStyle/>
          <a:p>
            <a:fld id="{B39305DA-E1D9-A944-B89B-AC989847254A}" type="datetimeFigureOut">
              <a:rPr lang="en-US" smtClean="0"/>
              <a:t>4/5/24</a:t>
            </a:fld>
            <a:endParaRPr lang="en-US"/>
          </a:p>
        </p:txBody>
      </p:sp>
      <p:sp>
        <p:nvSpPr>
          <p:cNvPr id="5" name="Footer Placeholder 4">
            <a:extLst>
              <a:ext uri="{FF2B5EF4-FFF2-40B4-BE49-F238E27FC236}">
                <a16:creationId xmlns:a16="http://schemas.microsoft.com/office/drawing/2014/main" id="{28841D86-9071-8B9A-6FDB-F75180AA48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AA9F98-8C26-4B3E-2A85-DE981AD73398}"/>
              </a:ext>
            </a:extLst>
          </p:cNvPr>
          <p:cNvSpPr>
            <a:spLocks noGrp="1"/>
          </p:cNvSpPr>
          <p:nvPr>
            <p:ph type="sldNum" sz="quarter" idx="12"/>
          </p:nvPr>
        </p:nvSpPr>
        <p:spPr/>
        <p:txBody>
          <a:bodyPr/>
          <a:lstStyle/>
          <a:p>
            <a:fld id="{7277A909-A061-B742-BDDC-3C5743FF9D9D}" type="slidenum">
              <a:rPr lang="en-US" smtClean="0"/>
              <a:t>‹#›</a:t>
            </a:fld>
            <a:endParaRPr lang="en-US"/>
          </a:p>
        </p:txBody>
      </p:sp>
    </p:spTree>
    <p:extLst>
      <p:ext uri="{BB962C8B-B14F-4D97-AF65-F5344CB8AC3E}">
        <p14:creationId xmlns:p14="http://schemas.microsoft.com/office/powerpoint/2010/main" val="2386706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C4A22-9055-C460-88E0-67E86460A3B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FA99B45-A06E-7995-FF24-69FCC575C30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A7B9842-B89D-19A5-ED19-C3B171CB8467}"/>
              </a:ext>
            </a:extLst>
          </p:cNvPr>
          <p:cNvSpPr>
            <a:spLocks noGrp="1"/>
          </p:cNvSpPr>
          <p:nvPr>
            <p:ph type="dt" sz="half" idx="10"/>
          </p:nvPr>
        </p:nvSpPr>
        <p:spPr/>
        <p:txBody>
          <a:bodyPr/>
          <a:lstStyle/>
          <a:p>
            <a:fld id="{B39305DA-E1D9-A944-B89B-AC989847254A}" type="datetimeFigureOut">
              <a:rPr lang="en-US" smtClean="0"/>
              <a:t>4/5/24</a:t>
            </a:fld>
            <a:endParaRPr lang="en-US"/>
          </a:p>
        </p:txBody>
      </p:sp>
      <p:sp>
        <p:nvSpPr>
          <p:cNvPr id="5" name="Footer Placeholder 4">
            <a:extLst>
              <a:ext uri="{FF2B5EF4-FFF2-40B4-BE49-F238E27FC236}">
                <a16:creationId xmlns:a16="http://schemas.microsoft.com/office/drawing/2014/main" id="{D3F3FB19-F5C8-A50B-8BB8-AD9F4424C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E81293-C0C5-836B-ACF8-015D3F1DDE4B}"/>
              </a:ext>
            </a:extLst>
          </p:cNvPr>
          <p:cNvSpPr>
            <a:spLocks noGrp="1"/>
          </p:cNvSpPr>
          <p:nvPr>
            <p:ph type="sldNum" sz="quarter" idx="12"/>
          </p:nvPr>
        </p:nvSpPr>
        <p:spPr/>
        <p:txBody>
          <a:bodyPr/>
          <a:lstStyle/>
          <a:p>
            <a:fld id="{7277A909-A061-B742-BDDC-3C5743FF9D9D}" type="slidenum">
              <a:rPr lang="en-US" smtClean="0"/>
              <a:t>‹#›</a:t>
            </a:fld>
            <a:endParaRPr lang="en-US"/>
          </a:p>
        </p:txBody>
      </p:sp>
    </p:spTree>
    <p:extLst>
      <p:ext uri="{BB962C8B-B14F-4D97-AF65-F5344CB8AC3E}">
        <p14:creationId xmlns:p14="http://schemas.microsoft.com/office/powerpoint/2010/main" val="663070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A57DA-363C-218B-F73E-124583C1F25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A6164ED-DCC5-9244-1E1E-52A5B13269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E845D90-9E89-A27B-F6B2-B2E895AA42A8}"/>
              </a:ext>
            </a:extLst>
          </p:cNvPr>
          <p:cNvSpPr>
            <a:spLocks noGrp="1"/>
          </p:cNvSpPr>
          <p:nvPr>
            <p:ph type="dt" sz="half" idx="10"/>
          </p:nvPr>
        </p:nvSpPr>
        <p:spPr/>
        <p:txBody>
          <a:bodyPr/>
          <a:lstStyle/>
          <a:p>
            <a:fld id="{B39305DA-E1D9-A944-B89B-AC989847254A}" type="datetimeFigureOut">
              <a:rPr lang="en-US" smtClean="0"/>
              <a:t>4/5/24</a:t>
            </a:fld>
            <a:endParaRPr lang="en-US"/>
          </a:p>
        </p:txBody>
      </p:sp>
      <p:sp>
        <p:nvSpPr>
          <p:cNvPr id="5" name="Footer Placeholder 4">
            <a:extLst>
              <a:ext uri="{FF2B5EF4-FFF2-40B4-BE49-F238E27FC236}">
                <a16:creationId xmlns:a16="http://schemas.microsoft.com/office/drawing/2014/main" id="{EA67D343-2C38-6ACF-06E1-2F613E8D22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2F9C-04EF-E39E-526C-8DE3EA0C039B}"/>
              </a:ext>
            </a:extLst>
          </p:cNvPr>
          <p:cNvSpPr>
            <a:spLocks noGrp="1"/>
          </p:cNvSpPr>
          <p:nvPr>
            <p:ph type="sldNum" sz="quarter" idx="12"/>
          </p:nvPr>
        </p:nvSpPr>
        <p:spPr/>
        <p:txBody>
          <a:bodyPr/>
          <a:lstStyle/>
          <a:p>
            <a:fld id="{7277A909-A061-B742-BDDC-3C5743FF9D9D}" type="slidenum">
              <a:rPr lang="en-US" smtClean="0"/>
              <a:t>‹#›</a:t>
            </a:fld>
            <a:endParaRPr lang="en-US"/>
          </a:p>
        </p:txBody>
      </p:sp>
    </p:spTree>
    <p:extLst>
      <p:ext uri="{BB962C8B-B14F-4D97-AF65-F5344CB8AC3E}">
        <p14:creationId xmlns:p14="http://schemas.microsoft.com/office/powerpoint/2010/main" val="2524456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DBA96-3EA5-3507-0F2E-E9FACEDAC25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62CED0E-15DC-1D9B-ED8E-FC0A387C896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E12BDE2-613D-72C9-F6C6-3BB8398E95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A8FF58E-105F-51D2-E96C-4464112D854E}"/>
              </a:ext>
            </a:extLst>
          </p:cNvPr>
          <p:cNvSpPr>
            <a:spLocks noGrp="1"/>
          </p:cNvSpPr>
          <p:nvPr>
            <p:ph type="dt" sz="half" idx="10"/>
          </p:nvPr>
        </p:nvSpPr>
        <p:spPr/>
        <p:txBody>
          <a:bodyPr/>
          <a:lstStyle/>
          <a:p>
            <a:fld id="{B39305DA-E1D9-A944-B89B-AC989847254A}" type="datetimeFigureOut">
              <a:rPr lang="en-US" smtClean="0"/>
              <a:t>4/5/24</a:t>
            </a:fld>
            <a:endParaRPr lang="en-US"/>
          </a:p>
        </p:txBody>
      </p:sp>
      <p:sp>
        <p:nvSpPr>
          <p:cNvPr id="6" name="Footer Placeholder 5">
            <a:extLst>
              <a:ext uri="{FF2B5EF4-FFF2-40B4-BE49-F238E27FC236}">
                <a16:creationId xmlns:a16="http://schemas.microsoft.com/office/drawing/2014/main" id="{54E4C01D-9487-C3DB-E5CE-1E277D18A7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51201-F526-A203-7CD7-879716409BE7}"/>
              </a:ext>
            </a:extLst>
          </p:cNvPr>
          <p:cNvSpPr>
            <a:spLocks noGrp="1"/>
          </p:cNvSpPr>
          <p:nvPr>
            <p:ph type="sldNum" sz="quarter" idx="12"/>
          </p:nvPr>
        </p:nvSpPr>
        <p:spPr/>
        <p:txBody>
          <a:bodyPr/>
          <a:lstStyle/>
          <a:p>
            <a:fld id="{7277A909-A061-B742-BDDC-3C5743FF9D9D}" type="slidenum">
              <a:rPr lang="en-US" smtClean="0"/>
              <a:t>‹#›</a:t>
            </a:fld>
            <a:endParaRPr lang="en-US"/>
          </a:p>
        </p:txBody>
      </p:sp>
    </p:spTree>
    <p:extLst>
      <p:ext uri="{BB962C8B-B14F-4D97-AF65-F5344CB8AC3E}">
        <p14:creationId xmlns:p14="http://schemas.microsoft.com/office/powerpoint/2010/main" val="332890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8208A-8BDB-B647-1ED7-EB87E85C2F3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5D67E9E-82D4-D8C8-1866-EAC8D7B2CB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636290A-4CEF-17CE-3DCE-E001D9ACF41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AAEBE13-1DF2-6320-8106-F5FC0E4676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0005FE0-3165-834E-C96E-D2631F7B4B9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E7A5A53-D213-9668-6539-3600038CE55A}"/>
              </a:ext>
            </a:extLst>
          </p:cNvPr>
          <p:cNvSpPr>
            <a:spLocks noGrp="1"/>
          </p:cNvSpPr>
          <p:nvPr>
            <p:ph type="dt" sz="half" idx="10"/>
          </p:nvPr>
        </p:nvSpPr>
        <p:spPr/>
        <p:txBody>
          <a:bodyPr/>
          <a:lstStyle/>
          <a:p>
            <a:fld id="{B39305DA-E1D9-A944-B89B-AC989847254A}" type="datetimeFigureOut">
              <a:rPr lang="en-US" smtClean="0"/>
              <a:t>4/5/24</a:t>
            </a:fld>
            <a:endParaRPr lang="en-US"/>
          </a:p>
        </p:txBody>
      </p:sp>
      <p:sp>
        <p:nvSpPr>
          <p:cNvPr id="8" name="Footer Placeholder 7">
            <a:extLst>
              <a:ext uri="{FF2B5EF4-FFF2-40B4-BE49-F238E27FC236}">
                <a16:creationId xmlns:a16="http://schemas.microsoft.com/office/drawing/2014/main" id="{D9FC7EA4-DC81-34F4-0939-5BE83D0C98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549941-1B95-1DFE-05CA-6C1216079277}"/>
              </a:ext>
            </a:extLst>
          </p:cNvPr>
          <p:cNvSpPr>
            <a:spLocks noGrp="1"/>
          </p:cNvSpPr>
          <p:nvPr>
            <p:ph type="sldNum" sz="quarter" idx="12"/>
          </p:nvPr>
        </p:nvSpPr>
        <p:spPr/>
        <p:txBody>
          <a:bodyPr/>
          <a:lstStyle/>
          <a:p>
            <a:fld id="{7277A909-A061-B742-BDDC-3C5743FF9D9D}" type="slidenum">
              <a:rPr lang="en-US" smtClean="0"/>
              <a:t>‹#›</a:t>
            </a:fld>
            <a:endParaRPr lang="en-US"/>
          </a:p>
        </p:txBody>
      </p:sp>
    </p:spTree>
    <p:extLst>
      <p:ext uri="{BB962C8B-B14F-4D97-AF65-F5344CB8AC3E}">
        <p14:creationId xmlns:p14="http://schemas.microsoft.com/office/powerpoint/2010/main" val="1976063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E47B5-8DCD-26CB-A780-648606EF903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30FD5BB-5E75-0B9D-5663-04172FA22520}"/>
              </a:ext>
            </a:extLst>
          </p:cNvPr>
          <p:cNvSpPr>
            <a:spLocks noGrp="1"/>
          </p:cNvSpPr>
          <p:nvPr>
            <p:ph type="dt" sz="half" idx="10"/>
          </p:nvPr>
        </p:nvSpPr>
        <p:spPr/>
        <p:txBody>
          <a:bodyPr/>
          <a:lstStyle/>
          <a:p>
            <a:fld id="{B39305DA-E1D9-A944-B89B-AC989847254A}" type="datetimeFigureOut">
              <a:rPr lang="en-US" smtClean="0"/>
              <a:t>4/5/24</a:t>
            </a:fld>
            <a:endParaRPr lang="en-US"/>
          </a:p>
        </p:txBody>
      </p:sp>
      <p:sp>
        <p:nvSpPr>
          <p:cNvPr id="4" name="Footer Placeholder 3">
            <a:extLst>
              <a:ext uri="{FF2B5EF4-FFF2-40B4-BE49-F238E27FC236}">
                <a16:creationId xmlns:a16="http://schemas.microsoft.com/office/drawing/2014/main" id="{C0484735-BF04-4830-3A14-71BFAAD817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1E094B-768B-18C4-3F2B-CC9A78F8AC3F}"/>
              </a:ext>
            </a:extLst>
          </p:cNvPr>
          <p:cNvSpPr>
            <a:spLocks noGrp="1"/>
          </p:cNvSpPr>
          <p:nvPr>
            <p:ph type="sldNum" sz="quarter" idx="12"/>
          </p:nvPr>
        </p:nvSpPr>
        <p:spPr/>
        <p:txBody>
          <a:bodyPr/>
          <a:lstStyle/>
          <a:p>
            <a:fld id="{7277A909-A061-B742-BDDC-3C5743FF9D9D}" type="slidenum">
              <a:rPr lang="en-US" smtClean="0"/>
              <a:t>‹#›</a:t>
            </a:fld>
            <a:endParaRPr lang="en-US"/>
          </a:p>
        </p:txBody>
      </p:sp>
    </p:spTree>
    <p:extLst>
      <p:ext uri="{BB962C8B-B14F-4D97-AF65-F5344CB8AC3E}">
        <p14:creationId xmlns:p14="http://schemas.microsoft.com/office/powerpoint/2010/main" val="31407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22C1D5-FA37-D82A-D500-8E2A0039EC3E}"/>
              </a:ext>
            </a:extLst>
          </p:cNvPr>
          <p:cNvSpPr>
            <a:spLocks noGrp="1"/>
          </p:cNvSpPr>
          <p:nvPr>
            <p:ph type="dt" sz="half" idx="10"/>
          </p:nvPr>
        </p:nvSpPr>
        <p:spPr/>
        <p:txBody>
          <a:bodyPr/>
          <a:lstStyle/>
          <a:p>
            <a:fld id="{B39305DA-E1D9-A944-B89B-AC989847254A}" type="datetimeFigureOut">
              <a:rPr lang="en-US" smtClean="0"/>
              <a:t>4/5/24</a:t>
            </a:fld>
            <a:endParaRPr lang="en-US"/>
          </a:p>
        </p:txBody>
      </p:sp>
      <p:sp>
        <p:nvSpPr>
          <p:cNvPr id="3" name="Footer Placeholder 2">
            <a:extLst>
              <a:ext uri="{FF2B5EF4-FFF2-40B4-BE49-F238E27FC236}">
                <a16:creationId xmlns:a16="http://schemas.microsoft.com/office/drawing/2014/main" id="{BCCCD325-20B7-720C-D911-0D294B1744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A1BA239-F4EF-72DD-71C7-F82FC0797209}"/>
              </a:ext>
            </a:extLst>
          </p:cNvPr>
          <p:cNvSpPr>
            <a:spLocks noGrp="1"/>
          </p:cNvSpPr>
          <p:nvPr>
            <p:ph type="sldNum" sz="quarter" idx="12"/>
          </p:nvPr>
        </p:nvSpPr>
        <p:spPr/>
        <p:txBody>
          <a:bodyPr/>
          <a:lstStyle/>
          <a:p>
            <a:fld id="{7277A909-A061-B742-BDDC-3C5743FF9D9D}" type="slidenum">
              <a:rPr lang="en-US" smtClean="0"/>
              <a:t>‹#›</a:t>
            </a:fld>
            <a:endParaRPr lang="en-US"/>
          </a:p>
        </p:txBody>
      </p:sp>
    </p:spTree>
    <p:extLst>
      <p:ext uri="{BB962C8B-B14F-4D97-AF65-F5344CB8AC3E}">
        <p14:creationId xmlns:p14="http://schemas.microsoft.com/office/powerpoint/2010/main" val="3805926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2C9A9-87E9-07F3-D635-D2326838982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67C767D-1F56-AB5D-6555-63C2BEB356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D165F4F-25B7-79A6-6E43-83EC3A6C54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893D08F-F98C-9A91-E88E-B4B8E973514F}"/>
              </a:ext>
            </a:extLst>
          </p:cNvPr>
          <p:cNvSpPr>
            <a:spLocks noGrp="1"/>
          </p:cNvSpPr>
          <p:nvPr>
            <p:ph type="dt" sz="half" idx="10"/>
          </p:nvPr>
        </p:nvSpPr>
        <p:spPr/>
        <p:txBody>
          <a:bodyPr/>
          <a:lstStyle/>
          <a:p>
            <a:fld id="{B39305DA-E1D9-A944-B89B-AC989847254A}" type="datetimeFigureOut">
              <a:rPr lang="en-US" smtClean="0"/>
              <a:t>4/5/24</a:t>
            </a:fld>
            <a:endParaRPr lang="en-US"/>
          </a:p>
        </p:txBody>
      </p:sp>
      <p:sp>
        <p:nvSpPr>
          <p:cNvPr id="6" name="Footer Placeholder 5">
            <a:extLst>
              <a:ext uri="{FF2B5EF4-FFF2-40B4-BE49-F238E27FC236}">
                <a16:creationId xmlns:a16="http://schemas.microsoft.com/office/drawing/2014/main" id="{787896D8-A312-2D4F-EABC-F0200CBD6B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78D102-0DE7-259A-1E61-0348CA351889}"/>
              </a:ext>
            </a:extLst>
          </p:cNvPr>
          <p:cNvSpPr>
            <a:spLocks noGrp="1"/>
          </p:cNvSpPr>
          <p:nvPr>
            <p:ph type="sldNum" sz="quarter" idx="12"/>
          </p:nvPr>
        </p:nvSpPr>
        <p:spPr/>
        <p:txBody>
          <a:bodyPr/>
          <a:lstStyle/>
          <a:p>
            <a:fld id="{7277A909-A061-B742-BDDC-3C5743FF9D9D}" type="slidenum">
              <a:rPr lang="en-US" smtClean="0"/>
              <a:t>‹#›</a:t>
            </a:fld>
            <a:endParaRPr lang="en-US"/>
          </a:p>
        </p:txBody>
      </p:sp>
    </p:spTree>
    <p:extLst>
      <p:ext uri="{BB962C8B-B14F-4D97-AF65-F5344CB8AC3E}">
        <p14:creationId xmlns:p14="http://schemas.microsoft.com/office/powerpoint/2010/main" val="3577786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1B623-52E0-67EB-C760-0E9801C067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AEA11BB-2D6D-B6C3-2BE6-88ED546552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272549-A40D-FECE-2863-968F188CF4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9B48EDF-4F12-04AE-6B55-5DEC50D9DC53}"/>
              </a:ext>
            </a:extLst>
          </p:cNvPr>
          <p:cNvSpPr>
            <a:spLocks noGrp="1"/>
          </p:cNvSpPr>
          <p:nvPr>
            <p:ph type="dt" sz="half" idx="10"/>
          </p:nvPr>
        </p:nvSpPr>
        <p:spPr/>
        <p:txBody>
          <a:bodyPr/>
          <a:lstStyle/>
          <a:p>
            <a:fld id="{B39305DA-E1D9-A944-B89B-AC989847254A}" type="datetimeFigureOut">
              <a:rPr lang="en-US" smtClean="0"/>
              <a:t>4/5/24</a:t>
            </a:fld>
            <a:endParaRPr lang="en-US"/>
          </a:p>
        </p:txBody>
      </p:sp>
      <p:sp>
        <p:nvSpPr>
          <p:cNvPr id="6" name="Footer Placeholder 5">
            <a:extLst>
              <a:ext uri="{FF2B5EF4-FFF2-40B4-BE49-F238E27FC236}">
                <a16:creationId xmlns:a16="http://schemas.microsoft.com/office/drawing/2014/main" id="{D5516A93-515E-49FE-E487-7528189428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37D767-CE4F-AC9E-4E75-5DA710C04F5B}"/>
              </a:ext>
            </a:extLst>
          </p:cNvPr>
          <p:cNvSpPr>
            <a:spLocks noGrp="1"/>
          </p:cNvSpPr>
          <p:nvPr>
            <p:ph type="sldNum" sz="quarter" idx="12"/>
          </p:nvPr>
        </p:nvSpPr>
        <p:spPr/>
        <p:txBody>
          <a:bodyPr/>
          <a:lstStyle/>
          <a:p>
            <a:fld id="{7277A909-A061-B742-BDDC-3C5743FF9D9D}" type="slidenum">
              <a:rPr lang="en-US" smtClean="0"/>
              <a:t>‹#›</a:t>
            </a:fld>
            <a:endParaRPr lang="en-US"/>
          </a:p>
        </p:txBody>
      </p:sp>
    </p:spTree>
    <p:extLst>
      <p:ext uri="{BB962C8B-B14F-4D97-AF65-F5344CB8AC3E}">
        <p14:creationId xmlns:p14="http://schemas.microsoft.com/office/powerpoint/2010/main" val="1590964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D68DD-F92E-B959-1BA4-079EC97BABA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1421E97-A4FA-8A19-3879-0C1FB1003B0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463C938-A9E2-98BA-6166-B9526BF5489D}"/>
              </a:ext>
            </a:extLst>
          </p:cNvPr>
          <p:cNvSpPr>
            <a:spLocks noGrp="1"/>
          </p:cNvSpPr>
          <p:nvPr>
            <p:ph type="dt" sz="half" idx="10"/>
          </p:nvPr>
        </p:nvSpPr>
        <p:spPr/>
        <p:txBody>
          <a:bodyPr/>
          <a:lstStyle/>
          <a:p>
            <a:fld id="{B39305DA-E1D9-A944-B89B-AC989847254A}" type="datetimeFigureOut">
              <a:rPr lang="en-US" smtClean="0"/>
              <a:t>4/5/24</a:t>
            </a:fld>
            <a:endParaRPr lang="en-US"/>
          </a:p>
        </p:txBody>
      </p:sp>
      <p:sp>
        <p:nvSpPr>
          <p:cNvPr id="5" name="Footer Placeholder 4">
            <a:extLst>
              <a:ext uri="{FF2B5EF4-FFF2-40B4-BE49-F238E27FC236}">
                <a16:creationId xmlns:a16="http://schemas.microsoft.com/office/drawing/2014/main" id="{BA0E5C37-F3B8-2115-4D75-8B18A2994F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B0B363-632F-1E00-A88E-490F328B9657}"/>
              </a:ext>
            </a:extLst>
          </p:cNvPr>
          <p:cNvSpPr>
            <a:spLocks noGrp="1"/>
          </p:cNvSpPr>
          <p:nvPr>
            <p:ph type="sldNum" sz="quarter" idx="12"/>
          </p:nvPr>
        </p:nvSpPr>
        <p:spPr/>
        <p:txBody>
          <a:bodyPr/>
          <a:lstStyle/>
          <a:p>
            <a:fld id="{7277A909-A061-B742-BDDC-3C5743FF9D9D}" type="slidenum">
              <a:rPr lang="en-US" smtClean="0"/>
              <a:t>‹#›</a:t>
            </a:fld>
            <a:endParaRPr lang="en-US"/>
          </a:p>
        </p:txBody>
      </p:sp>
    </p:spTree>
    <p:extLst>
      <p:ext uri="{BB962C8B-B14F-4D97-AF65-F5344CB8AC3E}">
        <p14:creationId xmlns:p14="http://schemas.microsoft.com/office/powerpoint/2010/main" val="167427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C167DB-ADD6-3047-E331-466BCBBCBC1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1167E8D-9704-7D7F-7ED7-55536AD9F15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30051E9-0A05-1F53-2586-9613969F3A15}"/>
              </a:ext>
            </a:extLst>
          </p:cNvPr>
          <p:cNvSpPr>
            <a:spLocks noGrp="1"/>
          </p:cNvSpPr>
          <p:nvPr>
            <p:ph type="dt" sz="half" idx="10"/>
          </p:nvPr>
        </p:nvSpPr>
        <p:spPr/>
        <p:txBody>
          <a:bodyPr/>
          <a:lstStyle/>
          <a:p>
            <a:fld id="{B39305DA-E1D9-A944-B89B-AC989847254A}" type="datetimeFigureOut">
              <a:rPr lang="en-US" smtClean="0"/>
              <a:t>4/5/24</a:t>
            </a:fld>
            <a:endParaRPr lang="en-US"/>
          </a:p>
        </p:txBody>
      </p:sp>
      <p:sp>
        <p:nvSpPr>
          <p:cNvPr id="5" name="Footer Placeholder 4">
            <a:extLst>
              <a:ext uri="{FF2B5EF4-FFF2-40B4-BE49-F238E27FC236}">
                <a16:creationId xmlns:a16="http://schemas.microsoft.com/office/drawing/2014/main" id="{2963669D-335B-7625-F89A-B209DDD9CD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4CD9B9-54E4-51DB-1786-805063F737B8}"/>
              </a:ext>
            </a:extLst>
          </p:cNvPr>
          <p:cNvSpPr>
            <a:spLocks noGrp="1"/>
          </p:cNvSpPr>
          <p:nvPr>
            <p:ph type="sldNum" sz="quarter" idx="12"/>
          </p:nvPr>
        </p:nvSpPr>
        <p:spPr/>
        <p:txBody>
          <a:bodyPr/>
          <a:lstStyle/>
          <a:p>
            <a:fld id="{7277A909-A061-B742-BDDC-3C5743FF9D9D}" type="slidenum">
              <a:rPr lang="en-US" smtClean="0"/>
              <a:t>‹#›</a:t>
            </a:fld>
            <a:endParaRPr lang="en-US"/>
          </a:p>
        </p:txBody>
      </p:sp>
    </p:spTree>
    <p:extLst>
      <p:ext uri="{BB962C8B-B14F-4D97-AF65-F5344CB8AC3E}">
        <p14:creationId xmlns:p14="http://schemas.microsoft.com/office/powerpoint/2010/main" val="3539818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021B81-5EB5-AE65-DD55-A13618A793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B2850FA-FD86-44B7-3BA6-D959FEA990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0720485-0A77-2C2E-A1FC-DA2BD5DEB3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9305DA-E1D9-A944-B89B-AC989847254A}" type="datetimeFigureOut">
              <a:rPr lang="en-US" smtClean="0"/>
              <a:t>4/5/24</a:t>
            </a:fld>
            <a:endParaRPr lang="en-US"/>
          </a:p>
        </p:txBody>
      </p:sp>
      <p:sp>
        <p:nvSpPr>
          <p:cNvPr id="5" name="Footer Placeholder 4">
            <a:extLst>
              <a:ext uri="{FF2B5EF4-FFF2-40B4-BE49-F238E27FC236}">
                <a16:creationId xmlns:a16="http://schemas.microsoft.com/office/drawing/2014/main" id="{73710B41-DD08-DCEA-DB82-0135F0E197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B8403B4-1DFE-E4C1-5CE1-341DA479EB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77A909-A061-B742-BDDC-3C5743FF9D9D}" type="slidenum">
              <a:rPr lang="en-US" smtClean="0"/>
              <a:t>‹#›</a:t>
            </a:fld>
            <a:endParaRPr lang="en-US"/>
          </a:p>
        </p:txBody>
      </p:sp>
    </p:spTree>
    <p:extLst>
      <p:ext uri="{BB962C8B-B14F-4D97-AF65-F5344CB8AC3E}">
        <p14:creationId xmlns:p14="http://schemas.microsoft.com/office/powerpoint/2010/main" val="714185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customXml" Target="../ink/ink3.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394A1-3333-9F49-09A1-F4FD69CDBF8B}"/>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60D0EAB-68F6-33F8-A5AD-FF36CD846BD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18567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815A38-EC3B-1682-8464-4C478C541AA7}"/>
              </a:ext>
            </a:extLst>
          </p:cNvPr>
          <p:cNvSpPr txBox="1"/>
          <p:nvPr/>
        </p:nvSpPr>
        <p:spPr>
          <a:xfrm>
            <a:off x="1856978" y="1228493"/>
            <a:ext cx="543739" cy="369332"/>
          </a:xfrm>
          <a:prstGeom prst="rect">
            <a:avLst/>
          </a:prstGeom>
          <a:noFill/>
        </p:spPr>
        <p:txBody>
          <a:bodyPr wrap="none" rtlCol="0">
            <a:spAutoFit/>
          </a:bodyPr>
          <a:lstStyle/>
          <a:p>
            <a:r>
              <a:rPr lang="en-US" dirty="0"/>
              <a:t>The</a:t>
            </a:r>
          </a:p>
        </p:txBody>
      </p:sp>
      <p:sp>
        <p:nvSpPr>
          <p:cNvPr id="5" name="TextBox 4">
            <a:extLst>
              <a:ext uri="{FF2B5EF4-FFF2-40B4-BE49-F238E27FC236}">
                <a16:creationId xmlns:a16="http://schemas.microsoft.com/office/drawing/2014/main" id="{18F22C2A-4F6F-6398-7CC0-EE54EF0375BA}"/>
              </a:ext>
            </a:extLst>
          </p:cNvPr>
          <p:cNvSpPr txBox="1"/>
          <p:nvPr/>
        </p:nvSpPr>
        <p:spPr>
          <a:xfrm>
            <a:off x="1856978" y="2438671"/>
            <a:ext cx="493597" cy="369332"/>
          </a:xfrm>
          <a:prstGeom prst="rect">
            <a:avLst/>
          </a:prstGeom>
          <a:noFill/>
        </p:spPr>
        <p:txBody>
          <a:bodyPr wrap="none" rtlCol="0">
            <a:spAutoFit/>
          </a:bodyPr>
          <a:lstStyle/>
          <a:p>
            <a:r>
              <a:rPr lang="en-US" dirty="0"/>
              <a:t>sat</a:t>
            </a:r>
          </a:p>
        </p:txBody>
      </p:sp>
      <p:sp>
        <p:nvSpPr>
          <p:cNvPr id="6" name="TextBox 5">
            <a:extLst>
              <a:ext uri="{FF2B5EF4-FFF2-40B4-BE49-F238E27FC236}">
                <a16:creationId xmlns:a16="http://schemas.microsoft.com/office/drawing/2014/main" id="{DE574206-82BF-6F35-DEC7-3CE40E161644}"/>
              </a:ext>
            </a:extLst>
          </p:cNvPr>
          <p:cNvSpPr txBox="1"/>
          <p:nvPr/>
        </p:nvSpPr>
        <p:spPr>
          <a:xfrm>
            <a:off x="1856978" y="1833582"/>
            <a:ext cx="501869" cy="369332"/>
          </a:xfrm>
          <a:prstGeom prst="rect">
            <a:avLst/>
          </a:prstGeom>
          <a:noFill/>
        </p:spPr>
        <p:txBody>
          <a:bodyPr wrap="none" rtlCol="0">
            <a:spAutoFit/>
          </a:bodyPr>
          <a:lstStyle/>
          <a:p>
            <a:r>
              <a:rPr lang="en-US" dirty="0"/>
              <a:t>cat</a:t>
            </a:r>
          </a:p>
        </p:txBody>
      </p:sp>
      <p:sp>
        <p:nvSpPr>
          <p:cNvPr id="7" name="TextBox 6">
            <a:extLst>
              <a:ext uri="{FF2B5EF4-FFF2-40B4-BE49-F238E27FC236}">
                <a16:creationId xmlns:a16="http://schemas.microsoft.com/office/drawing/2014/main" id="{6FB6FFAA-523B-B251-B59E-D3A40998E1E8}"/>
              </a:ext>
            </a:extLst>
          </p:cNvPr>
          <p:cNvSpPr txBox="1"/>
          <p:nvPr/>
        </p:nvSpPr>
        <p:spPr>
          <a:xfrm>
            <a:off x="1856978" y="3631819"/>
            <a:ext cx="578556" cy="369332"/>
          </a:xfrm>
          <a:prstGeom prst="rect">
            <a:avLst/>
          </a:prstGeom>
          <a:noFill/>
        </p:spPr>
        <p:txBody>
          <a:bodyPr wrap="none" rtlCol="0">
            <a:spAutoFit/>
          </a:bodyPr>
          <a:lstStyle/>
          <a:p>
            <a:r>
              <a:rPr lang="en-US" dirty="0"/>
              <a:t>mat</a:t>
            </a:r>
          </a:p>
        </p:txBody>
      </p:sp>
      <p:sp>
        <p:nvSpPr>
          <p:cNvPr id="8" name="TextBox 7">
            <a:extLst>
              <a:ext uri="{FF2B5EF4-FFF2-40B4-BE49-F238E27FC236}">
                <a16:creationId xmlns:a16="http://schemas.microsoft.com/office/drawing/2014/main" id="{C10714C6-F26F-7D05-3451-E8F0D9E77224}"/>
              </a:ext>
            </a:extLst>
          </p:cNvPr>
          <p:cNvSpPr txBox="1"/>
          <p:nvPr/>
        </p:nvSpPr>
        <p:spPr>
          <a:xfrm>
            <a:off x="1856978" y="3031400"/>
            <a:ext cx="437940" cy="369332"/>
          </a:xfrm>
          <a:prstGeom prst="rect">
            <a:avLst/>
          </a:prstGeom>
          <a:noFill/>
        </p:spPr>
        <p:txBody>
          <a:bodyPr wrap="none" rtlCol="0">
            <a:spAutoFit/>
          </a:bodyPr>
          <a:lstStyle/>
          <a:p>
            <a:r>
              <a:rPr lang="en-US" dirty="0"/>
              <a:t>on</a:t>
            </a:r>
          </a:p>
        </p:txBody>
      </p:sp>
      <p:graphicFrame>
        <p:nvGraphicFramePr>
          <p:cNvPr id="9" name="Table 8">
            <a:extLst>
              <a:ext uri="{FF2B5EF4-FFF2-40B4-BE49-F238E27FC236}">
                <a16:creationId xmlns:a16="http://schemas.microsoft.com/office/drawing/2014/main" id="{1C72ACF6-41BF-6B2C-126B-7B143A7E740D}"/>
              </a:ext>
            </a:extLst>
          </p:cNvPr>
          <p:cNvGraphicFramePr>
            <a:graphicFrameLocks noGrp="1"/>
          </p:cNvGraphicFramePr>
          <p:nvPr>
            <p:extLst>
              <p:ext uri="{D42A27DB-BD31-4B8C-83A1-F6EECF244321}">
                <p14:modId xmlns:p14="http://schemas.microsoft.com/office/powerpoint/2010/main" val="1591548775"/>
              </p:ext>
            </p:extLst>
          </p:nvPr>
        </p:nvGraphicFramePr>
        <p:xfrm>
          <a:off x="2715173" y="1234673"/>
          <a:ext cx="8128000" cy="370840"/>
        </p:xfrm>
        <a:graphic>
          <a:graphicData uri="http://schemas.openxmlformats.org/drawingml/2006/table">
            <a:tbl>
              <a:tblPr bandRow="1">
                <a:tableStyleId>{8A107856-5554-42FB-B03E-39F5DBC370BA}</a:tableStyleId>
              </a:tblPr>
              <a:tblGrid>
                <a:gridCol w="1625600">
                  <a:extLst>
                    <a:ext uri="{9D8B030D-6E8A-4147-A177-3AD203B41FA5}">
                      <a16:colId xmlns:a16="http://schemas.microsoft.com/office/drawing/2014/main" val="749320167"/>
                    </a:ext>
                  </a:extLst>
                </a:gridCol>
                <a:gridCol w="1625600">
                  <a:extLst>
                    <a:ext uri="{9D8B030D-6E8A-4147-A177-3AD203B41FA5}">
                      <a16:colId xmlns:a16="http://schemas.microsoft.com/office/drawing/2014/main" val="568413949"/>
                    </a:ext>
                  </a:extLst>
                </a:gridCol>
                <a:gridCol w="1625600">
                  <a:extLst>
                    <a:ext uri="{9D8B030D-6E8A-4147-A177-3AD203B41FA5}">
                      <a16:colId xmlns:a16="http://schemas.microsoft.com/office/drawing/2014/main" val="874955793"/>
                    </a:ext>
                  </a:extLst>
                </a:gridCol>
                <a:gridCol w="1625600">
                  <a:extLst>
                    <a:ext uri="{9D8B030D-6E8A-4147-A177-3AD203B41FA5}">
                      <a16:colId xmlns:a16="http://schemas.microsoft.com/office/drawing/2014/main" val="1270628586"/>
                    </a:ext>
                  </a:extLst>
                </a:gridCol>
                <a:gridCol w="1625600">
                  <a:extLst>
                    <a:ext uri="{9D8B030D-6E8A-4147-A177-3AD203B41FA5}">
                      <a16:colId xmlns:a16="http://schemas.microsoft.com/office/drawing/2014/main" val="3314274508"/>
                    </a:ext>
                  </a:extLst>
                </a:gridCol>
              </a:tblGrid>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81424515"/>
                  </a:ext>
                </a:extLst>
              </a:tr>
            </a:tbl>
          </a:graphicData>
        </a:graphic>
      </p:graphicFrame>
      <p:graphicFrame>
        <p:nvGraphicFramePr>
          <p:cNvPr id="10" name="Table 9">
            <a:extLst>
              <a:ext uri="{FF2B5EF4-FFF2-40B4-BE49-F238E27FC236}">
                <a16:creationId xmlns:a16="http://schemas.microsoft.com/office/drawing/2014/main" id="{B926C2A5-C75E-0F05-0D5C-74128DD38121}"/>
              </a:ext>
            </a:extLst>
          </p:cNvPr>
          <p:cNvGraphicFramePr>
            <a:graphicFrameLocks noGrp="1"/>
          </p:cNvGraphicFramePr>
          <p:nvPr>
            <p:extLst>
              <p:ext uri="{D42A27DB-BD31-4B8C-83A1-F6EECF244321}">
                <p14:modId xmlns:p14="http://schemas.microsoft.com/office/powerpoint/2010/main" val="2114383184"/>
              </p:ext>
            </p:extLst>
          </p:nvPr>
        </p:nvGraphicFramePr>
        <p:xfrm>
          <a:off x="2715173" y="1833582"/>
          <a:ext cx="8128000" cy="370840"/>
        </p:xfrm>
        <a:graphic>
          <a:graphicData uri="http://schemas.openxmlformats.org/drawingml/2006/table">
            <a:tbl>
              <a:tblPr bandRow="1">
                <a:tableStyleId>{8A107856-5554-42FB-B03E-39F5DBC370BA}</a:tableStyleId>
              </a:tblPr>
              <a:tblGrid>
                <a:gridCol w="1625600">
                  <a:extLst>
                    <a:ext uri="{9D8B030D-6E8A-4147-A177-3AD203B41FA5}">
                      <a16:colId xmlns:a16="http://schemas.microsoft.com/office/drawing/2014/main" val="749320167"/>
                    </a:ext>
                  </a:extLst>
                </a:gridCol>
                <a:gridCol w="1625600">
                  <a:extLst>
                    <a:ext uri="{9D8B030D-6E8A-4147-A177-3AD203B41FA5}">
                      <a16:colId xmlns:a16="http://schemas.microsoft.com/office/drawing/2014/main" val="568413949"/>
                    </a:ext>
                  </a:extLst>
                </a:gridCol>
                <a:gridCol w="1625600">
                  <a:extLst>
                    <a:ext uri="{9D8B030D-6E8A-4147-A177-3AD203B41FA5}">
                      <a16:colId xmlns:a16="http://schemas.microsoft.com/office/drawing/2014/main" val="874955793"/>
                    </a:ext>
                  </a:extLst>
                </a:gridCol>
                <a:gridCol w="1625600">
                  <a:extLst>
                    <a:ext uri="{9D8B030D-6E8A-4147-A177-3AD203B41FA5}">
                      <a16:colId xmlns:a16="http://schemas.microsoft.com/office/drawing/2014/main" val="1270628586"/>
                    </a:ext>
                  </a:extLst>
                </a:gridCol>
                <a:gridCol w="1625600">
                  <a:extLst>
                    <a:ext uri="{9D8B030D-6E8A-4147-A177-3AD203B41FA5}">
                      <a16:colId xmlns:a16="http://schemas.microsoft.com/office/drawing/2014/main" val="3314274508"/>
                    </a:ext>
                  </a:extLst>
                </a:gridCol>
              </a:tblGrid>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81424515"/>
                  </a:ext>
                </a:extLst>
              </a:tr>
            </a:tbl>
          </a:graphicData>
        </a:graphic>
      </p:graphicFrame>
      <p:graphicFrame>
        <p:nvGraphicFramePr>
          <p:cNvPr id="11" name="Table 10">
            <a:extLst>
              <a:ext uri="{FF2B5EF4-FFF2-40B4-BE49-F238E27FC236}">
                <a16:creationId xmlns:a16="http://schemas.microsoft.com/office/drawing/2014/main" id="{C57EAA75-6D4B-D2C7-488E-E9914C3CAE08}"/>
              </a:ext>
            </a:extLst>
          </p:cNvPr>
          <p:cNvGraphicFramePr>
            <a:graphicFrameLocks noGrp="1"/>
          </p:cNvGraphicFramePr>
          <p:nvPr>
            <p:extLst>
              <p:ext uri="{D42A27DB-BD31-4B8C-83A1-F6EECF244321}">
                <p14:modId xmlns:p14="http://schemas.microsoft.com/office/powerpoint/2010/main" val="3695797338"/>
              </p:ext>
            </p:extLst>
          </p:nvPr>
        </p:nvGraphicFramePr>
        <p:xfrm>
          <a:off x="2715173" y="2432491"/>
          <a:ext cx="8128000" cy="370840"/>
        </p:xfrm>
        <a:graphic>
          <a:graphicData uri="http://schemas.openxmlformats.org/drawingml/2006/table">
            <a:tbl>
              <a:tblPr bandRow="1">
                <a:tableStyleId>{8A107856-5554-42FB-B03E-39F5DBC370BA}</a:tableStyleId>
              </a:tblPr>
              <a:tblGrid>
                <a:gridCol w="1625600">
                  <a:extLst>
                    <a:ext uri="{9D8B030D-6E8A-4147-A177-3AD203B41FA5}">
                      <a16:colId xmlns:a16="http://schemas.microsoft.com/office/drawing/2014/main" val="749320167"/>
                    </a:ext>
                  </a:extLst>
                </a:gridCol>
                <a:gridCol w="1625600">
                  <a:extLst>
                    <a:ext uri="{9D8B030D-6E8A-4147-A177-3AD203B41FA5}">
                      <a16:colId xmlns:a16="http://schemas.microsoft.com/office/drawing/2014/main" val="568413949"/>
                    </a:ext>
                  </a:extLst>
                </a:gridCol>
                <a:gridCol w="1625600">
                  <a:extLst>
                    <a:ext uri="{9D8B030D-6E8A-4147-A177-3AD203B41FA5}">
                      <a16:colId xmlns:a16="http://schemas.microsoft.com/office/drawing/2014/main" val="874955793"/>
                    </a:ext>
                  </a:extLst>
                </a:gridCol>
                <a:gridCol w="1625600">
                  <a:extLst>
                    <a:ext uri="{9D8B030D-6E8A-4147-A177-3AD203B41FA5}">
                      <a16:colId xmlns:a16="http://schemas.microsoft.com/office/drawing/2014/main" val="1270628586"/>
                    </a:ext>
                  </a:extLst>
                </a:gridCol>
                <a:gridCol w="1625600">
                  <a:extLst>
                    <a:ext uri="{9D8B030D-6E8A-4147-A177-3AD203B41FA5}">
                      <a16:colId xmlns:a16="http://schemas.microsoft.com/office/drawing/2014/main" val="3314274508"/>
                    </a:ext>
                  </a:extLst>
                </a:gridCol>
              </a:tblGrid>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81424515"/>
                  </a:ext>
                </a:extLst>
              </a:tr>
            </a:tbl>
          </a:graphicData>
        </a:graphic>
      </p:graphicFrame>
      <p:graphicFrame>
        <p:nvGraphicFramePr>
          <p:cNvPr id="12" name="Table 11">
            <a:extLst>
              <a:ext uri="{FF2B5EF4-FFF2-40B4-BE49-F238E27FC236}">
                <a16:creationId xmlns:a16="http://schemas.microsoft.com/office/drawing/2014/main" id="{4B7C00DF-B335-BB42-888E-53603D4F5A5A}"/>
              </a:ext>
            </a:extLst>
          </p:cNvPr>
          <p:cNvGraphicFramePr>
            <a:graphicFrameLocks noGrp="1"/>
          </p:cNvGraphicFramePr>
          <p:nvPr>
            <p:extLst>
              <p:ext uri="{D42A27DB-BD31-4B8C-83A1-F6EECF244321}">
                <p14:modId xmlns:p14="http://schemas.microsoft.com/office/powerpoint/2010/main" val="4068584015"/>
              </p:ext>
            </p:extLst>
          </p:nvPr>
        </p:nvGraphicFramePr>
        <p:xfrm>
          <a:off x="2715173" y="3031400"/>
          <a:ext cx="8128000" cy="370840"/>
        </p:xfrm>
        <a:graphic>
          <a:graphicData uri="http://schemas.openxmlformats.org/drawingml/2006/table">
            <a:tbl>
              <a:tblPr bandRow="1">
                <a:tableStyleId>{8A107856-5554-42FB-B03E-39F5DBC370BA}</a:tableStyleId>
              </a:tblPr>
              <a:tblGrid>
                <a:gridCol w="1625600">
                  <a:extLst>
                    <a:ext uri="{9D8B030D-6E8A-4147-A177-3AD203B41FA5}">
                      <a16:colId xmlns:a16="http://schemas.microsoft.com/office/drawing/2014/main" val="749320167"/>
                    </a:ext>
                  </a:extLst>
                </a:gridCol>
                <a:gridCol w="1625600">
                  <a:extLst>
                    <a:ext uri="{9D8B030D-6E8A-4147-A177-3AD203B41FA5}">
                      <a16:colId xmlns:a16="http://schemas.microsoft.com/office/drawing/2014/main" val="568413949"/>
                    </a:ext>
                  </a:extLst>
                </a:gridCol>
                <a:gridCol w="1625600">
                  <a:extLst>
                    <a:ext uri="{9D8B030D-6E8A-4147-A177-3AD203B41FA5}">
                      <a16:colId xmlns:a16="http://schemas.microsoft.com/office/drawing/2014/main" val="874955793"/>
                    </a:ext>
                  </a:extLst>
                </a:gridCol>
                <a:gridCol w="1625600">
                  <a:extLst>
                    <a:ext uri="{9D8B030D-6E8A-4147-A177-3AD203B41FA5}">
                      <a16:colId xmlns:a16="http://schemas.microsoft.com/office/drawing/2014/main" val="1270628586"/>
                    </a:ext>
                  </a:extLst>
                </a:gridCol>
                <a:gridCol w="1625600">
                  <a:extLst>
                    <a:ext uri="{9D8B030D-6E8A-4147-A177-3AD203B41FA5}">
                      <a16:colId xmlns:a16="http://schemas.microsoft.com/office/drawing/2014/main" val="3314274508"/>
                    </a:ext>
                  </a:extLst>
                </a:gridCol>
              </a:tblGrid>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81424515"/>
                  </a:ext>
                </a:extLst>
              </a:tr>
            </a:tbl>
          </a:graphicData>
        </a:graphic>
      </p:graphicFrame>
      <p:graphicFrame>
        <p:nvGraphicFramePr>
          <p:cNvPr id="13" name="Table 12">
            <a:extLst>
              <a:ext uri="{FF2B5EF4-FFF2-40B4-BE49-F238E27FC236}">
                <a16:creationId xmlns:a16="http://schemas.microsoft.com/office/drawing/2014/main" id="{6C7CED46-29C0-FE13-7D4B-218205671A03}"/>
              </a:ext>
            </a:extLst>
          </p:cNvPr>
          <p:cNvGraphicFramePr>
            <a:graphicFrameLocks noGrp="1"/>
          </p:cNvGraphicFramePr>
          <p:nvPr>
            <p:extLst>
              <p:ext uri="{D42A27DB-BD31-4B8C-83A1-F6EECF244321}">
                <p14:modId xmlns:p14="http://schemas.microsoft.com/office/powerpoint/2010/main" val="2603255371"/>
              </p:ext>
            </p:extLst>
          </p:nvPr>
        </p:nvGraphicFramePr>
        <p:xfrm>
          <a:off x="2715173" y="3630311"/>
          <a:ext cx="8128000" cy="370840"/>
        </p:xfrm>
        <a:graphic>
          <a:graphicData uri="http://schemas.openxmlformats.org/drawingml/2006/table">
            <a:tbl>
              <a:tblPr bandRow="1">
                <a:tableStyleId>{8A107856-5554-42FB-B03E-39F5DBC370BA}</a:tableStyleId>
              </a:tblPr>
              <a:tblGrid>
                <a:gridCol w="1625600">
                  <a:extLst>
                    <a:ext uri="{9D8B030D-6E8A-4147-A177-3AD203B41FA5}">
                      <a16:colId xmlns:a16="http://schemas.microsoft.com/office/drawing/2014/main" val="749320167"/>
                    </a:ext>
                  </a:extLst>
                </a:gridCol>
                <a:gridCol w="1625600">
                  <a:extLst>
                    <a:ext uri="{9D8B030D-6E8A-4147-A177-3AD203B41FA5}">
                      <a16:colId xmlns:a16="http://schemas.microsoft.com/office/drawing/2014/main" val="568413949"/>
                    </a:ext>
                  </a:extLst>
                </a:gridCol>
                <a:gridCol w="1625600">
                  <a:extLst>
                    <a:ext uri="{9D8B030D-6E8A-4147-A177-3AD203B41FA5}">
                      <a16:colId xmlns:a16="http://schemas.microsoft.com/office/drawing/2014/main" val="874955793"/>
                    </a:ext>
                  </a:extLst>
                </a:gridCol>
                <a:gridCol w="1625600">
                  <a:extLst>
                    <a:ext uri="{9D8B030D-6E8A-4147-A177-3AD203B41FA5}">
                      <a16:colId xmlns:a16="http://schemas.microsoft.com/office/drawing/2014/main" val="1270628586"/>
                    </a:ext>
                  </a:extLst>
                </a:gridCol>
                <a:gridCol w="1625600">
                  <a:extLst>
                    <a:ext uri="{9D8B030D-6E8A-4147-A177-3AD203B41FA5}">
                      <a16:colId xmlns:a16="http://schemas.microsoft.com/office/drawing/2014/main" val="3314274508"/>
                    </a:ext>
                  </a:extLst>
                </a:gridCol>
              </a:tblGrid>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81424515"/>
                  </a:ext>
                </a:extLst>
              </a:tr>
            </a:tbl>
          </a:graphicData>
        </a:graphic>
      </p:graphicFrame>
    </p:spTree>
    <p:extLst>
      <p:ext uri="{BB962C8B-B14F-4D97-AF65-F5344CB8AC3E}">
        <p14:creationId xmlns:p14="http://schemas.microsoft.com/office/powerpoint/2010/main" val="1995029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208D0-96A8-B99C-F777-C87D1C2DD826}"/>
              </a:ext>
            </a:extLst>
          </p:cNvPr>
          <p:cNvSpPr>
            <a:spLocks noGrp="1"/>
          </p:cNvSpPr>
          <p:nvPr>
            <p:ph type="title"/>
          </p:nvPr>
        </p:nvSpPr>
        <p:spPr/>
        <p:txBody>
          <a:bodyPr/>
          <a:lstStyle/>
          <a:p>
            <a:endParaRPr lang="en-US"/>
          </a:p>
        </p:txBody>
      </p:sp>
      <p:pic>
        <p:nvPicPr>
          <p:cNvPr id="7" name="Content Placeholder 6" descr="A diagram of a network&#10;&#10;Description automatically generated">
            <a:extLst>
              <a:ext uri="{FF2B5EF4-FFF2-40B4-BE49-F238E27FC236}">
                <a16:creationId xmlns:a16="http://schemas.microsoft.com/office/drawing/2014/main" id="{73A28539-949C-DC89-5500-053CEE0976DC}"/>
              </a:ext>
            </a:extLst>
          </p:cNvPr>
          <p:cNvPicPr>
            <a:picLocks noGrp="1" noChangeAspect="1"/>
          </p:cNvPicPr>
          <p:nvPr>
            <p:ph idx="1"/>
          </p:nvPr>
        </p:nvPicPr>
        <p:blipFill>
          <a:blip r:embed="rId2"/>
          <a:stretch>
            <a:fillRect/>
          </a:stretch>
        </p:blipFill>
        <p:spPr>
          <a:xfrm>
            <a:off x="3368985" y="1825625"/>
            <a:ext cx="5454029" cy="4351338"/>
          </a:xfrm>
        </p:spPr>
      </p:pic>
    </p:spTree>
    <p:extLst>
      <p:ext uri="{BB962C8B-B14F-4D97-AF65-F5344CB8AC3E}">
        <p14:creationId xmlns:p14="http://schemas.microsoft.com/office/powerpoint/2010/main" val="450903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Oval 125">
            <a:extLst>
              <a:ext uri="{FF2B5EF4-FFF2-40B4-BE49-F238E27FC236}">
                <a16:creationId xmlns:a16="http://schemas.microsoft.com/office/drawing/2014/main" id="{56C76B43-E169-5CB7-2F38-8EA6073614AB}"/>
              </a:ext>
            </a:extLst>
          </p:cNvPr>
          <p:cNvSpPr/>
          <p:nvPr/>
        </p:nvSpPr>
        <p:spPr>
          <a:xfrm>
            <a:off x="5847028" y="2723979"/>
            <a:ext cx="927352" cy="8942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8ADCC85D-CB1C-D113-F30B-ADB89552FF3D}"/>
              </a:ext>
            </a:extLst>
          </p:cNvPr>
          <p:cNvSpPr/>
          <p:nvPr/>
        </p:nvSpPr>
        <p:spPr>
          <a:xfrm>
            <a:off x="9650658" y="2743517"/>
            <a:ext cx="927352" cy="8942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31265FC4-9343-807F-73D5-3EDF0D869243}"/>
              </a:ext>
            </a:extLst>
          </p:cNvPr>
          <p:cNvGraphicFramePr>
            <a:graphicFrameLocks noGrp="1"/>
          </p:cNvGraphicFramePr>
          <p:nvPr>
            <p:extLst>
              <p:ext uri="{D42A27DB-BD31-4B8C-83A1-F6EECF244321}">
                <p14:modId xmlns:p14="http://schemas.microsoft.com/office/powerpoint/2010/main" val="3324833179"/>
              </p:ext>
            </p:extLst>
          </p:nvPr>
        </p:nvGraphicFramePr>
        <p:xfrm>
          <a:off x="9376253" y="5910226"/>
          <a:ext cx="1459560" cy="259080"/>
        </p:xfrm>
        <a:graphic>
          <a:graphicData uri="http://schemas.openxmlformats.org/drawingml/2006/table">
            <a:tbl>
              <a:tblPr bandRow="1">
                <a:tableStyleId>{8A107856-5554-42FB-B03E-39F5DBC370BA}</a:tableStyleId>
              </a:tblPr>
              <a:tblGrid>
                <a:gridCol w="291912">
                  <a:extLst>
                    <a:ext uri="{9D8B030D-6E8A-4147-A177-3AD203B41FA5}">
                      <a16:colId xmlns:a16="http://schemas.microsoft.com/office/drawing/2014/main" val="749320167"/>
                    </a:ext>
                  </a:extLst>
                </a:gridCol>
                <a:gridCol w="291912">
                  <a:extLst>
                    <a:ext uri="{9D8B030D-6E8A-4147-A177-3AD203B41FA5}">
                      <a16:colId xmlns:a16="http://schemas.microsoft.com/office/drawing/2014/main" val="568413949"/>
                    </a:ext>
                  </a:extLst>
                </a:gridCol>
                <a:gridCol w="291912">
                  <a:extLst>
                    <a:ext uri="{9D8B030D-6E8A-4147-A177-3AD203B41FA5}">
                      <a16:colId xmlns:a16="http://schemas.microsoft.com/office/drawing/2014/main" val="874955793"/>
                    </a:ext>
                  </a:extLst>
                </a:gridCol>
                <a:gridCol w="291912">
                  <a:extLst>
                    <a:ext uri="{9D8B030D-6E8A-4147-A177-3AD203B41FA5}">
                      <a16:colId xmlns:a16="http://schemas.microsoft.com/office/drawing/2014/main" val="1270628586"/>
                    </a:ext>
                  </a:extLst>
                </a:gridCol>
                <a:gridCol w="291912">
                  <a:extLst>
                    <a:ext uri="{9D8B030D-6E8A-4147-A177-3AD203B41FA5}">
                      <a16:colId xmlns:a16="http://schemas.microsoft.com/office/drawing/2014/main" val="3314274508"/>
                    </a:ext>
                  </a:extLst>
                </a:gridCol>
              </a:tblGrid>
              <a:tr h="186062">
                <a:tc>
                  <a:txBody>
                    <a:bodyPr/>
                    <a:lstStyle/>
                    <a:p>
                      <a:pPr algn="ctr"/>
                      <a:r>
                        <a:rPr lang="en-US" sz="1100" dirty="0"/>
                        <a:t>1</a:t>
                      </a:r>
                    </a:p>
                  </a:txBody>
                  <a:tcPr/>
                </a:tc>
                <a:tc>
                  <a:txBody>
                    <a:bodyPr/>
                    <a:lstStyle/>
                    <a:p>
                      <a:pPr algn="ctr"/>
                      <a:r>
                        <a:rPr lang="en-US" sz="1100" dirty="0"/>
                        <a:t>0</a:t>
                      </a:r>
                    </a:p>
                  </a:txBody>
                  <a:tcPr/>
                </a:tc>
                <a:tc>
                  <a:txBody>
                    <a:bodyPr/>
                    <a:lstStyle/>
                    <a:p>
                      <a:pPr algn="ctr"/>
                      <a:r>
                        <a:rPr lang="en-US" sz="1100" dirty="0"/>
                        <a:t>0</a:t>
                      </a:r>
                    </a:p>
                  </a:txBody>
                  <a:tcPr/>
                </a:tc>
                <a:tc>
                  <a:txBody>
                    <a:bodyPr/>
                    <a:lstStyle/>
                    <a:p>
                      <a:pPr algn="ctr"/>
                      <a:r>
                        <a:rPr lang="en-US" sz="1100" dirty="0"/>
                        <a:t>0</a:t>
                      </a:r>
                    </a:p>
                  </a:txBody>
                  <a:tcPr/>
                </a:tc>
                <a:tc>
                  <a:txBody>
                    <a:bodyPr/>
                    <a:lstStyle/>
                    <a:p>
                      <a:pPr algn="ctr"/>
                      <a:r>
                        <a:rPr lang="en-US" sz="1100" dirty="0"/>
                        <a:t>0</a:t>
                      </a:r>
                    </a:p>
                  </a:txBody>
                  <a:tcPr/>
                </a:tc>
                <a:extLst>
                  <a:ext uri="{0D108BD9-81ED-4DB2-BD59-A6C34878D82A}">
                    <a16:rowId xmlns:a16="http://schemas.microsoft.com/office/drawing/2014/main" val="481424515"/>
                  </a:ext>
                </a:extLst>
              </a:tr>
            </a:tbl>
          </a:graphicData>
        </a:graphic>
      </p:graphicFrame>
      <p:cxnSp>
        <p:nvCxnSpPr>
          <p:cNvPr id="7" name="Straight Arrow Connector 6">
            <a:extLst>
              <a:ext uri="{FF2B5EF4-FFF2-40B4-BE49-F238E27FC236}">
                <a16:creationId xmlns:a16="http://schemas.microsoft.com/office/drawing/2014/main" id="{1F89A61B-D0A5-F2EA-AD5B-166B88D4B25A}"/>
              </a:ext>
            </a:extLst>
          </p:cNvPr>
          <p:cNvCxnSpPr>
            <a:cxnSpLocks/>
            <a:stCxn id="5" idx="0"/>
            <a:endCxn id="4" idx="4"/>
          </p:cNvCxnSpPr>
          <p:nvPr/>
        </p:nvCxnSpPr>
        <p:spPr>
          <a:xfrm flipV="1">
            <a:off x="10106033" y="3637744"/>
            <a:ext cx="8301" cy="22724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8" name="Table 7">
            <a:extLst>
              <a:ext uri="{FF2B5EF4-FFF2-40B4-BE49-F238E27FC236}">
                <a16:creationId xmlns:a16="http://schemas.microsoft.com/office/drawing/2014/main" id="{56693DBF-FD2A-9B14-0DFF-3F462343DD2C}"/>
              </a:ext>
            </a:extLst>
          </p:cNvPr>
          <p:cNvGraphicFramePr>
            <a:graphicFrameLocks noGrp="1"/>
          </p:cNvGraphicFramePr>
          <p:nvPr>
            <p:extLst>
              <p:ext uri="{D42A27DB-BD31-4B8C-83A1-F6EECF244321}">
                <p14:modId xmlns:p14="http://schemas.microsoft.com/office/powerpoint/2010/main" val="1772410287"/>
              </p:ext>
            </p:extLst>
          </p:nvPr>
        </p:nvGraphicFramePr>
        <p:xfrm>
          <a:off x="9149168" y="4632890"/>
          <a:ext cx="1913730" cy="777240"/>
        </p:xfrm>
        <a:graphic>
          <a:graphicData uri="http://schemas.openxmlformats.org/drawingml/2006/table">
            <a:tbl>
              <a:tblPr bandRow="1">
                <a:tableStyleId>{8A107856-5554-42FB-B03E-39F5DBC370BA}</a:tableStyleId>
              </a:tblPr>
              <a:tblGrid>
                <a:gridCol w="382746">
                  <a:extLst>
                    <a:ext uri="{9D8B030D-6E8A-4147-A177-3AD203B41FA5}">
                      <a16:colId xmlns:a16="http://schemas.microsoft.com/office/drawing/2014/main" val="749320167"/>
                    </a:ext>
                  </a:extLst>
                </a:gridCol>
                <a:gridCol w="382746">
                  <a:extLst>
                    <a:ext uri="{9D8B030D-6E8A-4147-A177-3AD203B41FA5}">
                      <a16:colId xmlns:a16="http://schemas.microsoft.com/office/drawing/2014/main" val="568413949"/>
                    </a:ext>
                  </a:extLst>
                </a:gridCol>
                <a:gridCol w="382746">
                  <a:extLst>
                    <a:ext uri="{9D8B030D-6E8A-4147-A177-3AD203B41FA5}">
                      <a16:colId xmlns:a16="http://schemas.microsoft.com/office/drawing/2014/main" val="874955793"/>
                    </a:ext>
                  </a:extLst>
                </a:gridCol>
                <a:gridCol w="382746">
                  <a:extLst>
                    <a:ext uri="{9D8B030D-6E8A-4147-A177-3AD203B41FA5}">
                      <a16:colId xmlns:a16="http://schemas.microsoft.com/office/drawing/2014/main" val="1270628586"/>
                    </a:ext>
                  </a:extLst>
                </a:gridCol>
                <a:gridCol w="382746">
                  <a:extLst>
                    <a:ext uri="{9D8B030D-6E8A-4147-A177-3AD203B41FA5}">
                      <a16:colId xmlns:a16="http://schemas.microsoft.com/office/drawing/2014/main" val="3314274508"/>
                    </a:ext>
                  </a:extLst>
                </a:gridCol>
              </a:tblGrid>
              <a:tr h="214221">
                <a:tc>
                  <a:txBody>
                    <a:bodyPr/>
                    <a:lstStyle/>
                    <a:p>
                      <a:pPr algn="ctr"/>
                      <a:r>
                        <a:rPr lang="en-US" sz="1100" dirty="0"/>
                        <a:t>0.8</a:t>
                      </a:r>
                    </a:p>
                  </a:txBody>
                  <a:tcPr/>
                </a:tc>
                <a:tc>
                  <a:txBody>
                    <a:bodyPr/>
                    <a:lstStyle/>
                    <a:p>
                      <a:pPr algn="ctr"/>
                      <a:r>
                        <a:rPr lang="en-US" sz="1100" dirty="0"/>
                        <a:t>0.2</a:t>
                      </a:r>
                    </a:p>
                  </a:txBody>
                  <a:tcPr/>
                </a:tc>
                <a:tc>
                  <a:txBody>
                    <a:bodyPr/>
                    <a:lstStyle/>
                    <a:p>
                      <a:pPr algn="ctr"/>
                      <a:r>
                        <a:rPr lang="en-US" sz="1100" dirty="0"/>
                        <a:t>0.1</a:t>
                      </a:r>
                    </a:p>
                  </a:txBody>
                  <a:tcPr/>
                </a:tc>
                <a:tc>
                  <a:txBody>
                    <a:bodyPr/>
                    <a:lstStyle/>
                    <a:p>
                      <a:pPr algn="ctr"/>
                      <a:r>
                        <a:rPr lang="en-US" sz="1100" dirty="0"/>
                        <a:t>0.5</a:t>
                      </a:r>
                    </a:p>
                  </a:txBody>
                  <a:tcPr/>
                </a:tc>
                <a:tc>
                  <a:txBody>
                    <a:bodyPr/>
                    <a:lstStyle/>
                    <a:p>
                      <a:pPr algn="ctr"/>
                      <a:r>
                        <a:rPr lang="en-US" sz="1100" dirty="0"/>
                        <a:t>0.3</a:t>
                      </a:r>
                    </a:p>
                  </a:txBody>
                  <a:tcPr/>
                </a:tc>
                <a:extLst>
                  <a:ext uri="{0D108BD9-81ED-4DB2-BD59-A6C34878D82A}">
                    <a16:rowId xmlns:a16="http://schemas.microsoft.com/office/drawing/2014/main" val="481424515"/>
                  </a:ext>
                </a:extLst>
              </a:tr>
              <a:tr h="245256">
                <a:tc>
                  <a:txBody>
                    <a:bodyPr/>
                    <a:lstStyle/>
                    <a:p>
                      <a:pPr algn="ctr"/>
                      <a:r>
                        <a:rPr lang="en-US" sz="1100" dirty="0"/>
                        <a:t>0.3</a:t>
                      </a:r>
                    </a:p>
                  </a:txBody>
                  <a:tcPr/>
                </a:tc>
                <a:tc>
                  <a:txBody>
                    <a:bodyPr/>
                    <a:lstStyle/>
                    <a:p>
                      <a:pPr algn="ctr"/>
                      <a:r>
                        <a:rPr lang="en-US" sz="1100" dirty="0"/>
                        <a:t>0.7</a:t>
                      </a:r>
                    </a:p>
                  </a:txBody>
                  <a:tcPr/>
                </a:tc>
                <a:tc>
                  <a:txBody>
                    <a:bodyPr/>
                    <a:lstStyle/>
                    <a:p>
                      <a:pPr algn="ctr"/>
                      <a:r>
                        <a:rPr lang="en-US" sz="1100" dirty="0"/>
                        <a:t>0.9</a:t>
                      </a:r>
                    </a:p>
                  </a:txBody>
                  <a:tcPr/>
                </a:tc>
                <a:tc>
                  <a:txBody>
                    <a:bodyPr/>
                    <a:lstStyle/>
                    <a:p>
                      <a:pPr algn="ctr"/>
                      <a:r>
                        <a:rPr lang="en-US" sz="1100" dirty="0"/>
                        <a:t>0.2</a:t>
                      </a:r>
                    </a:p>
                  </a:txBody>
                  <a:tcPr/>
                </a:tc>
                <a:tc>
                  <a:txBody>
                    <a:bodyPr/>
                    <a:lstStyle/>
                    <a:p>
                      <a:pPr algn="ctr"/>
                      <a:r>
                        <a:rPr lang="en-US" sz="1100" dirty="0"/>
                        <a:t>0.4</a:t>
                      </a:r>
                    </a:p>
                  </a:txBody>
                  <a:tcPr/>
                </a:tc>
                <a:extLst>
                  <a:ext uri="{0D108BD9-81ED-4DB2-BD59-A6C34878D82A}">
                    <a16:rowId xmlns:a16="http://schemas.microsoft.com/office/drawing/2014/main" val="902716955"/>
                  </a:ext>
                </a:extLst>
              </a:tr>
              <a:tr h="245256">
                <a:tc>
                  <a:txBody>
                    <a:bodyPr/>
                    <a:lstStyle/>
                    <a:p>
                      <a:pPr algn="ctr"/>
                      <a:r>
                        <a:rPr lang="en-US" sz="1100" dirty="0"/>
                        <a:t>0.5</a:t>
                      </a:r>
                    </a:p>
                  </a:txBody>
                  <a:tcPr/>
                </a:tc>
                <a:tc>
                  <a:txBody>
                    <a:bodyPr/>
                    <a:lstStyle/>
                    <a:p>
                      <a:pPr algn="ctr"/>
                      <a:r>
                        <a:rPr lang="en-US" sz="1100" dirty="0"/>
                        <a:t>0.4</a:t>
                      </a:r>
                    </a:p>
                  </a:txBody>
                  <a:tcPr/>
                </a:tc>
                <a:tc>
                  <a:txBody>
                    <a:bodyPr/>
                    <a:lstStyle/>
                    <a:p>
                      <a:pPr algn="ctr"/>
                      <a:r>
                        <a:rPr lang="en-US" sz="1100" dirty="0"/>
                        <a:t>0.6</a:t>
                      </a:r>
                    </a:p>
                  </a:txBody>
                  <a:tcPr/>
                </a:tc>
                <a:tc>
                  <a:txBody>
                    <a:bodyPr/>
                    <a:lstStyle/>
                    <a:p>
                      <a:pPr algn="ctr"/>
                      <a:r>
                        <a:rPr lang="en-US" sz="1100" dirty="0"/>
                        <a:t>0.1</a:t>
                      </a:r>
                    </a:p>
                  </a:txBody>
                  <a:tcPr/>
                </a:tc>
                <a:tc>
                  <a:txBody>
                    <a:bodyPr/>
                    <a:lstStyle/>
                    <a:p>
                      <a:pPr algn="ctr"/>
                      <a:r>
                        <a:rPr lang="en-US" sz="1100" dirty="0"/>
                        <a:t>0.8</a:t>
                      </a:r>
                    </a:p>
                  </a:txBody>
                  <a:tcPr/>
                </a:tc>
                <a:extLst>
                  <a:ext uri="{0D108BD9-81ED-4DB2-BD59-A6C34878D82A}">
                    <a16:rowId xmlns:a16="http://schemas.microsoft.com/office/drawing/2014/main" val="3978761368"/>
                  </a:ext>
                </a:extLst>
              </a:tr>
            </a:tbl>
          </a:graphicData>
        </a:graphic>
      </p:graphicFrame>
      <p:graphicFrame>
        <p:nvGraphicFramePr>
          <p:cNvPr id="9" name="Table 8">
            <a:extLst>
              <a:ext uri="{FF2B5EF4-FFF2-40B4-BE49-F238E27FC236}">
                <a16:creationId xmlns:a16="http://schemas.microsoft.com/office/drawing/2014/main" id="{9584E86A-077F-E7FB-2C53-24AA78DF5A28}"/>
              </a:ext>
            </a:extLst>
          </p:cNvPr>
          <p:cNvGraphicFramePr>
            <a:graphicFrameLocks noGrp="1"/>
          </p:cNvGraphicFramePr>
          <p:nvPr>
            <p:extLst>
              <p:ext uri="{D42A27DB-BD31-4B8C-83A1-F6EECF244321}">
                <p14:modId xmlns:p14="http://schemas.microsoft.com/office/powerpoint/2010/main" val="23213329"/>
              </p:ext>
            </p:extLst>
          </p:nvPr>
        </p:nvGraphicFramePr>
        <p:xfrm>
          <a:off x="5784803" y="3021301"/>
          <a:ext cx="1115907" cy="277255"/>
        </p:xfrm>
        <a:graphic>
          <a:graphicData uri="http://schemas.openxmlformats.org/drawingml/2006/table">
            <a:tbl>
              <a:tblPr bandRow="1">
                <a:tableStyleId>{8A107856-5554-42FB-B03E-39F5DBC370BA}</a:tableStyleId>
              </a:tblPr>
              <a:tblGrid>
                <a:gridCol w="371969">
                  <a:extLst>
                    <a:ext uri="{9D8B030D-6E8A-4147-A177-3AD203B41FA5}">
                      <a16:colId xmlns:a16="http://schemas.microsoft.com/office/drawing/2014/main" val="749320167"/>
                    </a:ext>
                  </a:extLst>
                </a:gridCol>
                <a:gridCol w="371969">
                  <a:extLst>
                    <a:ext uri="{9D8B030D-6E8A-4147-A177-3AD203B41FA5}">
                      <a16:colId xmlns:a16="http://schemas.microsoft.com/office/drawing/2014/main" val="568413949"/>
                    </a:ext>
                  </a:extLst>
                </a:gridCol>
                <a:gridCol w="371969">
                  <a:extLst>
                    <a:ext uri="{9D8B030D-6E8A-4147-A177-3AD203B41FA5}">
                      <a16:colId xmlns:a16="http://schemas.microsoft.com/office/drawing/2014/main" val="874955793"/>
                    </a:ext>
                  </a:extLst>
                </a:gridCol>
              </a:tblGrid>
              <a:tr h="277255">
                <a:tc>
                  <a:txBody>
                    <a:bodyPr/>
                    <a:lstStyle/>
                    <a:p>
                      <a:pPr algn="ctr"/>
                      <a:r>
                        <a:rPr lang="en-US" sz="1100" dirty="0"/>
                        <a:t>0.0</a:t>
                      </a:r>
                    </a:p>
                  </a:txBody>
                  <a:tcPr/>
                </a:tc>
                <a:tc>
                  <a:txBody>
                    <a:bodyPr/>
                    <a:lstStyle/>
                    <a:p>
                      <a:pPr algn="ctr"/>
                      <a:r>
                        <a:rPr lang="en-US" sz="1100" dirty="0"/>
                        <a:t>0.0</a:t>
                      </a:r>
                    </a:p>
                  </a:txBody>
                  <a:tcPr/>
                </a:tc>
                <a:tc>
                  <a:txBody>
                    <a:bodyPr/>
                    <a:lstStyle/>
                    <a:p>
                      <a:pPr algn="ctr"/>
                      <a:r>
                        <a:rPr lang="en-US" sz="1100" dirty="0"/>
                        <a:t>0.0</a:t>
                      </a:r>
                    </a:p>
                  </a:txBody>
                  <a:tcPr/>
                </a:tc>
                <a:extLst>
                  <a:ext uri="{0D108BD9-81ED-4DB2-BD59-A6C34878D82A}">
                    <a16:rowId xmlns:a16="http://schemas.microsoft.com/office/drawing/2014/main" val="481424515"/>
                  </a:ext>
                </a:extLst>
              </a:tr>
            </a:tbl>
          </a:graphicData>
        </a:graphic>
      </p:graphicFrame>
      <p:cxnSp>
        <p:nvCxnSpPr>
          <p:cNvPr id="11" name="Straight Arrow Connector 10">
            <a:extLst>
              <a:ext uri="{FF2B5EF4-FFF2-40B4-BE49-F238E27FC236}">
                <a16:creationId xmlns:a16="http://schemas.microsoft.com/office/drawing/2014/main" id="{6DA4511E-36CC-3E3C-1E15-8858E663C974}"/>
              </a:ext>
            </a:extLst>
          </p:cNvPr>
          <p:cNvCxnSpPr>
            <a:cxnSpLocks/>
            <a:stCxn id="9" idx="3"/>
            <a:endCxn id="18" idx="1"/>
          </p:cNvCxnSpPr>
          <p:nvPr/>
        </p:nvCxnSpPr>
        <p:spPr>
          <a:xfrm flipV="1">
            <a:off x="6900710" y="3158063"/>
            <a:ext cx="2484160" cy="18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ACB03D9-2796-1924-D826-78098F03160F}"/>
              </a:ext>
            </a:extLst>
          </p:cNvPr>
          <p:cNvCxnSpPr>
            <a:cxnSpLocks/>
            <a:stCxn id="4" idx="6"/>
            <a:endCxn id="18" idx="1"/>
          </p:cNvCxnSpPr>
          <p:nvPr/>
        </p:nvCxnSpPr>
        <p:spPr>
          <a:xfrm flipH="1" flipV="1">
            <a:off x="9384870" y="3158063"/>
            <a:ext cx="1193140" cy="32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85A92AF-B37D-0CA0-91E6-EF81EEF209EF}"/>
              </a:ext>
            </a:extLst>
          </p:cNvPr>
          <p:cNvCxnSpPr>
            <a:cxnSpLocks/>
            <a:stCxn id="4" idx="0"/>
            <a:endCxn id="102" idx="2"/>
          </p:cNvCxnSpPr>
          <p:nvPr/>
        </p:nvCxnSpPr>
        <p:spPr>
          <a:xfrm flipV="1">
            <a:off x="10114334" y="755734"/>
            <a:ext cx="7697" cy="19877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17" name="Table 16">
            <a:extLst>
              <a:ext uri="{FF2B5EF4-FFF2-40B4-BE49-F238E27FC236}">
                <a16:creationId xmlns:a16="http://schemas.microsoft.com/office/drawing/2014/main" id="{29175B24-6C38-A125-FA7C-BCAB7EA02D98}"/>
              </a:ext>
            </a:extLst>
          </p:cNvPr>
          <p:cNvGraphicFramePr>
            <a:graphicFrameLocks noGrp="1"/>
          </p:cNvGraphicFramePr>
          <p:nvPr>
            <p:extLst>
              <p:ext uri="{D42A27DB-BD31-4B8C-83A1-F6EECF244321}">
                <p14:modId xmlns:p14="http://schemas.microsoft.com/office/powerpoint/2010/main" val="2502142924"/>
              </p:ext>
            </p:extLst>
          </p:nvPr>
        </p:nvGraphicFramePr>
        <p:xfrm>
          <a:off x="7767774" y="2762659"/>
          <a:ext cx="1157724" cy="777240"/>
        </p:xfrm>
        <a:graphic>
          <a:graphicData uri="http://schemas.openxmlformats.org/drawingml/2006/table">
            <a:tbl>
              <a:tblPr bandRow="1">
                <a:tableStyleId>{8A107856-5554-42FB-B03E-39F5DBC370BA}</a:tableStyleId>
              </a:tblPr>
              <a:tblGrid>
                <a:gridCol w="385908">
                  <a:extLst>
                    <a:ext uri="{9D8B030D-6E8A-4147-A177-3AD203B41FA5}">
                      <a16:colId xmlns:a16="http://schemas.microsoft.com/office/drawing/2014/main" val="749320167"/>
                    </a:ext>
                  </a:extLst>
                </a:gridCol>
                <a:gridCol w="385908">
                  <a:extLst>
                    <a:ext uri="{9D8B030D-6E8A-4147-A177-3AD203B41FA5}">
                      <a16:colId xmlns:a16="http://schemas.microsoft.com/office/drawing/2014/main" val="568413949"/>
                    </a:ext>
                  </a:extLst>
                </a:gridCol>
                <a:gridCol w="385908">
                  <a:extLst>
                    <a:ext uri="{9D8B030D-6E8A-4147-A177-3AD203B41FA5}">
                      <a16:colId xmlns:a16="http://schemas.microsoft.com/office/drawing/2014/main" val="874955793"/>
                    </a:ext>
                  </a:extLst>
                </a:gridCol>
              </a:tblGrid>
              <a:tr h="235697">
                <a:tc>
                  <a:txBody>
                    <a:bodyPr/>
                    <a:lstStyle/>
                    <a:p>
                      <a:pPr algn="ctr"/>
                      <a:r>
                        <a:rPr lang="en-US" sz="1100" dirty="0"/>
                        <a:t>0.5</a:t>
                      </a:r>
                    </a:p>
                  </a:txBody>
                  <a:tcPr/>
                </a:tc>
                <a:tc>
                  <a:txBody>
                    <a:bodyPr/>
                    <a:lstStyle/>
                    <a:p>
                      <a:pPr algn="ctr"/>
                      <a:r>
                        <a:rPr lang="en-US" sz="1100" dirty="0"/>
                        <a:t>0.6</a:t>
                      </a:r>
                    </a:p>
                  </a:txBody>
                  <a:tcPr/>
                </a:tc>
                <a:tc>
                  <a:txBody>
                    <a:bodyPr/>
                    <a:lstStyle/>
                    <a:p>
                      <a:pPr algn="ctr"/>
                      <a:r>
                        <a:rPr lang="en-US" sz="1100" dirty="0"/>
                        <a:t>0.4</a:t>
                      </a:r>
                    </a:p>
                  </a:txBody>
                  <a:tcPr/>
                </a:tc>
                <a:extLst>
                  <a:ext uri="{0D108BD9-81ED-4DB2-BD59-A6C34878D82A}">
                    <a16:rowId xmlns:a16="http://schemas.microsoft.com/office/drawing/2014/main" val="481424515"/>
                  </a:ext>
                </a:extLst>
              </a:tr>
              <a:tr h="252232">
                <a:tc>
                  <a:txBody>
                    <a:bodyPr/>
                    <a:lstStyle/>
                    <a:p>
                      <a:pPr algn="ctr"/>
                      <a:r>
                        <a:rPr lang="en-US" sz="1100" dirty="0"/>
                        <a:t>0.1</a:t>
                      </a:r>
                    </a:p>
                  </a:txBody>
                  <a:tcPr/>
                </a:tc>
                <a:tc>
                  <a:txBody>
                    <a:bodyPr/>
                    <a:lstStyle/>
                    <a:p>
                      <a:pPr algn="ctr"/>
                      <a:r>
                        <a:rPr lang="en-US" sz="1100" dirty="0"/>
                        <a:t>0.8</a:t>
                      </a:r>
                    </a:p>
                  </a:txBody>
                  <a:tcPr/>
                </a:tc>
                <a:tc>
                  <a:txBody>
                    <a:bodyPr/>
                    <a:lstStyle/>
                    <a:p>
                      <a:pPr algn="ctr"/>
                      <a:r>
                        <a:rPr lang="en-US" sz="1100" dirty="0"/>
                        <a:t>0.2</a:t>
                      </a:r>
                    </a:p>
                  </a:txBody>
                  <a:tcPr/>
                </a:tc>
                <a:extLst>
                  <a:ext uri="{0D108BD9-81ED-4DB2-BD59-A6C34878D82A}">
                    <a16:rowId xmlns:a16="http://schemas.microsoft.com/office/drawing/2014/main" val="902716955"/>
                  </a:ext>
                </a:extLst>
              </a:tr>
              <a:tr h="252232">
                <a:tc>
                  <a:txBody>
                    <a:bodyPr/>
                    <a:lstStyle/>
                    <a:p>
                      <a:pPr algn="ctr"/>
                      <a:r>
                        <a:rPr lang="en-US" sz="1100" dirty="0"/>
                        <a:t>0.7</a:t>
                      </a:r>
                    </a:p>
                  </a:txBody>
                  <a:tcPr/>
                </a:tc>
                <a:tc>
                  <a:txBody>
                    <a:bodyPr/>
                    <a:lstStyle/>
                    <a:p>
                      <a:pPr algn="ctr"/>
                      <a:r>
                        <a:rPr lang="en-US" sz="1100" dirty="0"/>
                        <a:t>0.2</a:t>
                      </a:r>
                    </a:p>
                  </a:txBody>
                  <a:tcPr/>
                </a:tc>
                <a:tc>
                  <a:txBody>
                    <a:bodyPr/>
                    <a:lstStyle/>
                    <a:p>
                      <a:pPr algn="ctr"/>
                      <a:r>
                        <a:rPr lang="en-US" sz="1100" dirty="0"/>
                        <a:t>0.9</a:t>
                      </a:r>
                    </a:p>
                  </a:txBody>
                  <a:tcPr/>
                </a:tc>
                <a:extLst>
                  <a:ext uri="{0D108BD9-81ED-4DB2-BD59-A6C34878D82A}">
                    <a16:rowId xmlns:a16="http://schemas.microsoft.com/office/drawing/2014/main" val="3978761368"/>
                  </a:ext>
                </a:extLst>
              </a:tr>
            </a:tbl>
          </a:graphicData>
        </a:graphic>
      </p:graphicFrame>
      <p:graphicFrame>
        <p:nvGraphicFramePr>
          <p:cNvPr id="18" name="Table 17">
            <a:extLst>
              <a:ext uri="{FF2B5EF4-FFF2-40B4-BE49-F238E27FC236}">
                <a16:creationId xmlns:a16="http://schemas.microsoft.com/office/drawing/2014/main" id="{7FF50C5E-B388-DF2B-D311-4D1BF1456ED9}"/>
              </a:ext>
            </a:extLst>
          </p:cNvPr>
          <p:cNvGraphicFramePr>
            <a:graphicFrameLocks noGrp="1"/>
          </p:cNvGraphicFramePr>
          <p:nvPr>
            <p:extLst>
              <p:ext uri="{D42A27DB-BD31-4B8C-83A1-F6EECF244321}">
                <p14:modId xmlns:p14="http://schemas.microsoft.com/office/powerpoint/2010/main" val="691520084"/>
              </p:ext>
            </p:extLst>
          </p:nvPr>
        </p:nvGraphicFramePr>
        <p:xfrm>
          <a:off x="9384870" y="3028523"/>
          <a:ext cx="1393548" cy="259080"/>
        </p:xfrm>
        <a:graphic>
          <a:graphicData uri="http://schemas.openxmlformats.org/drawingml/2006/table">
            <a:tbl>
              <a:tblPr bandRow="1">
                <a:tableStyleId>{8A107856-5554-42FB-B03E-39F5DBC370BA}</a:tableStyleId>
              </a:tblPr>
              <a:tblGrid>
                <a:gridCol w="464516">
                  <a:extLst>
                    <a:ext uri="{9D8B030D-6E8A-4147-A177-3AD203B41FA5}">
                      <a16:colId xmlns:a16="http://schemas.microsoft.com/office/drawing/2014/main" val="749320167"/>
                    </a:ext>
                  </a:extLst>
                </a:gridCol>
                <a:gridCol w="464516">
                  <a:extLst>
                    <a:ext uri="{9D8B030D-6E8A-4147-A177-3AD203B41FA5}">
                      <a16:colId xmlns:a16="http://schemas.microsoft.com/office/drawing/2014/main" val="568413949"/>
                    </a:ext>
                  </a:extLst>
                </a:gridCol>
                <a:gridCol w="464516">
                  <a:extLst>
                    <a:ext uri="{9D8B030D-6E8A-4147-A177-3AD203B41FA5}">
                      <a16:colId xmlns:a16="http://schemas.microsoft.com/office/drawing/2014/main" val="874955793"/>
                    </a:ext>
                  </a:extLst>
                </a:gridCol>
              </a:tblGrid>
              <a:tr h="141858">
                <a:tc>
                  <a:txBody>
                    <a:bodyPr/>
                    <a:lstStyle/>
                    <a:p>
                      <a:pPr algn="ctr"/>
                      <a:r>
                        <a:rPr lang="en-US" sz="1100" dirty="0"/>
                        <a:t>0.7</a:t>
                      </a:r>
                    </a:p>
                  </a:txBody>
                  <a:tcPr/>
                </a:tc>
                <a:tc>
                  <a:txBody>
                    <a:bodyPr/>
                    <a:lstStyle/>
                    <a:p>
                      <a:pPr algn="ctr"/>
                      <a:r>
                        <a:rPr lang="en-US" sz="1100" dirty="0"/>
                        <a:t>0.37</a:t>
                      </a:r>
                    </a:p>
                  </a:txBody>
                  <a:tcPr/>
                </a:tc>
                <a:tc>
                  <a:txBody>
                    <a:bodyPr/>
                    <a:lstStyle/>
                    <a:p>
                      <a:pPr algn="ctr"/>
                      <a:r>
                        <a:rPr lang="en-US" sz="1100" dirty="0"/>
                        <a:t>0.66</a:t>
                      </a:r>
                    </a:p>
                  </a:txBody>
                  <a:tcPr/>
                </a:tc>
                <a:extLst>
                  <a:ext uri="{0D108BD9-81ED-4DB2-BD59-A6C34878D82A}">
                    <a16:rowId xmlns:a16="http://schemas.microsoft.com/office/drawing/2014/main" val="481424515"/>
                  </a:ext>
                </a:extLst>
              </a:tr>
            </a:tbl>
          </a:graphicData>
        </a:graphic>
      </p:graphicFrame>
      <p:sp>
        <p:nvSpPr>
          <p:cNvPr id="22" name="TextBox 21">
            <a:extLst>
              <a:ext uri="{FF2B5EF4-FFF2-40B4-BE49-F238E27FC236}">
                <a16:creationId xmlns:a16="http://schemas.microsoft.com/office/drawing/2014/main" id="{7CB5EF32-87C8-48F9-AA7B-E5E31CABAD44}"/>
              </a:ext>
            </a:extLst>
          </p:cNvPr>
          <p:cNvSpPr txBox="1"/>
          <p:nvPr/>
        </p:nvSpPr>
        <p:spPr>
          <a:xfrm>
            <a:off x="323552" y="2777298"/>
            <a:ext cx="2619686" cy="261610"/>
          </a:xfrm>
          <a:prstGeom prst="rect">
            <a:avLst/>
          </a:prstGeom>
          <a:noFill/>
        </p:spPr>
        <p:txBody>
          <a:bodyPr wrap="square">
            <a:spAutoFit/>
          </a:bodyPr>
          <a:lstStyle/>
          <a:p>
            <a:r>
              <a:rPr lang="en-US" sz="1100" dirty="0"/>
              <a:t>h</a:t>
            </a:r>
            <a:r>
              <a:rPr lang="en-US" sz="1100" baseline="-25000" dirty="0"/>
              <a:t>1</a:t>
            </a:r>
            <a:r>
              <a:rPr lang="en-US" sz="1100" dirty="0"/>
              <a:t> = tanh(U * x</a:t>
            </a:r>
            <a:r>
              <a:rPr lang="en-US" sz="1100" baseline="-25000" dirty="0"/>
              <a:t>1</a:t>
            </a:r>
            <a:r>
              <a:rPr lang="en-US" sz="1100" dirty="0"/>
              <a:t> + W * h</a:t>
            </a:r>
            <a:r>
              <a:rPr lang="en-US" sz="1100" baseline="-25000" dirty="0"/>
              <a:t>0</a:t>
            </a:r>
            <a:r>
              <a:rPr lang="en-US" sz="1100" dirty="0"/>
              <a:t> + b)</a:t>
            </a:r>
          </a:p>
        </p:txBody>
      </p:sp>
      <p:sp>
        <p:nvSpPr>
          <p:cNvPr id="26" name="TextBox 25">
            <a:extLst>
              <a:ext uri="{FF2B5EF4-FFF2-40B4-BE49-F238E27FC236}">
                <a16:creationId xmlns:a16="http://schemas.microsoft.com/office/drawing/2014/main" id="{562ACD9A-948B-89F9-696F-45E159CDDA02}"/>
              </a:ext>
            </a:extLst>
          </p:cNvPr>
          <p:cNvSpPr txBox="1"/>
          <p:nvPr/>
        </p:nvSpPr>
        <p:spPr>
          <a:xfrm>
            <a:off x="323552" y="534438"/>
            <a:ext cx="4398696" cy="938719"/>
          </a:xfrm>
          <a:prstGeom prst="rect">
            <a:avLst/>
          </a:prstGeom>
          <a:noFill/>
        </p:spPr>
        <p:txBody>
          <a:bodyPr wrap="square">
            <a:spAutoFit/>
          </a:bodyPr>
          <a:lstStyle/>
          <a:p>
            <a:r>
              <a:rPr lang="en-US" sz="1100" dirty="0"/>
              <a:t>U * x</a:t>
            </a:r>
            <a:r>
              <a:rPr lang="en-US" sz="1100" baseline="-25000" dirty="0"/>
              <a:t>1</a:t>
            </a:r>
            <a:r>
              <a:rPr lang="en-US" sz="1100" dirty="0"/>
              <a:t> = [</a:t>
            </a:r>
          </a:p>
          <a:p>
            <a:r>
              <a:rPr lang="en-US" sz="1100" dirty="0"/>
              <a:t>                    [0.8, 0.2, 0.1, 0.5, 0.3]</a:t>
            </a:r>
          </a:p>
          <a:p>
            <a:r>
              <a:rPr lang="en-US" sz="1100" dirty="0"/>
              <a:t>                    [0.3, 0.7, 0.9, 0.2, 0.4]</a:t>
            </a:r>
            <a:endParaRPr lang="en-US" sz="1100" dirty="0">
              <a:highlight>
                <a:srgbClr val="FFFF00"/>
              </a:highlight>
            </a:endParaRPr>
          </a:p>
          <a:p>
            <a:r>
              <a:rPr lang="en-US" sz="1100" dirty="0"/>
              <a:t>                    [0.5, 0.4, 0.6, 0.1, 0.8]</a:t>
            </a:r>
          </a:p>
          <a:p>
            <a:r>
              <a:rPr lang="en-US" sz="1100" dirty="0"/>
              <a:t>                ]</a:t>
            </a:r>
          </a:p>
        </p:txBody>
      </p:sp>
      <p:sp>
        <p:nvSpPr>
          <p:cNvPr id="28" name="TextBox 27">
            <a:extLst>
              <a:ext uri="{FF2B5EF4-FFF2-40B4-BE49-F238E27FC236}">
                <a16:creationId xmlns:a16="http://schemas.microsoft.com/office/drawing/2014/main" id="{6FB8AA59-1C11-FD46-82EF-5810E03ADE81}"/>
              </a:ext>
            </a:extLst>
          </p:cNvPr>
          <p:cNvSpPr txBox="1"/>
          <p:nvPr/>
        </p:nvSpPr>
        <p:spPr>
          <a:xfrm>
            <a:off x="323552" y="1565876"/>
            <a:ext cx="4592438" cy="938719"/>
          </a:xfrm>
          <a:prstGeom prst="rect">
            <a:avLst/>
          </a:prstGeom>
          <a:noFill/>
        </p:spPr>
        <p:txBody>
          <a:bodyPr wrap="square">
            <a:spAutoFit/>
          </a:bodyPr>
          <a:lstStyle/>
          <a:p>
            <a:r>
              <a:rPr lang="en-US" sz="1100" dirty="0"/>
              <a:t>W * h</a:t>
            </a:r>
            <a:r>
              <a:rPr lang="en-US" sz="1100" baseline="-25000" dirty="0"/>
              <a:t>0</a:t>
            </a:r>
            <a:r>
              <a:rPr lang="en-US" sz="1100" dirty="0"/>
              <a:t> = [</a:t>
            </a:r>
          </a:p>
          <a:p>
            <a:r>
              <a:rPr lang="en-US" sz="1100" dirty="0"/>
              <a:t>                      [0.5, 0.6, 0.4]</a:t>
            </a:r>
          </a:p>
          <a:p>
            <a:r>
              <a:rPr lang="en-US" sz="1100" dirty="0"/>
              <a:t>                      [0.1, 0.8, 0.2]</a:t>
            </a:r>
          </a:p>
          <a:p>
            <a:r>
              <a:rPr lang="en-US" sz="1100" dirty="0"/>
              <a:t>                      [0.7, 0.2, 0.9]</a:t>
            </a:r>
          </a:p>
          <a:p>
            <a:r>
              <a:rPr lang="en-US" sz="1100" dirty="0"/>
              <a:t>                 ]</a:t>
            </a:r>
          </a:p>
        </p:txBody>
      </p:sp>
      <p:sp>
        <p:nvSpPr>
          <p:cNvPr id="32" name="TextBox 31">
            <a:extLst>
              <a:ext uri="{FF2B5EF4-FFF2-40B4-BE49-F238E27FC236}">
                <a16:creationId xmlns:a16="http://schemas.microsoft.com/office/drawing/2014/main" id="{9D298734-9603-84ED-53C9-984C3BF102D5}"/>
              </a:ext>
            </a:extLst>
          </p:cNvPr>
          <p:cNvSpPr txBox="1"/>
          <p:nvPr/>
        </p:nvSpPr>
        <p:spPr>
          <a:xfrm>
            <a:off x="323552" y="3131627"/>
            <a:ext cx="3579551" cy="430887"/>
          </a:xfrm>
          <a:prstGeom prst="rect">
            <a:avLst/>
          </a:prstGeom>
          <a:noFill/>
        </p:spPr>
        <p:txBody>
          <a:bodyPr wrap="square">
            <a:spAutoFit/>
          </a:bodyPr>
          <a:lstStyle/>
          <a:p>
            <a:r>
              <a:rPr lang="en-US" sz="1100" dirty="0"/>
              <a:t>h</a:t>
            </a:r>
            <a:r>
              <a:rPr lang="en-US" sz="1100" baseline="-25000" dirty="0"/>
              <a:t>1</a:t>
            </a:r>
            <a:r>
              <a:rPr lang="en-US" sz="1100" dirty="0"/>
              <a:t> = </a:t>
            </a:r>
            <a:r>
              <a:rPr lang="en-US" sz="1100" dirty="0">
                <a:highlight>
                  <a:srgbClr val="FFFF00"/>
                </a:highlight>
              </a:rPr>
              <a:t>[0.8, 0.3, 0.5]</a:t>
            </a:r>
            <a:r>
              <a:rPr lang="en-US" sz="1100" dirty="0"/>
              <a:t> + </a:t>
            </a:r>
            <a:r>
              <a:rPr lang="en-US" sz="1100" dirty="0">
                <a:highlight>
                  <a:srgbClr val="00FF00"/>
                </a:highlight>
              </a:rPr>
              <a:t>[0.0, 0.0, 0.0]</a:t>
            </a:r>
            <a:r>
              <a:rPr lang="en-US" sz="1100" dirty="0"/>
              <a:t> + [0.1, 0.2, 0.3] </a:t>
            </a:r>
          </a:p>
          <a:p>
            <a:r>
              <a:rPr lang="en-US" sz="1100" dirty="0"/>
              <a:t>     = [0.9, 0.5, 0.8]</a:t>
            </a:r>
          </a:p>
        </p:txBody>
      </p:sp>
      <p:graphicFrame>
        <p:nvGraphicFramePr>
          <p:cNvPr id="33" name="Table 32">
            <a:extLst>
              <a:ext uri="{FF2B5EF4-FFF2-40B4-BE49-F238E27FC236}">
                <a16:creationId xmlns:a16="http://schemas.microsoft.com/office/drawing/2014/main" id="{FE38691E-5991-F56C-6BA5-DFC16516E4C1}"/>
              </a:ext>
            </a:extLst>
          </p:cNvPr>
          <p:cNvGraphicFramePr>
            <a:graphicFrameLocks noGrp="1"/>
          </p:cNvGraphicFramePr>
          <p:nvPr>
            <p:extLst>
              <p:ext uri="{D42A27DB-BD31-4B8C-83A1-F6EECF244321}">
                <p14:modId xmlns:p14="http://schemas.microsoft.com/office/powerpoint/2010/main" val="2495915385"/>
              </p:ext>
            </p:extLst>
          </p:nvPr>
        </p:nvGraphicFramePr>
        <p:xfrm>
          <a:off x="6059467" y="6030912"/>
          <a:ext cx="1259598" cy="259080"/>
        </p:xfrm>
        <a:graphic>
          <a:graphicData uri="http://schemas.openxmlformats.org/drawingml/2006/table">
            <a:tbl>
              <a:tblPr bandRow="1">
                <a:tableStyleId>{8A107856-5554-42FB-B03E-39F5DBC370BA}</a:tableStyleId>
              </a:tblPr>
              <a:tblGrid>
                <a:gridCol w="417310">
                  <a:extLst>
                    <a:ext uri="{9D8B030D-6E8A-4147-A177-3AD203B41FA5}">
                      <a16:colId xmlns:a16="http://schemas.microsoft.com/office/drawing/2014/main" val="749320167"/>
                    </a:ext>
                  </a:extLst>
                </a:gridCol>
                <a:gridCol w="417310">
                  <a:extLst>
                    <a:ext uri="{9D8B030D-6E8A-4147-A177-3AD203B41FA5}">
                      <a16:colId xmlns:a16="http://schemas.microsoft.com/office/drawing/2014/main" val="568413949"/>
                    </a:ext>
                  </a:extLst>
                </a:gridCol>
                <a:gridCol w="424978">
                  <a:extLst>
                    <a:ext uri="{9D8B030D-6E8A-4147-A177-3AD203B41FA5}">
                      <a16:colId xmlns:a16="http://schemas.microsoft.com/office/drawing/2014/main" val="874955793"/>
                    </a:ext>
                  </a:extLst>
                </a:gridCol>
              </a:tblGrid>
              <a:tr h="0">
                <a:tc>
                  <a:txBody>
                    <a:bodyPr/>
                    <a:lstStyle/>
                    <a:p>
                      <a:pPr algn="ctr"/>
                      <a:r>
                        <a:rPr lang="en-US" sz="1100" dirty="0"/>
                        <a:t>0.1</a:t>
                      </a:r>
                    </a:p>
                  </a:txBody>
                  <a:tcPr/>
                </a:tc>
                <a:tc>
                  <a:txBody>
                    <a:bodyPr/>
                    <a:lstStyle/>
                    <a:p>
                      <a:pPr algn="ctr"/>
                      <a:r>
                        <a:rPr lang="en-US" sz="1100" dirty="0"/>
                        <a:t>0.2</a:t>
                      </a:r>
                    </a:p>
                  </a:txBody>
                  <a:tcPr/>
                </a:tc>
                <a:tc>
                  <a:txBody>
                    <a:bodyPr/>
                    <a:lstStyle/>
                    <a:p>
                      <a:pPr algn="ctr"/>
                      <a:r>
                        <a:rPr lang="en-US" sz="1100" dirty="0"/>
                        <a:t>0.3</a:t>
                      </a:r>
                    </a:p>
                  </a:txBody>
                  <a:tcPr/>
                </a:tc>
                <a:extLst>
                  <a:ext uri="{0D108BD9-81ED-4DB2-BD59-A6C34878D82A}">
                    <a16:rowId xmlns:a16="http://schemas.microsoft.com/office/drawing/2014/main" val="481424515"/>
                  </a:ext>
                </a:extLst>
              </a:tr>
            </a:tbl>
          </a:graphicData>
        </a:graphic>
      </p:graphicFrame>
      <p:sp>
        <p:nvSpPr>
          <p:cNvPr id="37" name="TextBox 36">
            <a:extLst>
              <a:ext uri="{FF2B5EF4-FFF2-40B4-BE49-F238E27FC236}">
                <a16:creationId xmlns:a16="http://schemas.microsoft.com/office/drawing/2014/main" id="{5186A916-A435-606D-BA01-A59E2F04FE0C}"/>
              </a:ext>
            </a:extLst>
          </p:cNvPr>
          <p:cNvSpPr txBox="1"/>
          <p:nvPr/>
        </p:nvSpPr>
        <p:spPr>
          <a:xfrm>
            <a:off x="323552" y="3655235"/>
            <a:ext cx="3322573" cy="261610"/>
          </a:xfrm>
          <a:prstGeom prst="rect">
            <a:avLst/>
          </a:prstGeom>
          <a:noFill/>
        </p:spPr>
        <p:txBody>
          <a:bodyPr wrap="square">
            <a:spAutoFit/>
          </a:bodyPr>
          <a:lstStyle/>
          <a:p>
            <a:r>
              <a:rPr lang="en-US" sz="1100" dirty="0"/>
              <a:t>h</a:t>
            </a:r>
            <a:r>
              <a:rPr lang="en-US" sz="1100" baseline="-25000" dirty="0"/>
              <a:t>1</a:t>
            </a:r>
            <a:r>
              <a:rPr lang="en-US" sz="1100" dirty="0"/>
              <a:t> = tanh([0.9, 0.4, 0.8]) = [0.7, 0.37, 0.66] </a:t>
            </a:r>
          </a:p>
        </p:txBody>
      </p:sp>
      <p:graphicFrame>
        <p:nvGraphicFramePr>
          <p:cNvPr id="40" name="Table 39">
            <a:extLst>
              <a:ext uri="{FF2B5EF4-FFF2-40B4-BE49-F238E27FC236}">
                <a16:creationId xmlns:a16="http://schemas.microsoft.com/office/drawing/2014/main" id="{ECE71A4F-BDBF-E01E-962D-125B1D9D0649}"/>
              </a:ext>
            </a:extLst>
          </p:cNvPr>
          <p:cNvGraphicFramePr>
            <a:graphicFrameLocks noGrp="1"/>
          </p:cNvGraphicFramePr>
          <p:nvPr>
            <p:extLst>
              <p:ext uri="{D42A27DB-BD31-4B8C-83A1-F6EECF244321}">
                <p14:modId xmlns:p14="http://schemas.microsoft.com/office/powerpoint/2010/main" val="3567041459"/>
              </p:ext>
            </p:extLst>
          </p:nvPr>
        </p:nvGraphicFramePr>
        <p:xfrm>
          <a:off x="9552229" y="1094474"/>
          <a:ext cx="1152024" cy="1295400"/>
        </p:xfrm>
        <a:graphic>
          <a:graphicData uri="http://schemas.openxmlformats.org/drawingml/2006/table">
            <a:tbl>
              <a:tblPr bandRow="1">
                <a:tableStyleId>{8A107856-5554-42FB-B03E-39F5DBC370BA}</a:tableStyleId>
              </a:tblPr>
              <a:tblGrid>
                <a:gridCol w="384008">
                  <a:extLst>
                    <a:ext uri="{9D8B030D-6E8A-4147-A177-3AD203B41FA5}">
                      <a16:colId xmlns:a16="http://schemas.microsoft.com/office/drawing/2014/main" val="749320167"/>
                    </a:ext>
                  </a:extLst>
                </a:gridCol>
                <a:gridCol w="384008">
                  <a:extLst>
                    <a:ext uri="{9D8B030D-6E8A-4147-A177-3AD203B41FA5}">
                      <a16:colId xmlns:a16="http://schemas.microsoft.com/office/drawing/2014/main" val="568413949"/>
                    </a:ext>
                  </a:extLst>
                </a:gridCol>
                <a:gridCol w="384008">
                  <a:extLst>
                    <a:ext uri="{9D8B030D-6E8A-4147-A177-3AD203B41FA5}">
                      <a16:colId xmlns:a16="http://schemas.microsoft.com/office/drawing/2014/main" val="874955793"/>
                    </a:ext>
                  </a:extLst>
                </a:gridCol>
              </a:tblGrid>
              <a:tr h="259079">
                <a:tc>
                  <a:txBody>
                    <a:bodyPr/>
                    <a:lstStyle/>
                    <a:p>
                      <a:pPr algn="ctr"/>
                      <a:r>
                        <a:rPr lang="en-US" sz="1100" dirty="0"/>
                        <a:t>0.9</a:t>
                      </a:r>
                    </a:p>
                  </a:txBody>
                  <a:tcPr/>
                </a:tc>
                <a:tc>
                  <a:txBody>
                    <a:bodyPr/>
                    <a:lstStyle/>
                    <a:p>
                      <a:pPr algn="ctr"/>
                      <a:r>
                        <a:rPr lang="en-US" sz="1100" dirty="0"/>
                        <a:t>0.1</a:t>
                      </a:r>
                    </a:p>
                  </a:txBody>
                  <a:tcPr/>
                </a:tc>
                <a:tc>
                  <a:txBody>
                    <a:bodyPr/>
                    <a:lstStyle/>
                    <a:p>
                      <a:pPr algn="ctr"/>
                      <a:r>
                        <a:rPr lang="en-US" sz="1100" dirty="0"/>
                        <a:t>0.1</a:t>
                      </a:r>
                    </a:p>
                  </a:txBody>
                  <a:tcPr/>
                </a:tc>
                <a:extLst>
                  <a:ext uri="{0D108BD9-81ED-4DB2-BD59-A6C34878D82A}">
                    <a16:rowId xmlns:a16="http://schemas.microsoft.com/office/drawing/2014/main" val="481424515"/>
                  </a:ext>
                </a:extLst>
              </a:tr>
              <a:tr h="259079">
                <a:tc>
                  <a:txBody>
                    <a:bodyPr/>
                    <a:lstStyle/>
                    <a:p>
                      <a:pPr algn="ctr"/>
                      <a:r>
                        <a:rPr lang="en-US" sz="1100" dirty="0"/>
                        <a:t>0.2</a:t>
                      </a:r>
                    </a:p>
                  </a:txBody>
                  <a:tcPr/>
                </a:tc>
                <a:tc>
                  <a:txBody>
                    <a:bodyPr/>
                    <a:lstStyle/>
                    <a:p>
                      <a:pPr algn="ctr"/>
                      <a:r>
                        <a:rPr lang="en-US" sz="1100" dirty="0"/>
                        <a:t>0.8</a:t>
                      </a:r>
                    </a:p>
                  </a:txBody>
                  <a:tcPr/>
                </a:tc>
                <a:tc>
                  <a:txBody>
                    <a:bodyPr/>
                    <a:lstStyle/>
                    <a:p>
                      <a:pPr algn="ctr"/>
                      <a:r>
                        <a:rPr lang="en-US" sz="1100" dirty="0"/>
                        <a:t>0.1</a:t>
                      </a:r>
                    </a:p>
                  </a:txBody>
                  <a:tcPr/>
                </a:tc>
                <a:extLst>
                  <a:ext uri="{0D108BD9-81ED-4DB2-BD59-A6C34878D82A}">
                    <a16:rowId xmlns:a16="http://schemas.microsoft.com/office/drawing/2014/main" val="902716955"/>
                  </a:ext>
                </a:extLst>
              </a:tr>
              <a:tr h="259079">
                <a:tc>
                  <a:txBody>
                    <a:bodyPr/>
                    <a:lstStyle/>
                    <a:p>
                      <a:pPr algn="ctr"/>
                      <a:r>
                        <a:rPr lang="en-US" sz="1100" dirty="0"/>
                        <a:t>0.1</a:t>
                      </a:r>
                    </a:p>
                  </a:txBody>
                  <a:tcPr/>
                </a:tc>
                <a:tc>
                  <a:txBody>
                    <a:bodyPr/>
                    <a:lstStyle/>
                    <a:p>
                      <a:pPr algn="ctr"/>
                      <a:r>
                        <a:rPr lang="en-US" sz="1100" dirty="0"/>
                        <a:t>0.3</a:t>
                      </a:r>
                    </a:p>
                  </a:txBody>
                  <a:tcPr/>
                </a:tc>
                <a:tc>
                  <a:txBody>
                    <a:bodyPr/>
                    <a:lstStyle/>
                    <a:p>
                      <a:pPr algn="ctr"/>
                      <a:r>
                        <a:rPr lang="en-US" sz="1100" dirty="0"/>
                        <a:t>0.7</a:t>
                      </a:r>
                    </a:p>
                  </a:txBody>
                  <a:tcPr/>
                </a:tc>
                <a:extLst>
                  <a:ext uri="{0D108BD9-81ED-4DB2-BD59-A6C34878D82A}">
                    <a16:rowId xmlns:a16="http://schemas.microsoft.com/office/drawing/2014/main" val="3978761368"/>
                  </a:ext>
                </a:extLst>
              </a:tr>
              <a:tr h="259079">
                <a:tc>
                  <a:txBody>
                    <a:bodyPr/>
                    <a:lstStyle/>
                    <a:p>
                      <a:pPr algn="ctr"/>
                      <a:r>
                        <a:rPr lang="en-US" sz="1100" dirty="0"/>
                        <a:t>0.4</a:t>
                      </a:r>
                    </a:p>
                  </a:txBody>
                  <a:tcPr/>
                </a:tc>
                <a:tc>
                  <a:txBody>
                    <a:bodyPr/>
                    <a:lstStyle/>
                    <a:p>
                      <a:pPr algn="ctr"/>
                      <a:r>
                        <a:rPr lang="en-US" sz="1100" dirty="0"/>
                        <a:t>0.3</a:t>
                      </a:r>
                    </a:p>
                  </a:txBody>
                  <a:tcPr/>
                </a:tc>
                <a:tc>
                  <a:txBody>
                    <a:bodyPr/>
                    <a:lstStyle/>
                    <a:p>
                      <a:pPr algn="ctr"/>
                      <a:r>
                        <a:rPr lang="en-US" sz="1100" dirty="0"/>
                        <a:t>0.6</a:t>
                      </a:r>
                    </a:p>
                  </a:txBody>
                  <a:tcPr/>
                </a:tc>
                <a:extLst>
                  <a:ext uri="{0D108BD9-81ED-4DB2-BD59-A6C34878D82A}">
                    <a16:rowId xmlns:a16="http://schemas.microsoft.com/office/drawing/2014/main" val="1296055837"/>
                  </a:ext>
                </a:extLst>
              </a:tr>
              <a:tr h="259079">
                <a:tc>
                  <a:txBody>
                    <a:bodyPr/>
                    <a:lstStyle/>
                    <a:p>
                      <a:pPr algn="ctr"/>
                      <a:r>
                        <a:rPr lang="en-US" sz="1100" dirty="0"/>
                        <a:t>0.2</a:t>
                      </a:r>
                    </a:p>
                  </a:txBody>
                  <a:tcPr/>
                </a:tc>
                <a:tc>
                  <a:txBody>
                    <a:bodyPr/>
                    <a:lstStyle/>
                    <a:p>
                      <a:pPr algn="ctr"/>
                      <a:r>
                        <a:rPr lang="en-US" sz="1100" dirty="0"/>
                        <a:t>0.6</a:t>
                      </a:r>
                    </a:p>
                  </a:txBody>
                  <a:tcPr/>
                </a:tc>
                <a:tc>
                  <a:txBody>
                    <a:bodyPr/>
                    <a:lstStyle/>
                    <a:p>
                      <a:pPr algn="ctr"/>
                      <a:r>
                        <a:rPr lang="en-US" sz="1100" dirty="0"/>
                        <a:t>0.5</a:t>
                      </a:r>
                    </a:p>
                  </a:txBody>
                  <a:tcPr/>
                </a:tc>
                <a:extLst>
                  <a:ext uri="{0D108BD9-81ED-4DB2-BD59-A6C34878D82A}">
                    <a16:rowId xmlns:a16="http://schemas.microsoft.com/office/drawing/2014/main" val="3266075682"/>
                  </a:ext>
                </a:extLst>
              </a:tr>
            </a:tbl>
          </a:graphicData>
        </a:graphic>
      </p:graphicFrame>
      <p:sp>
        <p:nvSpPr>
          <p:cNvPr id="51" name="TextBox 50">
            <a:extLst>
              <a:ext uri="{FF2B5EF4-FFF2-40B4-BE49-F238E27FC236}">
                <a16:creationId xmlns:a16="http://schemas.microsoft.com/office/drawing/2014/main" id="{0062AD21-CAB0-ABE8-E9F1-FCABF6F0E355}"/>
              </a:ext>
            </a:extLst>
          </p:cNvPr>
          <p:cNvSpPr txBox="1"/>
          <p:nvPr/>
        </p:nvSpPr>
        <p:spPr>
          <a:xfrm>
            <a:off x="336100" y="4209950"/>
            <a:ext cx="1913730" cy="261610"/>
          </a:xfrm>
          <a:prstGeom prst="rect">
            <a:avLst/>
          </a:prstGeom>
          <a:noFill/>
        </p:spPr>
        <p:txBody>
          <a:bodyPr wrap="square">
            <a:spAutoFit/>
          </a:bodyPr>
          <a:lstStyle/>
          <a:p>
            <a:r>
              <a:rPr lang="en-US" sz="1100" dirty="0"/>
              <a:t>y</a:t>
            </a:r>
            <a:r>
              <a:rPr lang="en-US" sz="1100" baseline="-25000" dirty="0"/>
              <a:t>1</a:t>
            </a:r>
            <a:r>
              <a:rPr lang="en-US" sz="1100" dirty="0"/>
              <a:t> =  </a:t>
            </a:r>
            <a:r>
              <a:rPr lang="en-US" sz="1100" dirty="0" err="1"/>
              <a:t>softmax</a:t>
            </a:r>
            <a:r>
              <a:rPr lang="en-US" sz="1100" dirty="0"/>
              <a:t>(V * h</a:t>
            </a:r>
            <a:r>
              <a:rPr lang="en-US" sz="1100" baseline="-25000" dirty="0"/>
              <a:t>1</a:t>
            </a:r>
            <a:r>
              <a:rPr lang="en-US" sz="1100" dirty="0"/>
              <a:t>) </a:t>
            </a:r>
          </a:p>
        </p:txBody>
      </p:sp>
      <p:sp>
        <p:nvSpPr>
          <p:cNvPr id="68" name="TextBox 67">
            <a:extLst>
              <a:ext uri="{FF2B5EF4-FFF2-40B4-BE49-F238E27FC236}">
                <a16:creationId xmlns:a16="http://schemas.microsoft.com/office/drawing/2014/main" id="{FF1075C6-DF6E-ADE0-C023-00E78B6F7733}"/>
              </a:ext>
            </a:extLst>
          </p:cNvPr>
          <p:cNvSpPr txBox="1"/>
          <p:nvPr/>
        </p:nvSpPr>
        <p:spPr>
          <a:xfrm>
            <a:off x="686168" y="4523859"/>
            <a:ext cx="2334671" cy="1277273"/>
          </a:xfrm>
          <a:prstGeom prst="rect">
            <a:avLst/>
          </a:prstGeom>
          <a:noFill/>
        </p:spPr>
        <p:txBody>
          <a:bodyPr wrap="square">
            <a:spAutoFit/>
          </a:bodyPr>
          <a:lstStyle/>
          <a:p>
            <a:r>
              <a:rPr lang="en-US" sz="1100" dirty="0"/>
              <a:t>[</a:t>
            </a:r>
          </a:p>
          <a:p>
            <a:r>
              <a:rPr lang="en-US" sz="1100" dirty="0"/>
              <a:t>       [0.9, 0.1, 0.1],</a:t>
            </a:r>
          </a:p>
          <a:p>
            <a:r>
              <a:rPr lang="en-US" sz="1100" dirty="0"/>
              <a:t>       [0.2, 0.8, 0.1],</a:t>
            </a:r>
          </a:p>
          <a:p>
            <a:r>
              <a:rPr lang="en-US" sz="1100" dirty="0"/>
              <a:t>       [0.1, 0.3, 0.7],</a:t>
            </a:r>
          </a:p>
          <a:p>
            <a:r>
              <a:rPr lang="en-US" sz="1100" dirty="0"/>
              <a:t>       [0.4, 0.3, 0.6],</a:t>
            </a:r>
          </a:p>
          <a:p>
            <a:r>
              <a:rPr lang="en-US" sz="1100" dirty="0"/>
              <a:t>       [0.2, 0.6, 0.5]</a:t>
            </a:r>
          </a:p>
          <a:p>
            <a:r>
              <a:rPr lang="en-US" sz="1100" dirty="0"/>
              <a:t>]</a:t>
            </a:r>
          </a:p>
        </p:txBody>
      </p:sp>
      <p:sp>
        <p:nvSpPr>
          <p:cNvPr id="72" name="TextBox 71">
            <a:extLst>
              <a:ext uri="{FF2B5EF4-FFF2-40B4-BE49-F238E27FC236}">
                <a16:creationId xmlns:a16="http://schemas.microsoft.com/office/drawing/2014/main" id="{465D9334-2419-DDFD-3C1D-A3EBA10E480B}"/>
              </a:ext>
            </a:extLst>
          </p:cNvPr>
          <p:cNvSpPr txBox="1"/>
          <p:nvPr/>
        </p:nvSpPr>
        <p:spPr>
          <a:xfrm>
            <a:off x="1858094" y="5053742"/>
            <a:ext cx="1386068" cy="261610"/>
          </a:xfrm>
          <a:prstGeom prst="rect">
            <a:avLst/>
          </a:prstGeom>
          <a:noFill/>
        </p:spPr>
        <p:txBody>
          <a:bodyPr wrap="square">
            <a:spAutoFit/>
          </a:bodyPr>
          <a:lstStyle/>
          <a:p>
            <a:r>
              <a:rPr lang="en-US" sz="1100" dirty="0"/>
              <a:t>* [0.7, 0.37, 0.66]ᵀ</a:t>
            </a:r>
          </a:p>
        </p:txBody>
      </p:sp>
      <p:sp>
        <p:nvSpPr>
          <p:cNvPr id="74" name="TextBox 73">
            <a:extLst>
              <a:ext uri="{FF2B5EF4-FFF2-40B4-BE49-F238E27FC236}">
                <a16:creationId xmlns:a16="http://schemas.microsoft.com/office/drawing/2014/main" id="{B13E8165-D23F-FD81-BF11-68188798AFF4}"/>
              </a:ext>
            </a:extLst>
          </p:cNvPr>
          <p:cNvSpPr txBox="1"/>
          <p:nvPr/>
        </p:nvSpPr>
        <p:spPr>
          <a:xfrm>
            <a:off x="336100" y="4982850"/>
            <a:ext cx="769902" cy="261610"/>
          </a:xfrm>
          <a:prstGeom prst="rect">
            <a:avLst/>
          </a:prstGeom>
          <a:noFill/>
        </p:spPr>
        <p:txBody>
          <a:bodyPr wrap="square">
            <a:spAutoFit/>
          </a:bodyPr>
          <a:lstStyle/>
          <a:p>
            <a:r>
              <a:rPr lang="en-US" sz="1100" dirty="0"/>
              <a:t>y</a:t>
            </a:r>
            <a:r>
              <a:rPr lang="en-US" sz="1100" baseline="-25000" dirty="0"/>
              <a:t>1</a:t>
            </a:r>
            <a:r>
              <a:rPr lang="en-US" sz="1100" dirty="0"/>
              <a:t>=</a:t>
            </a:r>
          </a:p>
        </p:txBody>
      </p:sp>
      <p:sp>
        <p:nvSpPr>
          <p:cNvPr id="76" name="TextBox 75">
            <a:extLst>
              <a:ext uri="{FF2B5EF4-FFF2-40B4-BE49-F238E27FC236}">
                <a16:creationId xmlns:a16="http://schemas.microsoft.com/office/drawing/2014/main" id="{0135E958-56E6-A6E1-90CD-FF10ABB4A62C}"/>
              </a:ext>
            </a:extLst>
          </p:cNvPr>
          <p:cNvSpPr txBox="1"/>
          <p:nvPr/>
        </p:nvSpPr>
        <p:spPr>
          <a:xfrm>
            <a:off x="2266670" y="882045"/>
            <a:ext cx="2039292" cy="261610"/>
          </a:xfrm>
          <a:prstGeom prst="rect">
            <a:avLst/>
          </a:prstGeom>
          <a:noFill/>
        </p:spPr>
        <p:txBody>
          <a:bodyPr wrap="square">
            <a:spAutoFit/>
          </a:bodyPr>
          <a:lstStyle/>
          <a:p>
            <a:r>
              <a:rPr lang="en-US" sz="1100" dirty="0"/>
              <a:t>* [1, 0, 0, 0, 0]ᵀ = </a:t>
            </a:r>
            <a:r>
              <a:rPr lang="en-US" sz="1100" dirty="0">
                <a:highlight>
                  <a:srgbClr val="FFFF00"/>
                </a:highlight>
              </a:rPr>
              <a:t>[0.8, 0.3, 0.5]</a:t>
            </a:r>
            <a:endParaRPr lang="en-US" sz="1100" dirty="0"/>
          </a:p>
        </p:txBody>
      </p:sp>
      <p:sp>
        <p:nvSpPr>
          <p:cNvPr id="78" name="TextBox 77">
            <a:extLst>
              <a:ext uri="{FF2B5EF4-FFF2-40B4-BE49-F238E27FC236}">
                <a16:creationId xmlns:a16="http://schemas.microsoft.com/office/drawing/2014/main" id="{F7440273-0235-465F-37AE-9F78B3884749}"/>
              </a:ext>
            </a:extLst>
          </p:cNvPr>
          <p:cNvSpPr txBox="1"/>
          <p:nvPr/>
        </p:nvSpPr>
        <p:spPr>
          <a:xfrm>
            <a:off x="1829821" y="1931338"/>
            <a:ext cx="2213966" cy="261610"/>
          </a:xfrm>
          <a:prstGeom prst="rect">
            <a:avLst/>
          </a:prstGeom>
          <a:noFill/>
        </p:spPr>
        <p:txBody>
          <a:bodyPr wrap="square">
            <a:spAutoFit/>
          </a:bodyPr>
          <a:lstStyle/>
          <a:p>
            <a:r>
              <a:rPr lang="en-US" sz="1100" dirty="0"/>
              <a:t>* [0.0, 0.0, 0.0]ᵀ = </a:t>
            </a:r>
            <a:r>
              <a:rPr lang="en-US" sz="1100" dirty="0">
                <a:highlight>
                  <a:srgbClr val="00FF00"/>
                </a:highlight>
              </a:rPr>
              <a:t>[0.0, 0.0, 0.0]</a:t>
            </a:r>
            <a:endParaRPr lang="en-US" sz="1100" dirty="0"/>
          </a:p>
        </p:txBody>
      </p:sp>
      <p:cxnSp>
        <p:nvCxnSpPr>
          <p:cNvPr id="81" name="Straight Connector 80">
            <a:extLst>
              <a:ext uri="{FF2B5EF4-FFF2-40B4-BE49-F238E27FC236}">
                <a16:creationId xmlns:a16="http://schemas.microsoft.com/office/drawing/2014/main" id="{48DEF939-EB43-8C2C-D57C-E5D9F15E7E0C}"/>
              </a:ext>
            </a:extLst>
          </p:cNvPr>
          <p:cNvCxnSpPr/>
          <p:nvPr/>
        </p:nvCxnSpPr>
        <p:spPr>
          <a:xfrm>
            <a:off x="230375" y="2651128"/>
            <a:ext cx="4626320" cy="0"/>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C47286F6-9DEA-F3C3-4239-C3C239BF02C4}"/>
              </a:ext>
            </a:extLst>
          </p:cNvPr>
          <p:cNvCxnSpPr/>
          <p:nvPr/>
        </p:nvCxnSpPr>
        <p:spPr>
          <a:xfrm>
            <a:off x="230375" y="4067047"/>
            <a:ext cx="4626320" cy="0"/>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90B46A48-35E6-878F-E083-DE4C1E4B1871}"/>
              </a:ext>
            </a:extLst>
          </p:cNvPr>
          <p:cNvCxnSpPr>
            <a:cxnSpLocks/>
          </p:cNvCxnSpPr>
          <p:nvPr/>
        </p:nvCxnSpPr>
        <p:spPr>
          <a:xfrm>
            <a:off x="5226375" y="344032"/>
            <a:ext cx="0" cy="603866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561E5D1E-BDA2-55FB-4FB8-749310BDB792}"/>
              </a:ext>
            </a:extLst>
          </p:cNvPr>
          <p:cNvSpPr txBox="1"/>
          <p:nvPr/>
        </p:nvSpPr>
        <p:spPr>
          <a:xfrm>
            <a:off x="5456634" y="6029647"/>
            <a:ext cx="602833" cy="261610"/>
          </a:xfrm>
          <a:prstGeom prst="rect">
            <a:avLst/>
          </a:prstGeom>
          <a:noFill/>
        </p:spPr>
        <p:txBody>
          <a:bodyPr wrap="square">
            <a:spAutoFit/>
          </a:bodyPr>
          <a:lstStyle/>
          <a:p>
            <a:r>
              <a:rPr lang="en-US" sz="1100" i="1" dirty="0"/>
              <a:t>bias</a:t>
            </a:r>
            <a:r>
              <a:rPr lang="en-US" sz="1100" dirty="0"/>
              <a:t> = </a:t>
            </a:r>
          </a:p>
        </p:txBody>
      </p:sp>
      <p:sp>
        <p:nvSpPr>
          <p:cNvPr id="87" name="TextBox 86">
            <a:extLst>
              <a:ext uri="{FF2B5EF4-FFF2-40B4-BE49-F238E27FC236}">
                <a16:creationId xmlns:a16="http://schemas.microsoft.com/office/drawing/2014/main" id="{591CC472-65D1-A48E-FE62-EDFF4494AE84}"/>
              </a:ext>
            </a:extLst>
          </p:cNvPr>
          <p:cNvSpPr txBox="1"/>
          <p:nvPr/>
        </p:nvSpPr>
        <p:spPr>
          <a:xfrm>
            <a:off x="8801784" y="4889261"/>
            <a:ext cx="602833" cy="261610"/>
          </a:xfrm>
          <a:prstGeom prst="rect">
            <a:avLst/>
          </a:prstGeom>
          <a:noFill/>
        </p:spPr>
        <p:txBody>
          <a:bodyPr wrap="square">
            <a:spAutoFit/>
          </a:bodyPr>
          <a:lstStyle/>
          <a:p>
            <a:r>
              <a:rPr lang="en-US" sz="1100" i="1" dirty="0"/>
              <a:t>U = </a:t>
            </a:r>
          </a:p>
        </p:txBody>
      </p:sp>
      <p:sp>
        <p:nvSpPr>
          <p:cNvPr id="88" name="TextBox 87">
            <a:extLst>
              <a:ext uri="{FF2B5EF4-FFF2-40B4-BE49-F238E27FC236}">
                <a16:creationId xmlns:a16="http://schemas.microsoft.com/office/drawing/2014/main" id="{69CC0CF2-3E1F-CC90-C80D-8B2980D70633}"/>
              </a:ext>
            </a:extLst>
          </p:cNvPr>
          <p:cNvSpPr txBox="1"/>
          <p:nvPr/>
        </p:nvSpPr>
        <p:spPr>
          <a:xfrm>
            <a:off x="9201442" y="1607642"/>
            <a:ext cx="602833" cy="261610"/>
          </a:xfrm>
          <a:prstGeom prst="rect">
            <a:avLst/>
          </a:prstGeom>
          <a:noFill/>
        </p:spPr>
        <p:txBody>
          <a:bodyPr wrap="square">
            <a:spAutoFit/>
          </a:bodyPr>
          <a:lstStyle/>
          <a:p>
            <a:r>
              <a:rPr lang="en-US" sz="1100" i="1" dirty="0"/>
              <a:t>V = </a:t>
            </a:r>
          </a:p>
        </p:txBody>
      </p:sp>
      <p:sp>
        <p:nvSpPr>
          <p:cNvPr id="89" name="TextBox 88">
            <a:extLst>
              <a:ext uri="{FF2B5EF4-FFF2-40B4-BE49-F238E27FC236}">
                <a16:creationId xmlns:a16="http://schemas.microsoft.com/office/drawing/2014/main" id="{8EE5CBBE-21FC-7FC6-2F21-A0D6F774253E}"/>
              </a:ext>
            </a:extLst>
          </p:cNvPr>
          <p:cNvSpPr txBox="1"/>
          <p:nvPr/>
        </p:nvSpPr>
        <p:spPr>
          <a:xfrm>
            <a:off x="7292474" y="3034575"/>
            <a:ext cx="468370" cy="261610"/>
          </a:xfrm>
          <a:prstGeom prst="rect">
            <a:avLst/>
          </a:prstGeom>
          <a:solidFill>
            <a:schemeClr val="bg1"/>
          </a:solidFill>
          <a:ln>
            <a:solidFill>
              <a:schemeClr val="bg1"/>
            </a:solidFill>
          </a:ln>
        </p:spPr>
        <p:txBody>
          <a:bodyPr wrap="square">
            <a:spAutoFit/>
          </a:bodyPr>
          <a:lstStyle/>
          <a:p>
            <a:r>
              <a:rPr lang="en-US" sz="1100" i="1" dirty="0"/>
              <a:t>W =</a:t>
            </a:r>
          </a:p>
        </p:txBody>
      </p:sp>
      <p:sp>
        <p:nvSpPr>
          <p:cNvPr id="93" name="TextBox 92">
            <a:extLst>
              <a:ext uri="{FF2B5EF4-FFF2-40B4-BE49-F238E27FC236}">
                <a16:creationId xmlns:a16="http://schemas.microsoft.com/office/drawing/2014/main" id="{CF7A2008-1EE8-56C3-694D-B11834E7330B}"/>
              </a:ext>
            </a:extLst>
          </p:cNvPr>
          <p:cNvSpPr txBox="1"/>
          <p:nvPr/>
        </p:nvSpPr>
        <p:spPr>
          <a:xfrm>
            <a:off x="6182388" y="3321293"/>
            <a:ext cx="353938" cy="261610"/>
          </a:xfrm>
          <a:prstGeom prst="rect">
            <a:avLst/>
          </a:prstGeom>
          <a:noFill/>
        </p:spPr>
        <p:txBody>
          <a:bodyPr wrap="square">
            <a:spAutoFit/>
          </a:bodyPr>
          <a:lstStyle/>
          <a:p>
            <a:r>
              <a:rPr lang="en-US" sz="1100" i="1" dirty="0">
                <a:solidFill>
                  <a:schemeClr val="bg1"/>
                </a:solidFill>
              </a:rPr>
              <a:t>h</a:t>
            </a:r>
            <a:r>
              <a:rPr lang="en-US" sz="1100" i="1" baseline="-25000" dirty="0">
                <a:solidFill>
                  <a:schemeClr val="bg1"/>
                </a:solidFill>
              </a:rPr>
              <a:t>0</a:t>
            </a:r>
          </a:p>
        </p:txBody>
      </p:sp>
      <p:sp>
        <p:nvSpPr>
          <p:cNvPr id="94" name="TextBox 93">
            <a:extLst>
              <a:ext uri="{FF2B5EF4-FFF2-40B4-BE49-F238E27FC236}">
                <a16:creationId xmlns:a16="http://schemas.microsoft.com/office/drawing/2014/main" id="{5331DE86-86E8-39B7-3C3B-E3495B286850}"/>
              </a:ext>
            </a:extLst>
          </p:cNvPr>
          <p:cNvSpPr txBox="1"/>
          <p:nvPr/>
        </p:nvSpPr>
        <p:spPr>
          <a:xfrm>
            <a:off x="9969378" y="3301720"/>
            <a:ext cx="353938" cy="261610"/>
          </a:xfrm>
          <a:prstGeom prst="rect">
            <a:avLst/>
          </a:prstGeom>
          <a:noFill/>
        </p:spPr>
        <p:txBody>
          <a:bodyPr wrap="square">
            <a:spAutoFit/>
          </a:bodyPr>
          <a:lstStyle/>
          <a:p>
            <a:r>
              <a:rPr lang="en-US" sz="1100" i="1" dirty="0">
                <a:solidFill>
                  <a:schemeClr val="bg1"/>
                </a:solidFill>
              </a:rPr>
              <a:t>h</a:t>
            </a:r>
            <a:r>
              <a:rPr lang="en-US" sz="1100" i="1" baseline="-25000" dirty="0">
                <a:solidFill>
                  <a:schemeClr val="bg1"/>
                </a:solidFill>
              </a:rPr>
              <a:t>1</a:t>
            </a:r>
          </a:p>
        </p:txBody>
      </p:sp>
      <p:sp>
        <p:nvSpPr>
          <p:cNvPr id="96" name="TextBox 95">
            <a:extLst>
              <a:ext uri="{FF2B5EF4-FFF2-40B4-BE49-F238E27FC236}">
                <a16:creationId xmlns:a16="http://schemas.microsoft.com/office/drawing/2014/main" id="{D167D410-E3BA-6AB8-347A-CEECB358B9FB}"/>
              </a:ext>
            </a:extLst>
          </p:cNvPr>
          <p:cNvSpPr txBox="1"/>
          <p:nvPr/>
        </p:nvSpPr>
        <p:spPr>
          <a:xfrm>
            <a:off x="9956223" y="6201138"/>
            <a:ext cx="353938" cy="261610"/>
          </a:xfrm>
          <a:prstGeom prst="rect">
            <a:avLst/>
          </a:prstGeom>
          <a:noFill/>
        </p:spPr>
        <p:txBody>
          <a:bodyPr wrap="square">
            <a:spAutoFit/>
          </a:bodyPr>
          <a:lstStyle/>
          <a:p>
            <a:r>
              <a:rPr lang="en-US" sz="1100" i="1" dirty="0"/>
              <a:t>x</a:t>
            </a:r>
            <a:r>
              <a:rPr lang="en-US" sz="1100" i="1" baseline="-25000" dirty="0"/>
              <a:t>1</a:t>
            </a:r>
          </a:p>
        </p:txBody>
      </p:sp>
      <p:sp>
        <p:nvSpPr>
          <p:cNvPr id="97" name="TextBox 96">
            <a:extLst>
              <a:ext uri="{FF2B5EF4-FFF2-40B4-BE49-F238E27FC236}">
                <a16:creationId xmlns:a16="http://schemas.microsoft.com/office/drawing/2014/main" id="{E4548B82-FF7F-5FB8-6DAB-C79FE5E292D7}"/>
              </a:ext>
            </a:extLst>
          </p:cNvPr>
          <p:cNvSpPr txBox="1"/>
          <p:nvPr/>
        </p:nvSpPr>
        <p:spPr>
          <a:xfrm>
            <a:off x="336100" y="5817858"/>
            <a:ext cx="769902" cy="261610"/>
          </a:xfrm>
          <a:prstGeom prst="rect">
            <a:avLst/>
          </a:prstGeom>
          <a:noFill/>
        </p:spPr>
        <p:txBody>
          <a:bodyPr wrap="square">
            <a:spAutoFit/>
          </a:bodyPr>
          <a:lstStyle/>
          <a:p>
            <a:r>
              <a:rPr lang="en-US" sz="1100" dirty="0"/>
              <a:t>y</a:t>
            </a:r>
            <a:r>
              <a:rPr lang="en-US" sz="1100" baseline="-25000" dirty="0"/>
              <a:t>1 </a:t>
            </a:r>
            <a:r>
              <a:rPr lang="en-US" sz="1100" dirty="0"/>
              <a:t>=</a:t>
            </a:r>
          </a:p>
        </p:txBody>
      </p:sp>
      <p:sp>
        <p:nvSpPr>
          <p:cNvPr id="99" name="TextBox 98">
            <a:extLst>
              <a:ext uri="{FF2B5EF4-FFF2-40B4-BE49-F238E27FC236}">
                <a16:creationId xmlns:a16="http://schemas.microsoft.com/office/drawing/2014/main" id="{78584E42-14B3-9B30-8831-A32DD206129B}"/>
              </a:ext>
            </a:extLst>
          </p:cNvPr>
          <p:cNvSpPr txBox="1"/>
          <p:nvPr/>
        </p:nvSpPr>
        <p:spPr>
          <a:xfrm>
            <a:off x="634990" y="5816770"/>
            <a:ext cx="2814591" cy="261610"/>
          </a:xfrm>
          <a:prstGeom prst="rect">
            <a:avLst/>
          </a:prstGeom>
          <a:noFill/>
        </p:spPr>
        <p:txBody>
          <a:bodyPr wrap="square">
            <a:spAutoFit/>
          </a:bodyPr>
          <a:lstStyle/>
          <a:p>
            <a:r>
              <a:rPr lang="en-US" sz="1100" dirty="0" err="1"/>
              <a:t>softmax</a:t>
            </a:r>
            <a:r>
              <a:rPr lang="en-US" sz="1100" dirty="0"/>
              <a:t>([0.733, 0.502, 0.643, 0.787, 0.692])</a:t>
            </a:r>
          </a:p>
        </p:txBody>
      </p:sp>
      <p:sp>
        <p:nvSpPr>
          <p:cNvPr id="100" name="TextBox 99">
            <a:extLst>
              <a:ext uri="{FF2B5EF4-FFF2-40B4-BE49-F238E27FC236}">
                <a16:creationId xmlns:a16="http://schemas.microsoft.com/office/drawing/2014/main" id="{DC29D9D0-8502-0D84-3CCA-27FED5082DB4}"/>
              </a:ext>
            </a:extLst>
          </p:cNvPr>
          <p:cNvSpPr txBox="1"/>
          <p:nvPr/>
        </p:nvSpPr>
        <p:spPr>
          <a:xfrm>
            <a:off x="371314" y="6172329"/>
            <a:ext cx="769902" cy="261610"/>
          </a:xfrm>
          <a:prstGeom prst="rect">
            <a:avLst/>
          </a:prstGeom>
          <a:noFill/>
        </p:spPr>
        <p:txBody>
          <a:bodyPr wrap="square">
            <a:spAutoFit/>
          </a:bodyPr>
          <a:lstStyle/>
          <a:p>
            <a:r>
              <a:rPr lang="en-US" sz="1100" dirty="0"/>
              <a:t>y</a:t>
            </a:r>
            <a:r>
              <a:rPr lang="en-US" sz="1100" baseline="-25000" dirty="0"/>
              <a:t>1 </a:t>
            </a:r>
            <a:r>
              <a:rPr lang="en-US" sz="1100" dirty="0"/>
              <a:t>=</a:t>
            </a:r>
          </a:p>
        </p:txBody>
      </p:sp>
      <p:sp>
        <p:nvSpPr>
          <p:cNvPr id="101" name="TextBox 100">
            <a:extLst>
              <a:ext uri="{FF2B5EF4-FFF2-40B4-BE49-F238E27FC236}">
                <a16:creationId xmlns:a16="http://schemas.microsoft.com/office/drawing/2014/main" id="{5557A2AB-2CE4-1CC1-9593-3E35C67BA26D}"/>
              </a:ext>
            </a:extLst>
          </p:cNvPr>
          <p:cNvSpPr txBox="1"/>
          <p:nvPr/>
        </p:nvSpPr>
        <p:spPr>
          <a:xfrm>
            <a:off x="670204" y="6171241"/>
            <a:ext cx="2814591" cy="261610"/>
          </a:xfrm>
          <a:prstGeom prst="rect">
            <a:avLst/>
          </a:prstGeom>
          <a:noFill/>
        </p:spPr>
        <p:txBody>
          <a:bodyPr wrap="square">
            <a:spAutoFit/>
          </a:bodyPr>
          <a:lstStyle/>
          <a:p>
            <a:r>
              <a:rPr lang="en-US" sz="1100" dirty="0"/>
              <a:t>[0.212, 0.168, 0.194, 0.223, 0.203]</a:t>
            </a:r>
          </a:p>
        </p:txBody>
      </p:sp>
      <p:graphicFrame>
        <p:nvGraphicFramePr>
          <p:cNvPr id="102" name="Table 101">
            <a:extLst>
              <a:ext uri="{FF2B5EF4-FFF2-40B4-BE49-F238E27FC236}">
                <a16:creationId xmlns:a16="http://schemas.microsoft.com/office/drawing/2014/main" id="{A8041B54-9578-D9B4-8B79-84376612139F}"/>
              </a:ext>
            </a:extLst>
          </p:cNvPr>
          <p:cNvGraphicFramePr>
            <a:graphicFrameLocks noGrp="1"/>
          </p:cNvGraphicFramePr>
          <p:nvPr>
            <p:extLst>
              <p:ext uri="{D42A27DB-BD31-4B8C-83A1-F6EECF244321}">
                <p14:modId xmlns:p14="http://schemas.microsoft.com/office/powerpoint/2010/main" val="4231832743"/>
              </p:ext>
            </p:extLst>
          </p:nvPr>
        </p:nvGraphicFramePr>
        <p:xfrm>
          <a:off x="8604099" y="496654"/>
          <a:ext cx="3035865" cy="259080"/>
        </p:xfrm>
        <a:graphic>
          <a:graphicData uri="http://schemas.openxmlformats.org/drawingml/2006/table">
            <a:tbl>
              <a:tblPr bandRow="1">
                <a:tableStyleId>{8A107856-5554-42FB-B03E-39F5DBC370BA}</a:tableStyleId>
              </a:tblPr>
              <a:tblGrid>
                <a:gridCol w="607173">
                  <a:extLst>
                    <a:ext uri="{9D8B030D-6E8A-4147-A177-3AD203B41FA5}">
                      <a16:colId xmlns:a16="http://schemas.microsoft.com/office/drawing/2014/main" val="749320167"/>
                    </a:ext>
                  </a:extLst>
                </a:gridCol>
                <a:gridCol w="607173">
                  <a:extLst>
                    <a:ext uri="{9D8B030D-6E8A-4147-A177-3AD203B41FA5}">
                      <a16:colId xmlns:a16="http://schemas.microsoft.com/office/drawing/2014/main" val="568413949"/>
                    </a:ext>
                  </a:extLst>
                </a:gridCol>
                <a:gridCol w="607173">
                  <a:extLst>
                    <a:ext uri="{9D8B030D-6E8A-4147-A177-3AD203B41FA5}">
                      <a16:colId xmlns:a16="http://schemas.microsoft.com/office/drawing/2014/main" val="874955793"/>
                    </a:ext>
                  </a:extLst>
                </a:gridCol>
                <a:gridCol w="607173">
                  <a:extLst>
                    <a:ext uri="{9D8B030D-6E8A-4147-A177-3AD203B41FA5}">
                      <a16:colId xmlns:a16="http://schemas.microsoft.com/office/drawing/2014/main" val="1270628586"/>
                    </a:ext>
                  </a:extLst>
                </a:gridCol>
                <a:gridCol w="607173">
                  <a:extLst>
                    <a:ext uri="{9D8B030D-6E8A-4147-A177-3AD203B41FA5}">
                      <a16:colId xmlns:a16="http://schemas.microsoft.com/office/drawing/2014/main" val="3314274508"/>
                    </a:ext>
                  </a:extLst>
                </a:gridCol>
              </a:tblGrid>
              <a:tr h="186062">
                <a:tc>
                  <a:txBody>
                    <a:bodyPr/>
                    <a:lstStyle/>
                    <a:p>
                      <a:pPr algn="ctr"/>
                      <a:r>
                        <a:rPr lang="en-US" sz="1100" dirty="0"/>
                        <a:t>0.212</a:t>
                      </a:r>
                    </a:p>
                  </a:txBody>
                  <a:tcPr/>
                </a:tc>
                <a:tc>
                  <a:txBody>
                    <a:bodyPr/>
                    <a:lstStyle/>
                    <a:p>
                      <a:pPr algn="ctr"/>
                      <a:r>
                        <a:rPr lang="en-US" sz="1100" dirty="0"/>
                        <a:t>0.168</a:t>
                      </a:r>
                    </a:p>
                  </a:txBody>
                  <a:tcPr/>
                </a:tc>
                <a:tc>
                  <a:txBody>
                    <a:bodyPr/>
                    <a:lstStyle/>
                    <a:p>
                      <a:pPr algn="ctr"/>
                      <a:r>
                        <a:rPr lang="en-US" sz="1100" dirty="0"/>
                        <a:t>0.194</a:t>
                      </a:r>
                    </a:p>
                  </a:txBody>
                  <a:tcPr/>
                </a:tc>
                <a:tc>
                  <a:txBody>
                    <a:bodyPr/>
                    <a:lstStyle/>
                    <a:p>
                      <a:pPr algn="ctr"/>
                      <a:r>
                        <a:rPr lang="en-US" sz="1100" dirty="0"/>
                        <a:t>0.223</a:t>
                      </a:r>
                    </a:p>
                  </a:txBody>
                  <a:tcPr/>
                </a:tc>
                <a:tc>
                  <a:txBody>
                    <a:bodyPr/>
                    <a:lstStyle/>
                    <a:p>
                      <a:pPr algn="ctr"/>
                      <a:r>
                        <a:rPr lang="en-US" sz="1100" dirty="0"/>
                        <a:t>0.203</a:t>
                      </a:r>
                    </a:p>
                  </a:txBody>
                  <a:tcPr/>
                </a:tc>
                <a:extLst>
                  <a:ext uri="{0D108BD9-81ED-4DB2-BD59-A6C34878D82A}">
                    <a16:rowId xmlns:a16="http://schemas.microsoft.com/office/drawing/2014/main" val="481424515"/>
                  </a:ext>
                </a:extLst>
              </a:tr>
            </a:tbl>
          </a:graphicData>
        </a:graphic>
      </p:graphicFrame>
      <p:sp>
        <p:nvSpPr>
          <p:cNvPr id="105" name="TextBox 104">
            <a:extLst>
              <a:ext uri="{FF2B5EF4-FFF2-40B4-BE49-F238E27FC236}">
                <a16:creationId xmlns:a16="http://schemas.microsoft.com/office/drawing/2014/main" id="{50A42538-2E6D-BD8F-A7CD-0A7677FD0185}"/>
              </a:ext>
            </a:extLst>
          </p:cNvPr>
          <p:cNvSpPr txBox="1"/>
          <p:nvPr/>
        </p:nvSpPr>
        <p:spPr>
          <a:xfrm>
            <a:off x="9969378" y="215734"/>
            <a:ext cx="353938" cy="261610"/>
          </a:xfrm>
          <a:prstGeom prst="rect">
            <a:avLst/>
          </a:prstGeom>
          <a:noFill/>
        </p:spPr>
        <p:txBody>
          <a:bodyPr wrap="square">
            <a:spAutoFit/>
          </a:bodyPr>
          <a:lstStyle/>
          <a:p>
            <a:r>
              <a:rPr lang="en-US" sz="1100" i="1" dirty="0"/>
              <a:t>y</a:t>
            </a:r>
            <a:r>
              <a:rPr lang="en-US" sz="1100" i="1" baseline="-25000" dirty="0"/>
              <a:t>1</a:t>
            </a:r>
          </a:p>
        </p:txBody>
      </p:sp>
      <p:sp>
        <p:nvSpPr>
          <p:cNvPr id="106" name="TextBox 105">
            <a:extLst>
              <a:ext uri="{FF2B5EF4-FFF2-40B4-BE49-F238E27FC236}">
                <a16:creationId xmlns:a16="http://schemas.microsoft.com/office/drawing/2014/main" id="{C11D882B-AF86-8FF7-89E4-8B1734CD1DF5}"/>
              </a:ext>
            </a:extLst>
          </p:cNvPr>
          <p:cNvSpPr txBox="1"/>
          <p:nvPr/>
        </p:nvSpPr>
        <p:spPr>
          <a:xfrm>
            <a:off x="10617190" y="5410130"/>
            <a:ext cx="535724" cy="261610"/>
          </a:xfrm>
          <a:prstGeom prst="rect">
            <a:avLst/>
          </a:prstGeom>
          <a:noFill/>
        </p:spPr>
        <p:txBody>
          <a:bodyPr wrap="none" rtlCol="0">
            <a:spAutoFit/>
          </a:bodyPr>
          <a:lstStyle/>
          <a:p>
            <a:r>
              <a:rPr lang="en-US" sz="1100" i="1" dirty="0"/>
              <a:t>(h * d)</a:t>
            </a:r>
          </a:p>
        </p:txBody>
      </p:sp>
      <p:sp>
        <p:nvSpPr>
          <p:cNvPr id="107" name="TextBox 106">
            <a:extLst>
              <a:ext uri="{FF2B5EF4-FFF2-40B4-BE49-F238E27FC236}">
                <a16:creationId xmlns:a16="http://schemas.microsoft.com/office/drawing/2014/main" id="{917EE28D-1E2F-F2F3-04AD-197EE270768D}"/>
              </a:ext>
            </a:extLst>
          </p:cNvPr>
          <p:cNvSpPr txBox="1"/>
          <p:nvPr/>
        </p:nvSpPr>
        <p:spPr>
          <a:xfrm>
            <a:off x="8463570" y="3551891"/>
            <a:ext cx="534121" cy="261610"/>
          </a:xfrm>
          <a:prstGeom prst="rect">
            <a:avLst/>
          </a:prstGeom>
          <a:noFill/>
        </p:spPr>
        <p:txBody>
          <a:bodyPr wrap="none" rtlCol="0">
            <a:spAutoFit/>
          </a:bodyPr>
          <a:lstStyle/>
          <a:p>
            <a:r>
              <a:rPr lang="en-US" sz="1100" i="1" dirty="0"/>
              <a:t>(h * h)</a:t>
            </a:r>
          </a:p>
        </p:txBody>
      </p:sp>
      <p:sp>
        <p:nvSpPr>
          <p:cNvPr id="108" name="TextBox 107">
            <a:extLst>
              <a:ext uri="{FF2B5EF4-FFF2-40B4-BE49-F238E27FC236}">
                <a16:creationId xmlns:a16="http://schemas.microsoft.com/office/drawing/2014/main" id="{0D86B1CF-92D9-F690-0893-7C9BC63767B9}"/>
              </a:ext>
            </a:extLst>
          </p:cNvPr>
          <p:cNvSpPr txBox="1"/>
          <p:nvPr/>
        </p:nvSpPr>
        <p:spPr>
          <a:xfrm>
            <a:off x="10250508" y="2383515"/>
            <a:ext cx="535724" cy="261610"/>
          </a:xfrm>
          <a:prstGeom prst="rect">
            <a:avLst/>
          </a:prstGeom>
          <a:noFill/>
        </p:spPr>
        <p:txBody>
          <a:bodyPr wrap="none" rtlCol="0">
            <a:spAutoFit/>
          </a:bodyPr>
          <a:lstStyle/>
          <a:p>
            <a:r>
              <a:rPr lang="en-US" sz="1100" i="1" dirty="0"/>
              <a:t>(d * h)</a:t>
            </a:r>
          </a:p>
        </p:txBody>
      </p:sp>
      <p:sp>
        <p:nvSpPr>
          <p:cNvPr id="109" name="TextBox 108">
            <a:extLst>
              <a:ext uri="{FF2B5EF4-FFF2-40B4-BE49-F238E27FC236}">
                <a16:creationId xmlns:a16="http://schemas.microsoft.com/office/drawing/2014/main" id="{F7913CFB-3063-5AAD-AAE1-B43987F06CA8}"/>
              </a:ext>
            </a:extLst>
          </p:cNvPr>
          <p:cNvSpPr txBox="1"/>
          <p:nvPr/>
        </p:nvSpPr>
        <p:spPr>
          <a:xfrm>
            <a:off x="5447853" y="5410130"/>
            <a:ext cx="2767377" cy="261610"/>
          </a:xfrm>
          <a:prstGeom prst="rect">
            <a:avLst/>
          </a:prstGeom>
          <a:noFill/>
        </p:spPr>
        <p:txBody>
          <a:bodyPr wrap="square">
            <a:spAutoFit/>
          </a:bodyPr>
          <a:lstStyle/>
          <a:p>
            <a:r>
              <a:rPr lang="en-US" sz="1100" i="1" dirty="0"/>
              <a:t>d (dimension – size of the vocabulary)</a:t>
            </a:r>
            <a:r>
              <a:rPr lang="en-US" sz="1100" dirty="0"/>
              <a:t> = 5</a:t>
            </a:r>
          </a:p>
        </p:txBody>
      </p:sp>
      <p:sp>
        <p:nvSpPr>
          <p:cNvPr id="111" name="TextBox 110">
            <a:extLst>
              <a:ext uri="{FF2B5EF4-FFF2-40B4-BE49-F238E27FC236}">
                <a16:creationId xmlns:a16="http://schemas.microsoft.com/office/drawing/2014/main" id="{2321476A-1ABA-2F97-0312-9498CD2F44F0}"/>
              </a:ext>
            </a:extLst>
          </p:cNvPr>
          <p:cNvSpPr txBox="1"/>
          <p:nvPr/>
        </p:nvSpPr>
        <p:spPr>
          <a:xfrm>
            <a:off x="5447853" y="5719256"/>
            <a:ext cx="2767377" cy="261610"/>
          </a:xfrm>
          <a:prstGeom prst="rect">
            <a:avLst/>
          </a:prstGeom>
          <a:noFill/>
        </p:spPr>
        <p:txBody>
          <a:bodyPr wrap="square">
            <a:spAutoFit/>
          </a:bodyPr>
          <a:lstStyle/>
          <a:p>
            <a:r>
              <a:rPr lang="en-US" sz="1100" i="1" dirty="0"/>
              <a:t>h (hidden units)</a:t>
            </a:r>
            <a:r>
              <a:rPr lang="en-US" sz="1100" dirty="0"/>
              <a:t> = 3</a:t>
            </a:r>
          </a:p>
        </p:txBody>
      </p:sp>
      <p:sp>
        <p:nvSpPr>
          <p:cNvPr id="112" name="TextBox 111">
            <a:extLst>
              <a:ext uri="{FF2B5EF4-FFF2-40B4-BE49-F238E27FC236}">
                <a16:creationId xmlns:a16="http://schemas.microsoft.com/office/drawing/2014/main" id="{9584824E-ADC6-DE09-120C-707D036D0E80}"/>
              </a:ext>
            </a:extLst>
          </p:cNvPr>
          <p:cNvSpPr txBox="1"/>
          <p:nvPr/>
        </p:nvSpPr>
        <p:spPr>
          <a:xfrm>
            <a:off x="5456634" y="5120086"/>
            <a:ext cx="2767377" cy="261610"/>
          </a:xfrm>
          <a:prstGeom prst="rect">
            <a:avLst/>
          </a:prstGeom>
          <a:noFill/>
        </p:spPr>
        <p:txBody>
          <a:bodyPr wrap="square">
            <a:spAutoFit/>
          </a:bodyPr>
          <a:lstStyle/>
          <a:p>
            <a:r>
              <a:rPr lang="en-US" sz="1100" i="1" dirty="0"/>
              <a:t>“</a:t>
            </a:r>
            <a:r>
              <a:rPr lang="en-US" sz="1100" i="1" dirty="0">
                <a:highlight>
                  <a:srgbClr val="00FFFF"/>
                </a:highlight>
              </a:rPr>
              <a:t>The</a:t>
            </a:r>
            <a:r>
              <a:rPr lang="en-US" sz="1100" i="1" dirty="0"/>
              <a:t> cat sat on mat”</a:t>
            </a:r>
            <a:endParaRPr lang="en-US" sz="1100" dirty="0"/>
          </a:p>
        </p:txBody>
      </p:sp>
    </p:spTree>
    <p:extLst>
      <p:ext uri="{BB962C8B-B14F-4D97-AF65-F5344CB8AC3E}">
        <p14:creationId xmlns:p14="http://schemas.microsoft.com/office/powerpoint/2010/main" val="2127363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Oval 125">
            <a:extLst>
              <a:ext uri="{FF2B5EF4-FFF2-40B4-BE49-F238E27FC236}">
                <a16:creationId xmlns:a16="http://schemas.microsoft.com/office/drawing/2014/main" id="{56C76B43-E169-5CB7-2F38-8EA6073614AB}"/>
              </a:ext>
            </a:extLst>
          </p:cNvPr>
          <p:cNvSpPr/>
          <p:nvPr/>
        </p:nvSpPr>
        <p:spPr>
          <a:xfrm>
            <a:off x="5847028" y="2723979"/>
            <a:ext cx="927352" cy="8942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8ADCC85D-CB1C-D113-F30B-ADB89552FF3D}"/>
              </a:ext>
            </a:extLst>
          </p:cNvPr>
          <p:cNvSpPr/>
          <p:nvPr/>
        </p:nvSpPr>
        <p:spPr>
          <a:xfrm>
            <a:off x="9650658" y="2743517"/>
            <a:ext cx="927352" cy="8942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31265FC4-9343-807F-73D5-3EDF0D869243}"/>
              </a:ext>
            </a:extLst>
          </p:cNvPr>
          <p:cNvGraphicFramePr>
            <a:graphicFrameLocks noGrp="1"/>
          </p:cNvGraphicFramePr>
          <p:nvPr>
            <p:extLst>
              <p:ext uri="{D42A27DB-BD31-4B8C-83A1-F6EECF244321}">
                <p14:modId xmlns:p14="http://schemas.microsoft.com/office/powerpoint/2010/main" val="2106164093"/>
              </p:ext>
            </p:extLst>
          </p:nvPr>
        </p:nvGraphicFramePr>
        <p:xfrm>
          <a:off x="9376253" y="5910226"/>
          <a:ext cx="1459560" cy="259080"/>
        </p:xfrm>
        <a:graphic>
          <a:graphicData uri="http://schemas.openxmlformats.org/drawingml/2006/table">
            <a:tbl>
              <a:tblPr bandRow="1">
                <a:tableStyleId>{8A107856-5554-42FB-B03E-39F5DBC370BA}</a:tableStyleId>
              </a:tblPr>
              <a:tblGrid>
                <a:gridCol w="291912">
                  <a:extLst>
                    <a:ext uri="{9D8B030D-6E8A-4147-A177-3AD203B41FA5}">
                      <a16:colId xmlns:a16="http://schemas.microsoft.com/office/drawing/2014/main" val="749320167"/>
                    </a:ext>
                  </a:extLst>
                </a:gridCol>
                <a:gridCol w="291912">
                  <a:extLst>
                    <a:ext uri="{9D8B030D-6E8A-4147-A177-3AD203B41FA5}">
                      <a16:colId xmlns:a16="http://schemas.microsoft.com/office/drawing/2014/main" val="568413949"/>
                    </a:ext>
                  </a:extLst>
                </a:gridCol>
                <a:gridCol w="291912">
                  <a:extLst>
                    <a:ext uri="{9D8B030D-6E8A-4147-A177-3AD203B41FA5}">
                      <a16:colId xmlns:a16="http://schemas.microsoft.com/office/drawing/2014/main" val="874955793"/>
                    </a:ext>
                  </a:extLst>
                </a:gridCol>
                <a:gridCol w="291912">
                  <a:extLst>
                    <a:ext uri="{9D8B030D-6E8A-4147-A177-3AD203B41FA5}">
                      <a16:colId xmlns:a16="http://schemas.microsoft.com/office/drawing/2014/main" val="1270628586"/>
                    </a:ext>
                  </a:extLst>
                </a:gridCol>
                <a:gridCol w="291912">
                  <a:extLst>
                    <a:ext uri="{9D8B030D-6E8A-4147-A177-3AD203B41FA5}">
                      <a16:colId xmlns:a16="http://schemas.microsoft.com/office/drawing/2014/main" val="3314274508"/>
                    </a:ext>
                  </a:extLst>
                </a:gridCol>
              </a:tblGrid>
              <a:tr h="186062">
                <a:tc>
                  <a:txBody>
                    <a:bodyPr/>
                    <a:lstStyle/>
                    <a:p>
                      <a:pPr algn="ctr"/>
                      <a:r>
                        <a:rPr lang="en-US" sz="1100" dirty="0"/>
                        <a:t>0</a:t>
                      </a:r>
                    </a:p>
                  </a:txBody>
                  <a:tcPr/>
                </a:tc>
                <a:tc>
                  <a:txBody>
                    <a:bodyPr/>
                    <a:lstStyle/>
                    <a:p>
                      <a:pPr algn="ctr"/>
                      <a:r>
                        <a:rPr lang="en-US" sz="1100" dirty="0"/>
                        <a:t>1</a:t>
                      </a:r>
                    </a:p>
                  </a:txBody>
                  <a:tcPr/>
                </a:tc>
                <a:tc>
                  <a:txBody>
                    <a:bodyPr/>
                    <a:lstStyle/>
                    <a:p>
                      <a:pPr algn="ctr"/>
                      <a:r>
                        <a:rPr lang="en-US" sz="1100" dirty="0"/>
                        <a:t>0</a:t>
                      </a:r>
                    </a:p>
                  </a:txBody>
                  <a:tcPr/>
                </a:tc>
                <a:tc>
                  <a:txBody>
                    <a:bodyPr/>
                    <a:lstStyle/>
                    <a:p>
                      <a:pPr algn="ctr"/>
                      <a:r>
                        <a:rPr lang="en-US" sz="1100" dirty="0"/>
                        <a:t>0</a:t>
                      </a:r>
                    </a:p>
                  </a:txBody>
                  <a:tcPr/>
                </a:tc>
                <a:tc>
                  <a:txBody>
                    <a:bodyPr/>
                    <a:lstStyle/>
                    <a:p>
                      <a:pPr algn="ctr"/>
                      <a:r>
                        <a:rPr lang="en-US" sz="1100" dirty="0"/>
                        <a:t>0</a:t>
                      </a:r>
                    </a:p>
                  </a:txBody>
                  <a:tcPr/>
                </a:tc>
                <a:extLst>
                  <a:ext uri="{0D108BD9-81ED-4DB2-BD59-A6C34878D82A}">
                    <a16:rowId xmlns:a16="http://schemas.microsoft.com/office/drawing/2014/main" val="481424515"/>
                  </a:ext>
                </a:extLst>
              </a:tr>
            </a:tbl>
          </a:graphicData>
        </a:graphic>
      </p:graphicFrame>
      <p:cxnSp>
        <p:nvCxnSpPr>
          <p:cNvPr id="7" name="Straight Arrow Connector 6">
            <a:extLst>
              <a:ext uri="{FF2B5EF4-FFF2-40B4-BE49-F238E27FC236}">
                <a16:creationId xmlns:a16="http://schemas.microsoft.com/office/drawing/2014/main" id="{1F89A61B-D0A5-F2EA-AD5B-166B88D4B25A}"/>
              </a:ext>
            </a:extLst>
          </p:cNvPr>
          <p:cNvCxnSpPr>
            <a:cxnSpLocks/>
            <a:stCxn id="5" idx="0"/>
            <a:endCxn id="4" idx="4"/>
          </p:cNvCxnSpPr>
          <p:nvPr/>
        </p:nvCxnSpPr>
        <p:spPr>
          <a:xfrm flipV="1">
            <a:off x="10106033" y="3637744"/>
            <a:ext cx="8301" cy="22724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8" name="Table 7">
            <a:extLst>
              <a:ext uri="{FF2B5EF4-FFF2-40B4-BE49-F238E27FC236}">
                <a16:creationId xmlns:a16="http://schemas.microsoft.com/office/drawing/2014/main" id="{56693DBF-FD2A-9B14-0DFF-3F462343DD2C}"/>
              </a:ext>
            </a:extLst>
          </p:cNvPr>
          <p:cNvGraphicFramePr>
            <a:graphicFrameLocks noGrp="1"/>
          </p:cNvGraphicFramePr>
          <p:nvPr/>
        </p:nvGraphicFramePr>
        <p:xfrm>
          <a:off x="9149168" y="4632890"/>
          <a:ext cx="1913730" cy="777240"/>
        </p:xfrm>
        <a:graphic>
          <a:graphicData uri="http://schemas.openxmlformats.org/drawingml/2006/table">
            <a:tbl>
              <a:tblPr bandRow="1">
                <a:tableStyleId>{8A107856-5554-42FB-B03E-39F5DBC370BA}</a:tableStyleId>
              </a:tblPr>
              <a:tblGrid>
                <a:gridCol w="382746">
                  <a:extLst>
                    <a:ext uri="{9D8B030D-6E8A-4147-A177-3AD203B41FA5}">
                      <a16:colId xmlns:a16="http://schemas.microsoft.com/office/drawing/2014/main" val="749320167"/>
                    </a:ext>
                  </a:extLst>
                </a:gridCol>
                <a:gridCol w="382746">
                  <a:extLst>
                    <a:ext uri="{9D8B030D-6E8A-4147-A177-3AD203B41FA5}">
                      <a16:colId xmlns:a16="http://schemas.microsoft.com/office/drawing/2014/main" val="568413949"/>
                    </a:ext>
                  </a:extLst>
                </a:gridCol>
                <a:gridCol w="382746">
                  <a:extLst>
                    <a:ext uri="{9D8B030D-6E8A-4147-A177-3AD203B41FA5}">
                      <a16:colId xmlns:a16="http://schemas.microsoft.com/office/drawing/2014/main" val="874955793"/>
                    </a:ext>
                  </a:extLst>
                </a:gridCol>
                <a:gridCol w="382746">
                  <a:extLst>
                    <a:ext uri="{9D8B030D-6E8A-4147-A177-3AD203B41FA5}">
                      <a16:colId xmlns:a16="http://schemas.microsoft.com/office/drawing/2014/main" val="1270628586"/>
                    </a:ext>
                  </a:extLst>
                </a:gridCol>
                <a:gridCol w="382746">
                  <a:extLst>
                    <a:ext uri="{9D8B030D-6E8A-4147-A177-3AD203B41FA5}">
                      <a16:colId xmlns:a16="http://schemas.microsoft.com/office/drawing/2014/main" val="3314274508"/>
                    </a:ext>
                  </a:extLst>
                </a:gridCol>
              </a:tblGrid>
              <a:tr h="214221">
                <a:tc>
                  <a:txBody>
                    <a:bodyPr/>
                    <a:lstStyle/>
                    <a:p>
                      <a:pPr algn="ctr"/>
                      <a:r>
                        <a:rPr lang="en-US" sz="1100" dirty="0"/>
                        <a:t>0.8</a:t>
                      </a:r>
                    </a:p>
                  </a:txBody>
                  <a:tcPr/>
                </a:tc>
                <a:tc>
                  <a:txBody>
                    <a:bodyPr/>
                    <a:lstStyle/>
                    <a:p>
                      <a:pPr algn="ctr"/>
                      <a:r>
                        <a:rPr lang="en-US" sz="1100" dirty="0"/>
                        <a:t>0.2</a:t>
                      </a:r>
                    </a:p>
                  </a:txBody>
                  <a:tcPr/>
                </a:tc>
                <a:tc>
                  <a:txBody>
                    <a:bodyPr/>
                    <a:lstStyle/>
                    <a:p>
                      <a:pPr algn="ctr"/>
                      <a:r>
                        <a:rPr lang="en-US" sz="1100" dirty="0"/>
                        <a:t>0.1</a:t>
                      </a:r>
                    </a:p>
                  </a:txBody>
                  <a:tcPr/>
                </a:tc>
                <a:tc>
                  <a:txBody>
                    <a:bodyPr/>
                    <a:lstStyle/>
                    <a:p>
                      <a:pPr algn="ctr"/>
                      <a:r>
                        <a:rPr lang="en-US" sz="1100" dirty="0"/>
                        <a:t>0.5</a:t>
                      </a:r>
                    </a:p>
                  </a:txBody>
                  <a:tcPr/>
                </a:tc>
                <a:tc>
                  <a:txBody>
                    <a:bodyPr/>
                    <a:lstStyle/>
                    <a:p>
                      <a:pPr algn="ctr"/>
                      <a:r>
                        <a:rPr lang="en-US" sz="1100" dirty="0"/>
                        <a:t>0.3</a:t>
                      </a:r>
                    </a:p>
                  </a:txBody>
                  <a:tcPr/>
                </a:tc>
                <a:extLst>
                  <a:ext uri="{0D108BD9-81ED-4DB2-BD59-A6C34878D82A}">
                    <a16:rowId xmlns:a16="http://schemas.microsoft.com/office/drawing/2014/main" val="481424515"/>
                  </a:ext>
                </a:extLst>
              </a:tr>
              <a:tr h="245256">
                <a:tc>
                  <a:txBody>
                    <a:bodyPr/>
                    <a:lstStyle/>
                    <a:p>
                      <a:pPr algn="ctr"/>
                      <a:r>
                        <a:rPr lang="en-US" sz="1100" dirty="0"/>
                        <a:t>0.3</a:t>
                      </a:r>
                    </a:p>
                  </a:txBody>
                  <a:tcPr/>
                </a:tc>
                <a:tc>
                  <a:txBody>
                    <a:bodyPr/>
                    <a:lstStyle/>
                    <a:p>
                      <a:pPr algn="ctr"/>
                      <a:r>
                        <a:rPr lang="en-US" sz="1100" dirty="0"/>
                        <a:t>0.7</a:t>
                      </a:r>
                    </a:p>
                  </a:txBody>
                  <a:tcPr/>
                </a:tc>
                <a:tc>
                  <a:txBody>
                    <a:bodyPr/>
                    <a:lstStyle/>
                    <a:p>
                      <a:pPr algn="ctr"/>
                      <a:r>
                        <a:rPr lang="en-US" sz="1100" dirty="0"/>
                        <a:t>0.9</a:t>
                      </a:r>
                    </a:p>
                  </a:txBody>
                  <a:tcPr/>
                </a:tc>
                <a:tc>
                  <a:txBody>
                    <a:bodyPr/>
                    <a:lstStyle/>
                    <a:p>
                      <a:pPr algn="ctr"/>
                      <a:r>
                        <a:rPr lang="en-US" sz="1100" dirty="0"/>
                        <a:t>0.2</a:t>
                      </a:r>
                    </a:p>
                  </a:txBody>
                  <a:tcPr/>
                </a:tc>
                <a:tc>
                  <a:txBody>
                    <a:bodyPr/>
                    <a:lstStyle/>
                    <a:p>
                      <a:pPr algn="ctr"/>
                      <a:r>
                        <a:rPr lang="en-US" sz="1100" dirty="0"/>
                        <a:t>0.4</a:t>
                      </a:r>
                    </a:p>
                  </a:txBody>
                  <a:tcPr/>
                </a:tc>
                <a:extLst>
                  <a:ext uri="{0D108BD9-81ED-4DB2-BD59-A6C34878D82A}">
                    <a16:rowId xmlns:a16="http://schemas.microsoft.com/office/drawing/2014/main" val="902716955"/>
                  </a:ext>
                </a:extLst>
              </a:tr>
              <a:tr h="245256">
                <a:tc>
                  <a:txBody>
                    <a:bodyPr/>
                    <a:lstStyle/>
                    <a:p>
                      <a:pPr algn="ctr"/>
                      <a:r>
                        <a:rPr lang="en-US" sz="1100" dirty="0"/>
                        <a:t>0.5</a:t>
                      </a:r>
                    </a:p>
                  </a:txBody>
                  <a:tcPr/>
                </a:tc>
                <a:tc>
                  <a:txBody>
                    <a:bodyPr/>
                    <a:lstStyle/>
                    <a:p>
                      <a:pPr algn="ctr"/>
                      <a:r>
                        <a:rPr lang="en-US" sz="1100" dirty="0"/>
                        <a:t>0.4</a:t>
                      </a:r>
                    </a:p>
                  </a:txBody>
                  <a:tcPr/>
                </a:tc>
                <a:tc>
                  <a:txBody>
                    <a:bodyPr/>
                    <a:lstStyle/>
                    <a:p>
                      <a:pPr algn="ctr"/>
                      <a:r>
                        <a:rPr lang="en-US" sz="1100" dirty="0"/>
                        <a:t>0.6</a:t>
                      </a:r>
                    </a:p>
                  </a:txBody>
                  <a:tcPr/>
                </a:tc>
                <a:tc>
                  <a:txBody>
                    <a:bodyPr/>
                    <a:lstStyle/>
                    <a:p>
                      <a:pPr algn="ctr"/>
                      <a:r>
                        <a:rPr lang="en-US" sz="1100" dirty="0"/>
                        <a:t>0.1</a:t>
                      </a:r>
                    </a:p>
                  </a:txBody>
                  <a:tcPr/>
                </a:tc>
                <a:tc>
                  <a:txBody>
                    <a:bodyPr/>
                    <a:lstStyle/>
                    <a:p>
                      <a:pPr algn="ctr"/>
                      <a:r>
                        <a:rPr lang="en-US" sz="1100" dirty="0"/>
                        <a:t>0.8</a:t>
                      </a:r>
                    </a:p>
                  </a:txBody>
                  <a:tcPr/>
                </a:tc>
                <a:extLst>
                  <a:ext uri="{0D108BD9-81ED-4DB2-BD59-A6C34878D82A}">
                    <a16:rowId xmlns:a16="http://schemas.microsoft.com/office/drawing/2014/main" val="3978761368"/>
                  </a:ext>
                </a:extLst>
              </a:tr>
            </a:tbl>
          </a:graphicData>
        </a:graphic>
      </p:graphicFrame>
      <p:cxnSp>
        <p:nvCxnSpPr>
          <p:cNvPr id="11" name="Straight Arrow Connector 10">
            <a:extLst>
              <a:ext uri="{FF2B5EF4-FFF2-40B4-BE49-F238E27FC236}">
                <a16:creationId xmlns:a16="http://schemas.microsoft.com/office/drawing/2014/main" id="{6DA4511E-36CC-3E3C-1E15-8858E663C974}"/>
              </a:ext>
            </a:extLst>
          </p:cNvPr>
          <p:cNvCxnSpPr>
            <a:cxnSpLocks/>
            <a:endCxn id="18" idx="1"/>
          </p:cNvCxnSpPr>
          <p:nvPr/>
        </p:nvCxnSpPr>
        <p:spPr>
          <a:xfrm flipV="1">
            <a:off x="6900710" y="3158063"/>
            <a:ext cx="2484160" cy="18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ACB03D9-2796-1924-D826-78098F03160F}"/>
              </a:ext>
            </a:extLst>
          </p:cNvPr>
          <p:cNvCxnSpPr>
            <a:cxnSpLocks/>
            <a:stCxn id="4" idx="6"/>
            <a:endCxn id="18" idx="1"/>
          </p:cNvCxnSpPr>
          <p:nvPr/>
        </p:nvCxnSpPr>
        <p:spPr>
          <a:xfrm flipH="1" flipV="1">
            <a:off x="9384870" y="3158063"/>
            <a:ext cx="1193140" cy="32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85A92AF-B37D-0CA0-91E6-EF81EEF209EF}"/>
              </a:ext>
            </a:extLst>
          </p:cNvPr>
          <p:cNvCxnSpPr>
            <a:cxnSpLocks/>
            <a:stCxn id="4" idx="0"/>
            <a:endCxn id="102" idx="2"/>
          </p:cNvCxnSpPr>
          <p:nvPr/>
        </p:nvCxnSpPr>
        <p:spPr>
          <a:xfrm flipV="1">
            <a:off x="10114334" y="755734"/>
            <a:ext cx="7697" cy="19877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17" name="Table 16">
            <a:extLst>
              <a:ext uri="{FF2B5EF4-FFF2-40B4-BE49-F238E27FC236}">
                <a16:creationId xmlns:a16="http://schemas.microsoft.com/office/drawing/2014/main" id="{29175B24-6C38-A125-FA7C-BCAB7EA02D98}"/>
              </a:ext>
            </a:extLst>
          </p:cNvPr>
          <p:cNvGraphicFramePr>
            <a:graphicFrameLocks noGrp="1"/>
          </p:cNvGraphicFramePr>
          <p:nvPr/>
        </p:nvGraphicFramePr>
        <p:xfrm>
          <a:off x="7767774" y="2762659"/>
          <a:ext cx="1157724" cy="777240"/>
        </p:xfrm>
        <a:graphic>
          <a:graphicData uri="http://schemas.openxmlformats.org/drawingml/2006/table">
            <a:tbl>
              <a:tblPr bandRow="1">
                <a:tableStyleId>{8A107856-5554-42FB-B03E-39F5DBC370BA}</a:tableStyleId>
              </a:tblPr>
              <a:tblGrid>
                <a:gridCol w="385908">
                  <a:extLst>
                    <a:ext uri="{9D8B030D-6E8A-4147-A177-3AD203B41FA5}">
                      <a16:colId xmlns:a16="http://schemas.microsoft.com/office/drawing/2014/main" val="749320167"/>
                    </a:ext>
                  </a:extLst>
                </a:gridCol>
                <a:gridCol w="385908">
                  <a:extLst>
                    <a:ext uri="{9D8B030D-6E8A-4147-A177-3AD203B41FA5}">
                      <a16:colId xmlns:a16="http://schemas.microsoft.com/office/drawing/2014/main" val="568413949"/>
                    </a:ext>
                  </a:extLst>
                </a:gridCol>
                <a:gridCol w="385908">
                  <a:extLst>
                    <a:ext uri="{9D8B030D-6E8A-4147-A177-3AD203B41FA5}">
                      <a16:colId xmlns:a16="http://schemas.microsoft.com/office/drawing/2014/main" val="874955793"/>
                    </a:ext>
                  </a:extLst>
                </a:gridCol>
              </a:tblGrid>
              <a:tr h="235697">
                <a:tc>
                  <a:txBody>
                    <a:bodyPr/>
                    <a:lstStyle/>
                    <a:p>
                      <a:pPr algn="ctr"/>
                      <a:r>
                        <a:rPr lang="en-US" sz="1100" dirty="0"/>
                        <a:t>0.5</a:t>
                      </a:r>
                    </a:p>
                  </a:txBody>
                  <a:tcPr/>
                </a:tc>
                <a:tc>
                  <a:txBody>
                    <a:bodyPr/>
                    <a:lstStyle/>
                    <a:p>
                      <a:pPr algn="ctr"/>
                      <a:r>
                        <a:rPr lang="en-US" sz="1100" dirty="0"/>
                        <a:t>0.6</a:t>
                      </a:r>
                    </a:p>
                  </a:txBody>
                  <a:tcPr/>
                </a:tc>
                <a:tc>
                  <a:txBody>
                    <a:bodyPr/>
                    <a:lstStyle/>
                    <a:p>
                      <a:pPr algn="ctr"/>
                      <a:r>
                        <a:rPr lang="en-US" sz="1100" dirty="0"/>
                        <a:t>0.4</a:t>
                      </a:r>
                    </a:p>
                  </a:txBody>
                  <a:tcPr/>
                </a:tc>
                <a:extLst>
                  <a:ext uri="{0D108BD9-81ED-4DB2-BD59-A6C34878D82A}">
                    <a16:rowId xmlns:a16="http://schemas.microsoft.com/office/drawing/2014/main" val="481424515"/>
                  </a:ext>
                </a:extLst>
              </a:tr>
              <a:tr h="252232">
                <a:tc>
                  <a:txBody>
                    <a:bodyPr/>
                    <a:lstStyle/>
                    <a:p>
                      <a:pPr algn="ctr"/>
                      <a:r>
                        <a:rPr lang="en-US" sz="1100" dirty="0"/>
                        <a:t>0.1</a:t>
                      </a:r>
                    </a:p>
                  </a:txBody>
                  <a:tcPr/>
                </a:tc>
                <a:tc>
                  <a:txBody>
                    <a:bodyPr/>
                    <a:lstStyle/>
                    <a:p>
                      <a:pPr algn="ctr"/>
                      <a:r>
                        <a:rPr lang="en-US" sz="1100" dirty="0"/>
                        <a:t>0.8</a:t>
                      </a:r>
                    </a:p>
                  </a:txBody>
                  <a:tcPr/>
                </a:tc>
                <a:tc>
                  <a:txBody>
                    <a:bodyPr/>
                    <a:lstStyle/>
                    <a:p>
                      <a:pPr algn="ctr"/>
                      <a:r>
                        <a:rPr lang="en-US" sz="1100" dirty="0"/>
                        <a:t>0.2</a:t>
                      </a:r>
                    </a:p>
                  </a:txBody>
                  <a:tcPr/>
                </a:tc>
                <a:extLst>
                  <a:ext uri="{0D108BD9-81ED-4DB2-BD59-A6C34878D82A}">
                    <a16:rowId xmlns:a16="http://schemas.microsoft.com/office/drawing/2014/main" val="902716955"/>
                  </a:ext>
                </a:extLst>
              </a:tr>
              <a:tr h="252232">
                <a:tc>
                  <a:txBody>
                    <a:bodyPr/>
                    <a:lstStyle/>
                    <a:p>
                      <a:pPr algn="ctr"/>
                      <a:r>
                        <a:rPr lang="en-US" sz="1100" dirty="0"/>
                        <a:t>0.7</a:t>
                      </a:r>
                    </a:p>
                  </a:txBody>
                  <a:tcPr/>
                </a:tc>
                <a:tc>
                  <a:txBody>
                    <a:bodyPr/>
                    <a:lstStyle/>
                    <a:p>
                      <a:pPr algn="ctr"/>
                      <a:r>
                        <a:rPr lang="en-US" sz="1100" dirty="0"/>
                        <a:t>0.2</a:t>
                      </a:r>
                    </a:p>
                  </a:txBody>
                  <a:tcPr/>
                </a:tc>
                <a:tc>
                  <a:txBody>
                    <a:bodyPr/>
                    <a:lstStyle/>
                    <a:p>
                      <a:pPr algn="ctr"/>
                      <a:r>
                        <a:rPr lang="en-US" sz="1100" dirty="0"/>
                        <a:t>0.9</a:t>
                      </a:r>
                    </a:p>
                  </a:txBody>
                  <a:tcPr/>
                </a:tc>
                <a:extLst>
                  <a:ext uri="{0D108BD9-81ED-4DB2-BD59-A6C34878D82A}">
                    <a16:rowId xmlns:a16="http://schemas.microsoft.com/office/drawing/2014/main" val="3978761368"/>
                  </a:ext>
                </a:extLst>
              </a:tr>
            </a:tbl>
          </a:graphicData>
        </a:graphic>
      </p:graphicFrame>
      <p:graphicFrame>
        <p:nvGraphicFramePr>
          <p:cNvPr id="18" name="Table 17">
            <a:extLst>
              <a:ext uri="{FF2B5EF4-FFF2-40B4-BE49-F238E27FC236}">
                <a16:creationId xmlns:a16="http://schemas.microsoft.com/office/drawing/2014/main" id="{7FF50C5E-B388-DF2B-D311-4D1BF1456ED9}"/>
              </a:ext>
            </a:extLst>
          </p:cNvPr>
          <p:cNvGraphicFramePr>
            <a:graphicFrameLocks noGrp="1"/>
          </p:cNvGraphicFramePr>
          <p:nvPr>
            <p:extLst>
              <p:ext uri="{D42A27DB-BD31-4B8C-83A1-F6EECF244321}">
                <p14:modId xmlns:p14="http://schemas.microsoft.com/office/powerpoint/2010/main" val="1821346808"/>
              </p:ext>
            </p:extLst>
          </p:nvPr>
        </p:nvGraphicFramePr>
        <p:xfrm>
          <a:off x="9384870" y="3028523"/>
          <a:ext cx="1393548" cy="259080"/>
        </p:xfrm>
        <a:graphic>
          <a:graphicData uri="http://schemas.openxmlformats.org/drawingml/2006/table">
            <a:tbl>
              <a:tblPr bandRow="1">
                <a:tableStyleId>{8A107856-5554-42FB-B03E-39F5DBC370BA}</a:tableStyleId>
              </a:tblPr>
              <a:tblGrid>
                <a:gridCol w="464516">
                  <a:extLst>
                    <a:ext uri="{9D8B030D-6E8A-4147-A177-3AD203B41FA5}">
                      <a16:colId xmlns:a16="http://schemas.microsoft.com/office/drawing/2014/main" val="749320167"/>
                    </a:ext>
                  </a:extLst>
                </a:gridCol>
                <a:gridCol w="464516">
                  <a:extLst>
                    <a:ext uri="{9D8B030D-6E8A-4147-A177-3AD203B41FA5}">
                      <a16:colId xmlns:a16="http://schemas.microsoft.com/office/drawing/2014/main" val="568413949"/>
                    </a:ext>
                  </a:extLst>
                </a:gridCol>
                <a:gridCol w="464516">
                  <a:extLst>
                    <a:ext uri="{9D8B030D-6E8A-4147-A177-3AD203B41FA5}">
                      <a16:colId xmlns:a16="http://schemas.microsoft.com/office/drawing/2014/main" val="874955793"/>
                    </a:ext>
                  </a:extLst>
                </a:gridCol>
              </a:tblGrid>
              <a:tr h="141858">
                <a:tc>
                  <a:txBody>
                    <a:bodyPr/>
                    <a:lstStyle/>
                    <a:p>
                      <a:pPr algn="ctr"/>
                      <a:r>
                        <a:rPr lang="en-US" sz="1100" dirty="0"/>
                        <a:t>0.82</a:t>
                      </a:r>
                    </a:p>
                  </a:txBody>
                  <a:tcPr/>
                </a:tc>
                <a:tc>
                  <a:txBody>
                    <a:bodyPr/>
                    <a:lstStyle/>
                    <a:p>
                      <a:pPr algn="ctr"/>
                      <a:r>
                        <a:rPr lang="en-US" sz="1100" dirty="0"/>
                        <a:t>0.88</a:t>
                      </a:r>
                    </a:p>
                  </a:txBody>
                  <a:tcPr/>
                </a:tc>
                <a:tc>
                  <a:txBody>
                    <a:bodyPr/>
                    <a:lstStyle/>
                    <a:p>
                      <a:pPr algn="ctr"/>
                      <a:r>
                        <a:rPr lang="en-US" sz="1100" dirty="0"/>
                        <a:t>0.95</a:t>
                      </a:r>
                    </a:p>
                  </a:txBody>
                  <a:tcPr/>
                </a:tc>
                <a:extLst>
                  <a:ext uri="{0D108BD9-81ED-4DB2-BD59-A6C34878D82A}">
                    <a16:rowId xmlns:a16="http://schemas.microsoft.com/office/drawing/2014/main" val="481424515"/>
                  </a:ext>
                </a:extLst>
              </a:tr>
            </a:tbl>
          </a:graphicData>
        </a:graphic>
      </p:graphicFrame>
      <p:sp>
        <p:nvSpPr>
          <p:cNvPr id="22" name="TextBox 21">
            <a:extLst>
              <a:ext uri="{FF2B5EF4-FFF2-40B4-BE49-F238E27FC236}">
                <a16:creationId xmlns:a16="http://schemas.microsoft.com/office/drawing/2014/main" id="{7CB5EF32-87C8-48F9-AA7B-E5E31CABAD44}"/>
              </a:ext>
            </a:extLst>
          </p:cNvPr>
          <p:cNvSpPr txBox="1"/>
          <p:nvPr/>
        </p:nvSpPr>
        <p:spPr>
          <a:xfrm>
            <a:off x="323552" y="2777298"/>
            <a:ext cx="2619686" cy="261610"/>
          </a:xfrm>
          <a:prstGeom prst="rect">
            <a:avLst/>
          </a:prstGeom>
          <a:noFill/>
        </p:spPr>
        <p:txBody>
          <a:bodyPr wrap="square">
            <a:spAutoFit/>
          </a:bodyPr>
          <a:lstStyle/>
          <a:p>
            <a:r>
              <a:rPr lang="en-US" sz="1100" dirty="0"/>
              <a:t>h</a:t>
            </a:r>
            <a:r>
              <a:rPr lang="en-US" sz="1100" baseline="-25000" dirty="0"/>
              <a:t>2</a:t>
            </a:r>
            <a:r>
              <a:rPr lang="en-US" sz="1100" dirty="0"/>
              <a:t> = tanh(U * x</a:t>
            </a:r>
            <a:r>
              <a:rPr lang="en-US" sz="1100" baseline="-25000" dirty="0"/>
              <a:t>2</a:t>
            </a:r>
            <a:r>
              <a:rPr lang="en-US" sz="1100" dirty="0"/>
              <a:t> + W * h</a:t>
            </a:r>
            <a:r>
              <a:rPr lang="en-US" sz="1100" baseline="-25000" dirty="0"/>
              <a:t>1</a:t>
            </a:r>
            <a:r>
              <a:rPr lang="en-US" sz="1100" dirty="0"/>
              <a:t> + b)</a:t>
            </a:r>
          </a:p>
        </p:txBody>
      </p:sp>
      <p:sp>
        <p:nvSpPr>
          <p:cNvPr id="26" name="TextBox 25">
            <a:extLst>
              <a:ext uri="{FF2B5EF4-FFF2-40B4-BE49-F238E27FC236}">
                <a16:creationId xmlns:a16="http://schemas.microsoft.com/office/drawing/2014/main" id="{562ACD9A-948B-89F9-696F-45E159CDDA02}"/>
              </a:ext>
            </a:extLst>
          </p:cNvPr>
          <p:cNvSpPr txBox="1"/>
          <p:nvPr/>
        </p:nvSpPr>
        <p:spPr>
          <a:xfrm>
            <a:off x="323552" y="534438"/>
            <a:ext cx="4398696" cy="938719"/>
          </a:xfrm>
          <a:prstGeom prst="rect">
            <a:avLst/>
          </a:prstGeom>
          <a:noFill/>
        </p:spPr>
        <p:txBody>
          <a:bodyPr wrap="square">
            <a:spAutoFit/>
          </a:bodyPr>
          <a:lstStyle/>
          <a:p>
            <a:r>
              <a:rPr lang="en-US" sz="1100" dirty="0"/>
              <a:t>U * x</a:t>
            </a:r>
            <a:r>
              <a:rPr lang="en-US" sz="1100" baseline="-25000" dirty="0"/>
              <a:t>2</a:t>
            </a:r>
            <a:r>
              <a:rPr lang="en-US" sz="1100" dirty="0"/>
              <a:t> = [</a:t>
            </a:r>
          </a:p>
          <a:p>
            <a:r>
              <a:rPr lang="en-US" sz="1100" dirty="0"/>
              <a:t>                    [0.8, 0.2, 0.1, 0.5, 0.3]</a:t>
            </a:r>
          </a:p>
          <a:p>
            <a:r>
              <a:rPr lang="en-US" sz="1100" dirty="0"/>
              <a:t>                    [0.3, 0.7, 0.9, 0.2, 0.4]</a:t>
            </a:r>
            <a:endParaRPr lang="en-US" sz="1100" dirty="0">
              <a:highlight>
                <a:srgbClr val="FFFF00"/>
              </a:highlight>
            </a:endParaRPr>
          </a:p>
          <a:p>
            <a:r>
              <a:rPr lang="en-US" sz="1100" dirty="0"/>
              <a:t>                    [0.5, 0.4, 0.6, 0.1, 0.8]</a:t>
            </a:r>
          </a:p>
          <a:p>
            <a:r>
              <a:rPr lang="en-US" sz="1100" dirty="0"/>
              <a:t>                ]</a:t>
            </a:r>
          </a:p>
        </p:txBody>
      </p:sp>
      <p:sp>
        <p:nvSpPr>
          <p:cNvPr id="28" name="TextBox 27">
            <a:extLst>
              <a:ext uri="{FF2B5EF4-FFF2-40B4-BE49-F238E27FC236}">
                <a16:creationId xmlns:a16="http://schemas.microsoft.com/office/drawing/2014/main" id="{6FB8AA59-1C11-FD46-82EF-5810E03ADE81}"/>
              </a:ext>
            </a:extLst>
          </p:cNvPr>
          <p:cNvSpPr txBox="1"/>
          <p:nvPr/>
        </p:nvSpPr>
        <p:spPr>
          <a:xfrm>
            <a:off x="323552" y="1565876"/>
            <a:ext cx="4592438" cy="938719"/>
          </a:xfrm>
          <a:prstGeom prst="rect">
            <a:avLst/>
          </a:prstGeom>
          <a:noFill/>
        </p:spPr>
        <p:txBody>
          <a:bodyPr wrap="square">
            <a:spAutoFit/>
          </a:bodyPr>
          <a:lstStyle/>
          <a:p>
            <a:r>
              <a:rPr lang="en-US" sz="1100" dirty="0"/>
              <a:t>W * h</a:t>
            </a:r>
            <a:r>
              <a:rPr lang="en-US" sz="1100" baseline="-25000" dirty="0"/>
              <a:t>1</a:t>
            </a:r>
            <a:r>
              <a:rPr lang="en-US" sz="1100" dirty="0"/>
              <a:t> = [</a:t>
            </a:r>
          </a:p>
          <a:p>
            <a:r>
              <a:rPr lang="en-US" sz="1100" dirty="0"/>
              <a:t>                      [0.5, 0.6, 0.4]</a:t>
            </a:r>
          </a:p>
          <a:p>
            <a:r>
              <a:rPr lang="en-US" sz="1100" dirty="0"/>
              <a:t>                      [0.1, 0.8, 0.2]</a:t>
            </a:r>
          </a:p>
          <a:p>
            <a:r>
              <a:rPr lang="en-US" sz="1100" dirty="0"/>
              <a:t>                      [0.7, 0.2, 0.9]</a:t>
            </a:r>
          </a:p>
          <a:p>
            <a:r>
              <a:rPr lang="en-US" sz="1100" dirty="0"/>
              <a:t>                 ]</a:t>
            </a:r>
          </a:p>
        </p:txBody>
      </p:sp>
      <p:sp>
        <p:nvSpPr>
          <p:cNvPr id="32" name="TextBox 31">
            <a:extLst>
              <a:ext uri="{FF2B5EF4-FFF2-40B4-BE49-F238E27FC236}">
                <a16:creationId xmlns:a16="http://schemas.microsoft.com/office/drawing/2014/main" id="{9D298734-9603-84ED-53C9-984C3BF102D5}"/>
              </a:ext>
            </a:extLst>
          </p:cNvPr>
          <p:cNvSpPr txBox="1"/>
          <p:nvPr/>
        </p:nvSpPr>
        <p:spPr>
          <a:xfrm>
            <a:off x="323552" y="3131627"/>
            <a:ext cx="3579551" cy="430887"/>
          </a:xfrm>
          <a:prstGeom prst="rect">
            <a:avLst/>
          </a:prstGeom>
          <a:noFill/>
        </p:spPr>
        <p:txBody>
          <a:bodyPr wrap="square">
            <a:spAutoFit/>
          </a:bodyPr>
          <a:lstStyle/>
          <a:p>
            <a:r>
              <a:rPr lang="en-US" sz="1100" dirty="0"/>
              <a:t>h</a:t>
            </a:r>
            <a:r>
              <a:rPr lang="en-US" sz="1100" baseline="-25000" dirty="0"/>
              <a:t>2</a:t>
            </a:r>
            <a:r>
              <a:rPr lang="en-US" sz="1100" dirty="0"/>
              <a:t> = </a:t>
            </a:r>
            <a:r>
              <a:rPr lang="en-US" sz="1100" dirty="0">
                <a:highlight>
                  <a:srgbClr val="FFFF00"/>
                </a:highlight>
              </a:rPr>
              <a:t>[0.2, 0.7, 0.4]</a:t>
            </a:r>
            <a:r>
              <a:rPr lang="en-US" sz="1100" dirty="0"/>
              <a:t> + </a:t>
            </a:r>
            <a:r>
              <a:rPr lang="en-US" sz="1100" dirty="0">
                <a:highlight>
                  <a:srgbClr val="00FF00"/>
                </a:highlight>
              </a:rPr>
              <a:t>[0.836, 0.498, 1.158]</a:t>
            </a:r>
            <a:r>
              <a:rPr lang="en-US" sz="1100" dirty="0"/>
              <a:t> + [0.1, 0.2, 0.3] </a:t>
            </a:r>
          </a:p>
          <a:p>
            <a:r>
              <a:rPr lang="en-US" sz="1100" dirty="0"/>
              <a:t>     = [1.136, 1.398, 1.858]</a:t>
            </a:r>
          </a:p>
        </p:txBody>
      </p:sp>
      <p:graphicFrame>
        <p:nvGraphicFramePr>
          <p:cNvPr id="33" name="Table 32">
            <a:extLst>
              <a:ext uri="{FF2B5EF4-FFF2-40B4-BE49-F238E27FC236}">
                <a16:creationId xmlns:a16="http://schemas.microsoft.com/office/drawing/2014/main" id="{FE38691E-5991-F56C-6BA5-DFC16516E4C1}"/>
              </a:ext>
            </a:extLst>
          </p:cNvPr>
          <p:cNvGraphicFramePr>
            <a:graphicFrameLocks noGrp="1"/>
          </p:cNvGraphicFramePr>
          <p:nvPr/>
        </p:nvGraphicFramePr>
        <p:xfrm>
          <a:off x="6059467" y="6030912"/>
          <a:ext cx="1259598" cy="259080"/>
        </p:xfrm>
        <a:graphic>
          <a:graphicData uri="http://schemas.openxmlformats.org/drawingml/2006/table">
            <a:tbl>
              <a:tblPr bandRow="1">
                <a:tableStyleId>{8A107856-5554-42FB-B03E-39F5DBC370BA}</a:tableStyleId>
              </a:tblPr>
              <a:tblGrid>
                <a:gridCol w="417310">
                  <a:extLst>
                    <a:ext uri="{9D8B030D-6E8A-4147-A177-3AD203B41FA5}">
                      <a16:colId xmlns:a16="http://schemas.microsoft.com/office/drawing/2014/main" val="749320167"/>
                    </a:ext>
                  </a:extLst>
                </a:gridCol>
                <a:gridCol w="417310">
                  <a:extLst>
                    <a:ext uri="{9D8B030D-6E8A-4147-A177-3AD203B41FA5}">
                      <a16:colId xmlns:a16="http://schemas.microsoft.com/office/drawing/2014/main" val="568413949"/>
                    </a:ext>
                  </a:extLst>
                </a:gridCol>
                <a:gridCol w="424978">
                  <a:extLst>
                    <a:ext uri="{9D8B030D-6E8A-4147-A177-3AD203B41FA5}">
                      <a16:colId xmlns:a16="http://schemas.microsoft.com/office/drawing/2014/main" val="874955793"/>
                    </a:ext>
                  </a:extLst>
                </a:gridCol>
              </a:tblGrid>
              <a:tr h="0">
                <a:tc>
                  <a:txBody>
                    <a:bodyPr/>
                    <a:lstStyle/>
                    <a:p>
                      <a:pPr algn="ctr"/>
                      <a:r>
                        <a:rPr lang="en-US" sz="1100" dirty="0"/>
                        <a:t>0.1</a:t>
                      </a:r>
                    </a:p>
                  </a:txBody>
                  <a:tcPr/>
                </a:tc>
                <a:tc>
                  <a:txBody>
                    <a:bodyPr/>
                    <a:lstStyle/>
                    <a:p>
                      <a:pPr algn="ctr"/>
                      <a:r>
                        <a:rPr lang="en-US" sz="1100" dirty="0"/>
                        <a:t>0.2</a:t>
                      </a:r>
                    </a:p>
                  </a:txBody>
                  <a:tcPr/>
                </a:tc>
                <a:tc>
                  <a:txBody>
                    <a:bodyPr/>
                    <a:lstStyle/>
                    <a:p>
                      <a:pPr algn="ctr"/>
                      <a:r>
                        <a:rPr lang="en-US" sz="1100" dirty="0"/>
                        <a:t>0.3</a:t>
                      </a:r>
                    </a:p>
                  </a:txBody>
                  <a:tcPr/>
                </a:tc>
                <a:extLst>
                  <a:ext uri="{0D108BD9-81ED-4DB2-BD59-A6C34878D82A}">
                    <a16:rowId xmlns:a16="http://schemas.microsoft.com/office/drawing/2014/main" val="481424515"/>
                  </a:ext>
                </a:extLst>
              </a:tr>
            </a:tbl>
          </a:graphicData>
        </a:graphic>
      </p:graphicFrame>
      <p:sp>
        <p:nvSpPr>
          <p:cNvPr id="37" name="TextBox 36">
            <a:extLst>
              <a:ext uri="{FF2B5EF4-FFF2-40B4-BE49-F238E27FC236}">
                <a16:creationId xmlns:a16="http://schemas.microsoft.com/office/drawing/2014/main" id="{5186A916-A435-606D-BA01-A59E2F04FE0C}"/>
              </a:ext>
            </a:extLst>
          </p:cNvPr>
          <p:cNvSpPr txBox="1"/>
          <p:nvPr/>
        </p:nvSpPr>
        <p:spPr>
          <a:xfrm>
            <a:off x="323552" y="3655235"/>
            <a:ext cx="3322573" cy="261610"/>
          </a:xfrm>
          <a:prstGeom prst="rect">
            <a:avLst/>
          </a:prstGeom>
          <a:noFill/>
        </p:spPr>
        <p:txBody>
          <a:bodyPr wrap="square">
            <a:spAutoFit/>
          </a:bodyPr>
          <a:lstStyle/>
          <a:p>
            <a:r>
              <a:rPr lang="en-US" sz="1100" dirty="0"/>
              <a:t>h</a:t>
            </a:r>
            <a:r>
              <a:rPr lang="en-US" sz="1100" baseline="-25000" dirty="0"/>
              <a:t>2</a:t>
            </a:r>
            <a:r>
              <a:rPr lang="en-US" sz="1100" dirty="0"/>
              <a:t> = tanh ([1.136, 1.398, 1.858]) = [0.82, 0.88, 0.95] </a:t>
            </a:r>
          </a:p>
        </p:txBody>
      </p:sp>
      <p:graphicFrame>
        <p:nvGraphicFramePr>
          <p:cNvPr id="40" name="Table 39">
            <a:extLst>
              <a:ext uri="{FF2B5EF4-FFF2-40B4-BE49-F238E27FC236}">
                <a16:creationId xmlns:a16="http://schemas.microsoft.com/office/drawing/2014/main" id="{ECE71A4F-BDBF-E01E-962D-125B1D9D0649}"/>
              </a:ext>
            </a:extLst>
          </p:cNvPr>
          <p:cNvGraphicFramePr>
            <a:graphicFrameLocks noGrp="1"/>
          </p:cNvGraphicFramePr>
          <p:nvPr/>
        </p:nvGraphicFramePr>
        <p:xfrm>
          <a:off x="9552229" y="1094474"/>
          <a:ext cx="1152024" cy="1295400"/>
        </p:xfrm>
        <a:graphic>
          <a:graphicData uri="http://schemas.openxmlformats.org/drawingml/2006/table">
            <a:tbl>
              <a:tblPr bandRow="1">
                <a:tableStyleId>{8A107856-5554-42FB-B03E-39F5DBC370BA}</a:tableStyleId>
              </a:tblPr>
              <a:tblGrid>
                <a:gridCol w="384008">
                  <a:extLst>
                    <a:ext uri="{9D8B030D-6E8A-4147-A177-3AD203B41FA5}">
                      <a16:colId xmlns:a16="http://schemas.microsoft.com/office/drawing/2014/main" val="749320167"/>
                    </a:ext>
                  </a:extLst>
                </a:gridCol>
                <a:gridCol w="384008">
                  <a:extLst>
                    <a:ext uri="{9D8B030D-6E8A-4147-A177-3AD203B41FA5}">
                      <a16:colId xmlns:a16="http://schemas.microsoft.com/office/drawing/2014/main" val="568413949"/>
                    </a:ext>
                  </a:extLst>
                </a:gridCol>
                <a:gridCol w="384008">
                  <a:extLst>
                    <a:ext uri="{9D8B030D-6E8A-4147-A177-3AD203B41FA5}">
                      <a16:colId xmlns:a16="http://schemas.microsoft.com/office/drawing/2014/main" val="874955793"/>
                    </a:ext>
                  </a:extLst>
                </a:gridCol>
              </a:tblGrid>
              <a:tr h="259079">
                <a:tc>
                  <a:txBody>
                    <a:bodyPr/>
                    <a:lstStyle/>
                    <a:p>
                      <a:pPr algn="ctr"/>
                      <a:r>
                        <a:rPr lang="en-US" sz="1100" dirty="0"/>
                        <a:t>0.9</a:t>
                      </a:r>
                    </a:p>
                  </a:txBody>
                  <a:tcPr/>
                </a:tc>
                <a:tc>
                  <a:txBody>
                    <a:bodyPr/>
                    <a:lstStyle/>
                    <a:p>
                      <a:pPr algn="ctr"/>
                      <a:r>
                        <a:rPr lang="en-US" sz="1100" dirty="0"/>
                        <a:t>0.1</a:t>
                      </a:r>
                    </a:p>
                  </a:txBody>
                  <a:tcPr/>
                </a:tc>
                <a:tc>
                  <a:txBody>
                    <a:bodyPr/>
                    <a:lstStyle/>
                    <a:p>
                      <a:pPr algn="ctr"/>
                      <a:r>
                        <a:rPr lang="en-US" sz="1100" dirty="0"/>
                        <a:t>0.1</a:t>
                      </a:r>
                    </a:p>
                  </a:txBody>
                  <a:tcPr/>
                </a:tc>
                <a:extLst>
                  <a:ext uri="{0D108BD9-81ED-4DB2-BD59-A6C34878D82A}">
                    <a16:rowId xmlns:a16="http://schemas.microsoft.com/office/drawing/2014/main" val="481424515"/>
                  </a:ext>
                </a:extLst>
              </a:tr>
              <a:tr h="259079">
                <a:tc>
                  <a:txBody>
                    <a:bodyPr/>
                    <a:lstStyle/>
                    <a:p>
                      <a:pPr algn="ctr"/>
                      <a:r>
                        <a:rPr lang="en-US" sz="1100" dirty="0"/>
                        <a:t>0.2</a:t>
                      </a:r>
                    </a:p>
                  </a:txBody>
                  <a:tcPr/>
                </a:tc>
                <a:tc>
                  <a:txBody>
                    <a:bodyPr/>
                    <a:lstStyle/>
                    <a:p>
                      <a:pPr algn="ctr"/>
                      <a:r>
                        <a:rPr lang="en-US" sz="1100" dirty="0"/>
                        <a:t>0.8</a:t>
                      </a:r>
                    </a:p>
                  </a:txBody>
                  <a:tcPr/>
                </a:tc>
                <a:tc>
                  <a:txBody>
                    <a:bodyPr/>
                    <a:lstStyle/>
                    <a:p>
                      <a:pPr algn="ctr"/>
                      <a:r>
                        <a:rPr lang="en-US" sz="1100" dirty="0"/>
                        <a:t>0.1</a:t>
                      </a:r>
                    </a:p>
                  </a:txBody>
                  <a:tcPr/>
                </a:tc>
                <a:extLst>
                  <a:ext uri="{0D108BD9-81ED-4DB2-BD59-A6C34878D82A}">
                    <a16:rowId xmlns:a16="http://schemas.microsoft.com/office/drawing/2014/main" val="902716955"/>
                  </a:ext>
                </a:extLst>
              </a:tr>
              <a:tr h="259079">
                <a:tc>
                  <a:txBody>
                    <a:bodyPr/>
                    <a:lstStyle/>
                    <a:p>
                      <a:pPr algn="ctr"/>
                      <a:r>
                        <a:rPr lang="en-US" sz="1100" dirty="0"/>
                        <a:t>0.1</a:t>
                      </a:r>
                    </a:p>
                  </a:txBody>
                  <a:tcPr/>
                </a:tc>
                <a:tc>
                  <a:txBody>
                    <a:bodyPr/>
                    <a:lstStyle/>
                    <a:p>
                      <a:pPr algn="ctr"/>
                      <a:r>
                        <a:rPr lang="en-US" sz="1100" dirty="0"/>
                        <a:t>0.3</a:t>
                      </a:r>
                    </a:p>
                  </a:txBody>
                  <a:tcPr/>
                </a:tc>
                <a:tc>
                  <a:txBody>
                    <a:bodyPr/>
                    <a:lstStyle/>
                    <a:p>
                      <a:pPr algn="ctr"/>
                      <a:r>
                        <a:rPr lang="en-US" sz="1100" dirty="0"/>
                        <a:t>0.7</a:t>
                      </a:r>
                    </a:p>
                  </a:txBody>
                  <a:tcPr/>
                </a:tc>
                <a:extLst>
                  <a:ext uri="{0D108BD9-81ED-4DB2-BD59-A6C34878D82A}">
                    <a16:rowId xmlns:a16="http://schemas.microsoft.com/office/drawing/2014/main" val="3978761368"/>
                  </a:ext>
                </a:extLst>
              </a:tr>
              <a:tr h="259079">
                <a:tc>
                  <a:txBody>
                    <a:bodyPr/>
                    <a:lstStyle/>
                    <a:p>
                      <a:pPr algn="ctr"/>
                      <a:r>
                        <a:rPr lang="en-US" sz="1100" dirty="0"/>
                        <a:t>0.4</a:t>
                      </a:r>
                    </a:p>
                  </a:txBody>
                  <a:tcPr/>
                </a:tc>
                <a:tc>
                  <a:txBody>
                    <a:bodyPr/>
                    <a:lstStyle/>
                    <a:p>
                      <a:pPr algn="ctr"/>
                      <a:r>
                        <a:rPr lang="en-US" sz="1100" dirty="0"/>
                        <a:t>0.3</a:t>
                      </a:r>
                    </a:p>
                  </a:txBody>
                  <a:tcPr/>
                </a:tc>
                <a:tc>
                  <a:txBody>
                    <a:bodyPr/>
                    <a:lstStyle/>
                    <a:p>
                      <a:pPr algn="ctr"/>
                      <a:r>
                        <a:rPr lang="en-US" sz="1100" dirty="0"/>
                        <a:t>0.6</a:t>
                      </a:r>
                    </a:p>
                  </a:txBody>
                  <a:tcPr/>
                </a:tc>
                <a:extLst>
                  <a:ext uri="{0D108BD9-81ED-4DB2-BD59-A6C34878D82A}">
                    <a16:rowId xmlns:a16="http://schemas.microsoft.com/office/drawing/2014/main" val="1296055837"/>
                  </a:ext>
                </a:extLst>
              </a:tr>
              <a:tr h="259079">
                <a:tc>
                  <a:txBody>
                    <a:bodyPr/>
                    <a:lstStyle/>
                    <a:p>
                      <a:pPr algn="ctr"/>
                      <a:r>
                        <a:rPr lang="en-US" sz="1100" dirty="0"/>
                        <a:t>0.2</a:t>
                      </a:r>
                    </a:p>
                  </a:txBody>
                  <a:tcPr/>
                </a:tc>
                <a:tc>
                  <a:txBody>
                    <a:bodyPr/>
                    <a:lstStyle/>
                    <a:p>
                      <a:pPr algn="ctr"/>
                      <a:r>
                        <a:rPr lang="en-US" sz="1100" dirty="0"/>
                        <a:t>0.6</a:t>
                      </a:r>
                    </a:p>
                  </a:txBody>
                  <a:tcPr/>
                </a:tc>
                <a:tc>
                  <a:txBody>
                    <a:bodyPr/>
                    <a:lstStyle/>
                    <a:p>
                      <a:pPr algn="ctr"/>
                      <a:r>
                        <a:rPr lang="en-US" sz="1100" dirty="0"/>
                        <a:t>0.5</a:t>
                      </a:r>
                    </a:p>
                  </a:txBody>
                  <a:tcPr/>
                </a:tc>
                <a:extLst>
                  <a:ext uri="{0D108BD9-81ED-4DB2-BD59-A6C34878D82A}">
                    <a16:rowId xmlns:a16="http://schemas.microsoft.com/office/drawing/2014/main" val="3266075682"/>
                  </a:ext>
                </a:extLst>
              </a:tr>
            </a:tbl>
          </a:graphicData>
        </a:graphic>
      </p:graphicFrame>
      <p:sp>
        <p:nvSpPr>
          <p:cNvPr id="51" name="TextBox 50">
            <a:extLst>
              <a:ext uri="{FF2B5EF4-FFF2-40B4-BE49-F238E27FC236}">
                <a16:creationId xmlns:a16="http://schemas.microsoft.com/office/drawing/2014/main" id="{0062AD21-CAB0-ABE8-E9F1-FCABF6F0E355}"/>
              </a:ext>
            </a:extLst>
          </p:cNvPr>
          <p:cNvSpPr txBox="1"/>
          <p:nvPr/>
        </p:nvSpPr>
        <p:spPr>
          <a:xfrm>
            <a:off x="336100" y="4209950"/>
            <a:ext cx="1913730" cy="261610"/>
          </a:xfrm>
          <a:prstGeom prst="rect">
            <a:avLst/>
          </a:prstGeom>
          <a:noFill/>
        </p:spPr>
        <p:txBody>
          <a:bodyPr wrap="square">
            <a:spAutoFit/>
          </a:bodyPr>
          <a:lstStyle/>
          <a:p>
            <a:r>
              <a:rPr lang="en-US" sz="1100" dirty="0"/>
              <a:t>y</a:t>
            </a:r>
            <a:r>
              <a:rPr lang="en-US" sz="1100" baseline="-25000" dirty="0"/>
              <a:t>2</a:t>
            </a:r>
            <a:r>
              <a:rPr lang="en-US" sz="1100" dirty="0"/>
              <a:t> =  </a:t>
            </a:r>
            <a:r>
              <a:rPr lang="en-US" sz="1100" dirty="0" err="1"/>
              <a:t>softmax</a:t>
            </a:r>
            <a:r>
              <a:rPr lang="en-US" sz="1100" dirty="0"/>
              <a:t>(V * h</a:t>
            </a:r>
            <a:r>
              <a:rPr lang="en-US" sz="1100" baseline="-25000" dirty="0"/>
              <a:t>2</a:t>
            </a:r>
            <a:r>
              <a:rPr lang="en-US" sz="1100" dirty="0"/>
              <a:t>) </a:t>
            </a:r>
          </a:p>
        </p:txBody>
      </p:sp>
      <p:sp>
        <p:nvSpPr>
          <p:cNvPr id="68" name="TextBox 67">
            <a:extLst>
              <a:ext uri="{FF2B5EF4-FFF2-40B4-BE49-F238E27FC236}">
                <a16:creationId xmlns:a16="http://schemas.microsoft.com/office/drawing/2014/main" id="{FF1075C6-DF6E-ADE0-C023-00E78B6F7733}"/>
              </a:ext>
            </a:extLst>
          </p:cNvPr>
          <p:cNvSpPr txBox="1"/>
          <p:nvPr/>
        </p:nvSpPr>
        <p:spPr>
          <a:xfrm>
            <a:off x="686168" y="4523859"/>
            <a:ext cx="2334671" cy="1277273"/>
          </a:xfrm>
          <a:prstGeom prst="rect">
            <a:avLst/>
          </a:prstGeom>
          <a:noFill/>
        </p:spPr>
        <p:txBody>
          <a:bodyPr wrap="square">
            <a:spAutoFit/>
          </a:bodyPr>
          <a:lstStyle/>
          <a:p>
            <a:r>
              <a:rPr lang="en-US" sz="1100" dirty="0"/>
              <a:t>[</a:t>
            </a:r>
          </a:p>
          <a:p>
            <a:r>
              <a:rPr lang="en-US" sz="1100" dirty="0"/>
              <a:t>       [0.9, 0.1, 0.1],</a:t>
            </a:r>
          </a:p>
          <a:p>
            <a:r>
              <a:rPr lang="en-US" sz="1100" dirty="0"/>
              <a:t>       [0.2, 0.8, 0.1],</a:t>
            </a:r>
          </a:p>
          <a:p>
            <a:r>
              <a:rPr lang="en-US" sz="1100" dirty="0"/>
              <a:t>       [0.1, 0.3, 0.7],</a:t>
            </a:r>
          </a:p>
          <a:p>
            <a:r>
              <a:rPr lang="en-US" sz="1100" dirty="0"/>
              <a:t>       [0.4, 0.3, 0.6],</a:t>
            </a:r>
          </a:p>
          <a:p>
            <a:r>
              <a:rPr lang="en-US" sz="1100" dirty="0"/>
              <a:t>       [0.2, 0.6, 0.5]</a:t>
            </a:r>
          </a:p>
          <a:p>
            <a:r>
              <a:rPr lang="en-US" sz="1100" dirty="0"/>
              <a:t>]</a:t>
            </a:r>
          </a:p>
        </p:txBody>
      </p:sp>
      <p:sp>
        <p:nvSpPr>
          <p:cNvPr id="72" name="TextBox 71">
            <a:extLst>
              <a:ext uri="{FF2B5EF4-FFF2-40B4-BE49-F238E27FC236}">
                <a16:creationId xmlns:a16="http://schemas.microsoft.com/office/drawing/2014/main" id="{465D9334-2419-DDFD-3C1D-A3EBA10E480B}"/>
              </a:ext>
            </a:extLst>
          </p:cNvPr>
          <p:cNvSpPr txBox="1"/>
          <p:nvPr/>
        </p:nvSpPr>
        <p:spPr>
          <a:xfrm>
            <a:off x="1858094" y="5053742"/>
            <a:ext cx="1386068" cy="261610"/>
          </a:xfrm>
          <a:prstGeom prst="rect">
            <a:avLst/>
          </a:prstGeom>
          <a:noFill/>
        </p:spPr>
        <p:txBody>
          <a:bodyPr wrap="square">
            <a:spAutoFit/>
          </a:bodyPr>
          <a:lstStyle/>
          <a:p>
            <a:r>
              <a:rPr lang="en-US" sz="1100" dirty="0"/>
              <a:t>* [0.82, 0.88, 0.95]ᵀ</a:t>
            </a:r>
          </a:p>
        </p:txBody>
      </p:sp>
      <p:sp>
        <p:nvSpPr>
          <p:cNvPr id="74" name="TextBox 73">
            <a:extLst>
              <a:ext uri="{FF2B5EF4-FFF2-40B4-BE49-F238E27FC236}">
                <a16:creationId xmlns:a16="http://schemas.microsoft.com/office/drawing/2014/main" id="{B13E8165-D23F-FD81-BF11-68188798AFF4}"/>
              </a:ext>
            </a:extLst>
          </p:cNvPr>
          <p:cNvSpPr txBox="1"/>
          <p:nvPr/>
        </p:nvSpPr>
        <p:spPr>
          <a:xfrm>
            <a:off x="336100" y="4982850"/>
            <a:ext cx="769902" cy="261610"/>
          </a:xfrm>
          <a:prstGeom prst="rect">
            <a:avLst/>
          </a:prstGeom>
          <a:noFill/>
        </p:spPr>
        <p:txBody>
          <a:bodyPr wrap="square">
            <a:spAutoFit/>
          </a:bodyPr>
          <a:lstStyle/>
          <a:p>
            <a:r>
              <a:rPr lang="en-US" sz="1100" dirty="0"/>
              <a:t>y</a:t>
            </a:r>
            <a:r>
              <a:rPr lang="en-US" sz="1100" baseline="-25000" dirty="0"/>
              <a:t>2</a:t>
            </a:r>
            <a:r>
              <a:rPr lang="en-US" sz="1100" dirty="0"/>
              <a:t>=</a:t>
            </a:r>
          </a:p>
        </p:txBody>
      </p:sp>
      <p:sp>
        <p:nvSpPr>
          <p:cNvPr id="76" name="TextBox 75">
            <a:extLst>
              <a:ext uri="{FF2B5EF4-FFF2-40B4-BE49-F238E27FC236}">
                <a16:creationId xmlns:a16="http://schemas.microsoft.com/office/drawing/2014/main" id="{0135E958-56E6-A6E1-90CD-FF10ABB4A62C}"/>
              </a:ext>
            </a:extLst>
          </p:cNvPr>
          <p:cNvSpPr txBox="1"/>
          <p:nvPr/>
        </p:nvSpPr>
        <p:spPr>
          <a:xfrm>
            <a:off x="2266670" y="882045"/>
            <a:ext cx="2039292" cy="261610"/>
          </a:xfrm>
          <a:prstGeom prst="rect">
            <a:avLst/>
          </a:prstGeom>
          <a:noFill/>
        </p:spPr>
        <p:txBody>
          <a:bodyPr wrap="square">
            <a:spAutoFit/>
          </a:bodyPr>
          <a:lstStyle/>
          <a:p>
            <a:r>
              <a:rPr lang="en-US" sz="1100" dirty="0"/>
              <a:t>* [0, 1, 0, 0, 0]ᵀ = </a:t>
            </a:r>
            <a:r>
              <a:rPr lang="en-US" sz="1100" dirty="0">
                <a:highlight>
                  <a:srgbClr val="FFFF00"/>
                </a:highlight>
              </a:rPr>
              <a:t>[0.2, 0.7, 0.4]</a:t>
            </a:r>
            <a:endParaRPr lang="en-US" sz="1100" dirty="0"/>
          </a:p>
        </p:txBody>
      </p:sp>
      <p:sp>
        <p:nvSpPr>
          <p:cNvPr id="78" name="TextBox 77">
            <a:extLst>
              <a:ext uri="{FF2B5EF4-FFF2-40B4-BE49-F238E27FC236}">
                <a16:creationId xmlns:a16="http://schemas.microsoft.com/office/drawing/2014/main" id="{F7440273-0235-465F-37AE-9F78B3884749}"/>
              </a:ext>
            </a:extLst>
          </p:cNvPr>
          <p:cNvSpPr txBox="1"/>
          <p:nvPr/>
        </p:nvSpPr>
        <p:spPr>
          <a:xfrm>
            <a:off x="1829821" y="1931338"/>
            <a:ext cx="2775902" cy="261610"/>
          </a:xfrm>
          <a:prstGeom prst="rect">
            <a:avLst/>
          </a:prstGeom>
          <a:noFill/>
        </p:spPr>
        <p:txBody>
          <a:bodyPr wrap="square">
            <a:spAutoFit/>
          </a:bodyPr>
          <a:lstStyle/>
          <a:p>
            <a:r>
              <a:rPr lang="en-US" sz="1100" dirty="0"/>
              <a:t>* [0.7, 0.37, 0.66]ᵀ = </a:t>
            </a:r>
            <a:r>
              <a:rPr lang="en-US" sz="1100" dirty="0">
                <a:highlight>
                  <a:srgbClr val="00FF00"/>
                </a:highlight>
              </a:rPr>
              <a:t>[0.836, 0.498, 1.158]</a:t>
            </a:r>
            <a:endParaRPr lang="en-US" sz="1100" dirty="0"/>
          </a:p>
        </p:txBody>
      </p:sp>
      <p:cxnSp>
        <p:nvCxnSpPr>
          <p:cNvPr id="81" name="Straight Connector 80">
            <a:extLst>
              <a:ext uri="{FF2B5EF4-FFF2-40B4-BE49-F238E27FC236}">
                <a16:creationId xmlns:a16="http://schemas.microsoft.com/office/drawing/2014/main" id="{48DEF939-EB43-8C2C-D57C-E5D9F15E7E0C}"/>
              </a:ext>
            </a:extLst>
          </p:cNvPr>
          <p:cNvCxnSpPr/>
          <p:nvPr/>
        </p:nvCxnSpPr>
        <p:spPr>
          <a:xfrm>
            <a:off x="230375" y="2651128"/>
            <a:ext cx="4626320" cy="0"/>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C47286F6-9DEA-F3C3-4239-C3C239BF02C4}"/>
              </a:ext>
            </a:extLst>
          </p:cNvPr>
          <p:cNvCxnSpPr/>
          <p:nvPr/>
        </p:nvCxnSpPr>
        <p:spPr>
          <a:xfrm>
            <a:off x="230375" y="4067047"/>
            <a:ext cx="4626320" cy="0"/>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90B46A48-35E6-878F-E083-DE4C1E4B1871}"/>
              </a:ext>
            </a:extLst>
          </p:cNvPr>
          <p:cNvCxnSpPr>
            <a:cxnSpLocks/>
          </p:cNvCxnSpPr>
          <p:nvPr/>
        </p:nvCxnSpPr>
        <p:spPr>
          <a:xfrm>
            <a:off x="5226375" y="344032"/>
            <a:ext cx="0" cy="603866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561E5D1E-BDA2-55FB-4FB8-749310BDB792}"/>
              </a:ext>
            </a:extLst>
          </p:cNvPr>
          <p:cNvSpPr txBox="1"/>
          <p:nvPr/>
        </p:nvSpPr>
        <p:spPr>
          <a:xfrm>
            <a:off x="5456634" y="6029647"/>
            <a:ext cx="602833" cy="261610"/>
          </a:xfrm>
          <a:prstGeom prst="rect">
            <a:avLst/>
          </a:prstGeom>
          <a:noFill/>
        </p:spPr>
        <p:txBody>
          <a:bodyPr wrap="square">
            <a:spAutoFit/>
          </a:bodyPr>
          <a:lstStyle/>
          <a:p>
            <a:r>
              <a:rPr lang="en-US" sz="1100" i="1" dirty="0"/>
              <a:t>bias</a:t>
            </a:r>
            <a:r>
              <a:rPr lang="en-US" sz="1100" dirty="0"/>
              <a:t> = </a:t>
            </a:r>
          </a:p>
        </p:txBody>
      </p:sp>
      <p:sp>
        <p:nvSpPr>
          <p:cNvPr id="87" name="TextBox 86">
            <a:extLst>
              <a:ext uri="{FF2B5EF4-FFF2-40B4-BE49-F238E27FC236}">
                <a16:creationId xmlns:a16="http://schemas.microsoft.com/office/drawing/2014/main" id="{591CC472-65D1-A48E-FE62-EDFF4494AE84}"/>
              </a:ext>
            </a:extLst>
          </p:cNvPr>
          <p:cNvSpPr txBox="1"/>
          <p:nvPr/>
        </p:nvSpPr>
        <p:spPr>
          <a:xfrm>
            <a:off x="8801784" y="4889261"/>
            <a:ext cx="602833" cy="261610"/>
          </a:xfrm>
          <a:prstGeom prst="rect">
            <a:avLst/>
          </a:prstGeom>
          <a:noFill/>
        </p:spPr>
        <p:txBody>
          <a:bodyPr wrap="square">
            <a:spAutoFit/>
          </a:bodyPr>
          <a:lstStyle/>
          <a:p>
            <a:r>
              <a:rPr lang="en-US" sz="1100" i="1" dirty="0"/>
              <a:t>U = </a:t>
            </a:r>
          </a:p>
        </p:txBody>
      </p:sp>
      <p:sp>
        <p:nvSpPr>
          <p:cNvPr id="88" name="TextBox 87">
            <a:extLst>
              <a:ext uri="{FF2B5EF4-FFF2-40B4-BE49-F238E27FC236}">
                <a16:creationId xmlns:a16="http://schemas.microsoft.com/office/drawing/2014/main" id="{69CC0CF2-3E1F-CC90-C80D-8B2980D70633}"/>
              </a:ext>
            </a:extLst>
          </p:cNvPr>
          <p:cNvSpPr txBox="1"/>
          <p:nvPr/>
        </p:nvSpPr>
        <p:spPr>
          <a:xfrm>
            <a:off x="9201442" y="1607642"/>
            <a:ext cx="602833" cy="261610"/>
          </a:xfrm>
          <a:prstGeom prst="rect">
            <a:avLst/>
          </a:prstGeom>
          <a:noFill/>
        </p:spPr>
        <p:txBody>
          <a:bodyPr wrap="square">
            <a:spAutoFit/>
          </a:bodyPr>
          <a:lstStyle/>
          <a:p>
            <a:r>
              <a:rPr lang="en-US" sz="1100" i="1" dirty="0"/>
              <a:t>V = </a:t>
            </a:r>
          </a:p>
        </p:txBody>
      </p:sp>
      <p:sp>
        <p:nvSpPr>
          <p:cNvPr id="89" name="TextBox 88">
            <a:extLst>
              <a:ext uri="{FF2B5EF4-FFF2-40B4-BE49-F238E27FC236}">
                <a16:creationId xmlns:a16="http://schemas.microsoft.com/office/drawing/2014/main" id="{8EE5CBBE-21FC-7FC6-2F21-A0D6F774253E}"/>
              </a:ext>
            </a:extLst>
          </p:cNvPr>
          <p:cNvSpPr txBox="1"/>
          <p:nvPr/>
        </p:nvSpPr>
        <p:spPr>
          <a:xfrm>
            <a:off x="7292474" y="3034575"/>
            <a:ext cx="468370" cy="261610"/>
          </a:xfrm>
          <a:prstGeom prst="rect">
            <a:avLst/>
          </a:prstGeom>
          <a:solidFill>
            <a:schemeClr val="bg1"/>
          </a:solidFill>
          <a:ln>
            <a:solidFill>
              <a:schemeClr val="bg1"/>
            </a:solidFill>
          </a:ln>
        </p:spPr>
        <p:txBody>
          <a:bodyPr wrap="square">
            <a:spAutoFit/>
          </a:bodyPr>
          <a:lstStyle/>
          <a:p>
            <a:r>
              <a:rPr lang="en-US" sz="1100" i="1" dirty="0"/>
              <a:t>W =</a:t>
            </a:r>
          </a:p>
        </p:txBody>
      </p:sp>
      <p:sp>
        <p:nvSpPr>
          <p:cNvPr id="93" name="TextBox 92">
            <a:extLst>
              <a:ext uri="{FF2B5EF4-FFF2-40B4-BE49-F238E27FC236}">
                <a16:creationId xmlns:a16="http://schemas.microsoft.com/office/drawing/2014/main" id="{CF7A2008-1EE8-56C3-694D-B11834E7330B}"/>
              </a:ext>
            </a:extLst>
          </p:cNvPr>
          <p:cNvSpPr txBox="1"/>
          <p:nvPr/>
        </p:nvSpPr>
        <p:spPr>
          <a:xfrm>
            <a:off x="6182388" y="3321293"/>
            <a:ext cx="353938" cy="261610"/>
          </a:xfrm>
          <a:prstGeom prst="rect">
            <a:avLst/>
          </a:prstGeom>
          <a:noFill/>
        </p:spPr>
        <p:txBody>
          <a:bodyPr wrap="square">
            <a:spAutoFit/>
          </a:bodyPr>
          <a:lstStyle/>
          <a:p>
            <a:r>
              <a:rPr lang="en-US" sz="1100" i="1" dirty="0">
                <a:solidFill>
                  <a:schemeClr val="bg1"/>
                </a:solidFill>
              </a:rPr>
              <a:t>h</a:t>
            </a:r>
            <a:r>
              <a:rPr lang="en-US" sz="1100" i="1" baseline="-25000" dirty="0">
                <a:solidFill>
                  <a:schemeClr val="bg1"/>
                </a:solidFill>
              </a:rPr>
              <a:t>1</a:t>
            </a:r>
          </a:p>
        </p:txBody>
      </p:sp>
      <p:sp>
        <p:nvSpPr>
          <p:cNvPr id="94" name="TextBox 93">
            <a:extLst>
              <a:ext uri="{FF2B5EF4-FFF2-40B4-BE49-F238E27FC236}">
                <a16:creationId xmlns:a16="http://schemas.microsoft.com/office/drawing/2014/main" id="{5331DE86-86E8-39B7-3C3B-E3495B286850}"/>
              </a:ext>
            </a:extLst>
          </p:cNvPr>
          <p:cNvSpPr txBox="1"/>
          <p:nvPr/>
        </p:nvSpPr>
        <p:spPr>
          <a:xfrm>
            <a:off x="9969378" y="3301720"/>
            <a:ext cx="353938" cy="261610"/>
          </a:xfrm>
          <a:prstGeom prst="rect">
            <a:avLst/>
          </a:prstGeom>
          <a:noFill/>
        </p:spPr>
        <p:txBody>
          <a:bodyPr wrap="square">
            <a:spAutoFit/>
          </a:bodyPr>
          <a:lstStyle/>
          <a:p>
            <a:r>
              <a:rPr lang="en-US" sz="1100" i="1" dirty="0">
                <a:solidFill>
                  <a:schemeClr val="bg1"/>
                </a:solidFill>
              </a:rPr>
              <a:t>h</a:t>
            </a:r>
            <a:r>
              <a:rPr lang="en-US" sz="1100" i="1" baseline="-25000" dirty="0">
                <a:solidFill>
                  <a:schemeClr val="bg1"/>
                </a:solidFill>
              </a:rPr>
              <a:t>2</a:t>
            </a:r>
          </a:p>
        </p:txBody>
      </p:sp>
      <p:sp>
        <p:nvSpPr>
          <p:cNvPr id="96" name="TextBox 95">
            <a:extLst>
              <a:ext uri="{FF2B5EF4-FFF2-40B4-BE49-F238E27FC236}">
                <a16:creationId xmlns:a16="http://schemas.microsoft.com/office/drawing/2014/main" id="{D167D410-E3BA-6AB8-347A-CEECB358B9FB}"/>
              </a:ext>
            </a:extLst>
          </p:cNvPr>
          <p:cNvSpPr txBox="1"/>
          <p:nvPr/>
        </p:nvSpPr>
        <p:spPr>
          <a:xfrm>
            <a:off x="9956223" y="6201138"/>
            <a:ext cx="353938" cy="261610"/>
          </a:xfrm>
          <a:prstGeom prst="rect">
            <a:avLst/>
          </a:prstGeom>
          <a:noFill/>
        </p:spPr>
        <p:txBody>
          <a:bodyPr wrap="square">
            <a:spAutoFit/>
          </a:bodyPr>
          <a:lstStyle/>
          <a:p>
            <a:r>
              <a:rPr lang="en-US" sz="1100" i="1" dirty="0"/>
              <a:t>x</a:t>
            </a:r>
            <a:r>
              <a:rPr lang="en-US" sz="1100" i="1" baseline="-25000" dirty="0"/>
              <a:t>2</a:t>
            </a:r>
          </a:p>
        </p:txBody>
      </p:sp>
      <p:sp>
        <p:nvSpPr>
          <p:cNvPr id="97" name="TextBox 96">
            <a:extLst>
              <a:ext uri="{FF2B5EF4-FFF2-40B4-BE49-F238E27FC236}">
                <a16:creationId xmlns:a16="http://schemas.microsoft.com/office/drawing/2014/main" id="{E4548B82-FF7F-5FB8-6DAB-C79FE5E292D7}"/>
              </a:ext>
            </a:extLst>
          </p:cNvPr>
          <p:cNvSpPr txBox="1"/>
          <p:nvPr/>
        </p:nvSpPr>
        <p:spPr>
          <a:xfrm>
            <a:off x="336100" y="5817858"/>
            <a:ext cx="769902" cy="261610"/>
          </a:xfrm>
          <a:prstGeom prst="rect">
            <a:avLst/>
          </a:prstGeom>
          <a:noFill/>
        </p:spPr>
        <p:txBody>
          <a:bodyPr wrap="square">
            <a:spAutoFit/>
          </a:bodyPr>
          <a:lstStyle/>
          <a:p>
            <a:r>
              <a:rPr lang="en-US" sz="1100" dirty="0"/>
              <a:t>y</a:t>
            </a:r>
            <a:r>
              <a:rPr lang="en-US" sz="1100" baseline="-25000" dirty="0"/>
              <a:t>2 </a:t>
            </a:r>
            <a:r>
              <a:rPr lang="en-US" sz="1100" dirty="0"/>
              <a:t>=</a:t>
            </a:r>
          </a:p>
        </p:txBody>
      </p:sp>
      <p:sp>
        <p:nvSpPr>
          <p:cNvPr id="99" name="TextBox 98">
            <a:extLst>
              <a:ext uri="{FF2B5EF4-FFF2-40B4-BE49-F238E27FC236}">
                <a16:creationId xmlns:a16="http://schemas.microsoft.com/office/drawing/2014/main" id="{78584E42-14B3-9B30-8831-A32DD206129B}"/>
              </a:ext>
            </a:extLst>
          </p:cNvPr>
          <p:cNvSpPr txBox="1"/>
          <p:nvPr/>
        </p:nvSpPr>
        <p:spPr>
          <a:xfrm>
            <a:off x="634990" y="5816770"/>
            <a:ext cx="2814591" cy="261610"/>
          </a:xfrm>
          <a:prstGeom prst="rect">
            <a:avLst/>
          </a:prstGeom>
          <a:noFill/>
        </p:spPr>
        <p:txBody>
          <a:bodyPr wrap="square">
            <a:spAutoFit/>
          </a:bodyPr>
          <a:lstStyle/>
          <a:p>
            <a:r>
              <a:rPr lang="en-US" sz="1100" dirty="0" err="1"/>
              <a:t>softmax</a:t>
            </a:r>
            <a:r>
              <a:rPr lang="en-US" sz="1100" dirty="0"/>
              <a:t>([0.921, 0.963, 1.011, 1.162, 1.167])</a:t>
            </a:r>
          </a:p>
        </p:txBody>
      </p:sp>
      <p:sp>
        <p:nvSpPr>
          <p:cNvPr id="100" name="TextBox 99">
            <a:extLst>
              <a:ext uri="{FF2B5EF4-FFF2-40B4-BE49-F238E27FC236}">
                <a16:creationId xmlns:a16="http://schemas.microsoft.com/office/drawing/2014/main" id="{DC29D9D0-8502-0D84-3CCA-27FED5082DB4}"/>
              </a:ext>
            </a:extLst>
          </p:cNvPr>
          <p:cNvSpPr txBox="1"/>
          <p:nvPr/>
        </p:nvSpPr>
        <p:spPr>
          <a:xfrm>
            <a:off x="371314" y="6172329"/>
            <a:ext cx="769902" cy="261610"/>
          </a:xfrm>
          <a:prstGeom prst="rect">
            <a:avLst/>
          </a:prstGeom>
          <a:noFill/>
        </p:spPr>
        <p:txBody>
          <a:bodyPr wrap="square">
            <a:spAutoFit/>
          </a:bodyPr>
          <a:lstStyle/>
          <a:p>
            <a:r>
              <a:rPr lang="en-US" sz="1100" dirty="0"/>
              <a:t>y</a:t>
            </a:r>
            <a:r>
              <a:rPr lang="en-US" sz="1100" baseline="-25000" dirty="0"/>
              <a:t>2 </a:t>
            </a:r>
            <a:r>
              <a:rPr lang="en-US" sz="1100" dirty="0"/>
              <a:t>=</a:t>
            </a:r>
          </a:p>
        </p:txBody>
      </p:sp>
      <p:sp>
        <p:nvSpPr>
          <p:cNvPr id="101" name="TextBox 100">
            <a:extLst>
              <a:ext uri="{FF2B5EF4-FFF2-40B4-BE49-F238E27FC236}">
                <a16:creationId xmlns:a16="http://schemas.microsoft.com/office/drawing/2014/main" id="{5557A2AB-2CE4-1CC1-9593-3E35C67BA26D}"/>
              </a:ext>
            </a:extLst>
          </p:cNvPr>
          <p:cNvSpPr txBox="1"/>
          <p:nvPr/>
        </p:nvSpPr>
        <p:spPr>
          <a:xfrm>
            <a:off x="670204" y="6171241"/>
            <a:ext cx="2814591" cy="261610"/>
          </a:xfrm>
          <a:prstGeom prst="rect">
            <a:avLst/>
          </a:prstGeom>
          <a:noFill/>
        </p:spPr>
        <p:txBody>
          <a:bodyPr wrap="square">
            <a:spAutoFit/>
          </a:bodyPr>
          <a:lstStyle/>
          <a:p>
            <a:r>
              <a:rPr lang="en-US" sz="1100" dirty="0"/>
              <a:t>[0.17, 0.18, 0.19, 0.22, 0.24]</a:t>
            </a:r>
          </a:p>
        </p:txBody>
      </p:sp>
      <p:graphicFrame>
        <p:nvGraphicFramePr>
          <p:cNvPr id="102" name="Table 101">
            <a:extLst>
              <a:ext uri="{FF2B5EF4-FFF2-40B4-BE49-F238E27FC236}">
                <a16:creationId xmlns:a16="http://schemas.microsoft.com/office/drawing/2014/main" id="{A8041B54-9578-D9B4-8B79-84376612139F}"/>
              </a:ext>
            </a:extLst>
          </p:cNvPr>
          <p:cNvGraphicFramePr>
            <a:graphicFrameLocks noGrp="1"/>
          </p:cNvGraphicFramePr>
          <p:nvPr>
            <p:extLst>
              <p:ext uri="{D42A27DB-BD31-4B8C-83A1-F6EECF244321}">
                <p14:modId xmlns:p14="http://schemas.microsoft.com/office/powerpoint/2010/main" val="2621403214"/>
              </p:ext>
            </p:extLst>
          </p:nvPr>
        </p:nvGraphicFramePr>
        <p:xfrm>
          <a:off x="8604099" y="496654"/>
          <a:ext cx="3035865" cy="259080"/>
        </p:xfrm>
        <a:graphic>
          <a:graphicData uri="http://schemas.openxmlformats.org/drawingml/2006/table">
            <a:tbl>
              <a:tblPr bandRow="1">
                <a:tableStyleId>{8A107856-5554-42FB-B03E-39F5DBC370BA}</a:tableStyleId>
              </a:tblPr>
              <a:tblGrid>
                <a:gridCol w="607173">
                  <a:extLst>
                    <a:ext uri="{9D8B030D-6E8A-4147-A177-3AD203B41FA5}">
                      <a16:colId xmlns:a16="http://schemas.microsoft.com/office/drawing/2014/main" val="749320167"/>
                    </a:ext>
                  </a:extLst>
                </a:gridCol>
                <a:gridCol w="607173">
                  <a:extLst>
                    <a:ext uri="{9D8B030D-6E8A-4147-A177-3AD203B41FA5}">
                      <a16:colId xmlns:a16="http://schemas.microsoft.com/office/drawing/2014/main" val="568413949"/>
                    </a:ext>
                  </a:extLst>
                </a:gridCol>
                <a:gridCol w="607173">
                  <a:extLst>
                    <a:ext uri="{9D8B030D-6E8A-4147-A177-3AD203B41FA5}">
                      <a16:colId xmlns:a16="http://schemas.microsoft.com/office/drawing/2014/main" val="874955793"/>
                    </a:ext>
                  </a:extLst>
                </a:gridCol>
                <a:gridCol w="607173">
                  <a:extLst>
                    <a:ext uri="{9D8B030D-6E8A-4147-A177-3AD203B41FA5}">
                      <a16:colId xmlns:a16="http://schemas.microsoft.com/office/drawing/2014/main" val="1270628586"/>
                    </a:ext>
                  </a:extLst>
                </a:gridCol>
                <a:gridCol w="607173">
                  <a:extLst>
                    <a:ext uri="{9D8B030D-6E8A-4147-A177-3AD203B41FA5}">
                      <a16:colId xmlns:a16="http://schemas.microsoft.com/office/drawing/2014/main" val="3314274508"/>
                    </a:ext>
                  </a:extLst>
                </a:gridCol>
              </a:tblGrid>
              <a:tr h="186062">
                <a:tc>
                  <a:txBody>
                    <a:bodyPr/>
                    <a:lstStyle/>
                    <a:p>
                      <a:pPr algn="ctr"/>
                      <a:r>
                        <a:rPr lang="en-US" sz="1100" dirty="0"/>
                        <a:t>0.17</a:t>
                      </a:r>
                    </a:p>
                  </a:txBody>
                  <a:tcPr/>
                </a:tc>
                <a:tc>
                  <a:txBody>
                    <a:bodyPr/>
                    <a:lstStyle/>
                    <a:p>
                      <a:pPr algn="ctr"/>
                      <a:r>
                        <a:rPr lang="en-US" sz="1100" dirty="0"/>
                        <a:t>0.18</a:t>
                      </a:r>
                    </a:p>
                  </a:txBody>
                  <a:tcPr/>
                </a:tc>
                <a:tc>
                  <a:txBody>
                    <a:bodyPr/>
                    <a:lstStyle/>
                    <a:p>
                      <a:pPr algn="ctr"/>
                      <a:r>
                        <a:rPr lang="en-US" sz="1100" dirty="0"/>
                        <a:t>0.19</a:t>
                      </a:r>
                    </a:p>
                  </a:txBody>
                  <a:tcPr/>
                </a:tc>
                <a:tc>
                  <a:txBody>
                    <a:bodyPr/>
                    <a:lstStyle/>
                    <a:p>
                      <a:pPr algn="ctr"/>
                      <a:r>
                        <a:rPr lang="en-US" sz="1100" dirty="0"/>
                        <a:t>0.22</a:t>
                      </a:r>
                    </a:p>
                  </a:txBody>
                  <a:tcPr/>
                </a:tc>
                <a:tc>
                  <a:txBody>
                    <a:bodyPr/>
                    <a:lstStyle/>
                    <a:p>
                      <a:pPr algn="ctr"/>
                      <a:r>
                        <a:rPr lang="en-US" sz="1100" dirty="0"/>
                        <a:t>0.24</a:t>
                      </a:r>
                    </a:p>
                  </a:txBody>
                  <a:tcPr/>
                </a:tc>
                <a:extLst>
                  <a:ext uri="{0D108BD9-81ED-4DB2-BD59-A6C34878D82A}">
                    <a16:rowId xmlns:a16="http://schemas.microsoft.com/office/drawing/2014/main" val="481424515"/>
                  </a:ext>
                </a:extLst>
              </a:tr>
            </a:tbl>
          </a:graphicData>
        </a:graphic>
      </p:graphicFrame>
      <p:sp>
        <p:nvSpPr>
          <p:cNvPr id="105" name="TextBox 104">
            <a:extLst>
              <a:ext uri="{FF2B5EF4-FFF2-40B4-BE49-F238E27FC236}">
                <a16:creationId xmlns:a16="http://schemas.microsoft.com/office/drawing/2014/main" id="{50A42538-2E6D-BD8F-A7CD-0A7677FD0185}"/>
              </a:ext>
            </a:extLst>
          </p:cNvPr>
          <p:cNvSpPr txBox="1"/>
          <p:nvPr/>
        </p:nvSpPr>
        <p:spPr>
          <a:xfrm>
            <a:off x="9969378" y="215734"/>
            <a:ext cx="353938" cy="261610"/>
          </a:xfrm>
          <a:prstGeom prst="rect">
            <a:avLst/>
          </a:prstGeom>
          <a:noFill/>
        </p:spPr>
        <p:txBody>
          <a:bodyPr wrap="square">
            <a:spAutoFit/>
          </a:bodyPr>
          <a:lstStyle/>
          <a:p>
            <a:r>
              <a:rPr lang="en-US" sz="1100" i="1" dirty="0"/>
              <a:t>y</a:t>
            </a:r>
            <a:r>
              <a:rPr lang="en-US" sz="1100" i="1" baseline="-25000" dirty="0"/>
              <a:t>2</a:t>
            </a:r>
          </a:p>
        </p:txBody>
      </p:sp>
      <p:sp>
        <p:nvSpPr>
          <p:cNvPr id="106" name="TextBox 105">
            <a:extLst>
              <a:ext uri="{FF2B5EF4-FFF2-40B4-BE49-F238E27FC236}">
                <a16:creationId xmlns:a16="http://schemas.microsoft.com/office/drawing/2014/main" id="{C11D882B-AF86-8FF7-89E4-8B1734CD1DF5}"/>
              </a:ext>
            </a:extLst>
          </p:cNvPr>
          <p:cNvSpPr txBox="1"/>
          <p:nvPr/>
        </p:nvSpPr>
        <p:spPr>
          <a:xfrm>
            <a:off x="10617190" y="5410130"/>
            <a:ext cx="535724" cy="261610"/>
          </a:xfrm>
          <a:prstGeom prst="rect">
            <a:avLst/>
          </a:prstGeom>
          <a:noFill/>
        </p:spPr>
        <p:txBody>
          <a:bodyPr wrap="none" rtlCol="0">
            <a:spAutoFit/>
          </a:bodyPr>
          <a:lstStyle/>
          <a:p>
            <a:r>
              <a:rPr lang="en-US" sz="1100" i="1" dirty="0"/>
              <a:t>(h * d)</a:t>
            </a:r>
          </a:p>
        </p:txBody>
      </p:sp>
      <p:sp>
        <p:nvSpPr>
          <p:cNvPr id="107" name="TextBox 106">
            <a:extLst>
              <a:ext uri="{FF2B5EF4-FFF2-40B4-BE49-F238E27FC236}">
                <a16:creationId xmlns:a16="http://schemas.microsoft.com/office/drawing/2014/main" id="{917EE28D-1E2F-F2F3-04AD-197EE270768D}"/>
              </a:ext>
            </a:extLst>
          </p:cNvPr>
          <p:cNvSpPr txBox="1"/>
          <p:nvPr/>
        </p:nvSpPr>
        <p:spPr>
          <a:xfrm>
            <a:off x="8463570" y="3551891"/>
            <a:ext cx="534121" cy="261610"/>
          </a:xfrm>
          <a:prstGeom prst="rect">
            <a:avLst/>
          </a:prstGeom>
          <a:noFill/>
        </p:spPr>
        <p:txBody>
          <a:bodyPr wrap="none" rtlCol="0">
            <a:spAutoFit/>
          </a:bodyPr>
          <a:lstStyle/>
          <a:p>
            <a:r>
              <a:rPr lang="en-US" sz="1100" i="1" dirty="0"/>
              <a:t>(h * h)</a:t>
            </a:r>
          </a:p>
        </p:txBody>
      </p:sp>
      <p:sp>
        <p:nvSpPr>
          <p:cNvPr id="108" name="TextBox 107">
            <a:extLst>
              <a:ext uri="{FF2B5EF4-FFF2-40B4-BE49-F238E27FC236}">
                <a16:creationId xmlns:a16="http://schemas.microsoft.com/office/drawing/2014/main" id="{0D86B1CF-92D9-F690-0893-7C9BC63767B9}"/>
              </a:ext>
            </a:extLst>
          </p:cNvPr>
          <p:cNvSpPr txBox="1"/>
          <p:nvPr/>
        </p:nvSpPr>
        <p:spPr>
          <a:xfrm>
            <a:off x="10250508" y="2383515"/>
            <a:ext cx="535724" cy="261610"/>
          </a:xfrm>
          <a:prstGeom prst="rect">
            <a:avLst/>
          </a:prstGeom>
          <a:noFill/>
        </p:spPr>
        <p:txBody>
          <a:bodyPr wrap="none" rtlCol="0">
            <a:spAutoFit/>
          </a:bodyPr>
          <a:lstStyle/>
          <a:p>
            <a:r>
              <a:rPr lang="en-US" sz="1100" i="1" dirty="0"/>
              <a:t>(d * h)</a:t>
            </a:r>
          </a:p>
        </p:txBody>
      </p:sp>
      <p:sp>
        <p:nvSpPr>
          <p:cNvPr id="109" name="TextBox 108">
            <a:extLst>
              <a:ext uri="{FF2B5EF4-FFF2-40B4-BE49-F238E27FC236}">
                <a16:creationId xmlns:a16="http://schemas.microsoft.com/office/drawing/2014/main" id="{F7913CFB-3063-5AAD-AAE1-B43987F06CA8}"/>
              </a:ext>
            </a:extLst>
          </p:cNvPr>
          <p:cNvSpPr txBox="1"/>
          <p:nvPr/>
        </p:nvSpPr>
        <p:spPr>
          <a:xfrm>
            <a:off x="5447853" y="5410130"/>
            <a:ext cx="2767377" cy="261610"/>
          </a:xfrm>
          <a:prstGeom prst="rect">
            <a:avLst/>
          </a:prstGeom>
          <a:noFill/>
        </p:spPr>
        <p:txBody>
          <a:bodyPr wrap="square">
            <a:spAutoFit/>
          </a:bodyPr>
          <a:lstStyle/>
          <a:p>
            <a:r>
              <a:rPr lang="en-US" sz="1100" i="1" dirty="0"/>
              <a:t>d (dimension – size of the vocabulary)</a:t>
            </a:r>
            <a:r>
              <a:rPr lang="en-US" sz="1100" dirty="0"/>
              <a:t> = 5</a:t>
            </a:r>
          </a:p>
        </p:txBody>
      </p:sp>
      <p:sp>
        <p:nvSpPr>
          <p:cNvPr id="111" name="TextBox 110">
            <a:extLst>
              <a:ext uri="{FF2B5EF4-FFF2-40B4-BE49-F238E27FC236}">
                <a16:creationId xmlns:a16="http://schemas.microsoft.com/office/drawing/2014/main" id="{2321476A-1ABA-2F97-0312-9498CD2F44F0}"/>
              </a:ext>
            </a:extLst>
          </p:cNvPr>
          <p:cNvSpPr txBox="1"/>
          <p:nvPr/>
        </p:nvSpPr>
        <p:spPr>
          <a:xfrm>
            <a:off x="5447853" y="5719256"/>
            <a:ext cx="2767377" cy="261610"/>
          </a:xfrm>
          <a:prstGeom prst="rect">
            <a:avLst/>
          </a:prstGeom>
          <a:noFill/>
        </p:spPr>
        <p:txBody>
          <a:bodyPr wrap="square">
            <a:spAutoFit/>
          </a:bodyPr>
          <a:lstStyle/>
          <a:p>
            <a:r>
              <a:rPr lang="en-US" sz="1100" i="1" dirty="0"/>
              <a:t>h (hidden units)</a:t>
            </a:r>
            <a:r>
              <a:rPr lang="en-US" sz="1100" dirty="0"/>
              <a:t> = 3</a:t>
            </a:r>
          </a:p>
        </p:txBody>
      </p:sp>
      <p:sp>
        <p:nvSpPr>
          <p:cNvPr id="112" name="TextBox 111">
            <a:extLst>
              <a:ext uri="{FF2B5EF4-FFF2-40B4-BE49-F238E27FC236}">
                <a16:creationId xmlns:a16="http://schemas.microsoft.com/office/drawing/2014/main" id="{9584824E-ADC6-DE09-120C-707D036D0E80}"/>
              </a:ext>
            </a:extLst>
          </p:cNvPr>
          <p:cNvSpPr txBox="1"/>
          <p:nvPr/>
        </p:nvSpPr>
        <p:spPr>
          <a:xfrm>
            <a:off x="5456634" y="5120086"/>
            <a:ext cx="2767377" cy="261610"/>
          </a:xfrm>
          <a:prstGeom prst="rect">
            <a:avLst/>
          </a:prstGeom>
          <a:noFill/>
        </p:spPr>
        <p:txBody>
          <a:bodyPr wrap="square">
            <a:spAutoFit/>
          </a:bodyPr>
          <a:lstStyle/>
          <a:p>
            <a:r>
              <a:rPr lang="en-US" sz="1100" i="1" dirty="0"/>
              <a:t>“The </a:t>
            </a:r>
            <a:r>
              <a:rPr lang="en-US" sz="1100" i="1" dirty="0">
                <a:highlight>
                  <a:srgbClr val="00FFFF"/>
                </a:highlight>
              </a:rPr>
              <a:t>cat</a:t>
            </a:r>
            <a:r>
              <a:rPr lang="en-US" sz="1100" i="1" dirty="0"/>
              <a:t> sat on mat”</a:t>
            </a:r>
            <a:endParaRPr lang="en-US" sz="1100" dirty="0"/>
          </a:p>
        </p:txBody>
      </p:sp>
      <p:graphicFrame>
        <p:nvGraphicFramePr>
          <p:cNvPr id="2" name="Table 1">
            <a:extLst>
              <a:ext uri="{FF2B5EF4-FFF2-40B4-BE49-F238E27FC236}">
                <a16:creationId xmlns:a16="http://schemas.microsoft.com/office/drawing/2014/main" id="{B7480C71-48DE-63BA-2510-3CA10B30BACB}"/>
              </a:ext>
            </a:extLst>
          </p:cNvPr>
          <p:cNvGraphicFramePr>
            <a:graphicFrameLocks noGrp="1"/>
          </p:cNvGraphicFramePr>
          <p:nvPr>
            <p:extLst>
              <p:ext uri="{D42A27DB-BD31-4B8C-83A1-F6EECF244321}">
                <p14:modId xmlns:p14="http://schemas.microsoft.com/office/powerpoint/2010/main" val="523379259"/>
              </p:ext>
            </p:extLst>
          </p:nvPr>
        </p:nvGraphicFramePr>
        <p:xfrm>
          <a:off x="5500232" y="3026910"/>
          <a:ext cx="1393548" cy="259080"/>
        </p:xfrm>
        <a:graphic>
          <a:graphicData uri="http://schemas.openxmlformats.org/drawingml/2006/table">
            <a:tbl>
              <a:tblPr bandRow="1">
                <a:tableStyleId>{8A107856-5554-42FB-B03E-39F5DBC370BA}</a:tableStyleId>
              </a:tblPr>
              <a:tblGrid>
                <a:gridCol w="464516">
                  <a:extLst>
                    <a:ext uri="{9D8B030D-6E8A-4147-A177-3AD203B41FA5}">
                      <a16:colId xmlns:a16="http://schemas.microsoft.com/office/drawing/2014/main" val="749320167"/>
                    </a:ext>
                  </a:extLst>
                </a:gridCol>
                <a:gridCol w="464516">
                  <a:extLst>
                    <a:ext uri="{9D8B030D-6E8A-4147-A177-3AD203B41FA5}">
                      <a16:colId xmlns:a16="http://schemas.microsoft.com/office/drawing/2014/main" val="568413949"/>
                    </a:ext>
                  </a:extLst>
                </a:gridCol>
                <a:gridCol w="464516">
                  <a:extLst>
                    <a:ext uri="{9D8B030D-6E8A-4147-A177-3AD203B41FA5}">
                      <a16:colId xmlns:a16="http://schemas.microsoft.com/office/drawing/2014/main" val="874955793"/>
                    </a:ext>
                  </a:extLst>
                </a:gridCol>
              </a:tblGrid>
              <a:tr h="141858">
                <a:tc>
                  <a:txBody>
                    <a:bodyPr/>
                    <a:lstStyle/>
                    <a:p>
                      <a:pPr algn="ctr"/>
                      <a:r>
                        <a:rPr lang="en-US" sz="1100" dirty="0"/>
                        <a:t>0.7</a:t>
                      </a:r>
                    </a:p>
                  </a:txBody>
                  <a:tcPr/>
                </a:tc>
                <a:tc>
                  <a:txBody>
                    <a:bodyPr/>
                    <a:lstStyle/>
                    <a:p>
                      <a:pPr algn="ctr"/>
                      <a:r>
                        <a:rPr lang="en-US" sz="1100" dirty="0"/>
                        <a:t>0.37</a:t>
                      </a:r>
                    </a:p>
                  </a:txBody>
                  <a:tcPr/>
                </a:tc>
                <a:tc>
                  <a:txBody>
                    <a:bodyPr/>
                    <a:lstStyle/>
                    <a:p>
                      <a:pPr algn="ctr"/>
                      <a:r>
                        <a:rPr lang="en-US" sz="1100" dirty="0"/>
                        <a:t>0.66</a:t>
                      </a:r>
                    </a:p>
                  </a:txBody>
                  <a:tcPr/>
                </a:tc>
                <a:extLst>
                  <a:ext uri="{0D108BD9-81ED-4DB2-BD59-A6C34878D82A}">
                    <a16:rowId xmlns:a16="http://schemas.microsoft.com/office/drawing/2014/main" val="481424515"/>
                  </a:ext>
                </a:extLst>
              </a:tr>
            </a:tbl>
          </a:graphicData>
        </a:graphic>
      </p:graphicFrame>
      <mc:AlternateContent xmlns:mc="http://schemas.openxmlformats.org/markup-compatibility/2006">
        <mc:Choice xmlns:p14="http://schemas.microsoft.com/office/powerpoint/2010/main" Requires="p14">
          <p:contentPart p14:bwMode="auto" r:id="rId2">
            <p14:nvContentPartPr>
              <p14:cNvPr id="10" name="Ink 9">
                <a:extLst>
                  <a:ext uri="{FF2B5EF4-FFF2-40B4-BE49-F238E27FC236}">
                    <a16:creationId xmlns:a16="http://schemas.microsoft.com/office/drawing/2014/main" id="{49BEA1C7-FC97-D0BC-7557-794C6BB685C7}"/>
                  </a:ext>
                </a:extLst>
              </p14:cNvPr>
              <p14:cNvContentPartPr/>
              <p14:nvPr/>
            </p14:nvContentPartPr>
            <p14:xfrm>
              <a:off x="5647858" y="933277"/>
              <a:ext cx="2880" cy="5400"/>
            </p14:xfrm>
          </p:contentPart>
        </mc:Choice>
        <mc:Fallback>
          <p:pic>
            <p:nvPicPr>
              <p:cNvPr id="10" name="Ink 9">
                <a:extLst>
                  <a:ext uri="{FF2B5EF4-FFF2-40B4-BE49-F238E27FC236}">
                    <a16:creationId xmlns:a16="http://schemas.microsoft.com/office/drawing/2014/main" id="{49BEA1C7-FC97-D0BC-7557-794C6BB685C7}"/>
                  </a:ext>
                </a:extLst>
              </p:cNvPr>
              <p:cNvPicPr/>
              <p:nvPr/>
            </p:nvPicPr>
            <p:blipFill>
              <a:blip r:embed="rId3"/>
              <a:stretch>
                <a:fillRect/>
              </a:stretch>
            </p:blipFill>
            <p:spPr>
              <a:xfrm>
                <a:off x="5638858" y="924277"/>
                <a:ext cx="2052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8" name="Ink 37">
                <a:extLst>
                  <a:ext uri="{FF2B5EF4-FFF2-40B4-BE49-F238E27FC236}">
                    <a16:creationId xmlns:a16="http://schemas.microsoft.com/office/drawing/2014/main" id="{F84CFC5D-CF71-4C38-A02D-F3D5EF25D96D}"/>
                  </a:ext>
                </a:extLst>
              </p14:cNvPr>
              <p14:cNvContentPartPr/>
              <p14:nvPr/>
            </p14:nvContentPartPr>
            <p14:xfrm>
              <a:off x="7385578" y="221557"/>
              <a:ext cx="360" cy="360"/>
            </p14:xfrm>
          </p:contentPart>
        </mc:Choice>
        <mc:Fallback>
          <p:pic>
            <p:nvPicPr>
              <p:cNvPr id="38" name="Ink 37">
                <a:extLst>
                  <a:ext uri="{FF2B5EF4-FFF2-40B4-BE49-F238E27FC236}">
                    <a16:creationId xmlns:a16="http://schemas.microsoft.com/office/drawing/2014/main" id="{F84CFC5D-CF71-4C38-A02D-F3D5EF25D96D}"/>
                  </a:ext>
                </a:extLst>
              </p:cNvPr>
              <p:cNvPicPr/>
              <p:nvPr/>
            </p:nvPicPr>
            <p:blipFill>
              <a:blip r:embed="rId5"/>
              <a:stretch>
                <a:fillRect/>
              </a:stretch>
            </p:blipFill>
            <p:spPr>
              <a:xfrm>
                <a:off x="7376578" y="212917"/>
                <a:ext cx="18000" cy="18000"/>
              </a:xfrm>
              <a:prstGeom prst="rect">
                <a:avLst/>
              </a:prstGeom>
            </p:spPr>
          </p:pic>
        </mc:Fallback>
      </mc:AlternateContent>
    </p:spTree>
    <p:extLst>
      <p:ext uri="{BB962C8B-B14F-4D97-AF65-F5344CB8AC3E}">
        <p14:creationId xmlns:p14="http://schemas.microsoft.com/office/powerpoint/2010/main" val="1407644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6F683-E77B-73E1-5E17-1879172DF63A}"/>
              </a:ext>
            </a:extLst>
          </p:cNvPr>
          <p:cNvSpPr>
            <a:spLocks noGrp="1"/>
          </p:cNvSpPr>
          <p:nvPr>
            <p:ph type="title"/>
          </p:nvPr>
        </p:nvSpPr>
        <p:spPr/>
        <p:txBody>
          <a:bodyPr>
            <a:normAutofit/>
          </a:bodyPr>
          <a:lstStyle/>
          <a:p>
            <a:r>
              <a:rPr lang="en-US" sz="4000" b="1" dirty="0"/>
              <a:t>Compute total loss</a:t>
            </a:r>
          </a:p>
        </p:txBody>
      </p:sp>
      <p:sp>
        <p:nvSpPr>
          <p:cNvPr id="3" name="Content Placeholder 2">
            <a:extLst>
              <a:ext uri="{FF2B5EF4-FFF2-40B4-BE49-F238E27FC236}">
                <a16:creationId xmlns:a16="http://schemas.microsoft.com/office/drawing/2014/main" id="{85708E46-A06D-208D-10BB-9F0684417784}"/>
              </a:ext>
            </a:extLst>
          </p:cNvPr>
          <p:cNvSpPr>
            <a:spLocks noGrp="1"/>
          </p:cNvSpPr>
          <p:nvPr>
            <p:ph idx="1"/>
          </p:nvPr>
        </p:nvSpPr>
        <p:spPr/>
        <p:txBody>
          <a:bodyPr>
            <a:normAutofit lnSpcReduction="10000"/>
          </a:bodyPr>
          <a:lstStyle/>
          <a:p>
            <a:r>
              <a:rPr lang="en-IN" b="1" i="0" dirty="0">
                <a:solidFill>
                  <a:srgbClr val="0D0D0D"/>
                </a:solidFill>
                <a:effectLst/>
                <a:highlight>
                  <a:srgbClr val="FFFFFF"/>
                </a:highlight>
                <a:latin typeface="Söhne"/>
              </a:rPr>
              <a:t>Step 1 - Calculate the cross-entropy loss for each time step.</a:t>
            </a:r>
          </a:p>
          <a:p>
            <a:pPr lvl="1"/>
            <a:r>
              <a:rPr lang="en-IN" b="0" i="0" dirty="0">
                <a:solidFill>
                  <a:srgbClr val="0D0D0D"/>
                </a:solidFill>
                <a:effectLst/>
                <a:highlight>
                  <a:srgbClr val="FFFFFF"/>
                </a:highlight>
                <a:latin typeface="Söhne"/>
              </a:rPr>
              <a:t>For each time step </a:t>
            </a:r>
            <a:r>
              <a:rPr lang="en-IN" b="0" i="1" dirty="0">
                <a:solidFill>
                  <a:srgbClr val="0D0D0D"/>
                </a:solidFill>
                <a:effectLst/>
                <a:highlight>
                  <a:srgbClr val="FFFFFF"/>
                </a:highlight>
                <a:latin typeface="KaTeX_Math"/>
              </a:rPr>
              <a:t>t</a:t>
            </a:r>
            <a:r>
              <a:rPr lang="en-IN" b="0" i="0" dirty="0">
                <a:solidFill>
                  <a:srgbClr val="0D0D0D"/>
                </a:solidFill>
                <a:effectLst/>
                <a:highlight>
                  <a:srgbClr val="FFFFFF"/>
                </a:highlight>
                <a:latin typeface="Söhne"/>
              </a:rPr>
              <a:t>, the cross-entropy loss </a:t>
            </a:r>
            <a:r>
              <a:rPr lang="en-IN" b="0" i="1" dirty="0">
                <a:solidFill>
                  <a:srgbClr val="0D0D0D"/>
                </a:solidFill>
                <a:effectLst/>
                <a:highlight>
                  <a:srgbClr val="FFFFFF"/>
                </a:highlight>
                <a:latin typeface="KaTeX_Math"/>
              </a:rPr>
              <a:t>L</a:t>
            </a:r>
            <a:r>
              <a:rPr lang="en-IN" b="0" i="1" baseline="-25000" dirty="0">
                <a:solidFill>
                  <a:srgbClr val="0D0D0D"/>
                </a:solidFill>
                <a:effectLst/>
                <a:highlight>
                  <a:srgbClr val="FFFFFF"/>
                </a:highlight>
                <a:latin typeface="KaTeX_Math"/>
              </a:rPr>
              <a:t>t</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Söhne"/>
              </a:rPr>
              <a:t> is calculated using the formula:</a:t>
            </a:r>
          </a:p>
          <a:p>
            <a:pPr marL="457200" lvl="1" indent="0">
              <a:buNone/>
            </a:pPr>
            <a:endParaRPr lang="en-IN" dirty="0">
              <a:solidFill>
                <a:srgbClr val="0D0D0D"/>
              </a:solidFill>
              <a:highlight>
                <a:srgbClr val="FFFFFF"/>
              </a:highlight>
              <a:latin typeface="Söhne"/>
            </a:endParaRPr>
          </a:p>
          <a:p>
            <a:pPr marL="457200" lvl="1" indent="0">
              <a:buNone/>
            </a:pPr>
            <a:r>
              <a:rPr lang="en-IN" b="0" i="0" dirty="0">
                <a:solidFill>
                  <a:srgbClr val="0D0D0D"/>
                </a:solidFill>
                <a:effectLst/>
                <a:highlight>
                  <a:srgbClr val="FFFFFF"/>
                </a:highlight>
                <a:latin typeface="Söhne"/>
              </a:rPr>
              <a:t>where </a:t>
            </a:r>
            <a:r>
              <a:rPr lang="en-IN" b="0" i="1" dirty="0" err="1">
                <a:solidFill>
                  <a:srgbClr val="0D0D0D"/>
                </a:solidFill>
                <a:effectLst/>
                <a:highlight>
                  <a:srgbClr val="FFFFFF"/>
                </a:highlight>
                <a:latin typeface="KaTeX_Math"/>
              </a:rPr>
              <a:t>i</a:t>
            </a:r>
            <a:r>
              <a:rPr lang="en-IN" b="0" i="0" dirty="0">
                <a:solidFill>
                  <a:srgbClr val="0D0D0D"/>
                </a:solidFill>
                <a:effectLst/>
                <a:highlight>
                  <a:srgbClr val="FFFFFF"/>
                </a:highlight>
                <a:latin typeface="Söhne"/>
              </a:rPr>
              <a:t> indexes over the vocabulary.</a:t>
            </a:r>
            <a:endParaRPr lang="en-US" b="0" i="0" dirty="0">
              <a:solidFill>
                <a:srgbClr val="0D0D0D"/>
              </a:solidFill>
              <a:effectLst/>
              <a:highlight>
                <a:srgbClr val="FFFFFF"/>
              </a:highlight>
              <a:latin typeface="Söhne"/>
            </a:endParaRPr>
          </a:p>
          <a:p>
            <a:pPr lvl="1"/>
            <a:r>
              <a:rPr lang="en-IN" b="0" i="0" dirty="0">
                <a:solidFill>
                  <a:srgbClr val="0D0D0D"/>
                </a:solidFill>
                <a:effectLst/>
                <a:highlight>
                  <a:srgbClr val="FFFFFF"/>
                </a:highlight>
                <a:latin typeface="Söhne"/>
              </a:rPr>
              <a:t>Given our predicted probabilities </a:t>
            </a:r>
          </a:p>
          <a:p>
            <a:pPr marL="457200" lvl="1" indent="0">
              <a:buNone/>
            </a:pPr>
            <a:r>
              <a:rPr lang="en-IN" b="0" i="1" dirty="0">
                <a:solidFill>
                  <a:srgbClr val="0D0D0D"/>
                </a:solidFill>
                <a:effectLst/>
                <a:highlight>
                  <a:srgbClr val="FFFFFF"/>
                </a:highlight>
                <a:latin typeface="KaTeX_Math"/>
              </a:rPr>
              <a:t>    y</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 =[0.212,0.168,0.194,0.223,0.203]</a:t>
            </a:r>
            <a:r>
              <a:rPr lang="en-IN" b="0" i="0" dirty="0">
                <a:solidFill>
                  <a:srgbClr val="0D0D0D"/>
                </a:solidFill>
                <a:effectLst/>
                <a:highlight>
                  <a:srgbClr val="FFFFFF"/>
                </a:highlight>
                <a:latin typeface="Söhne"/>
              </a:rPr>
              <a:t> and </a:t>
            </a:r>
          </a:p>
          <a:p>
            <a:pPr marL="457200" lvl="1" indent="0">
              <a:buNone/>
            </a:pPr>
            <a:r>
              <a:rPr lang="en-IN" b="0" i="1" dirty="0">
                <a:solidFill>
                  <a:srgbClr val="0D0D0D"/>
                </a:solidFill>
                <a:effectLst/>
                <a:highlight>
                  <a:srgbClr val="FFFFFF"/>
                </a:highlight>
                <a:latin typeface="KaTeX_Math"/>
              </a:rPr>
              <a:t>    y</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​=[0.17,0.18,0.19,0.22,0.24]</a:t>
            </a:r>
            <a:r>
              <a:rPr lang="en-IN" b="0" i="0" dirty="0">
                <a:solidFill>
                  <a:srgbClr val="0D0D0D"/>
                </a:solidFill>
                <a:effectLst/>
                <a:highlight>
                  <a:srgbClr val="FFFFFF"/>
                </a:highlight>
                <a:latin typeface="Söhne"/>
              </a:rPr>
              <a:t>,   and the actual targets </a:t>
            </a:r>
          </a:p>
          <a:p>
            <a:pPr marL="457200" lvl="1" indent="0">
              <a:buNone/>
            </a:pPr>
            <a:r>
              <a:rPr lang="en-IN" b="0" i="1" dirty="0">
                <a:solidFill>
                  <a:srgbClr val="0D0D0D"/>
                </a:solidFill>
                <a:effectLst/>
                <a:highlight>
                  <a:srgbClr val="FFFFFF"/>
                </a:highlight>
                <a:latin typeface="KaTeX_Math"/>
              </a:rPr>
              <a:t>    actual</a:t>
            </a:r>
            <a:r>
              <a:rPr lang="en-IN" b="0" i="0" dirty="0">
                <a:solidFill>
                  <a:srgbClr val="0D0D0D"/>
                </a:solidFill>
                <a:effectLst/>
                <a:highlight>
                  <a:srgbClr val="FFFFFF"/>
                </a:highlight>
                <a:latin typeface="KaTeX_Main"/>
              </a:rPr>
              <a:t>_</a:t>
            </a:r>
            <a:r>
              <a:rPr lang="en-IN" b="0" i="1" dirty="0">
                <a:solidFill>
                  <a:srgbClr val="0D0D0D"/>
                </a:solidFill>
                <a:effectLst/>
                <a:highlight>
                  <a:srgbClr val="FFFFFF"/>
                </a:highlight>
                <a:latin typeface="KaTeX_Math"/>
              </a:rPr>
              <a:t>y</a:t>
            </a:r>
            <a:r>
              <a:rPr lang="en-IN" b="0" i="0" dirty="0">
                <a:solidFill>
                  <a:srgbClr val="0D0D0D"/>
                </a:solidFill>
                <a:effectLst/>
                <a:highlight>
                  <a:srgbClr val="FFFFFF"/>
                </a:highlight>
                <a:latin typeface="KaTeX_Main"/>
              </a:rPr>
              <a:t>1​=[0,1,0,0,0]</a:t>
            </a:r>
            <a:r>
              <a:rPr lang="en-IN" b="0" i="0" dirty="0">
                <a:solidFill>
                  <a:srgbClr val="0D0D0D"/>
                </a:solidFill>
                <a:effectLst/>
                <a:highlight>
                  <a:srgbClr val="FFFFFF"/>
                </a:highlight>
                <a:latin typeface="Söhne"/>
              </a:rPr>
              <a:t> (for "cat") and </a:t>
            </a:r>
          </a:p>
          <a:p>
            <a:pPr marL="457200" lvl="1" indent="0">
              <a:buNone/>
            </a:pPr>
            <a:r>
              <a:rPr lang="en-IN" b="0" i="1" dirty="0">
                <a:solidFill>
                  <a:srgbClr val="0D0D0D"/>
                </a:solidFill>
                <a:effectLst/>
                <a:highlight>
                  <a:srgbClr val="FFFFFF"/>
                </a:highlight>
                <a:latin typeface="KaTeX_Math"/>
              </a:rPr>
              <a:t>    actual</a:t>
            </a:r>
            <a:r>
              <a:rPr lang="en-IN" b="0" i="0" dirty="0">
                <a:solidFill>
                  <a:srgbClr val="0D0D0D"/>
                </a:solidFill>
                <a:effectLst/>
                <a:highlight>
                  <a:srgbClr val="FFFFFF"/>
                </a:highlight>
                <a:latin typeface="KaTeX_Main"/>
              </a:rPr>
              <a:t>_</a:t>
            </a:r>
            <a:r>
              <a:rPr lang="en-IN" b="0" i="1" dirty="0">
                <a:solidFill>
                  <a:srgbClr val="0D0D0D"/>
                </a:solidFill>
                <a:effectLst/>
                <a:highlight>
                  <a:srgbClr val="FFFFFF"/>
                </a:highlight>
                <a:latin typeface="KaTeX_Math"/>
              </a:rPr>
              <a:t>y</a:t>
            </a:r>
            <a:r>
              <a:rPr lang="en-IN" b="0" i="0" dirty="0">
                <a:solidFill>
                  <a:srgbClr val="0D0D0D"/>
                </a:solidFill>
                <a:effectLst/>
                <a:highlight>
                  <a:srgbClr val="FFFFFF"/>
                </a:highlight>
                <a:latin typeface="KaTeX_Main"/>
              </a:rPr>
              <a:t>2​=[0,0,1,0,0]</a:t>
            </a:r>
            <a:r>
              <a:rPr lang="en-IN" b="0" i="0" dirty="0">
                <a:solidFill>
                  <a:srgbClr val="0D0D0D"/>
                </a:solidFill>
                <a:effectLst/>
                <a:highlight>
                  <a:srgbClr val="FFFFFF"/>
                </a:highlight>
                <a:latin typeface="Söhne"/>
              </a:rPr>
              <a:t> (for "sat"), we can calculate the loss for each time step:</a:t>
            </a:r>
            <a:r>
              <a:rPr lang="en-IN" b="0" i="0" dirty="0">
                <a:solidFill>
                  <a:srgbClr val="0D0D0D"/>
                </a:solidFill>
                <a:effectLst/>
                <a:highlight>
                  <a:srgbClr val="FFFFFF"/>
                </a:highlight>
                <a:latin typeface="KaTeX_Main"/>
              </a:rPr>
              <a:t>​</a:t>
            </a:r>
          </a:p>
          <a:p>
            <a:pPr marL="0" indent="0" algn="l">
              <a:buNone/>
            </a:pPr>
            <a:r>
              <a:rPr lang="en-IN" sz="2400" i="1" dirty="0">
                <a:solidFill>
                  <a:srgbClr val="0D0D0D"/>
                </a:solidFill>
                <a:highlight>
                  <a:srgbClr val="FFFFFF"/>
                </a:highlight>
                <a:latin typeface="KaTeX_Math"/>
              </a:rPr>
              <a:t>          </a:t>
            </a:r>
            <a:r>
              <a:rPr lang="en-IN" sz="2400" b="0" i="1" dirty="0">
                <a:solidFill>
                  <a:srgbClr val="0D0D0D"/>
                </a:solidFill>
                <a:effectLst/>
                <a:highlight>
                  <a:srgbClr val="FFFFFF"/>
                </a:highlight>
                <a:latin typeface="KaTeX_Math"/>
              </a:rPr>
              <a:t>L</a:t>
            </a:r>
            <a:r>
              <a:rPr lang="en-IN" sz="2400" b="0" i="0" baseline="-25000" dirty="0">
                <a:solidFill>
                  <a:srgbClr val="0D0D0D"/>
                </a:solidFill>
                <a:effectLst/>
                <a:highlight>
                  <a:srgbClr val="FFFFFF"/>
                </a:highlight>
                <a:latin typeface="KaTeX_Main"/>
              </a:rPr>
              <a:t>1</a:t>
            </a:r>
            <a:r>
              <a:rPr lang="en-IN" sz="2400" b="0" i="0" dirty="0">
                <a:solidFill>
                  <a:srgbClr val="0D0D0D"/>
                </a:solidFill>
                <a:effectLst/>
                <a:highlight>
                  <a:srgbClr val="FFFFFF"/>
                </a:highlight>
                <a:latin typeface="KaTeX_Main"/>
              </a:rPr>
              <a:t>​=−log(0.168)</a:t>
            </a:r>
            <a:endParaRPr lang="en-IN" sz="2400" b="0" i="0" dirty="0">
              <a:solidFill>
                <a:srgbClr val="0D0D0D"/>
              </a:solidFill>
              <a:effectLst/>
              <a:highlight>
                <a:srgbClr val="FFFFFF"/>
              </a:highlight>
              <a:latin typeface="Söhne"/>
            </a:endParaRPr>
          </a:p>
          <a:p>
            <a:pPr marL="0" indent="0" algn="l">
              <a:buNone/>
            </a:pPr>
            <a:r>
              <a:rPr lang="en-IN" sz="2400" dirty="0">
                <a:solidFill>
                  <a:srgbClr val="0D0D0D"/>
                </a:solidFill>
                <a:highlight>
                  <a:srgbClr val="FFFFFF"/>
                </a:highlight>
                <a:latin typeface="KaTeX_Main"/>
              </a:rPr>
              <a:t>          </a:t>
            </a:r>
            <a:r>
              <a:rPr lang="en-IN" sz="2400" b="0" i="1" dirty="0">
                <a:solidFill>
                  <a:srgbClr val="0D0D0D"/>
                </a:solidFill>
                <a:effectLst/>
                <a:highlight>
                  <a:srgbClr val="FFFFFF"/>
                </a:highlight>
                <a:latin typeface="KaTeX_Math"/>
              </a:rPr>
              <a:t>L</a:t>
            </a:r>
            <a:r>
              <a:rPr lang="en-IN" sz="2400" b="0" i="0" baseline="-25000" dirty="0">
                <a:solidFill>
                  <a:srgbClr val="0D0D0D"/>
                </a:solidFill>
                <a:effectLst/>
                <a:highlight>
                  <a:srgbClr val="FFFFFF"/>
                </a:highlight>
                <a:latin typeface="KaTeX_Main"/>
              </a:rPr>
              <a:t>2</a:t>
            </a:r>
            <a:r>
              <a:rPr lang="en-IN" sz="2400" b="0" i="0" dirty="0">
                <a:solidFill>
                  <a:srgbClr val="0D0D0D"/>
                </a:solidFill>
                <a:effectLst/>
                <a:highlight>
                  <a:srgbClr val="FFFFFF"/>
                </a:highlight>
                <a:latin typeface="KaTeX_Main"/>
              </a:rPr>
              <a:t>​=−log(0.19)</a:t>
            </a:r>
            <a:endParaRPr lang="en-US" sz="2400" dirty="0">
              <a:solidFill>
                <a:srgbClr val="0D0D0D"/>
              </a:solidFill>
              <a:highlight>
                <a:srgbClr val="FFFFFF"/>
              </a:highlight>
              <a:latin typeface="Söhne"/>
            </a:endParaRPr>
          </a:p>
          <a:p>
            <a:pPr marL="457200" lvl="1" indent="0">
              <a:buNone/>
            </a:pPr>
            <a:endParaRPr lang="en-IN" b="0" i="0" dirty="0">
              <a:solidFill>
                <a:srgbClr val="0D0D0D"/>
              </a:solidFill>
              <a:effectLst/>
              <a:highlight>
                <a:srgbClr val="FFFFFF"/>
              </a:highlight>
              <a:latin typeface="Söhne"/>
            </a:endParaRPr>
          </a:p>
        </p:txBody>
      </p:sp>
      <p:pic>
        <p:nvPicPr>
          <p:cNvPr id="5" name="Picture 4">
            <a:extLst>
              <a:ext uri="{FF2B5EF4-FFF2-40B4-BE49-F238E27FC236}">
                <a16:creationId xmlns:a16="http://schemas.microsoft.com/office/drawing/2014/main" id="{E8571B8F-454C-59C3-77E5-86979BB92DFC}"/>
              </a:ext>
            </a:extLst>
          </p:cNvPr>
          <p:cNvPicPr>
            <a:picLocks noChangeAspect="1"/>
          </p:cNvPicPr>
          <p:nvPr/>
        </p:nvPicPr>
        <p:blipFill>
          <a:blip r:embed="rId2"/>
          <a:stretch>
            <a:fillRect/>
          </a:stretch>
        </p:blipFill>
        <p:spPr>
          <a:xfrm>
            <a:off x="1548835" y="2494122"/>
            <a:ext cx="4483100" cy="457200"/>
          </a:xfrm>
          <a:prstGeom prst="rect">
            <a:avLst/>
          </a:prstGeom>
        </p:spPr>
      </p:pic>
    </p:spTree>
    <p:extLst>
      <p:ext uri="{BB962C8B-B14F-4D97-AF65-F5344CB8AC3E}">
        <p14:creationId xmlns:p14="http://schemas.microsoft.com/office/powerpoint/2010/main" val="2975143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6F683-E77B-73E1-5E17-1879172DF63A}"/>
              </a:ext>
            </a:extLst>
          </p:cNvPr>
          <p:cNvSpPr>
            <a:spLocks noGrp="1"/>
          </p:cNvSpPr>
          <p:nvPr>
            <p:ph type="title"/>
          </p:nvPr>
        </p:nvSpPr>
        <p:spPr/>
        <p:txBody>
          <a:bodyPr>
            <a:normAutofit/>
          </a:bodyPr>
          <a:lstStyle/>
          <a:p>
            <a:r>
              <a:rPr lang="en-US" sz="4000" b="1" dirty="0"/>
              <a:t>Compute total loss</a:t>
            </a:r>
          </a:p>
        </p:txBody>
      </p:sp>
      <p:sp>
        <p:nvSpPr>
          <p:cNvPr id="3" name="Content Placeholder 2">
            <a:extLst>
              <a:ext uri="{FF2B5EF4-FFF2-40B4-BE49-F238E27FC236}">
                <a16:creationId xmlns:a16="http://schemas.microsoft.com/office/drawing/2014/main" id="{85708E46-A06D-208D-10BB-9F0684417784}"/>
              </a:ext>
            </a:extLst>
          </p:cNvPr>
          <p:cNvSpPr>
            <a:spLocks noGrp="1"/>
          </p:cNvSpPr>
          <p:nvPr>
            <p:ph idx="1"/>
          </p:nvPr>
        </p:nvSpPr>
        <p:spPr/>
        <p:txBody>
          <a:bodyPr>
            <a:normAutofit lnSpcReduction="10000"/>
          </a:bodyPr>
          <a:lstStyle/>
          <a:p>
            <a:r>
              <a:rPr lang="en-IN" b="1" i="0" dirty="0">
                <a:solidFill>
                  <a:srgbClr val="0D0D0D"/>
                </a:solidFill>
                <a:effectLst/>
                <a:highlight>
                  <a:srgbClr val="FFFFFF"/>
                </a:highlight>
                <a:latin typeface="Söhne"/>
              </a:rPr>
              <a:t>Step 2 - Sum the losses across all time steps to get the total loss</a:t>
            </a:r>
          </a:p>
          <a:p>
            <a:pPr lvl="1"/>
            <a:r>
              <a:rPr lang="en-IN" b="0" i="0" dirty="0">
                <a:solidFill>
                  <a:srgbClr val="0D0D0D"/>
                </a:solidFill>
                <a:effectLst/>
                <a:highlight>
                  <a:srgbClr val="FFFFFF"/>
                </a:highlight>
                <a:latin typeface="Söhne"/>
              </a:rPr>
              <a:t>The total loss for the sequence is the sum of the individual losses:</a:t>
            </a:r>
            <a:endParaRPr lang="en-IN" dirty="0">
              <a:solidFill>
                <a:srgbClr val="0D0D0D"/>
              </a:solidFill>
              <a:highlight>
                <a:srgbClr val="FFFFFF"/>
              </a:highlight>
              <a:latin typeface="Söhne"/>
            </a:endParaRPr>
          </a:p>
          <a:p>
            <a:pPr marL="457200" lvl="1" indent="0">
              <a:buNone/>
            </a:pPr>
            <a:r>
              <a:rPr lang="en-IN" i="1" dirty="0">
                <a:solidFill>
                  <a:srgbClr val="0D0D0D"/>
                </a:solidFill>
                <a:highlight>
                  <a:srgbClr val="FFFFFF"/>
                </a:highlight>
                <a:latin typeface="KaTeX_Math"/>
              </a:rPr>
              <a:t>    </a:t>
            </a:r>
            <a:r>
              <a:rPr lang="en-IN" b="0" i="1" dirty="0">
                <a:solidFill>
                  <a:srgbClr val="0D0D0D"/>
                </a:solidFill>
                <a:effectLst/>
                <a:highlight>
                  <a:srgbClr val="FFFFFF"/>
                </a:highlight>
                <a:latin typeface="KaTeX_Math"/>
              </a:rPr>
              <a:t>L</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L</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L</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​=−log(0.168)−log(0.19)</a:t>
            </a:r>
            <a:endParaRPr lang="en-IN" dirty="0">
              <a:solidFill>
                <a:srgbClr val="0D0D0D"/>
              </a:solidFill>
              <a:highlight>
                <a:srgbClr val="FFFFFF"/>
              </a:highlight>
              <a:latin typeface="KaTeX_Main"/>
            </a:endParaRPr>
          </a:p>
          <a:p>
            <a:pPr marL="0" indent="0" algn="l">
              <a:buNone/>
            </a:pPr>
            <a:r>
              <a:rPr lang="en-IN" b="0" i="1" dirty="0">
                <a:solidFill>
                  <a:srgbClr val="0D0D0D"/>
                </a:solidFill>
                <a:effectLst/>
                <a:highlight>
                  <a:srgbClr val="FFFFFF"/>
                </a:highlight>
                <a:latin typeface="KaTeX_Main"/>
              </a:rPr>
              <a:t>         </a:t>
            </a:r>
            <a:r>
              <a:rPr lang="en-IN" sz="2400" b="0" i="1" dirty="0">
                <a:solidFill>
                  <a:srgbClr val="0D0D0D"/>
                </a:solidFill>
                <a:effectLst/>
                <a:highlight>
                  <a:srgbClr val="FFFFFF"/>
                </a:highlight>
                <a:latin typeface="KaTeX_Math"/>
              </a:rPr>
              <a:t>L</a:t>
            </a:r>
            <a:r>
              <a:rPr lang="en-IN" sz="2400" b="0" i="0" baseline="-25000" dirty="0">
                <a:solidFill>
                  <a:srgbClr val="0D0D0D"/>
                </a:solidFill>
                <a:effectLst/>
                <a:highlight>
                  <a:srgbClr val="FFFFFF"/>
                </a:highlight>
                <a:latin typeface="KaTeX_Main"/>
              </a:rPr>
              <a:t>1</a:t>
            </a:r>
            <a:r>
              <a:rPr lang="en-IN" sz="2400" b="0" i="0" dirty="0">
                <a:solidFill>
                  <a:srgbClr val="0D0D0D"/>
                </a:solidFill>
                <a:effectLst/>
                <a:highlight>
                  <a:srgbClr val="FFFFFF"/>
                </a:highlight>
                <a:latin typeface="KaTeX_Main"/>
              </a:rPr>
              <a:t>​≈−log(0.168)≈1.783</a:t>
            </a:r>
            <a:endParaRPr lang="en-IN" sz="2400" b="0" i="0" dirty="0">
              <a:solidFill>
                <a:srgbClr val="0D0D0D"/>
              </a:solidFill>
              <a:effectLst/>
              <a:highlight>
                <a:srgbClr val="FFFFFF"/>
              </a:highlight>
              <a:latin typeface="Söhne"/>
            </a:endParaRPr>
          </a:p>
          <a:p>
            <a:pPr marL="0" indent="0" algn="l">
              <a:buNone/>
            </a:pPr>
            <a:r>
              <a:rPr lang="en-IN" sz="2400" dirty="0">
                <a:solidFill>
                  <a:srgbClr val="0D0D0D"/>
                </a:solidFill>
                <a:highlight>
                  <a:srgbClr val="FFFFFF"/>
                </a:highlight>
                <a:latin typeface="KaTeX_Main"/>
              </a:rPr>
              <a:t>           </a:t>
            </a:r>
            <a:r>
              <a:rPr lang="en-IN" sz="2400" b="0" i="1" dirty="0">
                <a:solidFill>
                  <a:srgbClr val="0D0D0D"/>
                </a:solidFill>
                <a:effectLst/>
                <a:highlight>
                  <a:srgbClr val="FFFFFF"/>
                </a:highlight>
                <a:latin typeface="KaTeX_Math"/>
              </a:rPr>
              <a:t>L</a:t>
            </a:r>
            <a:r>
              <a:rPr lang="en-IN" sz="2400" b="0" i="0" baseline="-25000" dirty="0">
                <a:solidFill>
                  <a:srgbClr val="0D0D0D"/>
                </a:solidFill>
                <a:effectLst/>
                <a:highlight>
                  <a:srgbClr val="FFFFFF"/>
                </a:highlight>
                <a:latin typeface="KaTeX_Main"/>
              </a:rPr>
              <a:t>2</a:t>
            </a:r>
            <a:r>
              <a:rPr lang="en-IN" sz="2400" b="0" i="0" dirty="0">
                <a:solidFill>
                  <a:srgbClr val="0D0D0D"/>
                </a:solidFill>
                <a:effectLst/>
                <a:highlight>
                  <a:srgbClr val="FFFFFF"/>
                </a:highlight>
                <a:latin typeface="KaTeX_Main"/>
              </a:rPr>
              <a:t>​≈−log(0.19)≈1.661</a:t>
            </a:r>
            <a:endParaRPr lang="en-IN" sz="2400" b="0" i="0" dirty="0">
              <a:solidFill>
                <a:srgbClr val="0D0D0D"/>
              </a:solidFill>
              <a:effectLst/>
              <a:highlight>
                <a:srgbClr val="FFFFFF"/>
              </a:highlight>
              <a:latin typeface="Söhne"/>
            </a:endParaRPr>
          </a:p>
          <a:p>
            <a:pPr marL="457200" lvl="1" indent="0">
              <a:buNone/>
            </a:pPr>
            <a:r>
              <a:rPr lang="en-IN" b="0" i="0" dirty="0">
                <a:solidFill>
                  <a:srgbClr val="0D0D0D"/>
                </a:solidFill>
                <a:effectLst/>
                <a:highlight>
                  <a:srgbClr val="FFFFFF"/>
                </a:highlight>
                <a:latin typeface="Söhne"/>
              </a:rPr>
              <a:t>Therefore, the total loss for the sequence "The cat sat" is approximately:</a:t>
            </a:r>
          </a:p>
          <a:p>
            <a:pPr marL="457200" lvl="1" indent="0">
              <a:buNone/>
            </a:pPr>
            <a:r>
              <a:rPr lang="en-IN" b="0" i="1" dirty="0">
                <a:solidFill>
                  <a:srgbClr val="0D0D0D"/>
                </a:solidFill>
                <a:effectLst/>
                <a:highlight>
                  <a:srgbClr val="FFFFFF"/>
                </a:highlight>
                <a:latin typeface="KaTeX_Math"/>
              </a:rPr>
              <a:t>    L</a:t>
            </a:r>
            <a:r>
              <a:rPr lang="en-IN" b="0" i="0" dirty="0">
                <a:solidFill>
                  <a:srgbClr val="0D0D0D"/>
                </a:solidFill>
                <a:effectLst/>
                <a:highlight>
                  <a:srgbClr val="FFFFFF"/>
                </a:highlight>
                <a:latin typeface="KaTeX_Main"/>
              </a:rPr>
              <a:t>≈1.783+1.661=3.444</a:t>
            </a:r>
          </a:p>
          <a:p>
            <a:pPr marL="457200" lvl="1" indent="0">
              <a:buNone/>
            </a:pPr>
            <a:endParaRPr lang="en-IN" dirty="0">
              <a:solidFill>
                <a:srgbClr val="0D0D0D"/>
              </a:solidFill>
              <a:highlight>
                <a:srgbClr val="FFFFFF"/>
              </a:highlight>
              <a:latin typeface="Söhne"/>
            </a:endParaRPr>
          </a:p>
          <a:p>
            <a:pPr marL="457200" lvl="1" indent="0">
              <a:buNone/>
            </a:pPr>
            <a:r>
              <a:rPr lang="en-IN" b="0" i="0" dirty="0">
                <a:solidFill>
                  <a:srgbClr val="0D0D0D"/>
                </a:solidFill>
                <a:effectLst/>
                <a:highlight>
                  <a:srgbClr val="FFFFFF"/>
                </a:highlight>
                <a:latin typeface="Söhne"/>
              </a:rPr>
              <a:t>This total loss gives us a measure of how well our RNN predicted the next words in the sequence at these two-time steps. The goal during training is to minimize this loss by adjusting the weights of the network.</a:t>
            </a:r>
            <a:endParaRPr lang="en-IN" b="0" i="0" dirty="0">
              <a:solidFill>
                <a:srgbClr val="0D0D0D"/>
              </a:solidFill>
              <a:effectLst/>
              <a:highlight>
                <a:srgbClr val="FFFFFF"/>
              </a:highlight>
              <a:latin typeface="KaTeX_Main"/>
            </a:endParaRPr>
          </a:p>
        </p:txBody>
      </p:sp>
    </p:spTree>
    <p:extLst>
      <p:ext uri="{BB962C8B-B14F-4D97-AF65-F5344CB8AC3E}">
        <p14:creationId xmlns:p14="http://schemas.microsoft.com/office/powerpoint/2010/main" val="703983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AE62F-1C96-6E7D-74D0-198E9D69E37B}"/>
              </a:ext>
            </a:extLst>
          </p:cNvPr>
          <p:cNvSpPr>
            <a:spLocks noGrp="1"/>
          </p:cNvSpPr>
          <p:nvPr>
            <p:ph type="title"/>
          </p:nvPr>
        </p:nvSpPr>
        <p:spPr/>
        <p:txBody>
          <a:bodyPr>
            <a:normAutofit/>
          </a:bodyPr>
          <a:lstStyle/>
          <a:p>
            <a:r>
              <a:rPr lang="en-IN" sz="4000" b="1" i="0" dirty="0">
                <a:solidFill>
                  <a:srgbClr val="0D0D0D"/>
                </a:solidFill>
                <a:effectLst/>
                <a:highlight>
                  <a:srgbClr val="FFFFFF"/>
                </a:highlight>
                <a:latin typeface="Söhne"/>
              </a:rPr>
              <a:t>Backpropagation for Output Layer Weights (</a:t>
            </a:r>
            <a:r>
              <a:rPr lang="en-IN" sz="4000" b="1" i="1" dirty="0">
                <a:solidFill>
                  <a:srgbClr val="0D0D0D"/>
                </a:solidFill>
                <a:effectLst/>
                <a:highlight>
                  <a:srgbClr val="FFFFFF"/>
                </a:highlight>
                <a:latin typeface="KaTeX_Math"/>
              </a:rPr>
              <a:t>V</a:t>
            </a:r>
            <a:r>
              <a:rPr lang="en-IN" sz="4000" b="1" i="0" dirty="0">
                <a:solidFill>
                  <a:srgbClr val="0D0D0D"/>
                </a:solidFill>
                <a:effectLst/>
                <a:highlight>
                  <a:srgbClr val="FFFFFF"/>
                </a:highlight>
                <a:latin typeface="Söhne"/>
              </a:rPr>
              <a:t>)</a:t>
            </a:r>
            <a:endParaRPr lang="en-US" sz="4000" dirty="0"/>
          </a:p>
        </p:txBody>
      </p:sp>
      <p:sp>
        <p:nvSpPr>
          <p:cNvPr id="3" name="Content Placeholder 2">
            <a:extLst>
              <a:ext uri="{FF2B5EF4-FFF2-40B4-BE49-F238E27FC236}">
                <a16:creationId xmlns:a16="http://schemas.microsoft.com/office/drawing/2014/main" id="{8E292D85-A48E-F8E6-0FA8-E44CB01ECBD4}"/>
              </a:ext>
            </a:extLst>
          </p:cNvPr>
          <p:cNvSpPr>
            <a:spLocks noGrp="1"/>
          </p:cNvSpPr>
          <p:nvPr>
            <p:ph idx="1"/>
          </p:nvPr>
        </p:nvSpPr>
        <p:spPr/>
        <p:txBody>
          <a:bodyPr>
            <a:normAutofit/>
          </a:bodyPr>
          <a:lstStyle/>
          <a:p>
            <a:r>
              <a:rPr lang="en-IN" b="1" i="0" dirty="0">
                <a:solidFill>
                  <a:srgbClr val="0D0D0D"/>
                </a:solidFill>
                <a:effectLst/>
                <a:highlight>
                  <a:srgbClr val="FFFFFF"/>
                </a:highlight>
                <a:latin typeface="Söhne"/>
              </a:rPr>
              <a:t>Calculate the gradient of the loss with respect to the output probabilities (</a:t>
            </a:r>
            <a:r>
              <a:rPr lang="el-GR" b="1" i="1" dirty="0">
                <a:solidFill>
                  <a:srgbClr val="0D0D0D"/>
                </a:solidFill>
                <a:effectLst/>
                <a:highlight>
                  <a:srgbClr val="FFFFFF"/>
                </a:highlight>
                <a:latin typeface="KaTeX_Math"/>
              </a:rPr>
              <a:t>δ</a:t>
            </a:r>
            <a:r>
              <a:rPr lang="en-IN" b="1" i="1" dirty="0">
                <a:solidFill>
                  <a:srgbClr val="0D0D0D"/>
                </a:solidFill>
                <a:effectLst/>
                <a:highlight>
                  <a:srgbClr val="FFFFFF"/>
                </a:highlight>
                <a:latin typeface="KaTeX_Math"/>
              </a:rPr>
              <a:t>t</a:t>
            </a:r>
            <a:r>
              <a:rPr lang="en-IN" b="1" i="0" dirty="0">
                <a:solidFill>
                  <a:srgbClr val="0D0D0D"/>
                </a:solidFill>
                <a:effectLst/>
                <a:highlight>
                  <a:srgbClr val="FFFFFF"/>
                </a:highlight>
                <a:latin typeface="KaTeX_Main"/>
              </a:rPr>
              <a:t>​</a:t>
            </a:r>
            <a:r>
              <a:rPr lang="en-IN" b="1" i="0" dirty="0">
                <a:solidFill>
                  <a:srgbClr val="0D0D0D"/>
                </a:solidFill>
                <a:effectLst/>
                <a:highlight>
                  <a:srgbClr val="FFFFFF"/>
                </a:highlight>
                <a:latin typeface="Söhne"/>
              </a:rPr>
              <a:t>) at each time step</a:t>
            </a:r>
          </a:p>
          <a:p>
            <a:pPr lvl="1"/>
            <a:r>
              <a:rPr lang="el-GR" b="0" i="1" dirty="0">
                <a:solidFill>
                  <a:srgbClr val="0D0D0D"/>
                </a:solidFill>
                <a:effectLst/>
                <a:highlight>
                  <a:srgbClr val="FFFFFF"/>
                </a:highlight>
                <a:latin typeface="KaTeX_Math"/>
              </a:rPr>
              <a:t>δ</a:t>
            </a:r>
            <a:r>
              <a:rPr lang="el-GR" b="0" i="0" baseline="-25000" dirty="0">
                <a:solidFill>
                  <a:srgbClr val="0D0D0D"/>
                </a:solidFill>
                <a:effectLst/>
                <a:highlight>
                  <a:srgbClr val="FFFFFF"/>
                </a:highlight>
                <a:latin typeface="KaTeX_Main"/>
              </a:rPr>
              <a:t>1</a:t>
            </a:r>
            <a:r>
              <a:rPr lang="el-GR"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y</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​−actual_y</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​=[0.212,−0.832,0.194,0.223,0.203]</a:t>
            </a:r>
            <a:endParaRPr lang="en-IN" b="1" dirty="0">
              <a:solidFill>
                <a:srgbClr val="0D0D0D"/>
              </a:solidFill>
              <a:highlight>
                <a:srgbClr val="FFFFFF"/>
              </a:highlight>
              <a:latin typeface="Söhne"/>
            </a:endParaRPr>
          </a:p>
          <a:p>
            <a:pPr lvl="1"/>
            <a:r>
              <a:rPr lang="el-GR" b="0" i="1" dirty="0">
                <a:solidFill>
                  <a:srgbClr val="0D0D0D"/>
                </a:solidFill>
                <a:effectLst/>
                <a:highlight>
                  <a:srgbClr val="FFFFFF"/>
                </a:highlight>
                <a:latin typeface="KaTeX_Math"/>
              </a:rPr>
              <a:t>δ</a:t>
            </a:r>
            <a:r>
              <a:rPr lang="el-GR" b="0" i="0" baseline="-25000" dirty="0">
                <a:solidFill>
                  <a:srgbClr val="0D0D0D"/>
                </a:solidFill>
                <a:effectLst/>
                <a:highlight>
                  <a:srgbClr val="FFFFFF"/>
                </a:highlight>
                <a:latin typeface="KaTeX_Main"/>
              </a:rPr>
              <a:t>2</a:t>
            </a:r>
            <a:r>
              <a:rPr lang="el-GR"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y</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​−actual_y</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​=[0.17,0.18,−0.81,0.22,0.24]</a:t>
            </a:r>
            <a:endParaRPr lang="en-IN" b="1" i="0" dirty="0">
              <a:solidFill>
                <a:srgbClr val="0D0D0D"/>
              </a:solidFill>
              <a:effectLst/>
              <a:highlight>
                <a:srgbClr val="FFFFFF"/>
              </a:highlight>
              <a:latin typeface="Söhne"/>
            </a:endParaRPr>
          </a:p>
          <a:p>
            <a:r>
              <a:rPr lang="en-IN" b="1" i="0" dirty="0">
                <a:solidFill>
                  <a:srgbClr val="0D0D0D"/>
                </a:solidFill>
                <a:effectLst/>
                <a:highlight>
                  <a:srgbClr val="FFFFFF"/>
                </a:highlight>
                <a:latin typeface="Söhne"/>
              </a:rPr>
              <a:t>Calculate the gradient of the loss with respect to </a:t>
            </a:r>
            <a:r>
              <a:rPr lang="en-IN" b="1" i="1" dirty="0">
                <a:solidFill>
                  <a:srgbClr val="0D0D0D"/>
                </a:solidFill>
                <a:effectLst/>
                <a:highlight>
                  <a:srgbClr val="FFFFFF"/>
                </a:highlight>
                <a:latin typeface="KaTeX_Math"/>
              </a:rPr>
              <a:t>V</a:t>
            </a:r>
            <a:r>
              <a:rPr lang="en-IN" b="1" i="0" dirty="0">
                <a:solidFill>
                  <a:srgbClr val="0D0D0D"/>
                </a:solidFill>
                <a:effectLst/>
                <a:highlight>
                  <a:srgbClr val="FFFFFF"/>
                </a:highlight>
                <a:latin typeface="Söhne"/>
              </a:rPr>
              <a:t> (</a:t>
            </a:r>
            <a:r>
              <a:rPr lang="en-IN" b="1" i="0" dirty="0">
                <a:solidFill>
                  <a:srgbClr val="0D0D0D"/>
                </a:solidFill>
                <a:effectLst/>
                <a:highlight>
                  <a:srgbClr val="FFFFFF"/>
                </a:highlight>
                <a:latin typeface="KaTeX_Main"/>
              </a:rPr>
              <a:t>∇</a:t>
            </a:r>
            <a:r>
              <a:rPr lang="en-IN" b="1" i="1" baseline="-25000" dirty="0">
                <a:solidFill>
                  <a:srgbClr val="0D0D0D"/>
                </a:solidFill>
                <a:effectLst/>
                <a:highlight>
                  <a:srgbClr val="FFFFFF"/>
                </a:highlight>
                <a:latin typeface="KaTeX_Math"/>
              </a:rPr>
              <a:t>V</a:t>
            </a:r>
            <a:r>
              <a:rPr lang="en-IN" b="1" i="0" baseline="-25000" dirty="0">
                <a:solidFill>
                  <a:srgbClr val="0D0D0D"/>
                </a:solidFill>
                <a:effectLst/>
                <a:highlight>
                  <a:srgbClr val="FFFFFF"/>
                </a:highlight>
                <a:latin typeface="KaTeX_Main"/>
              </a:rPr>
              <a:t>​</a:t>
            </a:r>
            <a:r>
              <a:rPr lang="en-IN" b="1" i="1" dirty="0">
                <a:solidFill>
                  <a:srgbClr val="0D0D0D"/>
                </a:solidFill>
                <a:effectLst/>
                <a:highlight>
                  <a:srgbClr val="FFFFFF"/>
                </a:highlight>
                <a:latin typeface="KaTeX_Math"/>
              </a:rPr>
              <a:t>L</a:t>
            </a:r>
            <a:r>
              <a:rPr lang="en-IN" b="1" i="0" dirty="0">
                <a:solidFill>
                  <a:srgbClr val="0D0D0D"/>
                </a:solidFill>
                <a:effectLst/>
                <a:highlight>
                  <a:srgbClr val="FFFFFF"/>
                </a:highlight>
                <a:latin typeface="Söhne"/>
              </a:rPr>
              <a:t>) by taking the product of </a:t>
            </a:r>
            <a:r>
              <a:rPr lang="el-GR" b="1" i="1" dirty="0">
                <a:solidFill>
                  <a:srgbClr val="0D0D0D"/>
                </a:solidFill>
                <a:effectLst/>
                <a:highlight>
                  <a:srgbClr val="FFFFFF"/>
                </a:highlight>
                <a:latin typeface="KaTeX_Math"/>
              </a:rPr>
              <a:t>δ</a:t>
            </a:r>
            <a:r>
              <a:rPr lang="en-IN" b="1" i="1" dirty="0">
                <a:solidFill>
                  <a:srgbClr val="0D0D0D"/>
                </a:solidFill>
                <a:effectLst/>
                <a:highlight>
                  <a:srgbClr val="FFFFFF"/>
                </a:highlight>
                <a:latin typeface="KaTeX_Math"/>
              </a:rPr>
              <a:t>t</a:t>
            </a:r>
            <a:r>
              <a:rPr lang="en-IN" b="1" i="0" dirty="0">
                <a:solidFill>
                  <a:srgbClr val="0D0D0D"/>
                </a:solidFill>
                <a:effectLst/>
                <a:highlight>
                  <a:srgbClr val="FFFFFF"/>
                </a:highlight>
                <a:latin typeface="KaTeX_Main"/>
              </a:rPr>
              <a:t>​</a:t>
            </a:r>
            <a:r>
              <a:rPr lang="en-IN" b="1" i="0" dirty="0">
                <a:solidFill>
                  <a:srgbClr val="0D0D0D"/>
                </a:solidFill>
                <a:effectLst/>
                <a:highlight>
                  <a:srgbClr val="FFFFFF"/>
                </a:highlight>
                <a:latin typeface="Söhne"/>
              </a:rPr>
              <a:t> and the corresponding hidden state </a:t>
            </a:r>
            <a:r>
              <a:rPr lang="en-IN" b="1" i="1" dirty="0" err="1">
                <a:solidFill>
                  <a:srgbClr val="0D0D0D"/>
                </a:solidFill>
                <a:effectLst/>
                <a:highlight>
                  <a:srgbClr val="FFFFFF"/>
                </a:highlight>
                <a:latin typeface="KaTeX_Math"/>
              </a:rPr>
              <a:t>h</a:t>
            </a:r>
            <a:r>
              <a:rPr lang="en-IN" b="1" i="1" baseline="-25000" dirty="0" err="1">
                <a:solidFill>
                  <a:srgbClr val="0D0D0D"/>
                </a:solidFill>
                <a:effectLst/>
                <a:highlight>
                  <a:srgbClr val="FFFFFF"/>
                </a:highlight>
                <a:latin typeface="KaTeX_Math"/>
              </a:rPr>
              <a:t>t</a:t>
            </a:r>
            <a:r>
              <a:rPr lang="en-IN" b="1" i="1" baseline="30000" dirty="0" err="1">
                <a:solidFill>
                  <a:srgbClr val="0D0D0D"/>
                </a:solidFill>
                <a:effectLst/>
                <a:highlight>
                  <a:srgbClr val="FFFFFF"/>
                </a:highlight>
                <a:latin typeface="KaTeX_Math"/>
              </a:rPr>
              <a:t>T</a:t>
            </a:r>
            <a:r>
              <a:rPr lang="en-IN" b="1" i="0" dirty="0">
                <a:solidFill>
                  <a:srgbClr val="0D0D0D"/>
                </a:solidFill>
                <a:effectLst/>
                <a:highlight>
                  <a:srgbClr val="FFFFFF"/>
                </a:highlight>
                <a:latin typeface="KaTeX_Main"/>
              </a:rPr>
              <a:t>​</a:t>
            </a:r>
            <a:r>
              <a:rPr lang="en-IN" b="1" i="0" dirty="0">
                <a:solidFill>
                  <a:srgbClr val="0D0D0D"/>
                </a:solidFill>
                <a:effectLst/>
                <a:highlight>
                  <a:srgbClr val="FFFFFF"/>
                </a:highlight>
                <a:latin typeface="Söhne"/>
              </a:rPr>
              <a:t> at each time step and summing across time steps.</a:t>
            </a:r>
          </a:p>
          <a:p>
            <a:pPr lvl="1"/>
            <a:r>
              <a:rPr lang="en-IN" b="0" i="0" dirty="0">
                <a:solidFill>
                  <a:srgbClr val="0D0D0D"/>
                </a:solidFill>
                <a:effectLst/>
                <a:highlight>
                  <a:srgbClr val="FFFFFF"/>
                </a:highlight>
                <a:latin typeface="Söhne"/>
              </a:rPr>
              <a:t>Assuming we have the hidden states </a:t>
            </a:r>
            <a:r>
              <a:rPr lang="en-IN" b="0" i="1" dirty="0">
                <a:solidFill>
                  <a:srgbClr val="0D0D0D"/>
                </a:solidFill>
                <a:effectLst/>
                <a:highlight>
                  <a:srgbClr val="FFFFFF"/>
                </a:highlight>
                <a:latin typeface="KaTeX_Math"/>
              </a:rPr>
              <a:t>h</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Söhne"/>
              </a:rPr>
              <a:t> and </a:t>
            </a:r>
            <a:r>
              <a:rPr lang="en-IN" b="0" i="1" dirty="0">
                <a:solidFill>
                  <a:srgbClr val="0D0D0D"/>
                </a:solidFill>
                <a:effectLst/>
                <a:highlight>
                  <a:srgbClr val="FFFFFF"/>
                </a:highlight>
                <a:latin typeface="KaTeX_Math"/>
              </a:rPr>
              <a:t>h</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Söhne"/>
              </a:rPr>
              <a:t> for the corresponding time steps (let's say </a:t>
            </a:r>
            <a:r>
              <a:rPr lang="en-IN" b="0" i="1" dirty="0">
                <a:solidFill>
                  <a:srgbClr val="0D0D0D"/>
                </a:solidFill>
                <a:effectLst/>
                <a:highlight>
                  <a:srgbClr val="FFFFFF"/>
                </a:highlight>
                <a:latin typeface="KaTeX_Math"/>
              </a:rPr>
              <a:t>h</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​=[0.7,0.37,0.66]</a:t>
            </a:r>
            <a:r>
              <a:rPr lang="en-IN" b="0" i="0" dirty="0">
                <a:solidFill>
                  <a:srgbClr val="0D0D0D"/>
                </a:solidFill>
                <a:effectLst/>
                <a:highlight>
                  <a:srgbClr val="FFFFFF"/>
                </a:highlight>
                <a:latin typeface="Söhne"/>
              </a:rPr>
              <a:t> and </a:t>
            </a:r>
            <a:r>
              <a:rPr lang="en-IN" b="0" i="1" dirty="0">
                <a:solidFill>
                  <a:srgbClr val="0D0D0D"/>
                </a:solidFill>
                <a:effectLst/>
                <a:highlight>
                  <a:srgbClr val="FFFFFF"/>
                </a:highlight>
                <a:latin typeface="KaTeX_Math"/>
              </a:rPr>
              <a:t>h</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​=[0.8,0.5,0.7]</a:t>
            </a:r>
            <a:r>
              <a:rPr lang="en-IN" b="0" i="0" dirty="0">
                <a:solidFill>
                  <a:srgbClr val="0D0D0D"/>
                </a:solidFill>
                <a:effectLst/>
                <a:highlight>
                  <a:srgbClr val="FFFFFF"/>
                </a:highlight>
                <a:latin typeface="Söhne"/>
              </a:rPr>
              <a:t>), we would calculate:</a:t>
            </a:r>
          </a:p>
          <a:p>
            <a:pPr lvl="2"/>
            <a:r>
              <a:rPr lang="en-IN" b="0" i="0" dirty="0">
                <a:solidFill>
                  <a:srgbClr val="0D0D0D"/>
                </a:solidFill>
                <a:effectLst/>
                <a:highlight>
                  <a:srgbClr val="FFFFFF"/>
                </a:highlight>
                <a:latin typeface="KaTeX_Main"/>
              </a:rPr>
              <a:t>∇</a:t>
            </a:r>
            <a:r>
              <a:rPr lang="en-IN" b="0" i="1" baseline="-25000" dirty="0">
                <a:solidFill>
                  <a:srgbClr val="0D0D0D"/>
                </a:solidFill>
                <a:effectLst/>
                <a:highlight>
                  <a:srgbClr val="FFFFFF"/>
                </a:highlight>
                <a:latin typeface="KaTeX_Math"/>
              </a:rPr>
              <a:t>V</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L</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a:t>
            </a:r>
            <a:r>
              <a:rPr lang="el-GR" b="0" i="1" dirty="0">
                <a:solidFill>
                  <a:srgbClr val="0D0D0D"/>
                </a:solidFill>
                <a:effectLst/>
                <a:highlight>
                  <a:srgbClr val="FFFFFF"/>
                </a:highlight>
                <a:latin typeface="KaTeX_Math"/>
              </a:rPr>
              <a:t>δ</a:t>
            </a:r>
            <a:r>
              <a:rPr lang="el-GR" b="0" i="0" baseline="-25000" dirty="0">
                <a:solidFill>
                  <a:srgbClr val="0D0D0D"/>
                </a:solidFill>
                <a:effectLst/>
                <a:highlight>
                  <a:srgbClr val="FFFFFF"/>
                </a:highlight>
                <a:latin typeface="KaTeX_Main"/>
              </a:rPr>
              <a:t>1</a:t>
            </a:r>
            <a:r>
              <a:rPr lang="el-GR"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h</a:t>
            </a:r>
            <a:r>
              <a:rPr lang="en-IN" b="0" i="0" baseline="-25000" dirty="0">
                <a:solidFill>
                  <a:srgbClr val="0D0D0D"/>
                </a:solidFill>
                <a:effectLst/>
                <a:highlight>
                  <a:srgbClr val="FFFFFF"/>
                </a:highlight>
                <a:latin typeface="KaTeX_Main"/>
              </a:rPr>
              <a:t>1</a:t>
            </a:r>
            <a:r>
              <a:rPr lang="en-IN" b="0" i="1" baseline="30000" dirty="0">
                <a:solidFill>
                  <a:srgbClr val="0D0D0D"/>
                </a:solidFill>
                <a:effectLst/>
                <a:highlight>
                  <a:srgbClr val="FFFFFF"/>
                </a:highlight>
                <a:latin typeface="KaTeX_Math"/>
              </a:rPr>
              <a:t>T</a:t>
            </a:r>
            <a:r>
              <a:rPr lang="en-IN" b="0" i="0" dirty="0">
                <a:solidFill>
                  <a:srgbClr val="0D0D0D"/>
                </a:solidFill>
                <a:effectLst/>
                <a:highlight>
                  <a:srgbClr val="FFFFFF"/>
                </a:highlight>
                <a:latin typeface="KaTeX_Main"/>
              </a:rPr>
              <a:t>​</a:t>
            </a:r>
          </a:p>
          <a:p>
            <a:pPr lvl="2"/>
            <a:r>
              <a:rPr lang="en-IN" b="0" i="0" dirty="0">
                <a:solidFill>
                  <a:srgbClr val="0D0D0D"/>
                </a:solidFill>
                <a:effectLst/>
                <a:highlight>
                  <a:srgbClr val="FFFFFF"/>
                </a:highlight>
                <a:latin typeface="KaTeX_Main"/>
              </a:rPr>
              <a:t>∇</a:t>
            </a:r>
            <a:r>
              <a:rPr lang="en-IN" b="0" i="1" baseline="-25000" dirty="0">
                <a:solidFill>
                  <a:srgbClr val="0D0D0D"/>
                </a:solidFill>
                <a:effectLst/>
                <a:highlight>
                  <a:srgbClr val="FFFFFF"/>
                </a:highlight>
                <a:latin typeface="KaTeX_Math"/>
              </a:rPr>
              <a:t>V</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L</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a:t>
            </a:r>
            <a:r>
              <a:rPr lang="el-GR" b="0" i="1" dirty="0">
                <a:solidFill>
                  <a:srgbClr val="0D0D0D"/>
                </a:solidFill>
                <a:effectLst/>
                <a:highlight>
                  <a:srgbClr val="FFFFFF"/>
                </a:highlight>
                <a:latin typeface="KaTeX_Math"/>
              </a:rPr>
              <a:t>δ</a:t>
            </a:r>
            <a:r>
              <a:rPr lang="el-GR" b="0" i="0" baseline="-25000" dirty="0">
                <a:solidFill>
                  <a:srgbClr val="0D0D0D"/>
                </a:solidFill>
                <a:effectLst/>
                <a:highlight>
                  <a:srgbClr val="FFFFFF"/>
                </a:highlight>
                <a:latin typeface="KaTeX_Main"/>
              </a:rPr>
              <a:t>2</a:t>
            </a:r>
            <a:r>
              <a:rPr lang="el-GR"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h</a:t>
            </a:r>
            <a:r>
              <a:rPr lang="en-IN" b="0" i="0" baseline="-25000" dirty="0">
                <a:solidFill>
                  <a:srgbClr val="0D0D0D"/>
                </a:solidFill>
                <a:effectLst/>
                <a:highlight>
                  <a:srgbClr val="FFFFFF"/>
                </a:highlight>
                <a:latin typeface="KaTeX_Main"/>
              </a:rPr>
              <a:t>2</a:t>
            </a:r>
            <a:r>
              <a:rPr lang="en-IN" b="0" i="1" baseline="30000" dirty="0">
                <a:solidFill>
                  <a:srgbClr val="0D0D0D"/>
                </a:solidFill>
                <a:effectLst/>
                <a:highlight>
                  <a:srgbClr val="FFFFFF"/>
                </a:highlight>
                <a:latin typeface="KaTeX_Math"/>
              </a:rPr>
              <a:t>T</a:t>
            </a:r>
            <a:r>
              <a:rPr lang="en-IN" b="0" i="0" baseline="30000" dirty="0">
                <a:solidFill>
                  <a:srgbClr val="0D0D0D"/>
                </a:solidFill>
                <a:effectLst/>
                <a:highlight>
                  <a:srgbClr val="FFFFFF"/>
                </a:highlight>
                <a:latin typeface="KaTeX_Main"/>
              </a:rPr>
              <a:t>​</a:t>
            </a:r>
            <a:endParaRPr lang="en-IN" b="0" i="0" baseline="30000" dirty="0">
              <a:solidFill>
                <a:srgbClr val="0D0D0D"/>
              </a:solidFill>
              <a:effectLst/>
              <a:highlight>
                <a:srgbClr val="FFFFFF"/>
              </a:highlight>
              <a:latin typeface="Söhne"/>
            </a:endParaRPr>
          </a:p>
          <a:p>
            <a:pPr lvl="1"/>
            <a:endParaRPr lang="en-US" dirty="0"/>
          </a:p>
        </p:txBody>
      </p:sp>
    </p:spTree>
    <p:extLst>
      <p:ext uri="{BB962C8B-B14F-4D97-AF65-F5344CB8AC3E}">
        <p14:creationId xmlns:p14="http://schemas.microsoft.com/office/powerpoint/2010/main" val="3236750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BFDA-5530-C5F1-2D11-D41797494C22}"/>
              </a:ext>
            </a:extLst>
          </p:cNvPr>
          <p:cNvSpPr>
            <a:spLocks noGrp="1"/>
          </p:cNvSpPr>
          <p:nvPr>
            <p:ph type="title"/>
          </p:nvPr>
        </p:nvSpPr>
        <p:spPr/>
        <p:txBody>
          <a:bodyPr>
            <a:normAutofit/>
          </a:bodyPr>
          <a:lstStyle/>
          <a:p>
            <a:r>
              <a:rPr lang="en-IN" sz="4000" b="1" i="0" dirty="0">
                <a:solidFill>
                  <a:srgbClr val="0D0D0D"/>
                </a:solidFill>
                <a:effectLst/>
                <a:highlight>
                  <a:srgbClr val="FFFFFF"/>
                </a:highlight>
                <a:latin typeface="Söhne"/>
              </a:rPr>
              <a:t>Backpropagation for Output Layer Weights (</a:t>
            </a:r>
            <a:r>
              <a:rPr lang="en-IN" sz="4000" b="1" i="1" dirty="0">
                <a:solidFill>
                  <a:srgbClr val="0D0D0D"/>
                </a:solidFill>
                <a:effectLst/>
                <a:highlight>
                  <a:srgbClr val="FFFFFF"/>
                </a:highlight>
                <a:latin typeface="KaTeX_Math"/>
              </a:rPr>
              <a:t>V</a:t>
            </a:r>
            <a:r>
              <a:rPr lang="en-IN" sz="4000" b="1" i="0" dirty="0">
                <a:solidFill>
                  <a:srgbClr val="0D0D0D"/>
                </a:solidFill>
                <a:effectLst/>
                <a:highlight>
                  <a:srgbClr val="FFFFFF"/>
                </a:highlight>
                <a:latin typeface="Söhne"/>
              </a:rPr>
              <a:t>)</a:t>
            </a:r>
            <a:endParaRPr lang="en-US" sz="4000" dirty="0"/>
          </a:p>
        </p:txBody>
      </p:sp>
      <p:sp>
        <p:nvSpPr>
          <p:cNvPr id="3" name="Content Placeholder 2">
            <a:extLst>
              <a:ext uri="{FF2B5EF4-FFF2-40B4-BE49-F238E27FC236}">
                <a16:creationId xmlns:a16="http://schemas.microsoft.com/office/drawing/2014/main" id="{B5F1ABD4-5EF5-168A-9B77-A3292A43081E}"/>
              </a:ext>
            </a:extLst>
          </p:cNvPr>
          <p:cNvSpPr>
            <a:spLocks noGrp="1"/>
          </p:cNvSpPr>
          <p:nvPr>
            <p:ph idx="1"/>
          </p:nvPr>
        </p:nvSpPr>
        <p:spPr/>
        <p:txBody>
          <a:bodyPr/>
          <a:lstStyle/>
          <a:p>
            <a:r>
              <a:rPr lang="en-IN" b="0" i="0" dirty="0">
                <a:solidFill>
                  <a:srgbClr val="0D0D0D"/>
                </a:solidFill>
                <a:effectLst/>
                <a:highlight>
                  <a:srgbClr val="FFFFFF"/>
                </a:highlight>
                <a:latin typeface="Söhne"/>
              </a:rPr>
              <a:t>The total gradient for </a:t>
            </a:r>
            <a:r>
              <a:rPr lang="en-IN" b="0" i="1" dirty="0">
                <a:solidFill>
                  <a:srgbClr val="0D0D0D"/>
                </a:solidFill>
                <a:effectLst/>
                <a:highlight>
                  <a:srgbClr val="FFFFFF"/>
                </a:highlight>
                <a:latin typeface="KaTeX_Math"/>
              </a:rPr>
              <a:t>V</a:t>
            </a:r>
            <a:r>
              <a:rPr lang="en-IN" b="0" i="0" dirty="0">
                <a:solidFill>
                  <a:srgbClr val="0D0D0D"/>
                </a:solidFill>
                <a:effectLst/>
                <a:highlight>
                  <a:srgbClr val="FFFFFF"/>
                </a:highlight>
                <a:latin typeface="Söhne"/>
              </a:rPr>
              <a:t> would be the sum of these individual gradients:</a:t>
            </a:r>
          </a:p>
          <a:p>
            <a:pPr lvl="1"/>
            <a:r>
              <a:rPr lang="en-IN" dirty="0">
                <a:effectLst/>
              </a:rPr>
              <a:t>∇</a:t>
            </a:r>
            <a:r>
              <a:rPr lang="en-IN" i="1" baseline="-25000" dirty="0">
                <a:effectLst/>
                <a:latin typeface="KaTeX_Math"/>
              </a:rPr>
              <a:t>V</a:t>
            </a:r>
            <a:r>
              <a:rPr lang="en-IN" dirty="0">
                <a:effectLst/>
              </a:rPr>
              <a:t>​</a:t>
            </a:r>
            <a:r>
              <a:rPr lang="en-IN" i="1" dirty="0">
                <a:effectLst/>
                <a:latin typeface="KaTeX_Math"/>
              </a:rPr>
              <a:t>L</a:t>
            </a:r>
            <a:r>
              <a:rPr lang="en-IN" dirty="0">
                <a:effectLst/>
              </a:rPr>
              <a:t>=∇</a:t>
            </a:r>
            <a:r>
              <a:rPr lang="en-IN" i="1" baseline="-25000" dirty="0">
                <a:effectLst/>
                <a:latin typeface="KaTeX_Math"/>
              </a:rPr>
              <a:t>V</a:t>
            </a:r>
            <a:r>
              <a:rPr lang="en-IN" dirty="0">
                <a:effectLst/>
              </a:rPr>
              <a:t>​</a:t>
            </a:r>
            <a:r>
              <a:rPr lang="en-IN" i="1" dirty="0">
                <a:effectLst/>
                <a:latin typeface="KaTeX_Math"/>
              </a:rPr>
              <a:t>L</a:t>
            </a:r>
            <a:r>
              <a:rPr lang="en-IN" baseline="-25000" dirty="0">
                <a:effectLst/>
              </a:rPr>
              <a:t>1</a:t>
            </a:r>
            <a:r>
              <a:rPr lang="en-IN" dirty="0">
                <a:effectLst/>
              </a:rPr>
              <a:t>​+∇</a:t>
            </a:r>
            <a:r>
              <a:rPr lang="en-IN" i="1" baseline="-25000" dirty="0">
                <a:effectLst/>
                <a:latin typeface="KaTeX_Math"/>
              </a:rPr>
              <a:t>V</a:t>
            </a:r>
            <a:r>
              <a:rPr lang="en-IN" dirty="0">
                <a:effectLst/>
              </a:rPr>
              <a:t>​</a:t>
            </a:r>
            <a:r>
              <a:rPr lang="en-IN" i="1" dirty="0">
                <a:effectLst/>
                <a:latin typeface="KaTeX_Math"/>
              </a:rPr>
              <a:t>L</a:t>
            </a:r>
            <a:r>
              <a:rPr lang="en-IN" b="0" i="0" baseline="-25000" dirty="0">
                <a:solidFill>
                  <a:srgbClr val="0D0D0D"/>
                </a:solidFill>
                <a:effectLst/>
                <a:highlight>
                  <a:srgbClr val="FFFFFF"/>
                </a:highlight>
                <a:latin typeface="KaTeX_Main"/>
              </a:rPr>
              <a:t>2​</a:t>
            </a:r>
            <a:br>
              <a:rPr lang="en-IN" b="0" i="0" dirty="0">
                <a:solidFill>
                  <a:srgbClr val="0D0D0D"/>
                </a:solidFill>
                <a:effectLst/>
                <a:highlight>
                  <a:srgbClr val="FFFFFF"/>
                </a:highlight>
                <a:latin typeface="KaTeX_Main"/>
              </a:rPr>
            </a:br>
            <a:endParaRPr lang="en-US" b="0" i="0" dirty="0">
              <a:solidFill>
                <a:srgbClr val="0D0D0D"/>
              </a:solidFill>
              <a:effectLst/>
              <a:highlight>
                <a:srgbClr val="FFFFFF"/>
              </a:highlight>
              <a:latin typeface="KaTeX_Main"/>
            </a:endParaRPr>
          </a:p>
          <a:p>
            <a:r>
              <a:rPr lang="en-IN" b="0" i="0" dirty="0">
                <a:solidFill>
                  <a:srgbClr val="0D0D0D"/>
                </a:solidFill>
                <a:effectLst/>
                <a:highlight>
                  <a:srgbClr val="FFFFFF"/>
                </a:highlight>
                <a:latin typeface="Söhne"/>
              </a:rPr>
              <a:t>This part involves calculating the gradients for the output layer weights based on the errors at the output and the hidden states. </a:t>
            </a:r>
            <a:endParaRPr lang="en-IN" b="0" i="0" dirty="0">
              <a:solidFill>
                <a:srgbClr val="0D0D0D"/>
              </a:solidFill>
              <a:effectLst/>
              <a:highlight>
                <a:srgbClr val="FFFFFF"/>
              </a:highlight>
              <a:latin typeface="KaTeX_Main"/>
            </a:endParaRPr>
          </a:p>
        </p:txBody>
      </p:sp>
    </p:spTree>
    <p:extLst>
      <p:ext uri="{BB962C8B-B14F-4D97-AF65-F5344CB8AC3E}">
        <p14:creationId xmlns:p14="http://schemas.microsoft.com/office/powerpoint/2010/main" val="3229795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AEA00-896B-8D28-798C-25BBECF4083F}"/>
              </a:ext>
            </a:extLst>
          </p:cNvPr>
          <p:cNvSpPr>
            <a:spLocks noGrp="1"/>
          </p:cNvSpPr>
          <p:nvPr>
            <p:ph type="title"/>
          </p:nvPr>
        </p:nvSpPr>
        <p:spPr/>
        <p:txBody>
          <a:bodyPr>
            <a:normAutofit/>
          </a:bodyPr>
          <a:lstStyle/>
          <a:p>
            <a:r>
              <a:rPr lang="en-IN" sz="4000" b="1" i="0" dirty="0">
                <a:solidFill>
                  <a:srgbClr val="0D0D0D"/>
                </a:solidFill>
                <a:effectLst/>
                <a:highlight>
                  <a:srgbClr val="FFFFFF"/>
                </a:highlight>
                <a:latin typeface="Söhne"/>
              </a:rPr>
              <a:t>Backpropagation for Hidden Layer Weights (</a:t>
            </a:r>
            <a:r>
              <a:rPr lang="en-IN" sz="4000" b="1" i="1" dirty="0">
                <a:solidFill>
                  <a:srgbClr val="0D0D0D"/>
                </a:solidFill>
                <a:effectLst/>
                <a:highlight>
                  <a:srgbClr val="FFFFFF"/>
                </a:highlight>
                <a:latin typeface="KaTeX_Math"/>
              </a:rPr>
              <a:t>U</a:t>
            </a:r>
            <a:r>
              <a:rPr lang="en-IN" sz="4000" b="1" i="0" dirty="0">
                <a:solidFill>
                  <a:srgbClr val="0D0D0D"/>
                </a:solidFill>
                <a:effectLst/>
                <a:highlight>
                  <a:srgbClr val="FFFFFF"/>
                </a:highlight>
                <a:latin typeface="Söhne"/>
              </a:rPr>
              <a:t> and </a:t>
            </a:r>
            <a:r>
              <a:rPr lang="en-IN" sz="4000" b="1" i="1" dirty="0">
                <a:solidFill>
                  <a:srgbClr val="0D0D0D"/>
                </a:solidFill>
                <a:effectLst/>
                <a:highlight>
                  <a:srgbClr val="FFFFFF"/>
                </a:highlight>
                <a:latin typeface="KaTeX_Math"/>
              </a:rPr>
              <a:t>W</a:t>
            </a:r>
            <a:r>
              <a:rPr lang="en-IN" sz="4000" b="1" i="0" dirty="0">
                <a:solidFill>
                  <a:srgbClr val="0D0D0D"/>
                </a:solidFill>
                <a:effectLst/>
                <a:highlight>
                  <a:srgbClr val="FFFFFF"/>
                </a:highlight>
                <a:latin typeface="Söhne"/>
              </a:rPr>
              <a:t>)</a:t>
            </a:r>
            <a:endParaRPr lang="en-US" sz="4000" dirty="0"/>
          </a:p>
        </p:txBody>
      </p:sp>
      <p:sp>
        <p:nvSpPr>
          <p:cNvPr id="3" name="Content Placeholder 2">
            <a:extLst>
              <a:ext uri="{FF2B5EF4-FFF2-40B4-BE49-F238E27FC236}">
                <a16:creationId xmlns:a16="http://schemas.microsoft.com/office/drawing/2014/main" id="{26CFEB51-DD3B-DDC8-F0AA-7C3F217AD8D4}"/>
              </a:ext>
            </a:extLst>
          </p:cNvPr>
          <p:cNvSpPr>
            <a:spLocks noGrp="1"/>
          </p:cNvSpPr>
          <p:nvPr>
            <p:ph idx="1"/>
          </p:nvPr>
        </p:nvSpPr>
        <p:spPr/>
        <p:txBody>
          <a:bodyPr/>
          <a:lstStyle/>
          <a:p>
            <a:pPr algn="l">
              <a:buFont typeface="Arial" panose="020B0604020202020204" pitchFamily="34" charset="0"/>
              <a:buChar char="•"/>
            </a:pPr>
            <a:r>
              <a:rPr lang="en-IN" b="0" i="0" dirty="0">
                <a:solidFill>
                  <a:srgbClr val="0D0D0D"/>
                </a:solidFill>
                <a:effectLst/>
                <a:highlight>
                  <a:srgbClr val="FFFFFF"/>
                </a:highlight>
                <a:latin typeface="Söhne"/>
              </a:rPr>
              <a:t>This step involves backpropagating the error from the output layer through the network to the hidden layers.</a:t>
            </a:r>
          </a:p>
          <a:p>
            <a:pPr algn="l">
              <a:buFont typeface="Arial" panose="020B0604020202020204" pitchFamily="34" charset="0"/>
              <a:buChar char="•"/>
            </a:pPr>
            <a:r>
              <a:rPr lang="en-IN" b="0" i="0" dirty="0">
                <a:solidFill>
                  <a:srgbClr val="0D0D0D"/>
                </a:solidFill>
                <a:effectLst/>
                <a:highlight>
                  <a:srgbClr val="FFFFFF"/>
                </a:highlight>
                <a:latin typeface="Söhne"/>
              </a:rPr>
              <a:t>The gradient of the loss with respect to the hidden state at the last time step (</a:t>
            </a:r>
            <a:r>
              <a:rPr lang="en-IN" b="0" i="1" dirty="0">
                <a:solidFill>
                  <a:srgbClr val="0D0D0D"/>
                </a:solidFill>
                <a:effectLst/>
                <a:highlight>
                  <a:srgbClr val="FFFFFF"/>
                </a:highlight>
                <a:latin typeface="KaTeX_Math"/>
              </a:rPr>
              <a:t>h</a:t>
            </a:r>
            <a:r>
              <a:rPr lang="en-IN" b="0" i="0" baseline="-25000" dirty="0">
                <a:solidFill>
                  <a:srgbClr val="0D0D0D"/>
                </a:solidFill>
                <a:effectLst/>
                <a:highlight>
                  <a:srgbClr val="FFFFFF"/>
                </a:highlight>
                <a:latin typeface="KaTeX_Main"/>
              </a:rPr>
              <a:t>3</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Söhne"/>
              </a:rPr>
              <a:t> in our case) is influenced directly by the gradient at the output layer (</a:t>
            </a:r>
            <a:r>
              <a:rPr lang="el-GR" b="0" i="1" dirty="0">
                <a:solidFill>
                  <a:srgbClr val="0D0D0D"/>
                </a:solidFill>
                <a:effectLst/>
                <a:highlight>
                  <a:srgbClr val="FFFFFF"/>
                </a:highlight>
                <a:latin typeface="KaTeX_Math"/>
              </a:rPr>
              <a:t>δ</a:t>
            </a:r>
            <a:r>
              <a:rPr lang="el-GR" b="0" i="0" baseline="-25000" dirty="0">
                <a:solidFill>
                  <a:srgbClr val="0D0D0D"/>
                </a:solidFill>
                <a:effectLst/>
                <a:highlight>
                  <a:srgbClr val="FFFFFF"/>
                </a:highlight>
                <a:latin typeface="KaTeX_Main"/>
              </a:rPr>
              <a:t>3</a:t>
            </a:r>
            <a:r>
              <a:rPr lang="el-GR" b="0" i="0" dirty="0">
                <a:solidFill>
                  <a:srgbClr val="0D0D0D"/>
                </a:solidFill>
                <a:effectLst/>
                <a:highlight>
                  <a:srgbClr val="FFFFFF"/>
                </a:highlight>
                <a:latin typeface="KaTeX_Main"/>
              </a:rPr>
              <a:t>​</a:t>
            </a:r>
            <a:r>
              <a:rPr lang="el-GR" b="0" i="0" dirty="0">
                <a:solidFill>
                  <a:srgbClr val="0D0D0D"/>
                </a:solidFill>
                <a:effectLst/>
                <a:highlight>
                  <a:srgbClr val="FFFFFF"/>
                </a:highlight>
                <a:latin typeface="Söhne"/>
              </a:rPr>
              <a:t>).</a:t>
            </a:r>
          </a:p>
          <a:p>
            <a:pPr algn="l">
              <a:buFont typeface="Arial" panose="020B0604020202020204" pitchFamily="34" charset="0"/>
              <a:buChar char="•"/>
            </a:pPr>
            <a:r>
              <a:rPr lang="en-IN" b="0" i="0" dirty="0">
                <a:solidFill>
                  <a:srgbClr val="0D0D0D"/>
                </a:solidFill>
                <a:effectLst/>
                <a:highlight>
                  <a:srgbClr val="FFFFFF"/>
                </a:highlight>
                <a:latin typeface="Söhne"/>
              </a:rPr>
              <a:t>For previous time steps (</a:t>
            </a:r>
            <a:r>
              <a:rPr lang="en-IN" b="0" i="1" dirty="0">
                <a:solidFill>
                  <a:srgbClr val="0D0D0D"/>
                </a:solidFill>
                <a:effectLst/>
                <a:highlight>
                  <a:srgbClr val="FFFFFF"/>
                </a:highlight>
                <a:latin typeface="KaTeX_Math"/>
              </a:rPr>
              <a:t>h</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Söhne"/>
              </a:rPr>
              <a:t>, </a:t>
            </a:r>
            <a:r>
              <a:rPr lang="en-IN" b="0" i="1" dirty="0">
                <a:solidFill>
                  <a:srgbClr val="0D0D0D"/>
                </a:solidFill>
                <a:effectLst/>
                <a:highlight>
                  <a:srgbClr val="FFFFFF"/>
                </a:highlight>
                <a:latin typeface="KaTeX_Math"/>
              </a:rPr>
              <a:t>h</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Söhne"/>
              </a:rPr>
              <a:t>), this gradient also includes contributions propagated back from future time steps. This is where the Backpropagation Through Time (BPTT) comes into play, as we need to consider the impact of each hidden state on all subsequent time steps.</a:t>
            </a:r>
          </a:p>
          <a:p>
            <a:endParaRPr lang="en-US" dirty="0"/>
          </a:p>
        </p:txBody>
      </p:sp>
    </p:spTree>
    <p:extLst>
      <p:ext uri="{BB962C8B-B14F-4D97-AF65-F5344CB8AC3E}">
        <p14:creationId xmlns:p14="http://schemas.microsoft.com/office/powerpoint/2010/main" val="4215317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AEA00-896B-8D28-798C-25BBECF4083F}"/>
              </a:ext>
            </a:extLst>
          </p:cNvPr>
          <p:cNvSpPr>
            <a:spLocks noGrp="1"/>
          </p:cNvSpPr>
          <p:nvPr>
            <p:ph type="title"/>
          </p:nvPr>
        </p:nvSpPr>
        <p:spPr/>
        <p:txBody>
          <a:bodyPr>
            <a:normAutofit/>
          </a:bodyPr>
          <a:lstStyle/>
          <a:p>
            <a:r>
              <a:rPr lang="en-IN" sz="4000" b="1" i="0" dirty="0">
                <a:solidFill>
                  <a:srgbClr val="0D0D0D"/>
                </a:solidFill>
                <a:effectLst/>
                <a:highlight>
                  <a:srgbClr val="FFFFFF"/>
                </a:highlight>
                <a:latin typeface="Söhne"/>
              </a:rPr>
              <a:t>Backpropagation for Hidden Layer Weights (</a:t>
            </a:r>
            <a:r>
              <a:rPr lang="en-IN" sz="4000" b="1" i="1" dirty="0">
                <a:solidFill>
                  <a:srgbClr val="0D0D0D"/>
                </a:solidFill>
                <a:effectLst/>
                <a:highlight>
                  <a:srgbClr val="FFFFFF"/>
                </a:highlight>
                <a:latin typeface="KaTeX_Math"/>
              </a:rPr>
              <a:t>U</a:t>
            </a:r>
            <a:r>
              <a:rPr lang="en-IN" sz="4000" b="1" i="0" dirty="0">
                <a:solidFill>
                  <a:srgbClr val="0D0D0D"/>
                </a:solidFill>
                <a:effectLst/>
                <a:highlight>
                  <a:srgbClr val="FFFFFF"/>
                </a:highlight>
                <a:latin typeface="Söhne"/>
              </a:rPr>
              <a:t> and </a:t>
            </a:r>
            <a:r>
              <a:rPr lang="en-IN" sz="4000" b="1" i="1" dirty="0">
                <a:solidFill>
                  <a:srgbClr val="0D0D0D"/>
                </a:solidFill>
                <a:effectLst/>
                <a:highlight>
                  <a:srgbClr val="FFFFFF"/>
                </a:highlight>
                <a:latin typeface="KaTeX_Math"/>
              </a:rPr>
              <a:t>W</a:t>
            </a:r>
            <a:r>
              <a:rPr lang="en-IN" sz="4000" b="1" i="0" dirty="0">
                <a:solidFill>
                  <a:srgbClr val="0D0D0D"/>
                </a:solidFill>
                <a:effectLst/>
                <a:highlight>
                  <a:srgbClr val="FFFFFF"/>
                </a:highlight>
                <a:latin typeface="Söhne"/>
              </a:rPr>
              <a:t>)</a:t>
            </a:r>
            <a:endParaRPr lang="en-US" sz="4000" dirty="0"/>
          </a:p>
        </p:txBody>
      </p:sp>
      <p:sp>
        <p:nvSpPr>
          <p:cNvPr id="3" name="Content Placeholder 2">
            <a:extLst>
              <a:ext uri="{FF2B5EF4-FFF2-40B4-BE49-F238E27FC236}">
                <a16:creationId xmlns:a16="http://schemas.microsoft.com/office/drawing/2014/main" id="{26CFEB51-DD3B-DDC8-F0AA-7C3F217AD8D4}"/>
              </a:ext>
            </a:extLst>
          </p:cNvPr>
          <p:cNvSpPr>
            <a:spLocks noGrp="1"/>
          </p:cNvSpPr>
          <p:nvPr>
            <p:ph idx="1"/>
          </p:nvPr>
        </p:nvSpPr>
        <p:spPr/>
        <p:txBody>
          <a:bodyPr/>
          <a:lstStyle/>
          <a:p>
            <a:r>
              <a:rPr lang="en-IN" b="1" i="0" dirty="0">
                <a:solidFill>
                  <a:srgbClr val="0D0D0D"/>
                </a:solidFill>
                <a:effectLst/>
                <a:highlight>
                  <a:srgbClr val="FFFFFF"/>
                </a:highlight>
                <a:latin typeface="Söhne"/>
              </a:rPr>
              <a:t>Calculate the gradients for </a:t>
            </a:r>
            <a:r>
              <a:rPr lang="en-IN" b="1" i="1" dirty="0">
                <a:solidFill>
                  <a:srgbClr val="0D0D0D"/>
                </a:solidFill>
                <a:effectLst/>
                <a:highlight>
                  <a:srgbClr val="FFFFFF"/>
                </a:highlight>
                <a:latin typeface="KaTeX_Math"/>
              </a:rPr>
              <a:t>W</a:t>
            </a:r>
            <a:r>
              <a:rPr lang="en-IN" b="1" i="0" dirty="0">
                <a:solidFill>
                  <a:srgbClr val="0D0D0D"/>
                </a:solidFill>
                <a:effectLst/>
                <a:highlight>
                  <a:srgbClr val="FFFFFF"/>
                </a:highlight>
                <a:latin typeface="Söhne"/>
              </a:rPr>
              <a:t> and </a:t>
            </a:r>
            <a:r>
              <a:rPr lang="en-IN" b="1" i="1" dirty="0">
                <a:solidFill>
                  <a:srgbClr val="0D0D0D"/>
                </a:solidFill>
                <a:effectLst/>
                <a:highlight>
                  <a:srgbClr val="FFFFFF"/>
                </a:highlight>
                <a:latin typeface="KaTeX_Math"/>
              </a:rPr>
              <a:t>U</a:t>
            </a:r>
            <a:r>
              <a:rPr lang="en-IN" b="1" i="0" dirty="0">
                <a:solidFill>
                  <a:srgbClr val="0D0D0D"/>
                </a:solidFill>
                <a:effectLst/>
                <a:highlight>
                  <a:srgbClr val="FFFFFF"/>
                </a:highlight>
                <a:latin typeface="Söhne"/>
              </a:rPr>
              <a:t> using the gradients with respect to the hidden states.</a:t>
            </a:r>
          </a:p>
          <a:p>
            <a:pPr lvl="1"/>
            <a:r>
              <a:rPr lang="en-IN" b="0" i="0" dirty="0">
                <a:solidFill>
                  <a:srgbClr val="0D0D0D"/>
                </a:solidFill>
                <a:effectLst/>
                <a:highlight>
                  <a:srgbClr val="FFFFFF"/>
                </a:highlight>
                <a:latin typeface="Söhne"/>
              </a:rPr>
              <a:t>The gradient of the loss with respect to </a:t>
            </a:r>
            <a:r>
              <a:rPr lang="en-IN" b="0" i="1" dirty="0">
                <a:solidFill>
                  <a:srgbClr val="0D0D0D"/>
                </a:solidFill>
                <a:effectLst/>
                <a:highlight>
                  <a:srgbClr val="FFFFFF"/>
                </a:highlight>
                <a:latin typeface="KaTeX_Math"/>
              </a:rPr>
              <a:t>W</a:t>
            </a:r>
            <a:r>
              <a:rPr lang="en-IN" b="0" i="0" dirty="0">
                <a:solidFill>
                  <a:srgbClr val="0D0D0D"/>
                </a:solidFill>
                <a:effectLst/>
                <a:highlight>
                  <a:srgbClr val="FFFFFF"/>
                </a:highlight>
                <a:latin typeface="Söhne"/>
              </a:rPr>
              <a:t> at each time step involves the gradient with respect to the current hidden state and the previous hidden state. </a:t>
            </a:r>
          </a:p>
          <a:p>
            <a:pPr lvl="2"/>
            <a:r>
              <a:rPr lang="en-IN" b="0" i="0" dirty="0">
                <a:solidFill>
                  <a:srgbClr val="0D0D0D"/>
                </a:solidFill>
                <a:effectLst/>
                <a:highlight>
                  <a:srgbClr val="FFFFFF"/>
                </a:highlight>
                <a:latin typeface="Söhne"/>
              </a:rPr>
              <a:t>For example, for time step 2, it would involve </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L/</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h</a:t>
            </a:r>
            <a:r>
              <a:rPr lang="en-IN" b="0" i="1" baseline="-25000" dirty="0">
                <a:solidFill>
                  <a:srgbClr val="0D0D0D"/>
                </a:solidFill>
                <a:effectLst/>
                <a:highlight>
                  <a:srgbClr val="FFFFFF"/>
                </a:highlight>
                <a:latin typeface="KaTeX_Math"/>
              </a:rPr>
              <a:t>2</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Söhne"/>
              </a:rPr>
              <a:t> and </a:t>
            </a:r>
            <a:r>
              <a:rPr lang="en-IN" b="0" i="1" dirty="0">
                <a:solidFill>
                  <a:srgbClr val="0D0D0D"/>
                </a:solidFill>
                <a:effectLst/>
                <a:highlight>
                  <a:srgbClr val="FFFFFF"/>
                </a:highlight>
                <a:latin typeface="KaTeX_Math"/>
              </a:rPr>
              <a:t>h</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Söhne"/>
              </a:rPr>
              <a:t>.</a:t>
            </a:r>
          </a:p>
          <a:p>
            <a:pPr lvl="1"/>
            <a:r>
              <a:rPr lang="en-IN" b="0" i="0" dirty="0">
                <a:solidFill>
                  <a:srgbClr val="0D0D0D"/>
                </a:solidFill>
                <a:effectLst/>
                <a:highlight>
                  <a:srgbClr val="FFFFFF"/>
                </a:highlight>
                <a:latin typeface="Söhne"/>
              </a:rPr>
              <a:t>The gradient of the loss with respect to </a:t>
            </a:r>
            <a:r>
              <a:rPr lang="en-IN" b="0" i="1" dirty="0">
                <a:solidFill>
                  <a:srgbClr val="0D0D0D"/>
                </a:solidFill>
                <a:effectLst/>
                <a:highlight>
                  <a:srgbClr val="FFFFFF"/>
                </a:highlight>
                <a:latin typeface="KaTeX_Math"/>
              </a:rPr>
              <a:t>U</a:t>
            </a:r>
            <a:r>
              <a:rPr lang="en-IN" b="0" i="0" dirty="0">
                <a:solidFill>
                  <a:srgbClr val="0D0D0D"/>
                </a:solidFill>
                <a:effectLst/>
                <a:highlight>
                  <a:srgbClr val="FFFFFF"/>
                </a:highlight>
                <a:latin typeface="Söhne"/>
              </a:rPr>
              <a:t> at each time step involves the gradient with respect to the current hidden state and the input at that time step. </a:t>
            </a:r>
          </a:p>
          <a:p>
            <a:pPr lvl="2"/>
            <a:r>
              <a:rPr lang="en-IN" b="0" i="0" dirty="0">
                <a:solidFill>
                  <a:srgbClr val="0D0D0D"/>
                </a:solidFill>
                <a:effectLst/>
                <a:highlight>
                  <a:srgbClr val="FFFFFF"/>
                </a:highlight>
                <a:latin typeface="Söhne"/>
              </a:rPr>
              <a:t>For example, for time step 2, it would involve </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L/</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h</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Söhne"/>
              </a:rPr>
              <a:t> and </a:t>
            </a:r>
            <a:r>
              <a:rPr lang="en-IN" b="0" i="1" dirty="0">
                <a:solidFill>
                  <a:srgbClr val="0D0D0D"/>
                </a:solidFill>
                <a:effectLst/>
                <a:highlight>
                  <a:srgbClr val="FFFFFF"/>
                </a:highlight>
                <a:latin typeface="KaTeX_Math"/>
              </a:rPr>
              <a:t>x</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Söhne"/>
              </a:rPr>
              <a:t>.</a:t>
            </a:r>
          </a:p>
          <a:p>
            <a:pPr lvl="1"/>
            <a:endParaRPr lang="en-US" dirty="0"/>
          </a:p>
        </p:txBody>
      </p:sp>
    </p:spTree>
    <p:extLst>
      <p:ext uri="{BB962C8B-B14F-4D97-AF65-F5344CB8AC3E}">
        <p14:creationId xmlns:p14="http://schemas.microsoft.com/office/powerpoint/2010/main" val="57289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AEA00-896B-8D28-798C-25BBECF4083F}"/>
              </a:ext>
            </a:extLst>
          </p:cNvPr>
          <p:cNvSpPr>
            <a:spLocks noGrp="1"/>
          </p:cNvSpPr>
          <p:nvPr>
            <p:ph type="title"/>
          </p:nvPr>
        </p:nvSpPr>
        <p:spPr/>
        <p:txBody>
          <a:bodyPr>
            <a:normAutofit/>
          </a:bodyPr>
          <a:lstStyle/>
          <a:p>
            <a:r>
              <a:rPr lang="en-IN" sz="4000" b="1" i="0" dirty="0">
                <a:solidFill>
                  <a:srgbClr val="0D0D0D"/>
                </a:solidFill>
                <a:effectLst/>
                <a:highlight>
                  <a:srgbClr val="FFFFFF"/>
                </a:highlight>
                <a:latin typeface="Söhne"/>
              </a:rPr>
              <a:t>Backpropagation for Hidden Layer Weights (</a:t>
            </a:r>
            <a:r>
              <a:rPr lang="en-IN" sz="4000" b="1" i="1" dirty="0">
                <a:solidFill>
                  <a:srgbClr val="0D0D0D"/>
                </a:solidFill>
                <a:effectLst/>
                <a:highlight>
                  <a:srgbClr val="FFFFFF"/>
                </a:highlight>
                <a:latin typeface="KaTeX_Math"/>
              </a:rPr>
              <a:t>U</a:t>
            </a:r>
            <a:r>
              <a:rPr lang="en-IN" sz="4000" b="1" i="0" dirty="0">
                <a:solidFill>
                  <a:srgbClr val="0D0D0D"/>
                </a:solidFill>
                <a:effectLst/>
                <a:highlight>
                  <a:srgbClr val="FFFFFF"/>
                </a:highlight>
                <a:latin typeface="Söhne"/>
              </a:rPr>
              <a:t> and </a:t>
            </a:r>
            <a:r>
              <a:rPr lang="en-IN" sz="4000" b="1" i="1" dirty="0">
                <a:solidFill>
                  <a:srgbClr val="0D0D0D"/>
                </a:solidFill>
                <a:effectLst/>
                <a:highlight>
                  <a:srgbClr val="FFFFFF"/>
                </a:highlight>
                <a:latin typeface="KaTeX_Math"/>
              </a:rPr>
              <a:t>W</a:t>
            </a:r>
            <a:r>
              <a:rPr lang="en-IN" sz="4000" b="1" i="0" dirty="0">
                <a:solidFill>
                  <a:srgbClr val="0D0D0D"/>
                </a:solidFill>
                <a:effectLst/>
                <a:highlight>
                  <a:srgbClr val="FFFFFF"/>
                </a:highlight>
                <a:latin typeface="Söhne"/>
              </a:rPr>
              <a:t>)</a:t>
            </a:r>
            <a:endParaRPr lang="en-US" sz="4000" dirty="0"/>
          </a:p>
        </p:txBody>
      </p:sp>
      <p:sp>
        <p:nvSpPr>
          <p:cNvPr id="3" name="Content Placeholder 2">
            <a:extLst>
              <a:ext uri="{FF2B5EF4-FFF2-40B4-BE49-F238E27FC236}">
                <a16:creationId xmlns:a16="http://schemas.microsoft.com/office/drawing/2014/main" id="{26CFEB51-DD3B-DDC8-F0AA-7C3F217AD8D4}"/>
              </a:ext>
            </a:extLst>
          </p:cNvPr>
          <p:cNvSpPr>
            <a:spLocks noGrp="1"/>
          </p:cNvSpPr>
          <p:nvPr>
            <p:ph idx="1"/>
          </p:nvPr>
        </p:nvSpPr>
        <p:spPr/>
        <p:txBody>
          <a:bodyPr/>
          <a:lstStyle/>
          <a:p>
            <a:pPr algn="l"/>
            <a:r>
              <a:rPr lang="en-IN" b="1" i="0" dirty="0">
                <a:solidFill>
                  <a:srgbClr val="0D0D0D"/>
                </a:solidFill>
                <a:effectLst/>
                <a:highlight>
                  <a:srgbClr val="FFFFFF"/>
                </a:highlight>
                <a:latin typeface="Söhne"/>
              </a:rPr>
              <a:t>Sum the gradients across all time steps for </a:t>
            </a:r>
            <a:r>
              <a:rPr lang="en-IN" b="1" i="1" dirty="0">
                <a:solidFill>
                  <a:srgbClr val="0D0D0D"/>
                </a:solidFill>
                <a:effectLst/>
                <a:highlight>
                  <a:srgbClr val="FFFFFF"/>
                </a:highlight>
                <a:latin typeface="KaTeX_Math"/>
              </a:rPr>
              <a:t>W</a:t>
            </a:r>
            <a:r>
              <a:rPr lang="en-IN" b="1" i="0" dirty="0">
                <a:solidFill>
                  <a:srgbClr val="0D0D0D"/>
                </a:solidFill>
                <a:effectLst/>
                <a:highlight>
                  <a:srgbClr val="FFFFFF"/>
                </a:highlight>
                <a:latin typeface="Söhne"/>
              </a:rPr>
              <a:t> and </a:t>
            </a:r>
            <a:r>
              <a:rPr lang="en-IN" b="1" i="1" dirty="0">
                <a:solidFill>
                  <a:srgbClr val="0D0D0D"/>
                </a:solidFill>
                <a:effectLst/>
                <a:highlight>
                  <a:srgbClr val="FFFFFF"/>
                </a:highlight>
                <a:latin typeface="KaTeX_Math"/>
              </a:rPr>
              <a:t>U</a:t>
            </a:r>
            <a:r>
              <a:rPr lang="en-IN" b="1" i="0" dirty="0">
                <a:solidFill>
                  <a:srgbClr val="0D0D0D"/>
                </a:solidFill>
                <a:effectLst/>
                <a:highlight>
                  <a:srgbClr val="FFFFFF"/>
                </a:highlight>
                <a:latin typeface="Söhne"/>
              </a:rPr>
              <a:t>.</a:t>
            </a:r>
            <a:endParaRPr lang="en-IN" b="0" i="0" dirty="0">
              <a:solidFill>
                <a:srgbClr val="0D0D0D"/>
              </a:solidFill>
              <a:effectLst/>
              <a:highlight>
                <a:srgbClr val="FFFFFF"/>
              </a:highlight>
              <a:latin typeface="Söhne"/>
            </a:endParaRPr>
          </a:p>
          <a:p>
            <a:pPr lvl="1"/>
            <a:r>
              <a:rPr lang="en-IN" b="0" i="0" dirty="0">
                <a:solidFill>
                  <a:srgbClr val="0D0D0D"/>
                </a:solidFill>
                <a:effectLst/>
                <a:highlight>
                  <a:srgbClr val="FFFFFF"/>
                </a:highlight>
                <a:latin typeface="Söhne"/>
              </a:rPr>
              <a:t>Since </a:t>
            </a:r>
            <a:r>
              <a:rPr lang="en-IN" b="0" i="1" dirty="0">
                <a:solidFill>
                  <a:srgbClr val="0D0D0D"/>
                </a:solidFill>
                <a:effectLst/>
                <a:highlight>
                  <a:srgbClr val="FFFFFF"/>
                </a:highlight>
                <a:latin typeface="KaTeX_Math"/>
              </a:rPr>
              <a:t>W</a:t>
            </a:r>
            <a:r>
              <a:rPr lang="en-IN" b="0" i="0" dirty="0">
                <a:solidFill>
                  <a:srgbClr val="0D0D0D"/>
                </a:solidFill>
                <a:effectLst/>
                <a:highlight>
                  <a:srgbClr val="FFFFFF"/>
                </a:highlight>
                <a:latin typeface="Söhne"/>
              </a:rPr>
              <a:t> and </a:t>
            </a:r>
            <a:r>
              <a:rPr lang="en-IN" b="0" i="1" dirty="0">
                <a:solidFill>
                  <a:srgbClr val="0D0D0D"/>
                </a:solidFill>
                <a:effectLst/>
                <a:highlight>
                  <a:srgbClr val="FFFFFF"/>
                </a:highlight>
                <a:latin typeface="KaTeX_Math"/>
              </a:rPr>
              <a:t>U</a:t>
            </a:r>
            <a:r>
              <a:rPr lang="en-IN" b="0" i="0" dirty="0">
                <a:solidFill>
                  <a:srgbClr val="0D0D0D"/>
                </a:solidFill>
                <a:effectLst/>
                <a:highlight>
                  <a:srgbClr val="FFFFFF"/>
                </a:highlight>
                <a:latin typeface="Söhne"/>
              </a:rPr>
              <a:t> are used at each time step, their gradients from each time step are summed to get the total gradient for each weight matrix. This is the accumulated gradient that we use to update the weights.</a:t>
            </a:r>
          </a:p>
          <a:p>
            <a:endParaRPr lang="en-US" dirty="0"/>
          </a:p>
        </p:txBody>
      </p:sp>
    </p:spTree>
    <p:extLst>
      <p:ext uri="{BB962C8B-B14F-4D97-AF65-F5344CB8AC3E}">
        <p14:creationId xmlns:p14="http://schemas.microsoft.com/office/powerpoint/2010/main" val="169498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AEA00-896B-8D28-798C-25BBECF4083F}"/>
              </a:ext>
            </a:extLst>
          </p:cNvPr>
          <p:cNvSpPr>
            <a:spLocks noGrp="1"/>
          </p:cNvSpPr>
          <p:nvPr>
            <p:ph type="title"/>
          </p:nvPr>
        </p:nvSpPr>
        <p:spPr/>
        <p:txBody>
          <a:bodyPr>
            <a:normAutofit/>
          </a:bodyPr>
          <a:lstStyle/>
          <a:p>
            <a:r>
              <a:rPr lang="en-IN" sz="4000" b="1" i="0" dirty="0">
                <a:solidFill>
                  <a:srgbClr val="0D0D0D"/>
                </a:solidFill>
                <a:effectLst/>
                <a:highlight>
                  <a:srgbClr val="FFFFFF"/>
                </a:highlight>
                <a:latin typeface="Söhne"/>
              </a:rPr>
              <a:t>Backpropagation for Hidden Layer Weights (</a:t>
            </a:r>
            <a:r>
              <a:rPr lang="en-IN" sz="4000" b="1" i="1" dirty="0">
                <a:solidFill>
                  <a:srgbClr val="0D0D0D"/>
                </a:solidFill>
                <a:effectLst/>
                <a:highlight>
                  <a:srgbClr val="FFFFFF"/>
                </a:highlight>
                <a:latin typeface="KaTeX_Math"/>
              </a:rPr>
              <a:t>U</a:t>
            </a:r>
            <a:r>
              <a:rPr lang="en-IN" sz="4000" b="1" i="0" dirty="0">
                <a:solidFill>
                  <a:srgbClr val="0D0D0D"/>
                </a:solidFill>
                <a:effectLst/>
                <a:highlight>
                  <a:srgbClr val="FFFFFF"/>
                </a:highlight>
                <a:latin typeface="Söhne"/>
              </a:rPr>
              <a:t> and </a:t>
            </a:r>
            <a:r>
              <a:rPr lang="en-IN" sz="4000" b="1" i="1" dirty="0">
                <a:solidFill>
                  <a:srgbClr val="0D0D0D"/>
                </a:solidFill>
                <a:effectLst/>
                <a:highlight>
                  <a:srgbClr val="FFFFFF"/>
                </a:highlight>
                <a:latin typeface="KaTeX_Math"/>
              </a:rPr>
              <a:t>W</a:t>
            </a:r>
            <a:r>
              <a:rPr lang="en-IN" sz="4000" b="1" i="0" dirty="0">
                <a:solidFill>
                  <a:srgbClr val="0D0D0D"/>
                </a:solidFill>
                <a:effectLst/>
                <a:highlight>
                  <a:srgbClr val="FFFFFF"/>
                </a:highlight>
                <a:latin typeface="Söhne"/>
              </a:rPr>
              <a:t>)</a:t>
            </a:r>
            <a:endParaRPr lang="en-US" sz="4000" dirty="0"/>
          </a:p>
        </p:txBody>
      </p:sp>
      <p:sp>
        <p:nvSpPr>
          <p:cNvPr id="3" name="Content Placeholder 2">
            <a:extLst>
              <a:ext uri="{FF2B5EF4-FFF2-40B4-BE49-F238E27FC236}">
                <a16:creationId xmlns:a16="http://schemas.microsoft.com/office/drawing/2014/main" id="{26CFEB51-DD3B-DDC8-F0AA-7C3F217AD8D4}"/>
              </a:ext>
            </a:extLst>
          </p:cNvPr>
          <p:cNvSpPr>
            <a:spLocks noGrp="1"/>
          </p:cNvSpPr>
          <p:nvPr>
            <p:ph idx="1"/>
          </p:nvPr>
        </p:nvSpPr>
        <p:spPr/>
        <p:txBody>
          <a:bodyPr/>
          <a:lstStyle/>
          <a:p>
            <a:r>
              <a:rPr lang="en-IN" b="0" i="0" dirty="0">
                <a:solidFill>
                  <a:srgbClr val="0D0D0D"/>
                </a:solidFill>
                <a:effectLst/>
                <a:highlight>
                  <a:srgbClr val="FFFFFF"/>
                </a:highlight>
                <a:latin typeface="Söhne"/>
              </a:rPr>
              <a:t>Let's assume we have calculated </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L/</a:t>
            </a:r>
            <a:r>
              <a:rPr lang="en-IN" b="0" i="0" dirty="0">
                <a:solidFill>
                  <a:srgbClr val="0D0D0D"/>
                </a:solidFill>
                <a:effectLst/>
                <a:highlight>
                  <a:srgbClr val="FFFFFF"/>
                </a:highlight>
                <a:latin typeface="KaTeX_Main"/>
              </a:rPr>
              <a:t> ∂</a:t>
            </a:r>
            <a:r>
              <a:rPr lang="en-IN" b="0" i="1" dirty="0">
                <a:solidFill>
                  <a:srgbClr val="0D0D0D"/>
                </a:solidFill>
                <a:effectLst/>
                <a:highlight>
                  <a:srgbClr val="FFFFFF"/>
                </a:highlight>
                <a:latin typeface="KaTeX_Math"/>
              </a:rPr>
              <a:t>h</a:t>
            </a:r>
            <a:r>
              <a:rPr lang="en-IN" b="0" i="0" baseline="-25000" dirty="0">
                <a:solidFill>
                  <a:srgbClr val="0D0D0D"/>
                </a:solidFill>
                <a:effectLst/>
                <a:highlight>
                  <a:srgbClr val="FFFFFF"/>
                </a:highlight>
                <a:latin typeface="KaTeX_Main"/>
              </a:rPr>
              <a:t>2 </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Söhne"/>
              </a:rPr>
              <a:t> and </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L/</a:t>
            </a:r>
            <a:r>
              <a:rPr lang="en-IN" b="0" i="0" dirty="0">
                <a:solidFill>
                  <a:srgbClr val="0D0D0D"/>
                </a:solidFill>
                <a:effectLst/>
                <a:highlight>
                  <a:srgbClr val="FFFFFF"/>
                </a:highlight>
                <a:latin typeface="KaTeX_Main"/>
              </a:rPr>
              <a:t> ∂</a:t>
            </a:r>
            <a:r>
              <a:rPr lang="en-IN" b="0" i="1" dirty="0">
                <a:solidFill>
                  <a:srgbClr val="0D0D0D"/>
                </a:solidFill>
                <a:effectLst/>
                <a:highlight>
                  <a:srgbClr val="FFFFFF"/>
                </a:highlight>
                <a:latin typeface="KaTeX_Math"/>
              </a:rPr>
              <a:t>h</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 ​</a:t>
            </a:r>
            <a:r>
              <a:rPr lang="en-IN" b="0" i="0" dirty="0">
                <a:solidFill>
                  <a:srgbClr val="0D0D0D"/>
                </a:solidFill>
                <a:effectLst/>
                <a:highlight>
                  <a:srgbClr val="FFFFFF"/>
                </a:highlight>
                <a:latin typeface="Söhne"/>
              </a:rPr>
              <a:t> (the gradients of the loss with respect to the hidden states at time steps 2 and 1, respectively) through BPTT. Then:</a:t>
            </a:r>
          </a:p>
          <a:p>
            <a:pPr lvl="1"/>
            <a:r>
              <a:rPr lang="en-IN" b="0" i="0" dirty="0">
                <a:solidFill>
                  <a:srgbClr val="0D0D0D"/>
                </a:solidFill>
                <a:effectLst/>
                <a:highlight>
                  <a:srgbClr val="FFFFFF"/>
                </a:highlight>
                <a:latin typeface="Söhne"/>
              </a:rPr>
              <a:t>The gradient for </a:t>
            </a:r>
            <a:r>
              <a:rPr lang="en-IN" b="0" i="1" dirty="0">
                <a:solidFill>
                  <a:srgbClr val="0D0D0D"/>
                </a:solidFill>
                <a:effectLst/>
                <a:highlight>
                  <a:srgbClr val="FFFFFF"/>
                </a:highlight>
                <a:latin typeface="KaTeX_Math"/>
              </a:rPr>
              <a:t>W</a:t>
            </a:r>
            <a:r>
              <a:rPr lang="en-IN" b="0" i="0" dirty="0">
                <a:solidFill>
                  <a:srgbClr val="0D0D0D"/>
                </a:solidFill>
                <a:effectLst/>
                <a:highlight>
                  <a:srgbClr val="FFFFFF"/>
                </a:highlight>
                <a:latin typeface="Söhne"/>
              </a:rPr>
              <a:t> at time step 2 is calculated as:</a:t>
            </a:r>
          </a:p>
          <a:p>
            <a:pPr marL="457200" lvl="1" indent="0">
              <a:buNone/>
            </a:pPr>
            <a:endParaRPr lang="en-IN" dirty="0">
              <a:solidFill>
                <a:srgbClr val="0D0D0D"/>
              </a:solidFill>
              <a:highlight>
                <a:srgbClr val="FFFFFF"/>
              </a:highlight>
              <a:latin typeface="Söhne"/>
            </a:endParaRPr>
          </a:p>
          <a:p>
            <a:pPr marL="457200" lvl="1" indent="0">
              <a:buNone/>
            </a:pPr>
            <a:endParaRPr lang="en-IN" b="0" i="0" dirty="0">
              <a:solidFill>
                <a:srgbClr val="0D0D0D"/>
              </a:solidFill>
              <a:effectLst/>
              <a:highlight>
                <a:srgbClr val="FFFFFF"/>
              </a:highlight>
              <a:latin typeface="Söhne"/>
            </a:endParaRPr>
          </a:p>
          <a:p>
            <a:pPr lvl="1"/>
            <a:r>
              <a:rPr lang="en-IN" b="0" i="0" dirty="0">
                <a:solidFill>
                  <a:srgbClr val="0D0D0D"/>
                </a:solidFill>
                <a:effectLst/>
                <a:highlight>
                  <a:srgbClr val="FFFFFF"/>
                </a:highlight>
                <a:latin typeface="Söhne"/>
              </a:rPr>
              <a:t>The gradient for </a:t>
            </a:r>
            <a:r>
              <a:rPr lang="en-IN" b="0" i="1" dirty="0">
                <a:solidFill>
                  <a:srgbClr val="0D0D0D"/>
                </a:solidFill>
                <a:effectLst/>
                <a:highlight>
                  <a:srgbClr val="FFFFFF"/>
                </a:highlight>
                <a:latin typeface="KaTeX_Math"/>
              </a:rPr>
              <a:t>U</a:t>
            </a:r>
            <a:r>
              <a:rPr lang="en-IN" b="0" i="0" dirty="0">
                <a:solidFill>
                  <a:srgbClr val="0D0D0D"/>
                </a:solidFill>
                <a:effectLst/>
                <a:highlight>
                  <a:srgbClr val="FFFFFF"/>
                </a:highlight>
                <a:latin typeface="Söhne"/>
              </a:rPr>
              <a:t> at time step 2 is calculated as</a:t>
            </a:r>
          </a:p>
          <a:p>
            <a:pPr marL="457200" lvl="1" indent="0">
              <a:buNone/>
            </a:pPr>
            <a:endParaRPr lang="en-IN" dirty="0">
              <a:solidFill>
                <a:srgbClr val="0D0D0D"/>
              </a:solidFill>
              <a:highlight>
                <a:srgbClr val="FFFFFF"/>
              </a:highlight>
              <a:latin typeface="Söhne"/>
            </a:endParaRPr>
          </a:p>
          <a:p>
            <a:pPr marL="457200" lvl="1" indent="0">
              <a:buNone/>
            </a:pPr>
            <a:endParaRPr lang="en-IN" dirty="0">
              <a:solidFill>
                <a:srgbClr val="0D0D0D"/>
              </a:solidFill>
              <a:highlight>
                <a:srgbClr val="FFFFFF"/>
              </a:highlight>
              <a:latin typeface="Söhne"/>
            </a:endParaRPr>
          </a:p>
          <a:p>
            <a:pPr lvl="1"/>
            <a:r>
              <a:rPr lang="en-IN" b="0" i="0" dirty="0">
                <a:solidFill>
                  <a:srgbClr val="0D0D0D"/>
                </a:solidFill>
                <a:effectLst/>
                <a:highlight>
                  <a:srgbClr val="FFFFFF"/>
                </a:highlight>
                <a:latin typeface="Söhne"/>
              </a:rPr>
              <a:t>The total gradients for </a:t>
            </a:r>
            <a:r>
              <a:rPr lang="en-IN" b="0" i="1" dirty="0">
                <a:solidFill>
                  <a:srgbClr val="0D0D0D"/>
                </a:solidFill>
                <a:effectLst/>
                <a:highlight>
                  <a:srgbClr val="FFFFFF"/>
                </a:highlight>
                <a:latin typeface="KaTeX_Math"/>
              </a:rPr>
              <a:t>W</a:t>
            </a:r>
            <a:r>
              <a:rPr lang="en-IN" b="0" i="0" dirty="0">
                <a:solidFill>
                  <a:srgbClr val="0D0D0D"/>
                </a:solidFill>
                <a:effectLst/>
                <a:highlight>
                  <a:srgbClr val="FFFFFF"/>
                </a:highlight>
                <a:latin typeface="Söhne"/>
              </a:rPr>
              <a:t> and </a:t>
            </a:r>
            <a:r>
              <a:rPr lang="en-IN" b="0" i="1" dirty="0">
                <a:solidFill>
                  <a:srgbClr val="0D0D0D"/>
                </a:solidFill>
                <a:effectLst/>
                <a:highlight>
                  <a:srgbClr val="FFFFFF"/>
                </a:highlight>
                <a:latin typeface="KaTeX_Math"/>
              </a:rPr>
              <a:t>U</a:t>
            </a:r>
            <a:r>
              <a:rPr lang="en-IN" b="0" i="0" dirty="0">
                <a:solidFill>
                  <a:srgbClr val="0D0D0D"/>
                </a:solidFill>
                <a:effectLst/>
                <a:highlight>
                  <a:srgbClr val="FFFFFF"/>
                </a:highlight>
                <a:latin typeface="Söhne"/>
              </a:rPr>
              <a:t> would then be the sum of their respective gradients across all time steps.</a:t>
            </a:r>
            <a:endParaRPr lang="en-US" dirty="0"/>
          </a:p>
        </p:txBody>
      </p:sp>
      <p:pic>
        <p:nvPicPr>
          <p:cNvPr id="5" name="Picture 4" descr="A black math equation with a white background&#10;&#10;Description automatically generated with medium confidence">
            <a:extLst>
              <a:ext uri="{FF2B5EF4-FFF2-40B4-BE49-F238E27FC236}">
                <a16:creationId xmlns:a16="http://schemas.microsoft.com/office/drawing/2014/main" id="{CD81881A-7DB0-9E58-7279-9165AE5E35A3}"/>
              </a:ext>
            </a:extLst>
          </p:cNvPr>
          <p:cNvPicPr>
            <a:picLocks noChangeAspect="1"/>
          </p:cNvPicPr>
          <p:nvPr/>
        </p:nvPicPr>
        <p:blipFill>
          <a:blip r:embed="rId2"/>
          <a:stretch>
            <a:fillRect/>
          </a:stretch>
        </p:blipFill>
        <p:spPr>
          <a:xfrm>
            <a:off x="1653228" y="3630159"/>
            <a:ext cx="1981200" cy="431800"/>
          </a:xfrm>
          <a:prstGeom prst="rect">
            <a:avLst/>
          </a:prstGeom>
        </p:spPr>
      </p:pic>
      <p:pic>
        <p:nvPicPr>
          <p:cNvPr id="7" name="Picture 6" descr="A black math symbols&#10;&#10;Description automatically generated with medium confidence">
            <a:extLst>
              <a:ext uri="{FF2B5EF4-FFF2-40B4-BE49-F238E27FC236}">
                <a16:creationId xmlns:a16="http://schemas.microsoft.com/office/drawing/2014/main" id="{A2155440-9129-0C3C-61B0-1C05DE0449C3}"/>
              </a:ext>
            </a:extLst>
          </p:cNvPr>
          <p:cNvPicPr>
            <a:picLocks noChangeAspect="1"/>
          </p:cNvPicPr>
          <p:nvPr/>
        </p:nvPicPr>
        <p:blipFill>
          <a:blip r:embed="rId3"/>
          <a:stretch>
            <a:fillRect/>
          </a:stretch>
        </p:blipFill>
        <p:spPr>
          <a:xfrm>
            <a:off x="1653228" y="4725761"/>
            <a:ext cx="1841500" cy="393700"/>
          </a:xfrm>
          <a:prstGeom prst="rect">
            <a:avLst/>
          </a:prstGeom>
        </p:spPr>
      </p:pic>
    </p:spTree>
    <p:extLst>
      <p:ext uri="{BB962C8B-B14F-4D97-AF65-F5344CB8AC3E}">
        <p14:creationId xmlns:p14="http://schemas.microsoft.com/office/powerpoint/2010/main" val="3465603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AEA00-896B-8D28-798C-25BBECF4083F}"/>
              </a:ext>
            </a:extLst>
          </p:cNvPr>
          <p:cNvSpPr>
            <a:spLocks noGrp="1"/>
          </p:cNvSpPr>
          <p:nvPr>
            <p:ph type="title"/>
          </p:nvPr>
        </p:nvSpPr>
        <p:spPr/>
        <p:txBody>
          <a:bodyPr>
            <a:normAutofit/>
          </a:bodyPr>
          <a:lstStyle/>
          <a:p>
            <a:r>
              <a:rPr lang="en-IN" sz="4000" b="1" i="0" dirty="0">
                <a:solidFill>
                  <a:srgbClr val="0D0D0D"/>
                </a:solidFill>
                <a:effectLst/>
                <a:highlight>
                  <a:srgbClr val="FFFFFF"/>
                </a:highlight>
                <a:latin typeface="Söhne"/>
              </a:rPr>
              <a:t>Backpropagation for Hidden Layer Weights (</a:t>
            </a:r>
            <a:r>
              <a:rPr lang="en-IN" sz="4000" b="1" i="1" dirty="0">
                <a:solidFill>
                  <a:srgbClr val="0D0D0D"/>
                </a:solidFill>
                <a:effectLst/>
                <a:highlight>
                  <a:srgbClr val="FFFFFF"/>
                </a:highlight>
                <a:latin typeface="KaTeX_Math"/>
              </a:rPr>
              <a:t>U</a:t>
            </a:r>
            <a:r>
              <a:rPr lang="en-IN" sz="4000" b="1" i="0" dirty="0">
                <a:solidFill>
                  <a:srgbClr val="0D0D0D"/>
                </a:solidFill>
                <a:effectLst/>
                <a:highlight>
                  <a:srgbClr val="FFFFFF"/>
                </a:highlight>
                <a:latin typeface="Söhne"/>
              </a:rPr>
              <a:t> and </a:t>
            </a:r>
            <a:r>
              <a:rPr lang="en-IN" sz="4000" b="1" i="1" dirty="0">
                <a:solidFill>
                  <a:srgbClr val="0D0D0D"/>
                </a:solidFill>
                <a:effectLst/>
                <a:highlight>
                  <a:srgbClr val="FFFFFF"/>
                </a:highlight>
                <a:latin typeface="KaTeX_Math"/>
              </a:rPr>
              <a:t>W</a:t>
            </a:r>
            <a:r>
              <a:rPr lang="en-IN" sz="4000" b="1" i="0" dirty="0">
                <a:solidFill>
                  <a:srgbClr val="0D0D0D"/>
                </a:solidFill>
                <a:effectLst/>
                <a:highlight>
                  <a:srgbClr val="FFFFFF"/>
                </a:highlight>
                <a:latin typeface="Söhne"/>
              </a:rPr>
              <a:t>)</a:t>
            </a:r>
            <a:endParaRPr lang="en-US" sz="4000" dirty="0"/>
          </a:p>
        </p:txBody>
      </p:sp>
      <p:sp>
        <p:nvSpPr>
          <p:cNvPr id="3" name="Content Placeholder 2">
            <a:extLst>
              <a:ext uri="{FF2B5EF4-FFF2-40B4-BE49-F238E27FC236}">
                <a16:creationId xmlns:a16="http://schemas.microsoft.com/office/drawing/2014/main" id="{26CFEB51-DD3B-DDC8-F0AA-7C3F217AD8D4}"/>
              </a:ext>
            </a:extLst>
          </p:cNvPr>
          <p:cNvSpPr>
            <a:spLocks noGrp="1"/>
          </p:cNvSpPr>
          <p:nvPr>
            <p:ph idx="1"/>
          </p:nvPr>
        </p:nvSpPr>
        <p:spPr/>
        <p:txBody>
          <a:bodyPr/>
          <a:lstStyle/>
          <a:p>
            <a:r>
              <a:rPr lang="en-IN" b="1" i="0" dirty="0">
                <a:solidFill>
                  <a:srgbClr val="0D0D0D"/>
                </a:solidFill>
                <a:effectLst/>
                <a:highlight>
                  <a:srgbClr val="FFFFFF"/>
                </a:highlight>
                <a:latin typeface="Söhne"/>
              </a:rPr>
              <a:t>Update Weights</a:t>
            </a:r>
          </a:p>
          <a:p>
            <a:pPr lvl="1"/>
            <a:r>
              <a:rPr lang="en-IN" b="0" i="0" dirty="0">
                <a:solidFill>
                  <a:srgbClr val="0D0D0D"/>
                </a:solidFill>
                <a:effectLst/>
                <a:highlight>
                  <a:srgbClr val="FFFFFF"/>
                </a:highlight>
                <a:latin typeface="Söhne"/>
              </a:rPr>
              <a:t>In this step, we use the gradients we calculated in previous step to update the weights of the network. This is done using the gradient descent algorithm, where we subtract a fraction of the gradient from the current weights. The size of this fraction is determined by the learning rate (</a:t>
            </a:r>
            <a:r>
              <a:rPr lang="el-GR" b="1" i="1" dirty="0">
                <a:solidFill>
                  <a:srgbClr val="0D0D0D"/>
                </a:solidFill>
                <a:effectLst/>
                <a:highlight>
                  <a:srgbClr val="FFFFFF"/>
                </a:highlight>
                <a:latin typeface="KaTeX_Math"/>
              </a:rPr>
              <a:t>η</a:t>
            </a:r>
            <a:r>
              <a:rPr lang="el-GR" b="0" i="0" dirty="0">
                <a:solidFill>
                  <a:srgbClr val="0D0D0D"/>
                </a:solidFill>
                <a:effectLst/>
                <a:highlight>
                  <a:srgbClr val="FFFFFF"/>
                </a:highlight>
                <a:latin typeface="Söhne"/>
              </a:rPr>
              <a:t>), </a:t>
            </a:r>
            <a:r>
              <a:rPr lang="en-IN" b="0" i="0" dirty="0">
                <a:solidFill>
                  <a:srgbClr val="0D0D0D"/>
                </a:solidFill>
                <a:effectLst/>
                <a:highlight>
                  <a:srgbClr val="FFFFFF"/>
                </a:highlight>
                <a:latin typeface="Söhne"/>
              </a:rPr>
              <a:t>which controls how big of a step we take in the direction opposite to the gradient.</a:t>
            </a:r>
          </a:p>
          <a:p>
            <a:pPr lvl="1"/>
            <a:r>
              <a:rPr lang="en-IN" b="0" i="0" dirty="0">
                <a:solidFill>
                  <a:srgbClr val="0D0D0D"/>
                </a:solidFill>
                <a:effectLst/>
                <a:highlight>
                  <a:srgbClr val="FFFFFF"/>
                </a:highlight>
                <a:latin typeface="Söhne"/>
              </a:rPr>
              <a:t>The weight update equations are as follows:</a:t>
            </a:r>
            <a:endParaRPr lang="en-IN" dirty="0">
              <a:solidFill>
                <a:srgbClr val="0D0D0D"/>
              </a:solidFill>
              <a:highlight>
                <a:srgbClr val="FFFFFF"/>
              </a:highlight>
              <a:latin typeface="Söhne"/>
            </a:endParaRPr>
          </a:p>
          <a:p>
            <a:pPr lvl="2"/>
            <a:r>
              <a:rPr lang="en-IN" b="0" i="0" dirty="0">
                <a:solidFill>
                  <a:srgbClr val="0D0D0D"/>
                </a:solidFill>
                <a:effectLst/>
                <a:highlight>
                  <a:srgbClr val="FFFFFF"/>
                </a:highlight>
                <a:latin typeface="Söhne"/>
              </a:rPr>
              <a:t>Update the output layer weights (</a:t>
            </a:r>
            <a:r>
              <a:rPr lang="en-IN" b="0" i="1" dirty="0">
                <a:solidFill>
                  <a:srgbClr val="0D0D0D"/>
                </a:solidFill>
                <a:effectLst/>
                <a:highlight>
                  <a:srgbClr val="FFFFFF"/>
                </a:highlight>
                <a:latin typeface="KaTeX_Math"/>
              </a:rPr>
              <a:t>V</a:t>
            </a:r>
            <a:r>
              <a:rPr lang="en-IN" b="0" i="0" dirty="0">
                <a:solidFill>
                  <a:srgbClr val="0D0D0D"/>
                </a:solidFill>
                <a:effectLst/>
                <a:highlight>
                  <a:srgbClr val="FFFFFF"/>
                </a:highlight>
                <a:latin typeface="Söhne"/>
              </a:rPr>
              <a:t>):</a:t>
            </a:r>
          </a:p>
          <a:p>
            <a:pPr lvl="2"/>
            <a:r>
              <a:rPr lang="en-IN" b="0" i="0" dirty="0">
                <a:solidFill>
                  <a:srgbClr val="0D0D0D"/>
                </a:solidFill>
                <a:effectLst/>
                <a:highlight>
                  <a:srgbClr val="FFFFFF"/>
                </a:highlight>
                <a:latin typeface="Söhne"/>
              </a:rPr>
              <a:t>Update the hidden-to-hidden weights (</a:t>
            </a:r>
            <a:r>
              <a:rPr lang="en-IN" b="0" i="1" dirty="0">
                <a:solidFill>
                  <a:srgbClr val="0D0D0D"/>
                </a:solidFill>
                <a:effectLst/>
                <a:highlight>
                  <a:srgbClr val="FFFFFF"/>
                </a:highlight>
                <a:latin typeface="KaTeX_Math"/>
              </a:rPr>
              <a:t>W</a:t>
            </a:r>
            <a:r>
              <a:rPr lang="en-IN" b="0" i="0" dirty="0">
                <a:solidFill>
                  <a:srgbClr val="0D0D0D"/>
                </a:solidFill>
                <a:effectLst/>
                <a:highlight>
                  <a:srgbClr val="FFFFFF"/>
                </a:highlight>
                <a:latin typeface="Söhne"/>
              </a:rPr>
              <a:t>):</a:t>
            </a:r>
          </a:p>
          <a:p>
            <a:pPr lvl="2"/>
            <a:r>
              <a:rPr lang="en-IN" b="0" i="0" dirty="0">
                <a:solidFill>
                  <a:srgbClr val="0D0D0D"/>
                </a:solidFill>
                <a:effectLst/>
                <a:highlight>
                  <a:srgbClr val="FFFFFF"/>
                </a:highlight>
                <a:latin typeface="Söhne"/>
              </a:rPr>
              <a:t>Update the input-to-hidden weights (</a:t>
            </a:r>
            <a:r>
              <a:rPr lang="en-IN" b="0" i="1" dirty="0">
                <a:solidFill>
                  <a:srgbClr val="0D0D0D"/>
                </a:solidFill>
                <a:effectLst/>
                <a:highlight>
                  <a:srgbClr val="FFFFFF"/>
                </a:highlight>
                <a:latin typeface="KaTeX_Math"/>
              </a:rPr>
              <a:t>U</a:t>
            </a:r>
            <a:r>
              <a:rPr lang="en-IN" b="0" i="0" dirty="0">
                <a:solidFill>
                  <a:srgbClr val="0D0D0D"/>
                </a:solidFill>
                <a:effectLst/>
                <a:highlight>
                  <a:srgbClr val="FFFFFF"/>
                </a:highlight>
                <a:latin typeface="Söhne"/>
              </a:rPr>
              <a:t>):</a:t>
            </a:r>
            <a:endParaRPr lang="en-IN" b="1" i="0" dirty="0">
              <a:solidFill>
                <a:srgbClr val="0D0D0D"/>
              </a:solidFill>
              <a:effectLst/>
              <a:highlight>
                <a:srgbClr val="FFFFFF"/>
              </a:highlight>
              <a:latin typeface="Söhne"/>
            </a:endParaRPr>
          </a:p>
          <a:p>
            <a:endParaRPr lang="en-US" dirty="0"/>
          </a:p>
        </p:txBody>
      </p:sp>
      <p:pic>
        <p:nvPicPr>
          <p:cNvPr id="6" name="Picture 5" descr="A black and white symbol&#10;&#10;Description automatically generated">
            <a:extLst>
              <a:ext uri="{FF2B5EF4-FFF2-40B4-BE49-F238E27FC236}">
                <a16:creationId xmlns:a16="http://schemas.microsoft.com/office/drawing/2014/main" id="{585DBBB5-FCD4-627A-3A72-42A7C2BCB11B}"/>
              </a:ext>
            </a:extLst>
          </p:cNvPr>
          <p:cNvPicPr>
            <a:picLocks noChangeAspect="1"/>
          </p:cNvPicPr>
          <p:nvPr/>
        </p:nvPicPr>
        <p:blipFill>
          <a:blip r:embed="rId3"/>
          <a:stretch>
            <a:fillRect/>
          </a:stretch>
        </p:blipFill>
        <p:spPr>
          <a:xfrm>
            <a:off x="5833763" y="4306972"/>
            <a:ext cx="2273300" cy="457200"/>
          </a:xfrm>
          <a:prstGeom prst="rect">
            <a:avLst/>
          </a:prstGeom>
        </p:spPr>
      </p:pic>
      <p:pic>
        <p:nvPicPr>
          <p:cNvPr id="9" name="Picture 8" descr="A black and white math symbol&#10;&#10;Description automatically generated">
            <a:extLst>
              <a:ext uri="{FF2B5EF4-FFF2-40B4-BE49-F238E27FC236}">
                <a16:creationId xmlns:a16="http://schemas.microsoft.com/office/drawing/2014/main" id="{D9BCA39B-2432-B2C9-7D8D-22F94F58E952}"/>
              </a:ext>
            </a:extLst>
          </p:cNvPr>
          <p:cNvPicPr>
            <a:picLocks noChangeAspect="1"/>
          </p:cNvPicPr>
          <p:nvPr/>
        </p:nvPicPr>
        <p:blipFill>
          <a:blip r:embed="rId4"/>
          <a:stretch>
            <a:fillRect/>
          </a:stretch>
        </p:blipFill>
        <p:spPr>
          <a:xfrm>
            <a:off x="6482092" y="4721309"/>
            <a:ext cx="2324100" cy="355600"/>
          </a:xfrm>
          <a:prstGeom prst="rect">
            <a:avLst/>
          </a:prstGeom>
        </p:spPr>
      </p:pic>
      <p:pic>
        <p:nvPicPr>
          <p:cNvPr id="11" name="Picture 10" descr="A black and white symbol&#10;&#10;Description automatically generated with medium confidence">
            <a:extLst>
              <a:ext uri="{FF2B5EF4-FFF2-40B4-BE49-F238E27FC236}">
                <a16:creationId xmlns:a16="http://schemas.microsoft.com/office/drawing/2014/main" id="{4E270790-F462-0385-0695-6EA82F5572DE}"/>
              </a:ext>
            </a:extLst>
          </p:cNvPr>
          <p:cNvPicPr>
            <a:picLocks noChangeAspect="1"/>
          </p:cNvPicPr>
          <p:nvPr/>
        </p:nvPicPr>
        <p:blipFill>
          <a:blip r:embed="rId5"/>
          <a:stretch>
            <a:fillRect/>
          </a:stretch>
        </p:blipFill>
        <p:spPr>
          <a:xfrm>
            <a:off x="6247772" y="4995946"/>
            <a:ext cx="2159000" cy="431800"/>
          </a:xfrm>
          <a:prstGeom prst="rect">
            <a:avLst/>
          </a:prstGeom>
        </p:spPr>
      </p:pic>
    </p:spTree>
    <p:extLst>
      <p:ext uri="{BB962C8B-B14F-4D97-AF65-F5344CB8AC3E}">
        <p14:creationId xmlns:p14="http://schemas.microsoft.com/office/powerpoint/2010/main" val="2436627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81751-D1A6-CF75-C366-C0F79B9C354E}"/>
              </a:ext>
            </a:extLst>
          </p:cNvPr>
          <p:cNvSpPr>
            <a:spLocks noGrp="1"/>
          </p:cNvSpPr>
          <p:nvPr>
            <p:ph type="title"/>
          </p:nvPr>
        </p:nvSpPr>
        <p:spPr/>
        <p:txBody>
          <a:bodyPr/>
          <a:lstStyle/>
          <a:p>
            <a:r>
              <a:rPr lang="en-IN" b="1" i="0" dirty="0">
                <a:solidFill>
                  <a:srgbClr val="0D0D0D"/>
                </a:solidFill>
                <a:effectLst/>
                <a:highlight>
                  <a:srgbClr val="FFFFFF"/>
                </a:highlight>
                <a:latin typeface="Söhne"/>
              </a:rPr>
              <a:t>Example Calculation:</a:t>
            </a:r>
            <a:endParaRPr lang="en-US" dirty="0"/>
          </a:p>
        </p:txBody>
      </p:sp>
      <p:sp>
        <p:nvSpPr>
          <p:cNvPr id="3" name="Content Placeholder 2">
            <a:extLst>
              <a:ext uri="{FF2B5EF4-FFF2-40B4-BE49-F238E27FC236}">
                <a16:creationId xmlns:a16="http://schemas.microsoft.com/office/drawing/2014/main" id="{D1CF521F-8EF4-C42F-8D91-F55A263D8AA3}"/>
              </a:ext>
            </a:extLst>
          </p:cNvPr>
          <p:cNvSpPr>
            <a:spLocks noGrp="1"/>
          </p:cNvSpPr>
          <p:nvPr>
            <p:ph idx="1"/>
          </p:nvPr>
        </p:nvSpPr>
        <p:spPr/>
        <p:txBody>
          <a:bodyPr>
            <a:normAutofit/>
          </a:bodyPr>
          <a:lstStyle/>
          <a:p>
            <a:pPr marL="0" indent="0">
              <a:buNone/>
            </a:pPr>
            <a:r>
              <a:rPr lang="en-IN" b="0" i="0" dirty="0">
                <a:solidFill>
                  <a:srgbClr val="0D0D0D"/>
                </a:solidFill>
                <a:effectLst/>
                <a:highlight>
                  <a:srgbClr val="FFFFFF"/>
                </a:highlight>
                <a:latin typeface="Söhne"/>
              </a:rPr>
              <a:t>Let's assume we have the following gradients are:</a:t>
            </a:r>
            <a:endParaRPr lang="en-IN" dirty="0">
              <a:effectLst/>
            </a:endParaRPr>
          </a:p>
          <a:p>
            <a:r>
              <a:rPr lang="en-IN" dirty="0">
                <a:effectLst/>
              </a:rPr>
              <a:t>∇</a:t>
            </a:r>
            <a:r>
              <a:rPr lang="en-IN" i="1" dirty="0">
                <a:effectLst/>
                <a:latin typeface="KaTeX_Math"/>
              </a:rPr>
              <a:t>V</a:t>
            </a:r>
            <a:r>
              <a:rPr lang="en-IN" dirty="0">
                <a:effectLst/>
              </a:rPr>
              <a:t>​</a:t>
            </a:r>
            <a:r>
              <a:rPr lang="en-IN" i="1" dirty="0">
                <a:effectLst/>
                <a:latin typeface="KaTeX_Math"/>
              </a:rPr>
              <a:t>L = </a:t>
            </a:r>
          </a:p>
          <a:p>
            <a:endParaRPr lang="en-IN" i="1" dirty="0">
              <a:effectLst/>
              <a:latin typeface="KaTeX_Math"/>
            </a:endParaRPr>
          </a:p>
          <a:p>
            <a:r>
              <a:rPr lang="en-IN" dirty="0">
                <a:effectLst/>
              </a:rPr>
              <a:t>∇</a:t>
            </a:r>
            <a:r>
              <a:rPr lang="en-IN" i="1" dirty="0">
                <a:effectLst/>
                <a:latin typeface="KaTeX_Math"/>
              </a:rPr>
              <a:t>W</a:t>
            </a:r>
            <a:r>
              <a:rPr lang="en-IN" dirty="0">
                <a:effectLst/>
              </a:rPr>
              <a:t>​</a:t>
            </a:r>
            <a:r>
              <a:rPr lang="en-IN" i="1" dirty="0">
                <a:effectLst/>
                <a:latin typeface="KaTeX_Math"/>
              </a:rPr>
              <a:t>L = </a:t>
            </a:r>
          </a:p>
          <a:p>
            <a:pPr marL="0" indent="0">
              <a:buNone/>
            </a:pPr>
            <a:endParaRPr lang="en-IN" dirty="0">
              <a:solidFill>
                <a:srgbClr val="0D0D0D"/>
              </a:solidFill>
              <a:highlight>
                <a:srgbClr val="FFFFFF"/>
              </a:highlight>
              <a:latin typeface="KaTeX_Size4"/>
            </a:endParaRPr>
          </a:p>
          <a:p>
            <a:r>
              <a:rPr lang="en-IN" dirty="0">
                <a:effectLst/>
              </a:rPr>
              <a:t>∇</a:t>
            </a:r>
            <a:r>
              <a:rPr lang="en-IN" i="1" dirty="0">
                <a:effectLst/>
                <a:latin typeface="KaTeX_Math"/>
              </a:rPr>
              <a:t>U</a:t>
            </a:r>
            <a:r>
              <a:rPr lang="en-IN" dirty="0">
                <a:effectLst/>
              </a:rPr>
              <a:t>​</a:t>
            </a:r>
            <a:r>
              <a:rPr lang="en-IN" i="1" dirty="0">
                <a:effectLst/>
                <a:latin typeface="KaTeX_Math"/>
              </a:rPr>
              <a:t>L = </a:t>
            </a:r>
            <a:r>
              <a:rPr lang="en-IN" b="0" i="0" dirty="0">
                <a:solidFill>
                  <a:srgbClr val="0D0D0D"/>
                </a:solidFill>
                <a:effectLst/>
                <a:highlight>
                  <a:srgbClr val="FFFFFF"/>
                </a:highlight>
                <a:latin typeface="KaTeX_Main"/>
              </a:rPr>
              <a:t> ​</a:t>
            </a:r>
            <a:br>
              <a:rPr lang="en-IN" b="0" i="0" dirty="0">
                <a:solidFill>
                  <a:srgbClr val="0D0D0D"/>
                </a:solidFill>
                <a:effectLst/>
                <a:highlight>
                  <a:srgbClr val="FFFFFF"/>
                </a:highlight>
                <a:latin typeface="KaTeX_Main"/>
              </a:rPr>
            </a:br>
            <a:endParaRPr lang="en-US" dirty="0"/>
          </a:p>
        </p:txBody>
      </p:sp>
      <p:pic>
        <p:nvPicPr>
          <p:cNvPr id="5" name="Picture 4" descr="A number of numbers on a white background&#10;&#10;Description automatically generated">
            <a:extLst>
              <a:ext uri="{FF2B5EF4-FFF2-40B4-BE49-F238E27FC236}">
                <a16:creationId xmlns:a16="http://schemas.microsoft.com/office/drawing/2014/main" id="{5C503548-47B4-5793-E371-6753687B450D}"/>
              </a:ext>
            </a:extLst>
          </p:cNvPr>
          <p:cNvPicPr>
            <a:picLocks noChangeAspect="1"/>
          </p:cNvPicPr>
          <p:nvPr/>
        </p:nvPicPr>
        <p:blipFill>
          <a:blip r:embed="rId2"/>
          <a:stretch>
            <a:fillRect/>
          </a:stretch>
        </p:blipFill>
        <p:spPr>
          <a:xfrm>
            <a:off x="1992198" y="2303603"/>
            <a:ext cx="3517900" cy="965200"/>
          </a:xfrm>
          <a:prstGeom prst="rect">
            <a:avLst/>
          </a:prstGeom>
        </p:spPr>
      </p:pic>
      <p:pic>
        <p:nvPicPr>
          <p:cNvPr id="7" name="Picture 6" descr="A number of numbers on a white background&#10;&#10;Description automatically generated">
            <a:extLst>
              <a:ext uri="{FF2B5EF4-FFF2-40B4-BE49-F238E27FC236}">
                <a16:creationId xmlns:a16="http://schemas.microsoft.com/office/drawing/2014/main" id="{B7C6873E-C52F-8954-4D68-886CAF0A36B3}"/>
              </a:ext>
            </a:extLst>
          </p:cNvPr>
          <p:cNvPicPr>
            <a:picLocks noChangeAspect="1"/>
          </p:cNvPicPr>
          <p:nvPr/>
        </p:nvPicPr>
        <p:blipFill>
          <a:blip r:embed="rId3"/>
          <a:stretch>
            <a:fillRect/>
          </a:stretch>
        </p:blipFill>
        <p:spPr>
          <a:xfrm>
            <a:off x="2084812" y="3294195"/>
            <a:ext cx="2336800" cy="965200"/>
          </a:xfrm>
          <a:prstGeom prst="rect">
            <a:avLst/>
          </a:prstGeom>
        </p:spPr>
      </p:pic>
      <p:pic>
        <p:nvPicPr>
          <p:cNvPr id="9" name="Picture 8" descr="A number of numbers on a white background&#10;&#10;Description automatically generated">
            <a:extLst>
              <a:ext uri="{FF2B5EF4-FFF2-40B4-BE49-F238E27FC236}">
                <a16:creationId xmlns:a16="http://schemas.microsoft.com/office/drawing/2014/main" id="{705ED21D-543D-A255-DEB7-4203A21D0E17}"/>
              </a:ext>
            </a:extLst>
          </p:cNvPr>
          <p:cNvPicPr>
            <a:picLocks noChangeAspect="1"/>
          </p:cNvPicPr>
          <p:nvPr/>
        </p:nvPicPr>
        <p:blipFill>
          <a:blip r:embed="rId4"/>
          <a:stretch>
            <a:fillRect/>
          </a:stretch>
        </p:blipFill>
        <p:spPr>
          <a:xfrm>
            <a:off x="2084812" y="4291079"/>
            <a:ext cx="3784600" cy="927100"/>
          </a:xfrm>
          <a:prstGeom prst="rect">
            <a:avLst/>
          </a:prstGeom>
        </p:spPr>
      </p:pic>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5D5B47B7-77AA-96D9-B6FD-2CF030E57C5F}"/>
                  </a:ext>
                </a:extLst>
              </p14:cNvPr>
              <p14:cNvContentPartPr/>
              <p14:nvPr/>
            </p14:nvContentPartPr>
            <p14:xfrm>
              <a:off x="4838218" y="3253837"/>
              <a:ext cx="187920" cy="513000"/>
            </p14:xfrm>
          </p:contentPart>
        </mc:Choice>
        <mc:Fallback>
          <p:pic>
            <p:nvPicPr>
              <p:cNvPr id="10" name="Ink 9">
                <a:extLst>
                  <a:ext uri="{FF2B5EF4-FFF2-40B4-BE49-F238E27FC236}">
                    <a16:creationId xmlns:a16="http://schemas.microsoft.com/office/drawing/2014/main" id="{5D5B47B7-77AA-96D9-B6FD-2CF030E57C5F}"/>
                  </a:ext>
                </a:extLst>
              </p:cNvPr>
              <p:cNvPicPr/>
              <p:nvPr/>
            </p:nvPicPr>
            <p:blipFill>
              <a:blip r:embed="rId6"/>
              <a:stretch>
                <a:fillRect/>
              </a:stretch>
            </p:blipFill>
            <p:spPr>
              <a:xfrm>
                <a:off x="4829578" y="3245197"/>
                <a:ext cx="205560" cy="530640"/>
              </a:xfrm>
              <a:prstGeom prst="rect">
                <a:avLst/>
              </a:prstGeom>
            </p:spPr>
          </p:pic>
        </mc:Fallback>
      </mc:AlternateContent>
    </p:spTree>
    <p:extLst>
      <p:ext uri="{BB962C8B-B14F-4D97-AF65-F5344CB8AC3E}">
        <p14:creationId xmlns:p14="http://schemas.microsoft.com/office/powerpoint/2010/main" val="30527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CA448-01C4-687E-AD08-1210B67BC3E4}"/>
              </a:ext>
            </a:extLst>
          </p:cNvPr>
          <p:cNvSpPr>
            <a:spLocks noGrp="1"/>
          </p:cNvSpPr>
          <p:nvPr>
            <p:ph type="title"/>
          </p:nvPr>
        </p:nvSpPr>
        <p:spPr/>
        <p:txBody>
          <a:bodyPr/>
          <a:lstStyle/>
          <a:p>
            <a:r>
              <a:rPr lang="en-IN" b="1" i="0" dirty="0">
                <a:solidFill>
                  <a:srgbClr val="0D0D0D"/>
                </a:solidFill>
                <a:effectLst/>
                <a:highlight>
                  <a:srgbClr val="FFFFFF"/>
                </a:highlight>
                <a:latin typeface="Söhne"/>
              </a:rPr>
              <a:t>Example Calculation:</a:t>
            </a:r>
            <a:endParaRPr lang="en-US" dirty="0"/>
          </a:p>
        </p:txBody>
      </p:sp>
      <p:sp>
        <p:nvSpPr>
          <p:cNvPr id="3" name="Content Placeholder 2">
            <a:extLst>
              <a:ext uri="{FF2B5EF4-FFF2-40B4-BE49-F238E27FC236}">
                <a16:creationId xmlns:a16="http://schemas.microsoft.com/office/drawing/2014/main" id="{C9953996-E116-96E9-E01C-DBE5478930A9}"/>
              </a:ext>
            </a:extLst>
          </p:cNvPr>
          <p:cNvSpPr>
            <a:spLocks noGrp="1"/>
          </p:cNvSpPr>
          <p:nvPr>
            <p:ph idx="1"/>
          </p:nvPr>
        </p:nvSpPr>
        <p:spPr/>
        <p:txBody>
          <a:bodyPr/>
          <a:lstStyle/>
          <a:p>
            <a:r>
              <a:rPr lang="en-IN" b="0" i="0" dirty="0">
                <a:solidFill>
                  <a:srgbClr val="0D0D0D"/>
                </a:solidFill>
                <a:effectLst/>
                <a:highlight>
                  <a:srgbClr val="FFFFFF"/>
                </a:highlight>
                <a:latin typeface="Söhne"/>
              </a:rPr>
              <a:t>And let's assume a learning rate (</a:t>
            </a:r>
            <a:r>
              <a:rPr lang="el-GR" b="1" i="1" dirty="0">
                <a:solidFill>
                  <a:srgbClr val="0D0D0D"/>
                </a:solidFill>
                <a:effectLst/>
                <a:highlight>
                  <a:srgbClr val="FFFFFF"/>
                </a:highlight>
                <a:latin typeface="KaTeX_Math"/>
              </a:rPr>
              <a:t>η</a:t>
            </a:r>
            <a:r>
              <a:rPr lang="el-GR" b="0" i="0" dirty="0">
                <a:solidFill>
                  <a:srgbClr val="0D0D0D"/>
                </a:solidFill>
                <a:effectLst/>
                <a:highlight>
                  <a:srgbClr val="FFFFFF"/>
                </a:highlight>
                <a:latin typeface="Söhne"/>
              </a:rPr>
              <a:t>) </a:t>
            </a:r>
            <a:r>
              <a:rPr lang="en-IN" b="0" i="0" dirty="0">
                <a:solidFill>
                  <a:srgbClr val="0D0D0D"/>
                </a:solidFill>
                <a:effectLst/>
                <a:highlight>
                  <a:srgbClr val="FFFFFF"/>
                </a:highlight>
                <a:latin typeface="Söhne"/>
              </a:rPr>
              <a:t>of 0.01. Then the weight updates would be:</a:t>
            </a:r>
          </a:p>
          <a:p>
            <a:pPr lvl="1"/>
            <a:r>
              <a:rPr lang="en-IN" b="0" i="1" dirty="0">
                <a:solidFill>
                  <a:srgbClr val="0D0D0D"/>
                </a:solidFill>
                <a:effectLst/>
                <a:highlight>
                  <a:srgbClr val="FFFFFF"/>
                </a:highlight>
                <a:latin typeface="KaTeX_Math"/>
              </a:rPr>
              <a:t>V</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V</a:t>
            </a:r>
            <a:r>
              <a:rPr lang="en-IN" b="0" i="0" dirty="0">
                <a:solidFill>
                  <a:srgbClr val="0D0D0D"/>
                </a:solidFill>
                <a:effectLst/>
                <a:highlight>
                  <a:srgbClr val="FFFFFF"/>
                </a:highlight>
                <a:latin typeface="KaTeX_Main"/>
              </a:rPr>
              <a:t>−0.01×∇</a:t>
            </a:r>
            <a:r>
              <a:rPr lang="en-IN" b="0" i="1" baseline="-25000" dirty="0">
                <a:solidFill>
                  <a:srgbClr val="0D0D0D"/>
                </a:solidFill>
                <a:effectLst/>
                <a:highlight>
                  <a:srgbClr val="FFFFFF"/>
                </a:highlight>
                <a:latin typeface="KaTeX_Math"/>
              </a:rPr>
              <a:t>V</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L</a:t>
            </a:r>
          </a:p>
          <a:p>
            <a:pPr lvl="1"/>
            <a:r>
              <a:rPr lang="en-IN" b="0" i="1" dirty="0">
                <a:solidFill>
                  <a:srgbClr val="0D0D0D"/>
                </a:solidFill>
                <a:effectLst/>
                <a:highlight>
                  <a:srgbClr val="FFFFFF"/>
                </a:highlight>
                <a:latin typeface="KaTeX_Math"/>
              </a:rPr>
              <a:t>W</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W</a:t>
            </a:r>
            <a:r>
              <a:rPr lang="en-IN" b="0" i="0" dirty="0">
                <a:solidFill>
                  <a:srgbClr val="0D0D0D"/>
                </a:solidFill>
                <a:effectLst/>
                <a:highlight>
                  <a:srgbClr val="FFFFFF"/>
                </a:highlight>
                <a:latin typeface="KaTeX_Main"/>
              </a:rPr>
              <a:t>−0.01×∇</a:t>
            </a:r>
            <a:r>
              <a:rPr lang="en-IN" b="0" i="1" baseline="-25000" dirty="0">
                <a:solidFill>
                  <a:srgbClr val="0D0D0D"/>
                </a:solidFill>
                <a:effectLst/>
                <a:highlight>
                  <a:srgbClr val="FFFFFF"/>
                </a:highlight>
                <a:latin typeface="KaTeX_Math"/>
              </a:rPr>
              <a:t>W</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L</a:t>
            </a:r>
            <a:endParaRPr lang="en-IN" i="1" dirty="0">
              <a:solidFill>
                <a:srgbClr val="0D0D0D"/>
              </a:solidFill>
              <a:highlight>
                <a:srgbClr val="FFFFFF"/>
              </a:highlight>
              <a:latin typeface="KaTeX_Math"/>
            </a:endParaRPr>
          </a:p>
          <a:p>
            <a:pPr lvl="1"/>
            <a:r>
              <a:rPr lang="en-IN" b="0" i="1" dirty="0">
                <a:solidFill>
                  <a:srgbClr val="0D0D0D"/>
                </a:solidFill>
                <a:effectLst/>
                <a:highlight>
                  <a:srgbClr val="FFFFFF"/>
                </a:highlight>
                <a:latin typeface="KaTeX_Math"/>
              </a:rPr>
              <a:t>U</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U</a:t>
            </a:r>
            <a:r>
              <a:rPr lang="en-IN" b="0" i="0" dirty="0">
                <a:solidFill>
                  <a:srgbClr val="0D0D0D"/>
                </a:solidFill>
                <a:effectLst/>
                <a:highlight>
                  <a:srgbClr val="FFFFFF"/>
                </a:highlight>
                <a:latin typeface="KaTeX_Main"/>
              </a:rPr>
              <a:t>−0.01×∇</a:t>
            </a:r>
            <a:r>
              <a:rPr lang="en-IN" b="0" i="1" baseline="-25000" dirty="0">
                <a:solidFill>
                  <a:srgbClr val="0D0D0D"/>
                </a:solidFill>
                <a:effectLst/>
                <a:highlight>
                  <a:srgbClr val="FFFFFF"/>
                </a:highlight>
                <a:latin typeface="KaTeX_Math"/>
              </a:rPr>
              <a:t>U</a:t>
            </a:r>
            <a:r>
              <a:rPr lang="en-IN" b="0" i="0" dirty="0">
                <a:solidFill>
                  <a:srgbClr val="0D0D0D"/>
                </a:solidFill>
                <a:effectLst/>
                <a:highlight>
                  <a:srgbClr val="FFFFFF"/>
                </a:highlight>
                <a:latin typeface="KaTeX_Main"/>
              </a:rPr>
              <a:t>​</a:t>
            </a:r>
            <a:r>
              <a:rPr lang="en-IN" b="0" i="1" dirty="0">
                <a:solidFill>
                  <a:srgbClr val="0D0D0D"/>
                </a:solidFill>
                <a:effectLst/>
                <a:highlight>
                  <a:srgbClr val="FFFFFF"/>
                </a:highlight>
                <a:latin typeface="KaTeX_Math"/>
              </a:rPr>
              <a:t>L</a:t>
            </a:r>
          </a:p>
          <a:p>
            <a:r>
              <a:rPr lang="en-IN" b="0" i="0" dirty="0">
                <a:solidFill>
                  <a:srgbClr val="0D0D0D"/>
                </a:solidFill>
                <a:effectLst/>
                <a:highlight>
                  <a:srgbClr val="FFFFFF"/>
                </a:highlight>
                <a:latin typeface="Söhne"/>
              </a:rPr>
              <a:t>This step completes one iteration of the backpropagation process. In practice, this process is repeated for many iterations (or epochs) over the training data until the network's performance converges to a satisfactory level.</a:t>
            </a:r>
            <a:endParaRPr lang="en-US" dirty="0"/>
          </a:p>
        </p:txBody>
      </p:sp>
    </p:spTree>
    <p:extLst>
      <p:ext uri="{BB962C8B-B14F-4D97-AF65-F5344CB8AC3E}">
        <p14:creationId xmlns:p14="http://schemas.microsoft.com/office/powerpoint/2010/main" val="754874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19096-1489-4024-E78F-3404A96B3596}"/>
              </a:ext>
            </a:extLst>
          </p:cNvPr>
          <p:cNvSpPr>
            <a:spLocks noGrp="1"/>
          </p:cNvSpPr>
          <p:nvPr>
            <p:ph type="title"/>
          </p:nvPr>
        </p:nvSpPr>
        <p:spPr/>
        <p:txBody>
          <a:bodyPr/>
          <a:lstStyle/>
          <a:p>
            <a:r>
              <a:rPr lang="en-IN" b="1" i="0" dirty="0">
                <a:solidFill>
                  <a:srgbClr val="0D0D0D"/>
                </a:solidFill>
                <a:effectLst/>
                <a:highlight>
                  <a:srgbClr val="FFFFFF"/>
                </a:highlight>
                <a:latin typeface="Söhne"/>
              </a:rPr>
              <a:t>Back Propagation through time:</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34B613-0E55-63C2-AA22-79E8EC07C772}"/>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𝑉</m:t>
                        </m:r>
                      </m:den>
                    </m:f>
                    <m:r>
                      <a:rPr lang="en-US" b="0" i="0"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𝑉</m:t>
                        </m:r>
                      </m:den>
                    </m:f>
                  </m:oMath>
                </a14:m>
                <a:r>
                  <a:rPr lang="en-US" dirty="0"/>
                  <a:t> =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1</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𝑉</m:t>
                        </m:r>
                      </m:den>
                    </m:f>
                  </m:oMath>
                </a14:m>
                <a:r>
                  <a:rPr lang="en-US" dirty="0"/>
                  <a:t> +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2</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𝑉</m:t>
                        </m:r>
                      </m:den>
                    </m:f>
                  </m:oMath>
                </a14:m>
                <a:r>
                  <a:rPr lang="en-US" dirty="0"/>
                  <a:t> +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3</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𝑉</m:t>
                        </m:r>
                      </m:den>
                    </m:f>
                  </m:oMath>
                </a14:m>
                <a:r>
                  <a:rPr lang="en-US" dirty="0"/>
                  <a:t> + .. +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𝑛</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𝑉</m:t>
                        </m:r>
                      </m:den>
                    </m:f>
                    <m:r>
                      <a:rPr lang="en-US" b="0" i="1" smtClean="0">
                        <a:latin typeface="Cambria Math" panose="02040503050406030204" pitchFamily="18" charset="0"/>
                        <a:ea typeface="Cambria Math" panose="02040503050406030204" pitchFamily="18" charset="0"/>
                      </a:rPr>
                      <m:t>    </m:t>
                    </m:r>
                    <m:r>
                      <a:rPr lang="en-US" b="0" i="0" smtClean="0">
                        <a:latin typeface="Cambria Math" panose="02040503050406030204" pitchFamily="18" charset="0"/>
                        <a:ea typeface="Cambria Math" panose="02040503050406030204" pitchFamily="18" charset="0"/>
                      </a:rPr>
                      <m:t>−→ </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𝑇</m:t>
                        </m:r>
                      </m:sup>
                      <m:e>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𝑡</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𝑉</m:t>
                            </m:r>
                          </m:den>
                        </m:f>
                      </m:e>
                    </m:nary>
                  </m:oMath>
                </a14:m>
                <a:endParaRPr lang="en-US" dirty="0"/>
              </a:p>
              <a:p>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r>
                      <a:rPr lang="en-US" b="0" i="1" smtClean="0">
                        <a:latin typeface="Cambria Math" panose="02040503050406030204" pitchFamily="18" charset="0"/>
                      </a:rPr>
                      <m:t>𝑊</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𝑊</m:t>
                        </m:r>
                      </m:den>
                    </m:f>
                  </m:oMath>
                </a14:m>
                <a:r>
                  <a:rPr lang="en-US" dirty="0"/>
                  <a:t>  </a:t>
                </a:r>
                <a14:m>
                  <m:oMath xmlns:m="http://schemas.openxmlformats.org/officeDocument/2006/math">
                    <m:r>
                      <a:rPr lang="en-US" b="0" i="0"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𝑊</m:t>
                        </m:r>
                      </m:den>
                    </m:f>
                  </m:oMath>
                </a14:m>
                <a:r>
                  <a:rPr lang="en-US" dirty="0"/>
                  <a:t> =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1</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𝑊</m:t>
                        </m:r>
                      </m:den>
                    </m:f>
                  </m:oMath>
                </a14:m>
                <a:r>
                  <a:rPr lang="en-US" dirty="0"/>
                  <a:t> +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2</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𝑊</m:t>
                        </m:r>
                      </m:den>
                    </m:f>
                  </m:oMath>
                </a14:m>
                <a:r>
                  <a:rPr lang="en-US" dirty="0"/>
                  <a:t> +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3</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𝑊</m:t>
                        </m:r>
                      </m:den>
                    </m:f>
                  </m:oMath>
                </a14:m>
                <a:r>
                  <a:rPr lang="en-US" dirty="0"/>
                  <a:t> + .. +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𝑛</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𝑊</m:t>
                        </m:r>
                      </m:den>
                    </m:f>
                    <m:r>
                      <a:rPr lang="en-US" b="0" i="1" smtClean="0">
                        <a:latin typeface="Cambria Math" panose="02040503050406030204" pitchFamily="18" charset="0"/>
                        <a:ea typeface="Cambria Math" panose="02040503050406030204" pitchFamily="18" charset="0"/>
                      </a:rPr>
                      <m:t>  </m:t>
                    </m:r>
                    <m:r>
                      <a:rPr lang="en-US" b="0" i="0" smtClean="0">
                        <a:latin typeface="Cambria Math" panose="02040503050406030204" pitchFamily="18" charset="0"/>
                        <a:ea typeface="Cambria Math" panose="02040503050406030204" pitchFamily="18" charset="0"/>
                      </a:rPr>
                      <m:t>−→ </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𝑇</m:t>
                        </m:r>
                      </m:sup>
                      <m:e>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𝑡</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𝑊</m:t>
                            </m:r>
                          </m:den>
                        </m:f>
                      </m:e>
                    </m:nary>
                  </m:oMath>
                </a14:m>
                <a:endParaRPr lang="en-US" dirty="0"/>
              </a:p>
              <a:p>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𝑈</m:t>
                        </m:r>
                      </m:den>
                    </m:f>
                  </m:oMath>
                </a14:m>
                <a:r>
                  <a:rPr lang="en-US" dirty="0"/>
                  <a:t>      </a:t>
                </a:r>
                <a14:m>
                  <m:oMath xmlns:m="http://schemas.openxmlformats.org/officeDocument/2006/math">
                    <m:r>
                      <a:rPr lang="en-US" b="0" i="0"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𝑈</m:t>
                        </m:r>
                      </m:den>
                    </m:f>
                  </m:oMath>
                </a14:m>
                <a:r>
                  <a:rPr lang="en-US" dirty="0"/>
                  <a:t> =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1</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𝑈</m:t>
                        </m:r>
                      </m:den>
                    </m:f>
                  </m:oMath>
                </a14:m>
                <a:r>
                  <a:rPr lang="en-US" dirty="0"/>
                  <a:t> +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2</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𝑈</m:t>
                        </m:r>
                      </m:den>
                    </m:f>
                  </m:oMath>
                </a14:m>
                <a:r>
                  <a:rPr lang="en-US" dirty="0"/>
                  <a:t> +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3</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𝑈</m:t>
                        </m:r>
                      </m:den>
                    </m:f>
                  </m:oMath>
                </a14:m>
                <a:r>
                  <a:rPr lang="en-US" dirty="0"/>
                  <a:t> + .. +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𝑛</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𝑈</m:t>
                        </m:r>
                      </m:den>
                    </m:f>
                    <m:r>
                      <a:rPr lang="en-US" b="0" i="1" smtClean="0">
                        <a:latin typeface="Cambria Math" panose="02040503050406030204" pitchFamily="18" charset="0"/>
                        <a:ea typeface="Cambria Math" panose="02040503050406030204" pitchFamily="18" charset="0"/>
                      </a:rPr>
                      <m:t>    </m:t>
                    </m:r>
                    <m:r>
                      <a:rPr lang="en-US" b="0" i="0" smtClean="0">
                        <a:latin typeface="Cambria Math" panose="02040503050406030204" pitchFamily="18" charset="0"/>
                        <a:ea typeface="Cambria Math" panose="02040503050406030204" pitchFamily="18" charset="0"/>
                      </a:rPr>
                      <m:t>−→ </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𝑇</m:t>
                        </m:r>
                      </m:sup>
                      <m:e>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𝑡</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𝑈</m:t>
                            </m:r>
                          </m:den>
                        </m:f>
                      </m:e>
                    </m:nary>
                  </m:oMath>
                </a14:m>
                <a:endParaRPr lang="en-US" dirty="0"/>
              </a:p>
              <a:p>
                <a:endParaRPr lang="en-US" dirty="0"/>
              </a:p>
            </p:txBody>
          </p:sp>
        </mc:Choice>
        <mc:Fallback>
          <p:sp>
            <p:nvSpPr>
              <p:cNvPr id="3" name="Content Placeholder 2">
                <a:extLst>
                  <a:ext uri="{FF2B5EF4-FFF2-40B4-BE49-F238E27FC236}">
                    <a16:creationId xmlns:a16="http://schemas.microsoft.com/office/drawing/2014/main" id="{9C34B613-0E55-63C2-AA22-79E8EC07C772}"/>
                  </a:ext>
                </a:extLst>
              </p:cNvPr>
              <p:cNvSpPr>
                <a:spLocks noGrp="1" noRot="1" noChangeAspect="1" noMove="1" noResize="1" noEditPoints="1" noAdjustHandles="1" noChangeArrowheads="1" noChangeShapeType="1" noTextEdit="1"/>
              </p:cNvSpPr>
              <p:nvPr>
                <p:ph idx="1"/>
              </p:nvPr>
            </p:nvSpPr>
            <p:spPr>
              <a:blipFill>
                <a:blip r:embed="rId2"/>
                <a:stretch>
                  <a:fillRect l="-1086" t="-13953"/>
                </a:stretch>
              </a:blipFill>
            </p:spPr>
            <p:txBody>
              <a:bodyPr/>
              <a:lstStyle/>
              <a:p>
                <a:r>
                  <a:rPr lang="en-US">
                    <a:noFill/>
                  </a:rPr>
                  <a:t> </a:t>
                </a:r>
              </a:p>
            </p:txBody>
          </p:sp>
        </mc:Fallback>
      </mc:AlternateContent>
    </p:spTree>
    <p:extLst>
      <p:ext uri="{BB962C8B-B14F-4D97-AF65-F5344CB8AC3E}">
        <p14:creationId xmlns:p14="http://schemas.microsoft.com/office/powerpoint/2010/main" val="3497235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A8F5CCE-62B1-C520-F8A2-49401524D669}"/>
              </a:ext>
            </a:extLst>
          </p:cNvPr>
          <p:cNvSpPr>
            <a:spLocks/>
          </p:cNvSpPr>
          <p:nvPr/>
        </p:nvSpPr>
        <p:spPr>
          <a:xfrm>
            <a:off x="2263367" y="5771585"/>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a:t>
            </a:r>
            <a:r>
              <a:rPr lang="en-US" sz="1400" baseline="-25000" dirty="0"/>
              <a:t>t-1</a:t>
            </a:r>
          </a:p>
        </p:txBody>
      </p:sp>
      <p:sp>
        <p:nvSpPr>
          <p:cNvPr id="5" name="Oval 4">
            <a:extLst>
              <a:ext uri="{FF2B5EF4-FFF2-40B4-BE49-F238E27FC236}">
                <a16:creationId xmlns:a16="http://schemas.microsoft.com/office/drawing/2014/main" id="{C55F932C-B16C-D320-454C-3C5E5FB4D496}"/>
              </a:ext>
            </a:extLst>
          </p:cNvPr>
          <p:cNvSpPr>
            <a:spLocks/>
          </p:cNvSpPr>
          <p:nvPr/>
        </p:nvSpPr>
        <p:spPr>
          <a:xfrm>
            <a:off x="2263367" y="469271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h</a:t>
            </a:r>
            <a:r>
              <a:rPr lang="en-US" sz="1400" baseline="-25000" dirty="0"/>
              <a:t>t-1</a:t>
            </a:r>
          </a:p>
        </p:txBody>
      </p:sp>
      <p:sp>
        <p:nvSpPr>
          <p:cNvPr id="6" name="Oval 5">
            <a:extLst>
              <a:ext uri="{FF2B5EF4-FFF2-40B4-BE49-F238E27FC236}">
                <a16:creationId xmlns:a16="http://schemas.microsoft.com/office/drawing/2014/main" id="{BB9E8B1C-0AD4-F0B3-24F2-056559AE3EAC}"/>
              </a:ext>
            </a:extLst>
          </p:cNvPr>
          <p:cNvSpPr>
            <a:spLocks/>
          </p:cNvSpPr>
          <p:nvPr/>
        </p:nvSpPr>
        <p:spPr>
          <a:xfrm>
            <a:off x="2263367" y="361384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o</a:t>
            </a:r>
            <a:r>
              <a:rPr lang="en-US" sz="1400" baseline="-25000" dirty="0"/>
              <a:t>t-1</a:t>
            </a:r>
          </a:p>
        </p:txBody>
      </p:sp>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F52B2253-704D-2939-666B-20631C773704}"/>
                  </a:ext>
                </a:extLst>
              </p:cNvPr>
              <p:cNvSpPr>
                <a:spLocks/>
              </p:cNvSpPr>
              <p:nvPr/>
            </p:nvSpPr>
            <p:spPr>
              <a:xfrm>
                <a:off x="2263366" y="2559115"/>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1400" i="1" dirty="0" smtClean="0">
                        <a:latin typeface="Cambria Math" panose="02040503050406030204" pitchFamily="18" charset="0"/>
                      </a:rPr>
                      <m:t>𝑦</m:t>
                    </m:r>
                  </m:oMath>
                </a14:m>
                <a:r>
                  <a:rPr lang="en-US" sz="1400" baseline="-25000" dirty="0"/>
                  <a:t>t-1</a:t>
                </a:r>
              </a:p>
            </p:txBody>
          </p:sp>
        </mc:Choice>
        <mc:Fallback>
          <p:sp>
            <p:nvSpPr>
              <p:cNvPr id="7" name="Oval 6">
                <a:extLst>
                  <a:ext uri="{FF2B5EF4-FFF2-40B4-BE49-F238E27FC236}">
                    <a16:creationId xmlns:a16="http://schemas.microsoft.com/office/drawing/2014/main" id="{F52B2253-704D-2939-666B-20631C773704}"/>
                  </a:ext>
                </a:extLst>
              </p:cNvPr>
              <p:cNvSpPr>
                <a:spLocks noRot="1" noChangeAspect="1" noMove="1" noResize="1" noEditPoints="1" noAdjustHandles="1" noChangeArrowheads="1" noChangeShapeType="1" noTextEdit="1"/>
              </p:cNvSpPr>
              <p:nvPr/>
            </p:nvSpPr>
            <p:spPr>
              <a:xfrm>
                <a:off x="2263366" y="2559115"/>
                <a:ext cx="720000" cy="720000"/>
              </a:xfrm>
              <a:prstGeom prst="ellipse">
                <a:avLst/>
              </a:prstGeom>
              <a:blipFill>
                <a:blip r:embed="rId2"/>
                <a:stretch>
                  <a:fillRect/>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8C856FFC-4A2D-8AB5-0E62-70CACD9D74AB}"/>
              </a:ext>
            </a:extLst>
          </p:cNvPr>
          <p:cNvSpPr>
            <a:spLocks/>
          </p:cNvSpPr>
          <p:nvPr/>
        </p:nvSpPr>
        <p:spPr>
          <a:xfrm>
            <a:off x="2263365" y="148024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a:t>
            </a:r>
            <a:r>
              <a:rPr lang="en-US" sz="1400" baseline="-25000" dirty="0"/>
              <a:t>t-1</a:t>
            </a:r>
          </a:p>
        </p:txBody>
      </p:sp>
      <p:sp>
        <p:nvSpPr>
          <p:cNvPr id="9" name="Oval 8">
            <a:extLst>
              <a:ext uri="{FF2B5EF4-FFF2-40B4-BE49-F238E27FC236}">
                <a16:creationId xmlns:a16="http://schemas.microsoft.com/office/drawing/2014/main" id="{4197884C-E0AD-9B30-5751-0B75178EDD0C}"/>
              </a:ext>
            </a:extLst>
          </p:cNvPr>
          <p:cNvSpPr>
            <a:spLocks/>
          </p:cNvSpPr>
          <p:nvPr/>
        </p:nvSpPr>
        <p:spPr>
          <a:xfrm>
            <a:off x="2263364" y="42551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y</a:t>
            </a:r>
            <a:r>
              <a:rPr lang="en-US" sz="1400" baseline="-25000" dirty="0"/>
              <a:t>t-1</a:t>
            </a:r>
          </a:p>
        </p:txBody>
      </p:sp>
      <p:sp>
        <p:nvSpPr>
          <p:cNvPr id="10" name="Oval 9">
            <a:extLst>
              <a:ext uri="{FF2B5EF4-FFF2-40B4-BE49-F238E27FC236}">
                <a16:creationId xmlns:a16="http://schemas.microsoft.com/office/drawing/2014/main" id="{B34E6A49-3DF7-6AFC-EF29-9BD88FF16DB4}"/>
              </a:ext>
            </a:extLst>
          </p:cNvPr>
          <p:cNvSpPr>
            <a:spLocks/>
          </p:cNvSpPr>
          <p:nvPr/>
        </p:nvSpPr>
        <p:spPr>
          <a:xfrm>
            <a:off x="3835401" y="5771585"/>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x</a:t>
            </a:r>
            <a:r>
              <a:rPr lang="en-US" sz="1400" baseline="-25000" dirty="0" err="1"/>
              <a:t>t</a:t>
            </a:r>
            <a:endParaRPr lang="en-US" sz="1400" baseline="-25000" dirty="0"/>
          </a:p>
        </p:txBody>
      </p:sp>
      <p:sp>
        <p:nvSpPr>
          <p:cNvPr id="11" name="Oval 10">
            <a:extLst>
              <a:ext uri="{FF2B5EF4-FFF2-40B4-BE49-F238E27FC236}">
                <a16:creationId xmlns:a16="http://schemas.microsoft.com/office/drawing/2014/main" id="{B6160287-B1CF-758C-90C2-7AE29313F9F8}"/>
              </a:ext>
            </a:extLst>
          </p:cNvPr>
          <p:cNvSpPr>
            <a:spLocks/>
          </p:cNvSpPr>
          <p:nvPr/>
        </p:nvSpPr>
        <p:spPr>
          <a:xfrm>
            <a:off x="3835401" y="469271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h</a:t>
            </a:r>
            <a:r>
              <a:rPr lang="en-US" sz="1400" baseline="-25000" dirty="0" err="1"/>
              <a:t>t</a:t>
            </a:r>
            <a:endParaRPr lang="en-US" sz="1400" baseline="-25000" dirty="0"/>
          </a:p>
        </p:txBody>
      </p:sp>
      <p:sp>
        <p:nvSpPr>
          <p:cNvPr id="12" name="Oval 11">
            <a:extLst>
              <a:ext uri="{FF2B5EF4-FFF2-40B4-BE49-F238E27FC236}">
                <a16:creationId xmlns:a16="http://schemas.microsoft.com/office/drawing/2014/main" id="{F7CCBA08-50E1-EEAE-FB5B-D5370F34B9A2}"/>
              </a:ext>
            </a:extLst>
          </p:cNvPr>
          <p:cNvSpPr>
            <a:spLocks/>
          </p:cNvSpPr>
          <p:nvPr/>
        </p:nvSpPr>
        <p:spPr>
          <a:xfrm>
            <a:off x="3835401" y="361384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o</a:t>
            </a:r>
            <a:r>
              <a:rPr lang="en-US" sz="1400" baseline="-25000" dirty="0" err="1"/>
              <a:t>t</a:t>
            </a:r>
            <a:endParaRPr lang="en-US" sz="1400" baseline="-25000" dirty="0"/>
          </a:p>
        </p:txBody>
      </p:sp>
      <mc:AlternateContent xmlns:mc="http://schemas.openxmlformats.org/markup-compatibility/2006">
        <mc:Choice xmlns:a14="http://schemas.microsoft.com/office/drawing/2010/main" Requires="a14">
          <p:sp>
            <p:nvSpPr>
              <p:cNvPr id="13" name="Oval 12">
                <a:extLst>
                  <a:ext uri="{FF2B5EF4-FFF2-40B4-BE49-F238E27FC236}">
                    <a16:creationId xmlns:a16="http://schemas.microsoft.com/office/drawing/2014/main" id="{4D93D22F-68D1-1D16-C536-D59D1404785B}"/>
                  </a:ext>
                </a:extLst>
              </p:cNvPr>
              <p:cNvSpPr>
                <a:spLocks/>
              </p:cNvSpPr>
              <p:nvPr/>
            </p:nvSpPr>
            <p:spPr>
              <a:xfrm>
                <a:off x="3835400" y="2559115"/>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1400" i="1" dirty="0" smtClean="0">
                        <a:latin typeface="Cambria Math" panose="02040503050406030204" pitchFamily="18" charset="0"/>
                      </a:rPr>
                      <m:t>𝑦</m:t>
                    </m:r>
                  </m:oMath>
                </a14:m>
                <a:r>
                  <a:rPr lang="en-US" sz="1400" baseline="-25000" dirty="0" err="1"/>
                  <a:t>t</a:t>
                </a:r>
                <a:endParaRPr lang="en-US" sz="1400" baseline="-25000" dirty="0"/>
              </a:p>
            </p:txBody>
          </p:sp>
        </mc:Choice>
        <mc:Fallback>
          <p:sp>
            <p:nvSpPr>
              <p:cNvPr id="13" name="Oval 12">
                <a:extLst>
                  <a:ext uri="{FF2B5EF4-FFF2-40B4-BE49-F238E27FC236}">
                    <a16:creationId xmlns:a16="http://schemas.microsoft.com/office/drawing/2014/main" id="{4D93D22F-68D1-1D16-C536-D59D1404785B}"/>
                  </a:ext>
                </a:extLst>
              </p:cNvPr>
              <p:cNvSpPr>
                <a:spLocks noRot="1" noChangeAspect="1" noMove="1" noResize="1" noEditPoints="1" noAdjustHandles="1" noChangeArrowheads="1" noChangeShapeType="1" noTextEdit="1"/>
              </p:cNvSpPr>
              <p:nvPr/>
            </p:nvSpPr>
            <p:spPr>
              <a:xfrm>
                <a:off x="3835400" y="2559115"/>
                <a:ext cx="720000" cy="720000"/>
              </a:xfrm>
              <a:prstGeom prst="ellipse">
                <a:avLst/>
              </a:prstGeom>
              <a:blipFill>
                <a:blip r:embed="rId3"/>
                <a:stretch>
                  <a:fillRect/>
                </a:stretch>
              </a:blipFill>
            </p:spPr>
            <p:txBody>
              <a:bodyPr/>
              <a:lstStyle/>
              <a:p>
                <a:r>
                  <a:rPr lang="en-US">
                    <a:noFill/>
                  </a:rPr>
                  <a:t> </a:t>
                </a:r>
              </a:p>
            </p:txBody>
          </p:sp>
        </mc:Fallback>
      </mc:AlternateContent>
      <p:sp>
        <p:nvSpPr>
          <p:cNvPr id="14" name="Oval 13">
            <a:extLst>
              <a:ext uri="{FF2B5EF4-FFF2-40B4-BE49-F238E27FC236}">
                <a16:creationId xmlns:a16="http://schemas.microsoft.com/office/drawing/2014/main" id="{54A11690-E6C2-39A5-996B-D7604AF4B9BB}"/>
              </a:ext>
            </a:extLst>
          </p:cNvPr>
          <p:cNvSpPr>
            <a:spLocks/>
          </p:cNvSpPr>
          <p:nvPr/>
        </p:nvSpPr>
        <p:spPr>
          <a:xfrm>
            <a:off x="3835399" y="148024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a:t>
            </a:r>
            <a:r>
              <a:rPr lang="en-US" sz="1400" baseline="-25000" dirty="0"/>
              <a:t>t</a:t>
            </a:r>
          </a:p>
        </p:txBody>
      </p:sp>
      <p:sp>
        <p:nvSpPr>
          <p:cNvPr id="15" name="Oval 14">
            <a:extLst>
              <a:ext uri="{FF2B5EF4-FFF2-40B4-BE49-F238E27FC236}">
                <a16:creationId xmlns:a16="http://schemas.microsoft.com/office/drawing/2014/main" id="{A891A273-8867-465F-AB68-FBE1272F01D7}"/>
              </a:ext>
            </a:extLst>
          </p:cNvPr>
          <p:cNvSpPr>
            <a:spLocks/>
          </p:cNvSpPr>
          <p:nvPr/>
        </p:nvSpPr>
        <p:spPr>
          <a:xfrm>
            <a:off x="3835398" y="42551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y</a:t>
            </a:r>
            <a:r>
              <a:rPr lang="en-US" sz="1400" baseline="-25000" dirty="0" err="1"/>
              <a:t>t</a:t>
            </a:r>
            <a:endParaRPr lang="en-US" sz="1400" baseline="-25000" dirty="0"/>
          </a:p>
        </p:txBody>
      </p:sp>
      <p:sp>
        <p:nvSpPr>
          <p:cNvPr id="16" name="Oval 15">
            <a:extLst>
              <a:ext uri="{FF2B5EF4-FFF2-40B4-BE49-F238E27FC236}">
                <a16:creationId xmlns:a16="http://schemas.microsoft.com/office/drawing/2014/main" id="{0B220370-7872-387F-379B-43C143DDF349}"/>
              </a:ext>
            </a:extLst>
          </p:cNvPr>
          <p:cNvSpPr>
            <a:spLocks/>
          </p:cNvSpPr>
          <p:nvPr/>
        </p:nvSpPr>
        <p:spPr>
          <a:xfrm>
            <a:off x="5407432" y="5771585"/>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a:t>
            </a:r>
            <a:r>
              <a:rPr lang="en-US" sz="1400" baseline="-25000" dirty="0"/>
              <a:t>t+1</a:t>
            </a:r>
          </a:p>
        </p:txBody>
      </p:sp>
      <p:sp>
        <p:nvSpPr>
          <p:cNvPr id="17" name="Oval 16">
            <a:extLst>
              <a:ext uri="{FF2B5EF4-FFF2-40B4-BE49-F238E27FC236}">
                <a16:creationId xmlns:a16="http://schemas.microsoft.com/office/drawing/2014/main" id="{F68F955D-34BB-E220-636A-994A13034BB8}"/>
              </a:ext>
            </a:extLst>
          </p:cNvPr>
          <p:cNvSpPr>
            <a:spLocks/>
          </p:cNvSpPr>
          <p:nvPr/>
        </p:nvSpPr>
        <p:spPr>
          <a:xfrm>
            <a:off x="5407432" y="469271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h</a:t>
            </a:r>
            <a:r>
              <a:rPr lang="en-US" sz="1400" baseline="-25000" dirty="0"/>
              <a:t>t+1</a:t>
            </a:r>
          </a:p>
        </p:txBody>
      </p:sp>
      <p:sp>
        <p:nvSpPr>
          <p:cNvPr id="18" name="Oval 17">
            <a:extLst>
              <a:ext uri="{FF2B5EF4-FFF2-40B4-BE49-F238E27FC236}">
                <a16:creationId xmlns:a16="http://schemas.microsoft.com/office/drawing/2014/main" id="{3208887A-0080-207B-282B-72D61D0BF19B}"/>
              </a:ext>
            </a:extLst>
          </p:cNvPr>
          <p:cNvSpPr>
            <a:spLocks/>
          </p:cNvSpPr>
          <p:nvPr/>
        </p:nvSpPr>
        <p:spPr>
          <a:xfrm>
            <a:off x="5407432" y="361384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o</a:t>
            </a:r>
            <a:r>
              <a:rPr lang="en-US" sz="1400" baseline="-25000" dirty="0"/>
              <a:t>t+1</a:t>
            </a:r>
          </a:p>
        </p:txBody>
      </p:sp>
      <mc:AlternateContent xmlns:mc="http://schemas.openxmlformats.org/markup-compatibility/2006">
        <mc:Choice xmlns:a14="http://schemas.microsoft.com/office/drawing/2010/main" Requires="a14">
          <p:sp>
            <p:nvSpPr>
              <p:cNvPr id="19" name="Oval 18">
                <a:extLst>
                  <a:ext uri="{FF2B5EF4-FFF2-40B4-BE49-F238E27FC236}">
                    <a16:creationId xmlns:a16="http://schemas.microsoft.com/office/drawing/2014/main" id="{D8FFA5B9-8824-CCDF-1652-48F6B4321FE8}"/>
                  </a:ext>
                </a:extLst>
              </p:cNvPr>
              <p:cNvSpPr>
                <a:spLocks/>
              </p:cNvSpPr>
              <p:nvPr/>
            </p:nvSpPr>
            <p:spPr>
              <a:xfrm>
                <a:off x="5407431" y="2559115"/>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1400" i="1" dirty="0" smtClean="0">
                        <a:latin typeface="Cambria Math" panose="02040503050406030204" pitchFamily="18" charset="0"/>
                      </a:rPr>
                      <m:t>𝑦</m:t>
                    </m:r>
                  </m:oMath>
                </a14:m>
                <a:r>
                  <a:rPr lang="en-US" sz="1400" baseline="-25000" dirty="0"/>
                  <a:t>t+1</a:t>
                </a:r>
              </a:p>
            </p:txBody>
          </p:sp>
        </mc:Choice>
        <mc:Fallback>
          <p:sp>
            <p:nvSpPr>
              <p:cNvPr id="19" name="Oval 18">
                <a:extLst>
                  <a:ext uri="{FF2B5EF4-FFF2-40B4-BE49-F238E27FC236}">
                    <a16:creationId xmlns:a16="http://schemas.microsoft.com/office/drawing/2014/main" id="{D8FFA5B9-8824-CCDF-1652-48F6B4321FE8}"/>
                  </a:ext>
                </a:extLst>
              </p:cNvPr>
              <p:cNvSpPr>
                <a:spLocks noRot="1" noChangeAspect="1" noMove="1" noResize="1" noEditPoints="1" noAdjustHandles="1" noChangeArrowheads="1" noChangeShapeType="1" noTextEdit="1"/>
              </p:cNvSpPr>
              <p:nvPr/>
            </p:nvSpPr>
            <p:spPr>
              <a:xfrm>
                <a:off x="5407431" y="2559115"/>
                <a:ext cx="720000" cy="720000"/>
              </a:xfrm>
              <a:prstGeom prst="ellipse">
                <a:avLst/>
              </a:prstGeom>
              <a:blipFill>
                <a:blip r:embed="rId4"/>
                <a:stretch>
                  <a:fillRect/>
                </a:stretch>
              </a:blipFill>
            </p:spPr>
            <p:txBody>
              <a:bodyPr/>
              <a:lstStyle/>
              <a:p>
                <a:r>
                  <a:rPr lang="en-US">
                    <a:noFill/>
                  </a:rPr>
                  <a:t> </a:t>
                </a:r>
              </a:p>
            </p:txBody>
          </p:sp>
        </mc:Fallback>
      </mc:AlternateContent>
      <p:sp>
        <p:nvSpPr>
          <p:cNvPr id="20" name="Oval 19">
            <a:extLst>
              <a:ext uri="{FF2B5EF4-FFF2-40B4-BE49-F238E27FC236}">
                <a16:creationId xmlns:a16="http://schemas.microsoft.com/office/drawing/2014/main" id="{627A00C0-7EB1-8767-51F4-CD75608F1868}"/>
              </a:ext>
            </a:extLst>
          </p:cNvPr>
          <p:cNvSpPr>
            <a:spLocks/>
          </p:cNvSpPr>
          <p:nvPr/>
        </p:nvSpPr>
        <p:spPr>
          <a:xfrm>
            <a:off x="5407430" y="148024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a:t>
            </a:r>
            <a:r>
              <a:rPr lang="en-US" sz="1400" baseline="-25000" dirty="0"/>
              <a:t>t+1</a:t>
            </a:r>
          </a:p>
        </p:txBody>
      </p:sp>
      <p:sp>
        <p:nvSpPr>
          <p:cNvPr id="21" name="Oval 20">
            <a:extLst>
              <a:ext uri="{FF2B5EF4-FFF2-40B4-BE49-F238E27FC236}">
                <a16:creationId xmlns:a16="http://schemas.microsoft.com/office/drawing/2014/main" id="{742A0B08-84CC-8236-567F-7C0A78B80F3D}"/>
              </a:ext>
            </a:extLst>
          </p:cNvPr>
          <p:cNvSpPr>
            <a:spLocks/>
          </p:cNvSpPr>
          <p:nvPr/>
        </p:nvSpPr>
        <p:spPr>
          <a:xfrm>
            <a:off x="5407429" y="42551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y</a:t>
            </a:r>
            <a:r>
              <a:rPr lang="en-US" sz="1400" baseline="-25000" dirty="0"/>
              <a:t>t+1</a:t>
            </a:r>
          </a:p>
        </p:txBody>
      </p:sp>
      <p:sp>
        <p:nvSpPr>
          <p:cNvPr id="22" name="Oval 21">
            <a:extLst>
              <a:ext uri="{FF2B5EF4-FFF2-40B4-BE49-F238E27FC236}">
                <a16:creationId xmlns:a16="http://schemas.microsoft.com/office/drawing/2014/main" id="{C84B0A74-D43B-D52B-8B97-CA74C283818E}"/>
              </a:ext>
            </a:extLst>
          </p:cNvPr>
          <p:cNvSpPr>
            <a:spLocks/>
          </p:cNvSpPr>
          <p:nvPr/>
        </p:nvSpPr>
        <p:spPr>
          <a:xfrm>
            <a:off x="829523" y="469271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h</a:t>
            </a:r>
            <a:r>
              <a:rPr lang="en-US" sz="1400" baseline="-25000" dirty="0"/>
              <a:t>(…)</a:t>
            </a:r>
          </a:p>
        </p:txBody>
      </p:sp>
      <p:sp>
        <p:nvSpPr>
          <p:cNvPr id="23" name="Oval 22">
            <a:extLst>
              <a:ext uri="{FF2B5EF4-FFF2-40B4-BE49-F238E27FC236}">
                <a16:creationId xmlns:a16="http://schemas.microsoft.com/office/drawing/2014/main" id="{0950874C-A7D9-B153-4725-0E2C5AF52C45}"/>
              </a:ext>
            </a:extLst>
          </p:cNvPr>
          <p:cNvSpPr>
            <a:spLocks/>
          </p:cNvSpPr>
          <p:nvPr/>
        </p:nvSpPr>
        <p:spPr>
          <a:xfrm>
            <a:off x="6835120" y="469271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h</a:t>
            </a:r>
            <a:r>
              <a:rPr lang="en-US" sz="1400" baseline="-25000" dirty="0"/>
              <a:t>(…)</a:t>
            </a:r>
          </a:p>
        </p:txBody>
      </p:sp>
      <p:cxnSp>
        <p:nvCxnSpPr>
          <p:cNvPr id="25" name="Straight Arrow Connector 24">
            <a:extLst>
              <a:ext uri="{FF2B5EF4-FFF2-40B4-BE49-F238E27FC236}">
                <a16:creationId xmlns:a16="http://schemas.microsoft.com/office/drawing/2014/main" id="{8D5EA5BE-8759-3126-21E0-DEA1C21B2743}"/>
              </a:ext>
            </a:extLst>
          </p:cNvPr>
          <p:cNvCxnSpPr>
            <a:stCxn id="4" idx="0"/>
            <a:endCxn id="5" idx="4"/>
          </p:cNvCxnSpPr>
          <p:nvPr/>
        </p:nvCxnSpPr>
        <p:spPr>
          <a:xfrm flipV="1">
            <a:off x="2623367" y="5412714"/>
            <a:ext cx="0"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81F1CBA-2B1C-46EA-56F8-64ED1CC33A2B}"/>
              </a:ext>
            </a:extLst>
          </p:cNvPr>
          <p:cNvCxnSpPr>
            <a:stCxn id="5" idx="0"/>
            <a:endCxn id="6" idx="4"/>
          </p:cNvCxnSpPr>
          <p:nvPr/>
        </p:nvCxnSpPr>
        <p:spPr>
          <a:xfrm flipV="1">
            <a:off x="2623367" y="4333843"/>
            <a:ext cx="0"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BF68AC7C-5FCE-D239-1960-3C8DFDEF2B05}"/>
              </a:ext>
            </a:extLst>
          </p:cNvPr>
          <p:cNvCxnSpPr>
            <a:stCxn id="6" idx="0"/>
            <a:endCxn id="7" idx="4"/>
          </p:cNvCxnSpPr>
          <p:nvPr/>
        </p:nvCxnSpPr>
        <p:spPr>
          <a:xfrm flipH="1" flipV="1">
            <a:off x="2623366" y="3279115"/>
            <a:ext cx="1" cy="3347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E7D32FA-912C-0A71-5FD8-BBB9CCE99A00}"/>
              </a:ext>
            </a:extLst>
          </p:cNvPr>
          <p:cNvCxnSpPr>
            <a:stCxn id="7" idx="0"/>
            <a:endCxn id="8" idx="4"/>
          </p:cNvCxnSpPr>
          <p:nvPr/>
        </p:nvCxnSpPr>
        <p:spPr>
          <a:xfrm flipH="1" flipV="1">
            <a:off x="2623365" y="2200244"/>
            <a:ext cx="1"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5D8A614-CAEC-CDCC-E4E9-35CB70ED106F}"/>
              </a:ext>
            </a:extLst>
          </p:cNvPr>
          <p:cNvCxnSpPr>
            <a:stCxn id="8" idx="0"/>
            <a:endCxn id="9" idx="4"/>
          </p:cNvCxnSpPr>
          <p:nvPr/>
        </p:nvCxnSpPr>
        <p:spPr>
          <a:xfrm flipH="1" flipV="1">
            <a:off x="2623364" y="1145513"/>
            <a:ext cx="1" cy="3347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8799A3C4-4C87-F4E8-FAA4-B753C17286AB}"/>
              </a:ext>
            </a:extLst>
          </p:cNvPr>
          <p:cNvCxnSpPr>
            <a:stCxn id="10" idx="0"/>
            <a:endCxn id="11" idx="4"/>
          </p:cNvCxnSpPr>
          <p:nvPr/>
        </p:nvCxnSpPr>
        <p:spPr>
          <a:xfrm flipV="1">
            <a:off x="4195401" y="5412714"/>
            <a:ext cx="0"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51551382-1369-C8FA-045A-5A8B1E12CDBD}"/>
              </a:ext>
            </a:extLst>
          </p:cNvPr>
          <p:cNvCxnSpPr>
            <a:stCxn id="11" idx="0"/>
            <a:endCxn id="12" idx="4"/>
          </p:cNvCxnSpPr>
          <p:nvPr/>
        </p:nvCxnSpPr>
        <p:spPr>
          <a:xfrm flipV="1">
            <a:off x="4195401" y="4333843"/>
            <a:ext cx="0"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B740AE84-B193-6E6C-C98A-489E4D262772}"/>
              </a:ext>
            </a:extLst>
          </p:cNvPr>
          <p:cNvCxnSpPr>
            <a:stCxn id="12" idx="0"/>
            <a:endCxn id="13" idx="4"/>
          </p:cNvCxnSpPr>
          <p:nvPr/>
        </p:nvCxnSpPr>
        <p:spPr>
          <a:xfrm flipH="1" flipV="1">
            <a:off x="4195400" y="3279115"/>
            <a:ext cx="1" cy="3347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BD1B0A95-2B69-6E42-99AD-EAA932B40A8C}"/>
              </a:ext>
            </a:extLst>
          </p:cNvPr>
          <p:cNvCxnSpPr>
            <a:stCxn id="13" idx="0"/>
            <a:endCxn id="14" idx="4"/>
          </p:cNvCxnSpPr>
          <p:nvPr/>
        </p:nvCxnSpPr>
        <p:spPr>
          <a:xfrm flipH="1" flipV="1">
            <a:off x="4195399" y="2200244"/>
            <a:ext cx="1"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A2890CAE-729B-5305-1F57-FC847EEDA184}"/>
              </a:ext>
            </a:extLst>
          </p:cNvPr>
          <p:cNvCxnSpPr>
            <a:stCxn id="14" idx="0"/>
            <a:endCxn id="15" idx="4"/>
          </p:cNvCxnSpPr>
          <p:nvPr/>
        </p:nvCxnSpPr>
        <p:spPr>
          <a:xfrm flipH="1" flipV="1">
            <a:off x="4195398" y="1145513"/>
            <a:ext cx="1" cy="3347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5CBA2741-4F3E-C429-88BA-836C9CC194E5}"/>
              </a:ext>
            </a:extLst>
          </p:cNvPr>
          <p:cNvCxnSpPr>
            <a:stCxn id="16" idx="0"/>
            <a:endCxn id="17" idx="4"/>
          </p:cNvCxnSpPr>
          <p:nvPr/>
        </p:nvCxnSpPr>
        <p:spPr>
          <a:xfrm flipV="1">
            <a:off x="5767432" y="5412714"/>
            <a:ext cx="0"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45ADA63C-0AA5-82E9-4A3C-FBA0B4356907}"/>
              </a:ext>
            </a:extLst>
          </p:cNvPr>
          <p:cNvCxnSpPr>
            <a:stCxn id="17" idx="0"/>
            <a:endCxn id="18" idx="4"/>
          </p:cNvCxnSpPr>
          <p:nvPr/>
        </p:nvCxnSpPr>
        <p:spPr>
          <a:xfrm flipV="1">
            <a:off x="5767432" y="4333843"/>
            <a:ext cx="0"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D55D2266-DB09-64C1-7DA7-FECCDA70B89D}"/>
              </a:ext>
            </a:extLst>
          </p:cNvPr>
          <p:cNvCxnSpPr>
            <a:stCxn id="18" idx="0"/>
            <a:endCxn id="19" idx="4"/>
          </p:cNvCxnSpPr>
          <p:nvPr/>
        </p:nvCxnSpPr>
        <p:spPr>
          <a:xfrm flipH="1" flipV="1">
            <a:off x="5767431" y="3279115"/>
            <a:ext cx="1" cy="3347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FC303AF3-52BF-8B82-B5B9-6FBA8FEDB0F4}"/>
              </a:ext>
            </a:extLst>
          </p:cNvPr>
          <p:cNvCxnSpPr>
            <a:stCxn id="19" idx="0"/>
            <a:endCxn id="20" idx="4"/>
          </p:cNvCxnSpPr>
          <p:nvPr/>
        </p:nvCxnSpPr>
        <p:spPr>
          <a:xfrm flipH="1" flipV="1">
            <a:off x="5767430" y="2200244"/>
            <a:ext cx="1"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D81918EC-2A8E-A411-8166-6596333B0ECC}"/>
              </a:ext>
            </a:extLst>
          </p:cNvPr>
          <p:cNvCxnSpPr>
            <a:stCxn id="20" idx="0"/>
            <a:endCxn id="21" idx="4"/>
          </p:cNvCxnSpPr>
          <p:nvPr/>
        </p:nvCxnSpPr>
        <p:spPr>
          <a:xfrm flipH="1" flipV="1">
            <a:off x="5767429" y="1145513"/>
            <a:ext cx="1" cy="3347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1F412D63-44F2-1843-30DE-30CA4FCA9DD7}"/>
              </a:ext>
            </a:extLst>
          </p:cNvPr>
          <p:cNvCxnSpPr>
            <a:stCxn id="22" idx="6"/>
            <a:endCxn id="5" idx="2"/>
          </p:cNvCxnSpPr>
          <p:nvPr/>
        </p:nvCxnSpPr>
        <p:spPr>
          <a:xfrm>
            <a:off x="1549523" y="5052714"/>
            <a:ext cx="71384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FEB63B06-291F-D7B3-10EE-8CF5D52E8B56}"/>
              </a:ext>
            </a:extLst>
          </p:cNvPr>
          <p:cNvCxnSpPr>
            <a:stCxn id="5" idx="6"/>
            <a:endCxn id="11" idx="2"/>
          </p:cNvCxnSpPr>
          <p:nvPr/>
        </p:nvCxnSpPr>
        <p:spPr>
          <a:xfrm>
            <a:off x="2983367" y="5052714"/>
            <a:ext cx="85203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36141C74-7ECB-CD86-8F67-B3ECDB2352F8}"/>
              </a:ext>
            </a:extLst>
          </p:cNvPr>
          <p:cNvCxnSpPr>
            <a:stCxn id="11" idx="6"/>
            <a:endCxn id="17" idx="2"/>
          </p:cNvCxnSpPr>
          <p:nvPr/>
        </p:nvCxnSpPr>
        <p:spPr>
          <a:xfrm>
            <a:off x="4555401" y="5052714"/>
            <a:ext cx="8520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CC7517E2-1E9B-2FAA-9424-963B860D0216}"/>
              </a:ext>
            </a:extLst>
          </p:cNvPr>
          <p:cNvCxnSpPr>
            <a:stCxn id="17" idx="6"/>
            <a:endCxn id="23" idx="2"/>
          </p:cNvCxnSpPr>
          <p:nvPr/>
        </p:nvCxnSpPr>
        <p:spPr>
          <a:xfrm>
            <a:off x="6127432" y="5052714"/>
            <a:ext cx="70768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24C1A828-1BA7-802C-C336-1300611D0C9F}"/>
              </a:ext>
            </a:extLst>
          </p:cNvPr>
          <p:cNvSpPr txBox="1"/>
          <p:nvPr/>
        </p:nvSpPr>
        <p:spPr>
          <a:xfrm>
            <a:off x="1679901" y="5104937"/>
            <a:ext cx="344966" cy="307777"/>
          </a:xfrm>
          <a:prstGeom prst="rect">
            <a:avLst/>
          </a:prstGeom>
          <a:noFill/>
        </p:spPr>
        <p:txBody>
          <a:bodyPr wrap="none" rtlCol="0">
            <a:spAutoFit/>
          </a:bodyPr>
          <a:lstStyle/>
          <a:p>
            <a:r>
              <a:rPr lang="en-US" sz="1400" dirty="0"/>
              <a:t>W</a:t>
            </a:r>
          </a:p>
        </p:txBody>
      </p:sp>
      <p:sp>
        <p:nvSpPr>
          <p:cNvPr id="63" name="TextBox 62">
            <a:extLst>
              <a:ext uri="{FF2B5EF4-FFF2-40B4-BE49-F238E27FC236}">
                <a16:creationId xmlns:a16="http://schemas.microsoft.com/office/drawing/2014/main" id="{7993CC5F-C845-54AD-C028-498C8A7F39B1}"/>
              </a:ext>
            </a:extLst>
          </p:cNvPr>
          <p:cNvSpPr txBox="1"/>
          <p:nvPr/>
        </p:nvSpPr>
        <p:spPr>
          <a:xfrm>
            <a:off x="3164728" y="5104937"/>
            <a:ext cx="344966" cy="307777"/>
          </a:xfrm>
          <a:prstGeom prst="rect">
            <a:avLst/>
          </a:prstGeom>
          <a:noFill/>
        </p:spPr>
        <p:txBody>
          <a:bodyPr wrap="none" rtlCol="0">
            <a:spAutoFit/>
          </a:bodyPr>
          <a:lstStyle/>
          <a:p>
            <a:r>
              <a:rPr lang="en-US" sz="1400" dirty="0"/>
              <a:t>W</a:t>
            </a:r>
          </a:p>
        </p:txBody>
      </p:sp>
      <p:sp>
        <p:nvSpPr>
          <p:cNvPr id="64" name="TextBox 63">
            <a:extLst>
              <a:ext uri="{FF2B5EF4-FFF2-40B4-BE49-F238E27FC236}">
                <a16:creationId xmlns:a16="http://schemas.microsoft.com/office/drawing/2014/main" id="{FE21A5C1-393B-A083-E01F-D581A334F31D}"/>
              </a:ext>
            </a:extLst>
          </p:cNvPr>
          <p:cNvSpPr txBox="1"/>
          <p:nvPr/>
        </p:nvSpPr>
        <p:spPr>
          <a:xfrm>
            <a:off x="4823967" y="5104184"/>
            <a:ext cx="344966" cy="307777"/>
          </a:xfrm>
          <a:prstGeom prst="rect">
            <a:avLst/>
          </a:prstGeom>
          <a:noFill/>
        </p:spPr>
        <p:txBody>
          <a:bodyPr wrap="none" rtlCol="0">
            <a:spAutoFit/>
          </a:bodyPr>
          <a:lstStyle/>
          <a:p>
            <a:r>
              <a:rPr lang="en-US" sz="1400" dirty="0"/>
              <a:t>W</a:t>
            </a:r>
          </a:p>
        </p:txBody>
      </p:sp>
      <p:sp>
        <p:nvSpPr>
          <p:cNvPr id="65" name="TextBox 64">
            <a:extLst>
              <a:ext uri="{FF2B5EF4-FFF2-40B4-BE49-F238E27FC236}">
                <a16:creationId xmlns:a16="http://schemas.microsoft.com/office/drawing/2014/main" id="{63850FEC-44C5-1E72-9E6A-603283645CE4}"/>
              </a:ext>
            </a:extLst>
          </p:cNvPr>
          <p:cNvSpPr txBox="1"/>
          <p:nvPr/>
        </p:nvSpPr>
        <p:spPr>
          <a:xfrm>
            <a:off x="6302638" y="5120300"/>
            <a:ext cx="344966" cy="307777"/>
          </a:xfrm>
          <a:prstGeom prst="rect">
            <a:avLst/>
          </a:prstGeom>
          <a:noFill/>
        </p:spPr>
        <p:txBody>
          <a:bodyPr wrap="none" rtlCol="0">
            <a:spAutoFit/>
          </a:bodyPr>
          <a:lstStyle/>
          <a:p>
            <a:r>
              <a:rPr lang="en-US" sz="1400" dirty="0"/>
              <a:t>W</a:t>
            </a:r>
          </a:p>
        </p:txBody>
      </p:sp>
      <p:sp>
        <p:nvSpPr>
          <p:cNvPr id="66" name="TextBox 65">
            <a:extLst>
              <a:ext uri="{FF2B5EF4-FFF2-40B4-BE49-F238E27FC236}">
                <a16:creationId xmlns:a16="http://schemas.microsoft.com/office/drawing/2014/main" id="{E836B428-FC4B-F340-A33C-AB2869071B61}"/>
              </a:ext>
            </a:extLst>
          </p:cNvPr>
          <p:cNvSpPr txBox="1"/>
          <p:nvPr/>
        </p:nvSpPr>
        <p:spPr>
          <a:xfrm>
            <a:off x="2704417" y="5470870"/>
            <a:ext cx="306494" cy="307777"/>
          </a:xfrm>
          <a:prstGeom prst="rect">
            <a:avLst/>
          </a:prstGeom>
          <a:noFill/>
        </p:spPr>
        <p:txBody>
          <a:bodyPr wrap="none" rtlCol="0">
            <a:spAutoFit/>
          </a:bodyPr>
          <a:lstStyle/>
          <a:p>
            <a:r>
              <a:rPr lang="en-US" sz="1400" dirty="0"/>
              <a:t>U</a:t>
            </a:r>
          </a:p>
        </p:txBody>
      </p:sp>
      <p:sp>
        <p:nvSpPr>
          <p:cNvPr id="67" name="TextBox 66">
            <a:extLst>
              <a:ext uri="{FF2B5EF4-FFF2-40B4-BE49-F238E27FC236}">
                <a16:creationId xmlns:a16="http://schemas.microsoft.com/office/drawing/2014/main" id="{0541E89D-451B-1386-FE3D-2BA7DF634388}"/>
              </a:ext>
            </a:extLst>
          </p:cNvPr>
          <p:cNvSpPr txBox="1"/>
          <p:nvPr/>
        </p:nvSpPr>
        <p:spPr>
          <a:xfrm>
            <a:off x="4261414" y="5470870"/>
            <a:ext cx="306494" cy="307777"/>
          </a:xfrm>
          <a:prstGeom prst="rect">
            <a:avLst/>
          </a:prstGeom>
          <a:noFill/>
        </p:spPr>
        <p:txBody>
          <a:bodyPr wrap="none" rtlCol="0">
            <a:spAutoFit/>
          </a:bodyPr>
          <a:lstStyle/>
          <a:p>
            <a:r>
              <a:rPr lang="en-US" sz="1400" dirty="0"/>
              <a:t>U</a:t>
            </a:r>
          </a:p>
        </p:txBody>
      </p:sp>
      <p:sp>
        <p:nvSpPr>
          <p:cNvPr id="68" name="TextBox 67">
            <a:extLst>
              <a:ext uri="{FF2B5EF4-FFF2-40B4-BE49-F238E27FC236}">
                <a16:creationId xmlns:a16="http://schemas.microsoft.com/office/drawing/2014/main" id="{5B6E99B1-9ED4-8081-E50A-2A75D458B163}"/>
              </a:ext>
            </a:extLst>
          </p:cNvPr>
          <p:cNvSpPr txBox="1"/>
          <p:nvPr/>
        </p:nvSpPr>
        <p:spPr>
          <a:xfrm>
            <a:off x="5789982" y="5470869"/>
            <a:ext cx="306494" cy="307777"/>
          </a:xfrm>
          <a:prstGeom prst="rect">
            <a:avLst/>
          </a:prstGeom>
          <a:noFill/>
        </p:spPr>
        <p:txBody>
          <a:bodyPr wrap="none" rtlCol="0">
            <a:spAutoFit/>
          </a:bodyPr>
          <a:lstStyle/>
          <a:p>
            <a:r>
              <a:rPr lang="en-US" sz="1400" dirty="0"/>
              <a:t>U</a:t>
            </a:r>
          </a:p>
        </p:txBody>
      </p:sp>
      <p:sp>
        <p:nvSpPr>
          <p:cNvPr id="69" name="TextBox 68">
            <a:extLst>
              <a:ext uri="{FF2B5EF4-FFF2-40B4-BE49-F238E27FC236}">
                <a16:creationId xmlns:a16="http://schemas.microsoft.com/office/drawing/2014/main" id="{A76F0F96-191A-8F33-DC3A-D9EBCE13971D}"/>
              </a:ext>
            </a:extLst>
          </p:cNvPr>
          <p:cNvSpPr txBox="1"/>
          <p:nvPr/>
        </p:nvSpPr>
        <p:spPr>
          <a:xfrm>
            <a:off x="2659548" y="4366925"/>
            <a:ext cx="290464" cy="307777"/>
          </a:xfrm>
          <a:prstGeom prst="rect">
            <a:avLst/>
          </a:prstGeom>
          <a:noFill/>
        </p:spPr>
        <p:txBody>
          <a:bodyPr wrap="none" rtlCol="0">
            <a:spAutoFit/>
          </a:bodyPr>
          <a:lstStyle/>
          <a:p>
            <a:r>
              <a:rPr lang="en-US" sz="1400" dirty="0"/>
              <a:t>V</a:t>
            </a:r>
          </a:p>
        </p:txBody>
      </p:sp>
      <p:sp>
        <p:nvSpPr>
          <p:cNvPr id="70" name="TextBox 69">
            <a:extLst>
              <a:ext uri="{FF2B5EF4-FFF2-40B4-BE49-F238E27FC236}">
                <a16:creationId xmlns:a16="http://schemas.microsoft.com/office/drawing/2014/main" id="{E703865C-6994-19C2-B42E-C4573B484B0B}"/>
              </a:ext>
            </a:extLst>
          </p:cNvPr>
          <p:cNvSpPr txBox="1"/>
          <p:nvPr/>
        </p:nvSpPr>
        <p:spPr>
          <a:xfrm>
            <a:off x="4222942" y="4366924"/>
            <a:ext cx="290464" cy="307777"/>
          </a:xfrm>
          <a:prstGeom prst="rect">
            <a:avLst/>
          </a:prstGeom>
          <a:noFill/>
        </p:spPr>
        <p:txBody>
          <a:bodyPr wrap="none" rtlCol="0">
            <a:spAutoFit/>
          </a:bodyPr>
          <a:lstStyle/>
          <a:p>
            <a:r>
              <a:rPr lang="en-US" sz="1400" dirty="0"/>
              <a:t>V</a:t>
            </a:r>
          </a:p>
        </p:txBody>
      </p:sp>
      <p:sp>
        <p:nvSpPr>
          <p:cNvPr id="71" name="TextBox 70">
            <a:extLst>
              <a:ext uri="{FF2B5EF4-FFF2-40B4-BE49-F238E27FC236}">
                <a16:creationId xmlns:a16="http://schemas.microsoft.com/office/drawing/2014/main" id="{3DEE434C-D200-5DB8-73A2-9BDA7721C595}"/>
              </a:ext>
            </a:extLst>
          </p:cNvPr>
          <p:cNvSpPr txBox="1"/>
          <p:nvPr/>
        </p:nvSpPr>
        <p:spPr>
          <a:xfrm>
            <a:off x="5782463" y="4388468"/>
            <a:ext cx="290464" cy="307777"/>
          </a:xfrm>
          <a:prstGeom prst="rect">
            <a:avLst/>
          </a:prstGeom>
          <a:noFill/>
        </p:spPr>
        <p:txBody>
          <a:bodyPr wrap="none" rtlCol="0">
            <a:spAutoFit/>
          </a:bodyPr>
          <a:lstStyle/>
          <a:p>
            <a:r>
              <a:rPr lang="en-US" sz="1400" dirty="0"/>
              <a:t>V</a:t>
            </a:r>
          </a:p>
        </p:txBody>
      </p:sp>
      <mc:AlternateContent xmlns:mc="http://schemas.openxmlformats.org/markup-compatibility/2006">
        <mc:Choice xmlns:a14="http://schemas.microsoft.com/office/drawing/2010/main" Requires="a14">
          <p:sp>
            <p:nvSpPr>
              <p:cNvPr id="73" name="TextBox 72">
                <a:extLst>
                  <a:ext uri="{FF2B5EF4-FFF2-40B4-BE49-F238E27FC236}">
                    <a16:creationId xmlns:a16="http://schemas.microsoft.com/office/drawing/2014/main" id="{4F80D548-6CB9-03AD-0BDD-2488151AE5B5}"/>
                  </a:ext>
                </a:extLst>
              </p:cNvPr>
              <p:cNvSpPr txBox="1"/>
              <p:nvPr/>
            </p:nvSpPr>
            <p:spPr>
              <a:xfrm>
                <a:off x="8260539" y="1041678"/>
                <a:ext cx="3346002" cy="590226"/>
              </a:xfrm>
              <a:prstGeom prst="rect">
                <a:avLst/>
              </a:prstGeom>
              <a:noFill/>
            </p:spPr>
            <p:txBody>
              <a:bodyPr wrap="square">
                <a:spAutoFit/>
              </a:bodyPr>
              <a:lstStyle/>
              <a:p>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𝑉</m:t>
                        </m:r>
                      </m:den>
                    </m:f>
                  </m:oMath>
                </a14:m>
                <a:r>
                  <a:rPr lang="en-US" sz="2200" dirty="0"/>
                  <a:t> = </a:t>
                </a: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r>
                          <a:rPr lang="en-US" sz="2200" b="0" i="1" baseline="-25000" smtClean="0">
                            <a:latin typeface="Cambria Math" panose="02040503050406030204" pitchFamily="18" charset="0"/>
                            <a:ea typeface="Cambria Math" panose="02040503050406030204" pitchFamily="18" charset="0"/>
                          </a:rPr>
                          <m:t>1</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𝑉</m:t>
                        </m:r>
                      </m:den>
                    </m:f>
                  </m:oMath>
                </a14:m>
                <a:r>
                  <a:rPr lang="en-US" sz="2200" dirty="0"/>
                  <a:t> + </a:t>
                </a: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r>
                          <a:rPr lang="en-US" sz="2200" b="0" i="1" baseline="-25000" smtClean="0">
                            <a:latin typeface="Cambria Math" panose="02040503050406030204" pitchFamily="18" charset="0"/>
                            <a:ea typeface="Cambria Math" panose="02040503050406030204" pitchFamily="18" charset="0"/>
                          </a:rPr>
                          <m:t>2</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𝑉</m:t>
                        </m:r>
                      </m:den>
                    </m:f>
                  </m:oMath>
                </a14:m>
                <a:r>
                  <a:rPr lang="en-US" sz="2200" dirty="0"/>
                  <a:t> + </a:t>
                </a: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r>
                          <a:rPr lang="en-US" sz="2200" b="0" i="1" baseline="-25000" smtClean="0">
                            <a:latin typeface="Cambria Math" panose="02040503050406030204" pitchFamily="18" charset="0"/>
                            <a:ea typeface="Cambria Math" panose="02040503050406030204" pitchFamily="18" charset="0"/>
                          </a:rPr>
                          <m:t>3</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𝑉</m:t>
                        </m:r>
                      </m:den>
                    </m:f>
                  </m:oMath>
                </a14:m>
                <a:r>
                  <a:rPr lang="en-US" sz="2200" dirty="0"/>
                  <a:t> + .. + </a:t>
                </a: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r>
                          <a:rPr lang="en-US" sz="2200" b="0" i="1" baseline="-25000" smtClean="0">
                            <a:latin typeface="Cambria Math" panose="02040503050406030204" pitchFamily="18" charset="0"/>
                            <a:ea typeface="Cambria Math" panose="02040503050406030204" pitchFamily="18" charset="0"/>
                          </a:rPr>
                          <m:t>𝑛</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𝑉</m:t>
                        </m:r>
                      </m:den>
                    </m:f>
                  </m:oMath>
                </a14:m>
                <a:endParaRPr lang="en-US" sz="2200" dirty="0"/>
              </a:p>
            </p:txBody>
          </p:sp>
        </mc:Choice>
        <mc:Fallback>
          <p:sp>
            <p:nvSpPr>
              <p:cNvPr id="73" name="TextBox 72">
                <a:extLst>
                  <a:ext uri="{FF2B5EF4-FFF2-40B4-BE49-F238E27FC236}">
                    <a16:creationId xmlns:a16="http://schemas.microsoft.com/office/drawing/2014/main" id="{4F80D548-6CB9-03AD-0BDD-2488151AE5B5}"/>
                  </a:ext>
                </a:extLst>
              </p:cNvPr>
              <p:cNvSpPr txBox="1">
                <a:spLocks noRot="1" noChangeAspect="1" noMove="1" noResize="1" noEditPoints="1" noAdjustHandles="1" noChangeArrowheads="1" noChangeShapeType="1" noTextEdit="1"/>
              </p:cNvSpPr>
              <p:nvPr/>
            </p:nvSpPr>
            <p:spPr>
              <a:xfrm>
                <a:off x="8260539" y="1041678"/>
                <a:ext cx="3346002" cy="590226"/>
              </a:xfrm>
              <a:prstGeom prst="rect">
                <a:avLst/>
              </a:prstGeom>
              <a:blipFill>
                <a:blip r:embed="rId5"/>
                <a:stretch>
                  <a:fillRect b="-85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F37EFB2F-A019-D37F-342B-5AFC8F66845E}"/>
                  </a:ext>
                </a:extLst>
              </p:cNvPr>
              <p:cNvSpPr txBox="1"/>
              <p:nvPr/>
            </p:nvSpPr>
            <p:spPr>
              <a:xfrm>
                <a:off x="7774663" y="1764643"/>
                <a:ext cx="2446695" cy="8712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𝑉</m:t>
                          </m:r>
                        </m:den>
                      </m:f>
                      <m:r>
                        <a:rPr lang="en-US" b="0" i="0" smtClean="0">
                          <a:latin typeface="Cambria Math" panose="02040503050406030204" pitchFamily="18" charset="0"/>
                          <a:ea typeface="Cambria Math" panose="02040503050406030204" pitchFamily="18" charset="0"/>
                        </a:rPr>
                        <m:t> </m:t>
                      </m:r>
                      <m:r>
                        <a:rPr lang="en-US" b="0" i="0" smtClean="0">
                          <a:latin typeface="Cambria Math" panose="02040503050406030204" pitchFamily="18" charset="0"/>
                          <a:ea typeface="Cambria Math" panose="02040503050406030204" pitchFamily="18" charset="0"/>
                        </a:rPr>
                        <m:t>=</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𝑇</m:t>
                          </m:r>
                        </m:sup>
                        <m:e>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𝑡</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𝑉</m:t>
                              </m:r>
                            </m:den>
                          </m:f>
                        </m:e>
                      </m:nary>
                    </m:oMath>
                  </m:oMathPara>
                </a14:m>
                <a:endParaRPr lang="en-US" dirty="0"/>
              </a:p>
            </p:txBody>
          </p:sp>
        </mc:Choice>
        <mc:Fallback>
          <p:sp>
            <p:nvSpPr>
              <p:cNvPr id="77" name="TextBox 76">
                <a:extLst>
                  <a:ext uri="{FF2B5EF4-FFF2-40B4-BE49-F238E27FC236}">
                    <a16:creationId xmlns:a16="http://schemas.microsoft.com/office/drawing/2014/main" id="{F37EFB2F-A019-D37F-342B-5AFC8F66845E}"/>
                  </a:ext>
                </a:extLst>
              </p:cNvPr>
              <p:cNvSpPr txBox="1">
                <a:spLocks noRot="1" noChangeAspect="1" noMove="1" noResize="1" noEditPoints="1" noAdjustHandles="1" noChangeArrowheads="1" noChangeShapeType="1" noTextEdit="1"/>
              </p:cNvSpPr>
              <p:nvPr/>
            </p:nvSpPr>
            <p:spPr>
              <a:xfrm>
                <a:off x="7774663" y="1764643"/>
                <a:ext cx="2446695" cy="871201"/>
              </a:xfrm>
              <a:prstGeom prst="rect">
                <a:avLst/>
              </a:prstGeom>
              <a:blipFill>
                <a:blip r:embed="rId6"/>
                <a:stretch>
                  <a:fillRect t="-92857" b="-1485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9" name="TextBox 78">
                <a:extLst>
                  <a:ext uri="{FF2B5EF4-FFF2-40B4-BE49-F238E27FC236}">
                    <a16:creationId xmlns:a16="http://schemas.microsoft.com/office/drawing/2014/main" id="{C4D471EC-07C4-40AE-F121-A2CF457C88CE}"/>
                  </a:ext>
                </a:extLst>
              </p:cNvPr>
              <p:cNvSpPr txBox="1"/>
              <p:nvPr/>
            </p:nvSpPr>
            <p:spPr>
              <a:xfrm>
                <a:off x="8260539" y="2856253"/>
                <a:ext cx="1994015" cy="627929"/>
              </a:xfrm>
              <a:prstGeom prst="rect">
                <a:avLst/>
              </a:prstGeom>
              <a:noFill/>
            </p:spPr>
            <p:txBody>
              <a:bodyPr wrap="square">
                <a:spAutoFit/>
              </a:bodyPr>
              <a:lstStyle/>
              <a:p>
                <a:pP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r>
                          <a:rPr lang="en-US" sz="2200" b="0" i="1" baseline="-25000" smtClean="0">
                            <a:latin typeface="Cambria Math" panose="02040503050406030204" pitchFamily="18" charset="0"/>
                            <a:ea typeface="Cambria Math" panose="02040503050406030204" pitchFamily="18" charset="0"/>
                          </a:rPr>
                          <m:t>𝑡</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𝑉</m:t>
                        </m:r>
                      </m:den>
                    </m:f>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r>
                          <a:rPr lang="en-US" sz="2200" b="0" i="1" baseline="-25000" smtClean="0">
                            <a:latin typeface="Cambria Math" panose="02040503050406030204" pitchFamily="18" charset="0"/>
                            <a:ea typeface="Cambria Math" panose="02040503050406030204" pitchFamily="18" charset="0"/>
                          </a:rPr>
                          <m:t>𝑡</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𝑦</m:t>
                        </m:r>
                        <m:r>
                          <a:rPr lang="en-US" sz="2200" b="0" i="1" baseline="-25000" smtClean="0">
                            <a:latin typeface="Cambria Math" panose="02040503050406030204" pitchFamily="18" charset="0"/>
                            <a:ea typeface="Cambria Math" panose="02040503050406030204" pitchFamily="18" charset="0"/>
                          </a:rPr>
                          <m:t>𝑡</m:t>
                        </m:r>
                      </m:den>
                    </m:f>
                  </m:oMath>
                </a14:m>
                <a:r>
                  <a:rPr lang="en-US" sz="2200" dirty="0"/>
                  <a:t> </a:t>
                </a: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𝑦</m:t>
                        </m:r>
                        <m:r>
                          <a:rPr lang="en-US" sz="2200" b="0" i="1" baseline="-25000" smtClean="0">
                            <a:latin typeface="Cambria Math" panose="02040503050406030204" pitchFamily="18" charset="0"/>
                            <a:ea typeface="Cambria Math" panose="02040503050406030204" pitchFamily="18" charset="0"/>
                          </a:rPr>
                          <m:t>𝑡</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𝑜</m:t>
                        </m:r>
                        <m:r>
                          <a:rPr lang="en-US" sz="2200" b="0" i="1" baseline="-25000" smtClean="0">
                            <a:latin typeface="Cambria Math" panose="02040503050406030204" pitchFamily="18" charset="0"/>
                            <a:ea typeface="Cambria Math" panose="02040503050406030204" pitchFamily="18" charset="0"/>
                          </a:rPr>
                          <m:t>𝑡</m:t>
                        </m:r>
                      </m:den>
                    </m:f>
                  </m:oMath>
                </a14:m>
                <a:r>
                  <a:rPr lang="en-US" sz="2200" dirty="0"/>
                  <a:t> </a:t>
                </a: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𝑜</m:t>
                        </m:r>
                        <m:r>
                          <a:rPr lang="en-US" sz="2200" b="0" i="1" baseline="-25000" smtClean="0">
                            <a:latin typeface="Cambria Math" panose="02040503050406030204" pitchFamily="18" charset="0"/>
                            <a:ea typeface="Cambria Math" panose="02040503050406030204" pitchFamily="18" charset="0"/>
                          </a:rPr>
                          <m:t>𝑡</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𝑉</m:t>
                        </m:r>
                      </m:den>
                    </m:f>
                  </m:oMath>
                </a14:m>
                <a:endParaRPr lang="en-US" sz="2200" dirty="0"/>
              </a:p>
            </p:txBody>
          </p:sp>
        </mc:Choice>
        <mc:Fallback>
          <p:sp>
            <p:nvSpPr>
              <p:cNvPr id="79" name="TextBox 78">
                <a:extLst>
                  <a:ext uri="{FF2B5EF4-FFF2-40B4-BE49-F238E27FC236}">
                    <a16:creationId xmlns:a16="http://schemas.microsoft.com/office/drawing/2014/main" id="{C4D471EC-07C4-40AE-F121-A2CF457C88CE}"/>
                  </a:ext>
                </a:extLst>
              </p:cNvPr>
              <p:cNvSpPr txBox="1">
                <a:spLocks noRot="1" noChangeAspect="1" noMove="1" noResize="1" noEditPoints="1" noAdjustHandles="1" noChangeArrowheads="1" noChangeShapeType="1" noTextEdit="1"/>
              </p:cNvSpPr>
              <p:nvPr/>
            </p:nvSpPr>
            <p:spPr>
              <a:xfrm>
                <a:off x="8260539" y="2856253"/>
                <a:ext cx="1994015" cy="627929"/>
              </a:xfrm>
              <a:prstGeom prst="rect">
                <a:avLst/>
              </a:prstGeom>
              <a:blipFill>
                <a:blip r:embed="rId7"/>
                <a:stretch>
                  <a:fillRect b="-4000"/>
                </a:stretch>
              </a:blipFill>
            </p:spPr>
            <p:txBody>
              <a:bodyPr/>
              <a:lstStyle/>
              <a:p>
                <a:r>
                  <a:rPr lang="en-US">
                    <a:noFill/>
                  </a:rPr>
                  <a:t> </a:t>
                </a:r>
              </a:p>
            </p:txBody>
          </p:sp>
        </mc:Fallback>
      </mc:AlternateContent>
      <p:sp>
        <p:nvSpPr>
          <p:cNvPr id="81" name="TextBox 80">
            <a:extLst>
              <a:ext uri="{FF2B5EF4-FFF2-40B4-BE49-F238E27FC236}">
                <a16:creationId xmlns:a16="http://schemas.microsoft.com/office/drawing/2014/main" id="{C76E9484-6107-678E-6150-67BC98268AA2}"/>
              </a:ext>
            </a:extLst>
          </p:cNvPr>
          <p:cNvSpPr txBox="1"/>
          <p:nvPr/>
        </p:nvSpPr>
        <p:spPr>
          <a:xfrm>
            <a:off x="-65514" y="3859483"/>
            <a:ext cx="2510073" cy="276999"/>
          </a:xfrm>
          <a:prstGeom prst="rect">
            <a:avLst/>
          </a:prstGeom>
          <a:noFill/>
        </p:spPr>
        <p:txBody>
          <a:bodyPr wrap="square">
            <a:spAutoFit/>
          </a:bodyPr>
          <a:lstStyle/>
          <a:p>
            <a:r>
              <a:rPr lang="en-US" sz="1200" dirty="0"/>
              <a:t>[0.212, 0.168, 0.194, 0.223, 0.203]</a:t>
            </a:r>
          </a:p>
        </p:txBody>
      </p:sp>
    </p:spTree>
    <p:extLst>
      <p:ext uri="{BB962C8B-B14F-4D97-AF65-F5344CB8AC3E}">
        <p14:creationId xmlns:p14="http://schemas.microsoft.com/office/powerpoint/2010/main" val="1475103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A8F5CCE-62B1-C520-F8A2-49401524D669}"/>
              </a:ext>
            </a:extLst>
          </p:cNvPr>
          <p:cNvSpPr>
            <a:spLocks/>
          </p:cNvSpPr>
          <p:nvPr/>
        </p:nvSpPr>
        <p:spPr>
          <a:xfrm>
            <a:off x="1837854" y="571726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a:t>
            </a:r>
            <a:r>
              <a:rPr lang="en-US" sz="1400" baseline="-25000" dirty="0"/>
              <a:t>t-1</a:t>
            </a:r>
          </a:p>
        </p:txBody>
      </p:sp>
      <p:sp>
        <p:nvSpPr>
          <p:cNvPr id="5" name="Oval 4">
            <a:extLst>
              <a:ext uri="{FF2B5EF4-FFF2-40B4-BE49-F238E27FC236}">
                <a16:creationId xmlns:a16="http://schemas.microsoft.com/office/drawing/2014/main" id="{C55F932C-B16C-D320-454C-3C5E5FB4D496}"/>
              </a:ext>
            </a:extLst>
          </p:cNvPr>
          <p:cNvSpPr>
            <a:spLocks/>
          </p:cNvSpPr>
          <p:nvPr/>
        </p:nvSpPr>
        <p:spPr>
          <a:xfrm>
            <a:off x="1837854" y="463839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h</a:t>
            </a:r>
            <a:r>
              <a:rPr lang="en-US" sz="1400" baseline="-25000" dirty="0"/>
              <a:t>t-1</a:t>
            </a:r>
          </a:p>
        </p:txBody>
      </p:sp>
      <p:sp>
        <p:nvSpPr>
          <p:cNvPr id="6" name="Oval 5">
            <a:extLst>
              <a:ext uri="{FF2B5EF4-FFF2-40B4-BE49-F238E27FC236}">
                <a16:creationId xmlns:a16="http://schemas.microsoft.com/office/drawing/2014/main" id="{BB9E8B1C-0AD4-F0B3-24F2-056559AE3EAC}"/>
              </a:ext>
            </a:extLst>
          </p:cNvPr>
          <p:cNvSpPr>
            <a:spLocks/>
          </p:cNvSpPr>
          <p:nvPr/>
        </p:nvSpPr>
        <p:spPr>
          <a:xfrm>
            <a:off x="1837854" y="3559522"/>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o</a:t>
            </a:r>
            <a:r>
              <a:rPr lang="en-US" sz="1400" baseline="-25000" dirty="0"/>
              <a:t>t-1</a:t>
            </a:r>
          </a:p>
        </p:txBody>
      </p:sp>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F52B2253-704D-2939-666B-20631C773704}"/>
                  </a:ext>
                </a:extLst>
              </p:cNvPr>
              <p:cNvSpPr>
                <a:spLocks/>
              </p:cNvSpPr>
              <p:nvPr/>
            </p:nvSpPr>
            <p:spPr>
              <a:xfrm>
                <a:off x="1837853" y="250479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1400" i="1" dirty="0" smtClean="0">
                        <a:latin typeface="Cambria Math" panose="02040503050406030204" pitchFamily="18" charset="0"/>
                      </a:rPr>
                      <m:t>𝑦</m:t>
                    </m:r>
                  </m:oMath>
                </a14:m>
                <a:r>
                  <a:rPr lang="en-US" sz="1400" baseline="-25000" dirty="0"/>
                  <a:t>t-1</a:t>
                </a:r>
              </a:p>
            </p:txBody>
          </p:sp>
        </mc:Choice>
        <mc:Fallback>
          <p:sp>
            <p:nvSpPr>
              <p:cNvPr id="7" name="Oval 6">
                <a:extLst>
                  <a:ext uri="{FF2B5EF4-FFF2-40B4-BE49-F238E27FC236}">
                    <a16:creationId xmlns:a16="http://schemas.microsoft.com/office/drawing/2014/main" id="{F52B2253-704D-2939-666B-20631C773704}"/>
                  </a:ext>
                </a:extLst>
              </p:cNvPr>
              <p:cNvSpPr>
                <a:spLocks noRot="1" noChangeAspect="1" noMove="1" noResize="1" noEditPoints="1" noAdjustHandles="1" noChangeArrowheads="1" noChangeShapeType="1" noTextEdit="1"/>
              </p:cNvSpPr>
              <p:nvPr/>
            </p:nvSpPr>
            <p:spPr>
              <a:xfrm>
                <a:off x="1837853" y="2504794"/>
                <a:ext cx="720000" cy="720000"/>
              </a:xfrm>
              <a:prstGeom prst="ellipse">
                <a:avLst/>
              </a:prstGeom>
              <a:blipFill>
                <a:blip r:embed="rId2"/>
                <a:stretch>
                  <a:fillRect/>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8C856FFC-4A2D-8AB5-0E62-70CACD9D74AB}"/>
              </a:ext>
            </a:extLst>
          </p:cNvPr>
          <p:cNvSpPr>
            <a:spLocks/>
          </p:cNvSpPr>
          <p:nvPr/>
        </p:nvSpPr>
        <p:spPr>
          <a:xfrm>
            <a:off x="1837852" y="142592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a:t>
            </a:r>
            <a:r>
              <a:rPr lang="en-US" sz="1400" baseline="-25000" dirty="0"/>
              <a:t>t-1</a:t>
            </a:r>
          </a:p>
        </p:txBody>
      </p:sp>
      <p:sp>
        <p:nvSpPr>
          <p:cNvPr id="9" name="Oval 8">
            <a:extLst>
              <a:ext uri="{FF2B5EF4-FFF2-40B4-BE49-F238E27FC236}">
                <a16:creationId xmlns:a16="http://schemas.microsoft.com/office/drawing/2014/main" id="{4197884C-E0AD-9B30-5751-0B75178EDD0C}"/>
              </a:ext>
            </a:extLst>
          </p:cNvPr>
          <p:cNvSpPr>
            <a:spLocks/>
          </p:cNvSpPr>
          <p:nvPr/>
        </p:nvSpPr>
        <p:spPr>
          <a:xfrm>
            <a:off x="1837851" y="371192"/>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y</a:t>
            </a:r>
            <a:r>
              <a:rPr lang="en-US" sz="1400" baseline="-25000" dirty="0"/>
              <a:t>t-1</a:t>
            </a:r>
          </a:p>
        </p:txBody>
      </p:sp>
      <p:sp>
        <p:nvSpPr>
          <p:cNvPr id="10" name="Oval 9">
            <a:extLst>
              <a:ext uri="{FF2B5EF4-FFF2-40B4-BE49-F238E27FC236}">
                <a16:creationId xmlns:a16="http://schemas.microsoft.com/office/drawing/2014/main" id="{B34E6A49-3DF7-6AFC-EF29-9BD88FF16DB4}"/>
              </a:ext>
            </a:extLst>
          </p:cNvPr>
          <p:cNvSpPr>
            <a:spLocks/>
          </p:cNvSpPr>
          <p:nvPr/>
        </p:nvSpPr>
        <p:spPr>
          <a:xfrm>
            <a:off x="3409888" y="571726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x</a:t>
            </a:r>
            <a:r>
              <a:rPr lang="en-US" sz="1400" baseline="-25000" dirty="0" err="1"/>
              <a:t>t</a:t>
            </a:r>
            <a:endParaRPr lang="en-US" sz="1400" baseline="-25000" dirty="0"/>
          </a:p>
        </p:txBody>
      </p:sp>
      <p:sp>
        <p:nvSpPr>
          <p:cNvPr id="11" name="Oval 10">
            <a:extLst>
              <a:ext uri="{FF2B5EF4-FFF2-40B4-BE49-F238E27FC236}">
                <a16:creationId xmlns:a16="http://schemas.microsoft.com/office/drawing/2014/main" id="{B6160287-B1CF-758C-90C2-7AE29313F9F8}"/>
              </a:ext>
            </a:extLst>
          </p:cNvPr>
          <p:cNvSpPr>
            <a:spLocks/>
          </p:cNvSpPr>
          <p:nvPr/>
        </p:nvSpPr>
        <p:spPr>
          <a:xfrm>
            <a:off x="3409888" y="463839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h</a:t>
            </a:r>
            <a:r>
              <a:rPr lang="en-US" sz="1400" baseline="-25000" dirty="0" err="1"/>
              <a:t>t</a:t>
            </a:r>
            <a:endParaRPr lang="en-US" sz="1400" baseline="-25000" dirty="0"/>
          </a:p>
        </p:txBody>
      </p:sp>
      <p:sp>
        <p:nvSpPr>
          <p:cNvPr id="12" name="Oval 11">
            <a:extLst>
              <a:ext uri="{FF2B5EF4-FFF2-40B4-BE49-F238E27FC236}">
                <a16:creationId xmlns:a16="http://schemas.microsoft.com/office/drawing/2014/main" id="{F7CCBA08-50E1-EEAE-FB5B-D5370F34B9A2}"/>
              </a:ext>
            </a:extLst>
          </p:cNvPr>
          <p:cNvSpPr>
            <a:spLocks/>
          </p:cNvSpPr>
          <p:nvPr/>
        </p:nvSpPr>
        <p:spPr>
          <a:xfrm>
            <a:off x="3409888" y="3559522"/>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o</a:t>
            </a:r>
            <a:r>
              <a:rPr lang="en-US" sz="1400" baseline="-25000" dirty="0" err="1"/>
              <a:t>t</a:t>
            </a:r>
            <a:endParaRPr lang="en-US" sz="1400" baseline="-25000" dirty="0"/>
          </a:p>
        </p:txBody>
      </p:sp>
      <mc:AlternateContent xmlns:mc="http://schemas.openxmlformats.org/markup-compatibility/2006">
        <mc:Choice xmlns:a14="http://schemas.microsoft.com/office/drawing/2010/main" Requires="a14">
          <p:sp>
            <p:nvSpPr>
              <p:cNvPr id="13" name="Oval 12">
                <a:extLst>
                  <a:ext uri="{FF2B5EF4-FFF2-40B4-BE49-F238E27FC236}">
                    <a16:creationId xmlns:a16="http://schemas.microsoft.com/office/drawing/2014/main" id="{4D93D22F-68D1-1D16-C536-D59D1404785B}"/>
                  </a:ext>
                </a:extLst>
              </p:cNvPr>
              <p:cNvSpPr>
                <a:spLocks/>
              </p:cNvSpPr>
              <p:nvPr/>
            </p:nvSpPr>
            <p:spPr>
              <a:xfrm>
                <a:off x="3409887" y="250479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1400" i="1" dirty="0" smtClean="0">
                        <a:latin typeface="Cambria Math" panose="02040503050406030204" pitchFamily="18" charset="0"/>
                      </a:rPr>
                      <m:t>𝑦</m:t>
                    </m:r>
                  </m:oMath>
                </a14:m>
                <a:r>
                  <a:rPr lang="en-US" sz="1400" baseline="-25000" dirty="0" err="1"/>
                  <a:t>t</a:t>
                </a:r>
                <a:endParaRPr lang="en-US" sz="1400" baseline="-25000" dirty="0"/>
              </a:p>
            </p:txBody>
          </p:sp>
        </mc:Choice>
        <mc:Fallback>
          <p:sp>
            <p:nvSpPr>
              <p:cNvPr id="13" name="Oval 12">
                <a:extLst>
                  <a:ext uri="{FF2B5EF4-FFF2-40B4-BE49-F238E27FC236}">
                    <a16:creationId xmlns:a16="http://schemas.microsoft.com/office/drawing/2014/main" id="{4D93D22F-68D1-1D16-C536-D59D1404785B}"/>
                  </a:ext>
                </a:extLst>
              </p:cNvPr>
              <p:cNvSpPr>
                <a:spLocks noRot="1" noChangeAspect="1" noMove="1" noResize="1" noEditPoints="1" noAdjustHandles="1" noChangeArrowheads="1" noChangeShapeType="1" noTextEdit="1"/>
              </p:cNvSpPr>
              <p:nvPr/>
            </p:nvSpPr>
            <p:spPr>
              <a:xfrm>
                <a:off x="3409887" y="2504794"/>
                <a:ext cx="720000" cy="720000"/>
              </a:xfrm>
              <a:prstGeom prst="ellipse">
                <a:avLst/>
              </a:prstGeom>
              <a:blipFill>
                <a:blip r:embed="rId3"/>
                <a:stretch>
                  <a:fillRect/>
                </a:stretch>
              </a:blipFill>
            </p:spPr>
            <p:txBody>
              <a:bodyPr/>
              <a:lstStyle/>
              <a:p>
                <a:r>
                  <a:rPr lang="en-US">
                    <a:noFill/>
                  </a:rPr>
                  <a:t> </a:t>
                </a:r>
              </a:p>
            </p:txBody>
          </p:sp>
        </mc:Fallback>
      </mc:AlternateContent>
      <p:sp>
        <p:nvSpPr>
          <p:cNvPr id="14" name="Oval 13">
            <a:extLst>
              <a:ext uri="{FF2B5EF4-FFF2-40B4-BE49-F238E27FC236}">
                <a16:creationId xmlns:a16="http://schemas.microsoft.com/office/drawing/2014/main" id="{54A11690-E6C2-39A5-996B-D7604AF4B9BB}"/>
              </a:ext>
            </a:extLst>
          </p:cNvPr>
          <p:cNvSpPr>
            <a:spLocks/>
          </p:cNvSpPr>
          <p:nvPr/>
        </p:nvSpPr>
        <p:spPr>
          <a:xfrm>
            <a:off x="3409886" y="142592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a:t>
            </a:r>
            <a:r>
              <a:rPr lang="en-US" sz="1400" baseline="-25000" dirty="0"/>
              <a:t>t</a:t>
            </a:r>
          </a:p>
        </p:txBody>
      </p:sp>
      <p:sp>
        <p:nvSpPr>
          <p:cNvPr id="15" name="Oval 14">
            <a:extLst>
              <a:ext uri="{FF2B5EF4-FFF2-40B4-BE49-F238E27FC236}">
                <a16:creationId xmlns:a16="http://schemas.microsoft.com/office/drawing/2014/main" id="{A891A273-8867-465F-AB68-FBE1272F01D7}"/>
              </a:ext>
            </a:extLst>
          </p:cNvPr>
          <p:cNvSpPr>
            <a:spLocks/>
          </p:cNvSpPr>
          <p:nvPr/>
        </p:nvSpPr>
        <p:spPr>
          <a:xfrm>
            <a:off x="3409885" y="371192"/>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y</a:t>
            </a:r>
            <a:r>
              <a:rPr lang="en-US" sz="1400" baseline="-25000" dirty="0" err="1"/>
              <a:t>t</a:t>
            </a:r>
            <a:endParaRPr lang="en-US" sz="1400" baseline="-25000" dirty="0"/>
          </a:p>
        </p:txBody>
      </p:sp>
      <p:sp>
        <p:nvSpPr>
          <p:cNvPr id="16" name="Oval 15">
            <a:extLst>
              <a:ext uri="{FF2B5EF4-FFF2-40B4-BE49-F238E27FC236}">
                <a16:creationId xmlns:a16="http://schemas.microsoft.com/office/drawing/2014/main" id="{0B220370-7872-387F-379B-43C143DDF349}"/>
              </a:ext>
            </a:extLst>
          </p:cNvPr>
          <p:cNvSpPr>
            <a:spLocks/>
          </p:cNvSpPr>
          <p:nvPr/>
        </p:nvSpPr>
        <p:spPr>
          <a:xfrm>
            <a:off x="4981919" y="571726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a:t>
            </a:r>
            <a:r>
              <a:rPr lang="en-US" sz="1400" baseline="-25000" dirty="0"/>
              <a:t>t+1</a:t>
            </a:r>
          </a:p>
        </p:txBody>
      </p:sp>
      <p:sp>
        <p:nvSpPr>
          <p:cNvPr id="17" name="Oval 16">
            <a:extLst>
              <a:ext uri="{FF2B5EF4-FFF2-40B4-BE49-F238E27FC236}">
                <a16:creationId xmlns:a16="http://schemas.microsoft.com/office/drawing/2014/main" id="{F68F955D-34BB-E220-636A-994A13034BB8}"/>
              </a:ext>
            </a:extLst>
          </p:cNvPr>
          <p:cNvSpPr>
            <a:spLocks/>
          </p:cNvSpPr>
          <p:nvPr/>
        </p:nvSpPr>
        <p:spPr>
          <a:xfrm>
            <a:off x="4981919" y="463839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h</a:t>
            </a:r>
            <a:r>
              <a:rPr lang="en-US" sz="1400" baseline="-25000" dirty="0"/>
              <a:t>t+1</a:t>
            </a:r>
          </a:p>
        </p:txBody>
      </p:sp>
      <p:sp>
        <p:nvSpPr>
          <p:cNvPr id="18" name="Oval 17">
            <a:extLst>
              <a:ext uri="{FF2B5EF4-FFF2-40B4-BE49-F238E27FC236}">
                <a16:creationId xmlns:a16="http://schemas.microsoft.com/office/drawing/2014/main" id="{3208887A-0080-207B-282B-72D61D0BF19B}"/>
              </a:ext>
            </a:extLst>
          </p:cNvPr>
          <p:cNvSpPr>
            <a:spLocks/>
          </p:cNvSpPr>
          <p:nvPr/>
        </p:nvSpPr>
        <p:spPr>
          <a:xfrm>
            <a:off x="4981919" y="3559522"/>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o</a:t>
            </a:r>
            <a:r>
              <a:rPr lang="en-US" sz="1400" baseline="-25000" dirty="0"/>
              <a:t>t+1</a:t>
            </a:r>
          </a:p>
        </p:txBody>
      </p:sp>
      <mc:AlternateContent xmlns:mc="http://schemas.openxmlformats.org/markup-compatibility/2006">
        <mc:Choice xmlns:a14="http://schemas.microsoft.com/office/drawing/2010/main" Requires="a14">
          <p:sp>
            <p:nvSpPr>
              <p:cNvPr id="19" name="Oval 18">
                <a:extLst>
                  <a:ext uri="{FF2B5EF4-FFF2-40B4-BE49-F238E27FC236}">
                    <a16:creationId xmlns:a16="http://schemas.microsoft.com/office/drawing/2014/main" id="{D8FFA5B9-8824-CCDF-1652-48F6B4321FE8}"/>
                  </a:ext>
                </a:extLst>
              </p:cNvPr>
              <p:cNvSpPr>
                <a:spLocks/>
              </p:cNvSpPr>
              <p:nvPr/>
            </p:nvSpPr>
            <p:spPr>
              <a:xfrm>
                <a:off x="4981918" y="2504794"/>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1400" i="1" dirty="0" smtClean="0">
                        <a:latin typeface="Cambria Math" panose="02040503050406030204" pitchFamily="18" charset="0"/>
                      </a:rPr>
                      <m:t>𝑦</m:t>
                    </m:r>
                  </m:oMath>
                </a14:m>
                <a:r>
                  <a:rPr lang="en-US" sz="1400" baseline="-25000" dirty="0"/>
                  <a:t>t+1</a:t>
                </a:r>
              </a:p>
            </p:txBody>
          </p:sp>
        </mc:Choice>
        <mc:Fallback>
          <p:sp>
            <p:nvSpPr>
              <p:cNvPr id="19" name="Oval 18">
                <a:extLst>
                  <a:ext uri="{FF2B5EF4-FFF2-40B4-BE49-F238E27FC236}">
                    <a16:creationId xmlns:a16="http://schemas.microsoft.com/office/drawing/2014/main" id="{D8FFA5B9-8824-CCDF-1652-48F6B4321FE8}"/>
                  </a:ext>
                </a:extLst>
              </p:cNvPr>
              <p:cNvSpPr>
                <a:spLocks noRot="1" noChangeAspect="1" noMove="1" noResize="1" noEditPoints="1" noAdjustHandles="1" noChangeArrowheads="1" noChangeShapeType="1" noTextEdit="1"/>
              </p:cNvSpPr>
              <p:nvPr/>
            </p:nvSpPr>
            <p:spPr>
              <a:xfrm>
                <a:off x="4981918" y="2504794"/>
                <a:ext cx="720000" cy="720000"/>
              </a:xfrm>
              <a:prstGeom prst="ellipse">
                <a:avLst/>
              </a:prstGeom>
              <a:blipFill>
                <a:blip r:embed="rId4"/>
                <a:stretch>
                  <a:fillRect/>
                </a:stretch>
              </a:blipFill>
            </p:spPr>
            <p:txBody>
              <a:bodyPr/>
              <a:lstStyle/>
              <a:p>
                <a:r>
                  <a:rPr lang="en-US">
                    <a:noFill/>
                  </a:rPr>
                  <a:t> </a:t>
                </a:r>
              </a:p>
            </p:txBody>
          </p:sp>
        </mc:Fallback>
      </mc:AlternateContent>
      <p:sp>
        <p:nvSpPr>
          <p:cNvPr id="20" name="Oval 19">
            <a:extLst>
              <a:ext uri="{FF2B5EF4-FFF2-40B4-BE49-F238E27FC236}">
                <a16:creationId xmlns:a16="http://schemas.microsoft.com/office/drawing/2014/main" id="{627A00C0-7EB1-8767-51F4-CD75608F1868}"/>
              </a:ext>
            </a:extLst>
          </p:cNvPr>
          <p:cNvSpPr>
            <a:spLocks/>
          </p:cNvSpPr>
          <p:nvPr/>
        </p:nvSpPr>
        <p:spPr>
          <a:xfrm>
            <a:off x="4981917" y="142592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a:t>
            </a:r>
            <a:r>
              <a:rPr lang="en-US" sz="1400" baseline="-25000" dirty="0"/>
              <a:t>t+1</a:t>
            </a:r>
          </a:p>
        </p:txBody>
      </p:sp>
      <p:sp>
        <p:nvSpPr>
          <p:cNvPr id="21" name="Oval 20">
            <a:extLst>
              <a:ext uri="{FF2B5EF4-FFF2-40B4-BE49-F238E27FC236}">
                <a16:creationId xmlns:a16="http://schemas.microsoft.com/office/drawing/2014/main" id="{742A0B08-84CC-8236-567F-7C0A78B80F3D}"/>
              </a:ext>
            </a:extLst>
          </p:cNvPr>
          <p:cNvSpPr>
            <a:spLocks/>
          </p:cNvSpPr>
          <p:nvPr/>
        </p:nvSpPr>
        <p:spPr>
          <a:xfrm>
            <a:off x="4981916" y="371192"/>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y</a:t>
            </a:r>
            <a:r>
              <a:rPr lang="en-US" sz="1400" baseline="-25000" dirty="0"/>
              <a:t>t+1</a:t>
            </a:r>
          </a:p>
        </p:txBody>
      </p:sp>
      <p:sp>
        <p:nvSpPr>
          <p:cNvPr id="22" name="Oval 21">
            <a:extLst>
              <a:ext uri="{FF2B5EF4-FFF2-40B4-BE49-F238E27FC236}">
                <a16:creationId xmlns:a16="http://schemas.microsoft.com/office/drawing/2014/main" id="{C84B0A74-D43B-D52B-8B97-CA74C283818E}"/>
              </a:ext>
            </a:extLst>
          </p:cNvPr>
          <p:cNvSpPr>
            <a:spLocks/>
          </p:cNvSpPr>
          <p:nvPr/>
        </p:nvSpPr>
        <p:spPr>
          <a:xfrm>
            <a:off x="404010" y="463839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h</a:t>
            </a:r>
            <a:r>
              <a:rPr lang="en-US" sz="1400" baseline="-25000" dirty="0"/>
              <a:t>(…)</a:t>
            </a:r>
          </a:p>
        </p:txBody>
      </p:sp>
      <p:sp>
        <p:nvSpPr>
          <p:cNvPr id="23" name="Oval 22">
            <a:extLst>
              <a:ext uri="{FF2B5EF4-FFF2-40B4-BE49-F238E27FC236}">
                <a16:creationId xmlns:a16="http://schemas.microsoft.com/office/drawing/2014/main" id="{0950874C-A7D9-B153-4725-0E2C5AF52C45}"/>
              </a:ext>
            </a:extLst>
          </p:cNvPr>
          <p:cNvSpPr>
            <a:spLocks/>
          </p:cNvSpPr>
          <p:nvPr/>
        </p:nvSpPr>
        <p:spPr>
          <a:xfrm>
            <a:off x="6409607" y="4638393"/>
            <a:ext cx="720000" cy="72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h</a:t>
            </a:r>
            <a:r>
              <a:rPr lang="en-US" sz="1400" baseline="-25000" dirty="0"/>
              <a:t>(…)</a:t>
            </a:r>
          </a:p>
        </p:txBody>
      </p:sp>
      <p:cxnSp>
        <p:nvCxnSpPr>
          <p:cNvPr id="25" name="Straight Arrow Connector 24">
            <a:extLst>
              <a:ext uri="{FF2B5EF4-FFF2-40B4-BE49-F238E27FC236}">
                <a16:creationId xmlns:a16="http://schemas.microsoft.com/office/drawing/2014/main" id="{8D5EA5BE-8759-3126-21E0-DEA1C21B2743}"/>
              </a:ext>
            </a:extLst>
          </p:cNvPr>
          <p:cNvCxnSpPr>
            <a:stCxn id="4" idx="0"/>
            <a:endCxn id="5" idx="4"/>
          </p:cNvCxnSpPr>
          <p:nvPr/>
        </p:nvCxnSpPr>
        <p:spPr>
          <a:xfrm flipV="1">
            <a:off x="2197854" y="5358393"/>
            <a:ext cx="0"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81F1CBA-2B1C-46EA-56F8-64ED1CC33A2B}"/>
              </a:ext>
            </a:extLst>
          </p:cNvPr>
          <p:cNvCxnSpPr>
            <a:stCxn id="5" idx="0"/>
            <a:endCxn id="6" idx="4"/>
          </p:cNvCxnSpPr>
          <p:nvPr/>
        </p:nvCxnSpPr>
        <p:spPr>
          <a:xfrm flipV="1">
            <a:off x="2197854" y="4279522"/>
            <a:ext cx="0"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BF68AC7C-5FCE-D239-1960-3C8DFDEF2B05}"/>
              </a:ext>
            </a:extLst>
          </p:cNvPr>
          <p:cNvCxnSpPr>
            <a:stCxn id="6" idx="0"/>
            <a:endCxn id="7" idx="4"/>
          </p:cNvCxnSpPr>
          <p:nvPr/>
        </p:nvCxnSpPr>
        <p:spPr>
          <a:xfrm flipH="1" flipV="1">
            <a:off x="2197853" y="3224794"/>
            <a:ext cx="1" cy="3347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E7D32FA-912C-0A71-5FD8-BBB9CCE99A00}"/>
              </a:ext>
            </a:extLst>
          </p:cNvPr>
          <p:cNvCxnSpPr>
            <a:stCxn id="7" idx="0"/>
            <a:endCxn id="8" idx="4"/>
          </p:cNvCxnSpPr>
          <p:nvPr/>
        </p:nvCxnSpPr>
        <p:spPr>
          <a:xfrm flipH="1" flipV="1">
            <a:off x="2197852" y="2145923"/>
            <a:ext cx="1"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5D8A614-CAEC-CDCC-E4E9-35CB70ED106F}"/>
              </a:ext>
            </a:extLst>
          </p:cNvPr>
          <p:cNvCxnSpPr>
            <a:stCxn id="8" idx="0"/>
            <a:endCxn id="9" idx="4"/>
          </p:cNvCxnSpPr>
          <p:nvPr/>
        </p:nvCxnSpPr>
        <p:spPr>
          <a:xfrm flipH="1" flipV="1">
            <a:off x="2197851" y="1091192"/>
            <a:ext cx="1" cy="3347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8799A3C4-4C87-F4E8-FAA4-B753C17286AB}"/>
              </a:ext>
            </a:extLst>
          </p:cNvPr>
          <p:cNvCxnSpPr>
            <a:stCxn id="10" idx="0"/>
            <a:endCxn id="11" idx="4"/>
          </p:cNvCxnSpPr>
          <p:nvPr/>
        </p:nvCxnSpPr>
        <p:spPr>
          <a:xfrm flipV="1">
            <a:off x="3769888" y="5358393"/>
            <a:ext cx="0"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51551382-1369-C8FA-045A-5A8B1E12CDBD}"/>
              </a:ext>
            </a:extLst>
          </p:cNvPr>
          <p:cNvCxnSpPr>
            <a:stCxn id="11" idx="0"/>
            <a:endCxn id="12" idx="4"/>
          </p:cNvCxnSpPr>
          <p:nvPr/>
        </p:nvCxnSpPr>
        <p:spPr>
          <a:xfrm flipV="1">
            <a:off x="3769888" y="4279522"/>
            <a:ext cx="0"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B740AE84-B193-6E6C-C98A-489E4D262772}"/>
              </a:ext>
            </a:extLst>
          </p:cNvPr>
          <p:cNvCxnSpPr>
            <a:stCxn id="12" idx="0"/>
            <a:endCxn id="13" idx="4"/>
          </p:cNvCxnSpPr>
          <p:nvPr/>
        </p:nvCxnSpPr>
        <p:spPr>
          <a:xfrm flipH="1" flipV="1">
            <a:off x="3769887" y="3224794"/>
            <a:ext cx="1" cy="3347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BD1B0A95-2B69-6E42-99AD-EAA932B40A8C}"/>
              </a:ext>
            </a:extLst>
          </p:cNvPr>
          <p:cNvCxnSpPr>
            <a:stCxn id="13" idx="0"/>
            <a:endCxn id="14" idx="4"/>
          </p:cNvCxnSpPr>
          <p:nvPr/>
        </p:nvCxnSpPr>
        <p:spPr>
          <a:xfrm flipH="1" flipV="1">
            <a:off x="3769886" y="2145923"/>
            <a:ext cx="1"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A2890CAE-729B-5305-1F57-FC847EEDA184}"/>
              </a:ext>
            </a:extLst>
          </p:cNvPr>
          <p:cNvCxnSpPr>
            <a:stCxn id="14" idx="0"/>
            <a:endCxn id="15" idx="4"/>
          </p:cNvCxnSpPr>
          <p:nvPr/>
        </p:nvCxnSpPr>
        <p:spPr>
          <a:xfrm flipH="1" flipV="1">
            <a:off x="3769885" y="1091192"/>
            <a:ext cx="1" cy="3347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5CBA2741-4F3E-C429-88BA-836C9CC194E5}"/>
              </a:ext>
            </a:extLst>
          </p:cNvPr>
          <p:cNvCxnSpPr>
            <a:stCxn id="16" idx="0"/>
            <a:endCxn id="17" idx="4"/>
          </p:cNvCxnSpPr>
          <p:nvPr/>
        </p:nvCxnSpPr>
        <p:spPr>
          <a:xfrm flipV="1">
            <a:off x="5341919" y="5358393"/>
            <a:ext cx="0"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45ADA63C-0AA5-82E9-4A3C-FBA0B4356907}"/>
              </a:ext>
            </a:extLst>
          </p:cNvPr>
          <p:cNvCxnSpPr>
            <a:stCxn id="17" idx="0"/>
            <a:endCxn id="18" idx="4"/>
          </p:cNvCxnSpPr>
          <p:nvPr/>
        </p:nvCxnSpPr>
        <p:spPr>
          <a:xfrm flipV="1">
            <a:off x="5341919" y="4279522"/>
            <a:ext cx="0"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D55D2266-DB09-64C1-7DA7-FECCDA70B89D}"/>
              </a:ext>
            </a:extLst>
          </p:cNvPr>
          <p:cNvCxnSpPr>
            <a:stCxn id="18" idx="0"/>
            <a:endCxn id="19" idx="4"/>
          </p:cNvCxnSpPr>
          <p:nvPr/>
        </p:nvCxnSpPr>
        <p:spPr>
          <a:xfrm flipH="1" flipV="1">
            <a:off x="5341918" y="3224794"/>
            <a:ext cx="1" cy="3347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FC303AF3-52BF-8B82-B5B9-6FBA8FEDB0F4}"/>
              </a:ext>
            </a:extLst>
          </p:cNvPr>
          <p:cNvCxnSpPr>
            <a:stCxn id="19" idx="0"/>
            <a:endCxn id="20" idx="4"/>
          </p:cNvCxnSpPr>
          <p:nvPr/>
        </p:nvCxnSpPr>
        <p:spPr>
          <a:xfrm flipH="1" flipV="1">
            <a:off x="5341917" y="2145923"/>
            <a:ext cx="1" cy="358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D81918EC-2A8E-A411-8166-6596333B0ECC}"/>
              </a:ext>
            </a:extLst>
          </p:cNvPr>
          <p:cNvCxnSpPr>
            <a:stCxn id="20" idx="0"/>
            <a:endCxn id="21" idx="4"/>
          </p:cNvCxnSpPr>
          <p:nvPr/>
        </p:nvCxnSpPr>
        <p:spPr>
          <a:xfrm flipH="1" flipV="1">
            <a:off x="5341916" y="1091192"/>
            <a:ext cx="1" cy="3347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1F412D63-44F2-1843-30DE-30CA4FCA9DD7}"/>
              </a:ext>
            </a:extLst>
          </p:cNvPr>
          <p:cNvCxnSpPr>
            <a:stCxn id="22" idx="6"/>
            <a:endCxn id="5" idx="2"/>
          </p:cNvCxnSpPr>
          <p:nvPr/>
        </p:nvCxnSpPr>
        <p:spPr>
          <a:xfrm>
            <a:off x="1124010" y="4998393"/>
            <a:ext cx="71384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FEB63B06-291F-D7B3-10EE-8CF5D52E8B56}"/>
              </a:ext>
            </a:extLst>
          </p:cNvPr>
          <p:cNvCxnSpPr>
            <a:stCxn id="5" idx="6"/>
            <a:endCxn id="11" idx="2"/>
          </p:cNvCxnSpPr>
          <p:nvPr/>
        </p:nvCxnSpPr>
        <p:spPr>
          <a:xfrm>
            <a:off x="2557854" y="4998393"/>
            <a:ext cx="85203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36141C74-7ECB-CD86-8F67-B3ECDB2352F8}"/>
              </a:ext>
            </a:extLst>
          </p:cNvPr>
          <p:cNvCxnSpPr>
            <a:stCxn id="11" idx="6"/>
            <a:endCxn id="17" idx="2"/>
          </p:cNvCxnSpPr>
          <p:nvPr/>
        </p:nvCxnSpPr>
        <p:spPr>
          <a:xfrm>
            <a:off x="4129888" y="4998393"/>
            <a:ext cx="8520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CC7517E2-1E9B-2FAA-9424-963B860D0216}"/>
              </a:ext>
            </a:extLst>
          </p:cNvPr>
          <p:cNvCxnSpPr>
            <a:stCxn id="17" idx="6"/>
            <a:endCxn id="23" idx="2"/>
          </p:cNvCxnSpPr>
          <p:nvPr/>
        </p:nvCxnSpPr>
        <p:spPr>
          <a:xfrm>
            <a:off x="5701919" y="4998393"/>
            <a:ext cx="70768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24C1A828-1BA7-802C-C336-1300611D0C9F}"/>
              </a:ext>
            </a:extLst>
          </p:cNvPr>
          <p:cNvSpPr txBox="1"/>
          <p:nvPr/>
        </p:nvSpPr>
        <p:spPr>
          <a:xfrm>
            <a:off x="1254388" y="5050616"/>
            <a:ext cx="344966" cy="307777"/>
          </a:xfrm>
          <a:prstGeom prst="rect">
            <a:avLst/>
          </a:prstGeom>
          <a:noFill/>
        </p:spPr>
        <p:txBody>
          <a:bodyPr wrap="none" rtlCol="0">
            <a:spAutoFit/>
          </a:bodyPr>
          <a:lstStyle/>
          <a:p>
            <a:r>
              <a:rPr lang="en-US" sz="1400" dirty="0"/>
              <a:t>W</a:t>
            </a:r>
          </a:p>
        </p:txBody>
      </p:sp>
      <p:sp>
        <p:nvSpPr>
          <p:cNvPr id="63" name="TextBox 62">
            <a:extLst>
              <a:ext uri="{FF2B5EF4-FFF2-40B4-BE49-F238E27FC236}">
                <a16:creationId xmlns:a16="http://schemas.microsoft.com/office/drawing/2014/main" id="{7993CC5F-C845-54AD-C028-498C8A7F39B1}"/>
              </a:ext>
            </a:extLst>
          </p:cNvPr>
          <p:cNvSpPr txBox="1"/>
          <p:nvPr/>
        </p:nvSpPr>
        <p:spPr>
          <a:xfrm>
            <a:off x="2739215" y="5050616"/>
            <a:ext cx="344966" cy="307777"/>
          </a:xfrm>
          <a:prstGeom prst="rect">
            <a:avLst/>
          </a:prstGeom>
          <a:noFill/>
        </p:spPr>
        <p:txBody>
          <a:bodyPr wrap="none" rtlCol="0">
            <a:spAutoFit/>
          </a:bodyPr>
          <a:lstStyle/>
          <a:p>
            <a:r>
              <a:rPr lang="en-US" sz="1400" dirty="0"/>
              <a:t>W</a:t>
            </a:r>
          </a:p>
        </p:txBody>
      </p:sp>
      <p:sp>
        <p:nvSpPr>
          <p:cNvPr id="64" name="TextBox 63">
            <a:extLst>
              <a:ext uri="{FF2B5EF4-FFF2-40B4-BE49-F238E27FC236}">
                <a16:creationId xmlns:a16="http://schemas.microsoft.com/office/drawing/2014/main" id="{FE21A5C1-393B-A083-E01F-D581A334F31D}"/>
              </a:ext>
            </a:extLst>
          </p:cNvPr>
          <p:cNvSpPr txBox="1"/>
          <p:nvPr/>
        </p:nvSpPr>
        <p:spPr>
          <a:xfrm>
            <a:off x="4398454" y="5049863"/>
            <a:ext cx="344966" cy="307777"/>
          </a:xfrm>
          <a:prstGeom prst="rect">
            <a:avLst/>
          </a:prstGeom>
          <a:noFill/>
        </p:spPr>
        <p:txBody>
          <a:bodyPr wrap="none" rtlCol="0">
            <a:spAutoFit/>
          </a:bodyPr>
          <a:lstStyle/>
          <a:p>
            <a:r>
              <a:rPr lang="en-US" sz="1400" dirty="0"/>
              <a:t>W</a:t>
            </a:r>
          </a:p>
        </p:txBody>
      </p:sp>
      <p:sp>
        <p:nvSpPr>
          <p:cNvPr id="65" name="TextBox 64">
            <a:extLst>
              <a:ext uri="{FF2B5EF4-FFF2-40B4-BE49-F238E27FC236}">
                <a16:creationId xmlns:a16="http://schemas.microsoft.com/office/drawing/2014/main" id="{63850FEC-44C5-1E72-9E6A-603283645CE4}"/>
              </a:ext>
            </a:extLst>
          </p:cNvPr>
          <p:cNvSpPr txBox="1"/>
          <p:nvPr/>
        </p:nvSpPr>
        <p:spPr>
          <a:xfrm>
            <a:off x="5877125" y="5065979"/>
            <a:ext cx="344966" cy="307777"/>
          </a:xfrm>
          <a:prstGeom prst="rect">
            <a:avLst/>
          </a:prstGeom>
          <a:noFill/>
        </p:spPr>
        <p:txBody>
          <a:bodyPr wrap="none" rtlCol="0">
            <a:spAutoFit/>
          </a:bodyPr>
          <a:lstStyle/>
          <a:p>
            <a:r>
              <a:rPr lang="en-US" sz="1400" dirty="0"/>
              <a:t>W</a:t>
            </a:r>
          </a:p>
        </p:txBody>
      </p:sp>
      <p:sp>
        <p:nvSpPr>
          <p:cNvPr id="66" name="TextBox 65">
            <a:extLst>
              <a:ext uri="{FF2B5EF4-FFF2-40B4-BE49-F238E27FC236}">
                <a16:creationId xmlns:a16="http://schemas.microsoft.com/office/drawing/2014/main" id="{E836B428-FC4B-F340-A33C-AB2869071B61}"/>
              </a:ext>
            </a:extLst>
          </p:cNvPr>
          <p:cNvSpPr txBox="1"/>
          <p:nvPr/>
        </p:nvSpPr>
        <p:spPr>
          <a:xfrm>
            <a:off x="2278904" y="5416549"/>
            <a:ext cx="306494" cy="307777"/>
          </a:xfrm>
          <a:prstGeom prst="rect">
            <a:avLst/>
          </a:prstGeom>
          <a:noFill/>
        </p:spPr>
        <p:txBody>
          <a:bodyPr wrap="none" rtlCol="0">
            <a:spAutoFit/>
          </a:bodyPr>
          <a:lstStyle/>
          <a:p>
            <a:r>
              <a:rPr lang="en-US" sz="1400" dirty="0"/>
              <a:t>U</a:t>
            </a:r>
          </a:p>
        </p:txBody>
      </p:sp>
      <p:sp>
        <p:nvSpPr>
          <p:cNvPr id="67" name="TextBox 66">
            <a:extLst>
              <a:ext uri="{FF2B5EF4-FFF2-40B4-BE49-F238E27FC236}">
                <a16:creationId xmlns:a16="http://schemas.microsoft.com/office/drawing/2014/main" id="{0541E89D-451B-1386-FE3D-2BA7DF634388}"/>
              </a:ext>
            </a:extLst>
          </p:cNvPr>
          <p:cNvSpPr txBox="1"/>
          <p:nvPr/>
        </p:nvSpPr>
        <p:spPr>
          <a:xfrm>
            <a:off x="3835901" y="5416549"/>
            <a:ext cx="306494" cy="307777"/>
          </a:xfrm>
          <a:prstGeom prst="rect">
            <a:avLst/>
          </a:prstGeom>
          <a:noFill/>
        </p:spPr>
        <p:txBody>
          <a:bodyPr wrap="none" rtlCol="0">
            <a:spAutoFit/>
          </a:bodyPr>
          <a:lstStyle/>
          <a:p>
            <a:r>
              <a:rPr lang="en-US" sz="1400" dirty="0"/>
              <a:t>U</a:t>
            </a:r>
          </a:p>
        </p:txBody>
      </p:sp>
      <p:sp>
        <p:nvSpPr>
          <p:cNvPr id="68" name="TextBox 67">
            <a:extLst>
              <a:ext uri="{FF2B5EF4-FFF2-40B4-BE49-F238E27FC236}">
                <a16:creationId xmlns:a16="http://schemas.microsoft.com/office/drawing/2014/main" id="{5B6E99B1-9ED4-8081-E50A-2A75D458B163}"/>
              </a:ext>
            </a:extLst>
          </p:cNvPr>
          <p:cNvSpPr txBox="1"/>
          <p:nvPr/>
        </p:nvSpPr>
        <p:spPr>
          <a:xfrm>
            <a:off x="5364469" y="5416548"/>
            <a:ext cx="306494" cy="307777"/>
          </a:xfrm>
          <a:prstGeom prst="rect">
            <a:avLst/>
          </a:prstGeom>
          <a:noFill/>
        </p:spPr>
        <p:txBody>
          <a:bodyPr wrap="none" rtlCol="0">
            <a:spAutoFit/>
          </a:bodyPr>
          <a:lstStyle/>
          <a:p>
            <a:r>
              <a:rPr lang="en-US" sz="1400" dirty="0"/>
              <a:t>U</a:t>
            </a:r>
          </a:p>
        </p:txBody>
      </p:sp>
      <p:sp>
        <p:nvSpPr>
          <p:cNvPr id="69" name="TextBox 68">
            <a:extLst>
              <a:ext uri="{FF2B5EF4-FFF2-40B4-BE49-F238E27FC236}">
                <a16:creationId xmlns:a16="http://schemas.microsoft.com/office/drawing/2014/main" id="{A76F0F96-191A-8F33-DC3A-D9EBCE13971D}"/>
              </a:ext>
            </a:extLst>
          </p:cNvPr>
          <p:cNvSpPr txBox="1"/>
          <p:nvPr/>
        </p:nvSpPr>
        <p:spPr>
          <a:xfrm>
            <a:off x="2234035" y="4312604"/>
            <a:ext cx="290464" cy="307777"/>
          </a:xfrm>
          <a:prstGeom prst="rect">
            <a:avLst/>
          </a:prstGeom>
          <a:noFill/>
        </p:spPr>
        <p:txBody>
          <a:bodyPr wrap="none" rtlCol="0">
            <a:spAutoFit/>
          </a:bodyPr>
          <a:lstStyle/>
          <a:p>
            <a:r>
              <a:rPr lang="en-US" sz="1400" dirty="0"/>
              <a:t>V</a:t>
            </a:r>
          </a:p>
        </p:txBody>
      </p:sp>
      <p:sp>
        <p:nvSpPr>
          <p:cNvPr id="70" name="TextBox 69">
            <a:extLst>
              <a:ext uri="{FF2B5EF4-FFF2-40B4-BE49-F238E27FC236}">
                <a16:creationId xmlns:a16="http://schemas.microsoft.com/office/drawing/2014/main" id="{E703865C-6994-19C2-B42E-C4573B484B0B}"/>
              </a:ext>
            </a:extLst>
          </p:cNvPr>
          <p:cNvSpPr txBox="1"/>
          <p:nvPr/>
        </p:nvSpPr>
        <p:spPr>
          <a:xfrm>
            <a:off x="3797429" y="4312603"/>
            <a:ext cx="290464" cy="307777"/>
          </a:xfrm>
          <a:prstGeom prst="rect">
            <a:avLst/>
          </a:prstGeom>
          <a:noFill/>
        </p:spPr>
        <p:txBody>
          <a:bodyPr wrap="none" rtlCol="0">
            <a:spAutoFit/>
          </a:bodyPr>
          <a:lstStyle/>
          <a:p>
            <a:r>
              <a:rPr lang="en-US" sz="1400" dirty="0"/>
              <a:t>V</a:t>
            </a:r>
          </a:p>
        </p:txBody>
      </p:sp>
      <p:sp>
        <p:nvSpPr>
          <p:cNvPr id="71" name="TextBox 70">
            <a:extLst>
              <a:ext uri="{FF2B5EF4-FFF2-40B4-BE49-F238E27FC236}">
                <a16:creationId xmlns:a16="http://schemas.microsoft.com/office/drawing/2014/main" id="{3DEE434C-D200-5DB8-73A2-9BDA7721C595}"/>
              </a:ext>
            </a:extLst>
          </p:cNvPr>
          <p:cNvSpPr txBox="1"/>
          <p:nvPr/>
        </p:nvSpPr>
        <p:spPr>
          <a:xfrm>
            <a:off x="5356950" y="4334147"/>
            <a:ext cx="290464" cy="307777"/>
          </a:xfrm>
          <a:prstGeom prst="rect">
            <a:avLst/>
          </a:prstGeom>
          <a:noFill/>
        </p:spPr>
        <p:txBody>
          <a:bodyPr wrap="none" rtlCol="0">
            <a:spAutoFit/>
          </a:bodyPr>
          <a:lstStyle/>
          <a:p>
            <a:r>
              <a:rPr lang="en-US" sz="1400" dirty="0"/>
              <a:t>V</a:t>
            </a:r>
          </a:p>
        </p:txBody>
      </p:sp>
      <mc:AlternateContent xmlns:mc="http://schemas.openxmlformats.org/markup-compatibility/2006">
        <mc:Choice xmlns:a14="http://schemas.microsoft.com/office/drawing/2010/main" Requires="a14">
          <p:sp>
            <p:nvSpPr>
              <p:cNvPr id="73" name="TextBox 72">
                <a:extLst>
                  <a:ext uri="{FF2B5EF4-FFF2-40B4-BE49-F238E27FC236}">
                    <a16:creationId xmlns:a16="http://schemas.microsoft.com/office/drawing/2014/main" id="{4F80D548-6CB9-03AD-0BDD-2488151AE5B5}"/>
                  </a:ext>
                </a:extLst>
              </p:cNvPr>
              <p:cNvSpPr txBox="1"/>
              <p:nvPr/>
            </p:nvSpPr>
            <p:spPr>
              <a:xfrm>
                <a:off x="7440199" y="833469"/>
                <a:ext cx="3346002" cy="590226"/>
              </a:xfrm>
              <a:prstGeom prst="rect">
                <a:avLst/>
              </a:prstGeom>
              <a:noFill/>
            </p:spPr>
            <p:txBody>
              <a:bodyPr wrap="square">
                <a:spAutoFit/>
              </a:bodyPr>
              <a:lstStyle/>
              <a:p>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𝑊</m:t>
                        </m:r>
                      </m:den>
                    </m:f>
                  </m:oMath>
                </a14:m>
                <a:r>
                  <a:rPr lang="en-US" sz="2200" dirty="0"/>
                  <a:t> = </a:t>
                </a: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r>
                          <a:rPr lang="en-US" sz="2200" b="0" i="1" baseline="-25000" smtClean="0">
                            <a:latin typeface="Cambria Math" panose="02040503050406030204" pitchFamily="18" charset="0"/>
                            <a:ea typeface="Cambria Math" panose="02040503050406030204" pitchFamily="18" charset="0"/>
                          </a:rPr>
                          <m:t>1</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𝑊</m:t>
                        </m:r>
                      </m:den>
                    </m:f>
                  </m:oMath>
                </a14:m>
                <a:r>
                  <a:rPr lang="en-US" sz="2200" dirty="0"/>
                  <a:t> + </a:t>
                </a: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r>
                          <a:rPr lang="en-US" sz="2200" b="0" i="1" baseline="-25000" smtClean="0">
                            <a:latin typeface="Cambria Math" panose="02040503050406030204" pitchFamily="18" charset="0"/>
                            <a:ea typeface="Cambria Math" panose="02040503050406030204" pitchFamily="18" charset="0"/>
                          </a:rPr>
                          <m:t>2</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𝑊</m:t>
                        </m:r>
                      </m:den>
                    </m:f>
                  </m:oMath>
                </a14:m>
                <a:r>
                  <a:rPr lang="en-US" sz="2200" dirty="0"/>
                  <a:t> + </a:t>
                </a: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r>
                          <a:rPr lang="en-US" sz="2200" b="0" i="1" baseline="-25000" smtClean="0">
                            <a:latin typeface="Cambria Math" panose="02040503050406030204" pitchFamily="18" charset="0"/>
                            <a:ea typeface="Cambria Math" panose="02040503050406030204" pitchFamily="18" charset="0"/>
                          </a:rPr>
                          <m:t>3</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𝑊</m:t>
                        </m:r>
                      </m:den>
                    </m:f>
                  </m:oMath>
                </a14:m>
                <a:r>
                  <a:rPr lang="en-US" sz="2200" dirty="0"/>
                  <a:t> + .. + </a:t>
                </a: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r>
                          <a:rPr lang="en-US" sz="2200" b="0" i="1" baseline="-25000" smtClean="0">
                            <a:latin typeface="Cambria Math" panose="02040503050406030204" pitchFamily="18" charset="0"/>
                            <a:ea typeface="Cambria Math" panose="02040503050406030204" pitchFamily="18" charset="0"/>
                          </a:rPr>
                          <m:t>𝑛</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𝑊</m:t>
                        </m:r>
                      </m:den>
                    </m:f>
                  </m:oMath>
                </a14:m>
                <a:endParaRPr lang="en-US" sz="2200" dirty="0"/>
              </a:p>
            </p:txBody>
          </p:sp>
        </mc:Choice>
        <mc:Fallback>
          <p:sp>
            <p:nvSpPr>
              <p:cNvPr id="73" name="TextBox 72">
                <a:extLst>
                  <a:ext uri="{FF2B5EF4-FFF2-40B4-BE49-F238E27FC236}">
                    <a16:creationId xmlns:a16="http://schemas.microsoft.com/office/drawing/2014/main" id="{4F80D548-6CB9-03AD-0BDD-2488151AE5B5}"/>
                  </a:ext>
                </a:extLst>
              </p:cNvPr>
              <p:cNvSpPr txBox="1">
                <a:spLocks noRot="1" noChangeAspect="1" noMove="1" noResize="1" noEditPoints="1" noAdjustHandles="1" noChangeArrowheads="1" noChangeShapeType="1" noTextEdit="1"/>
              </p:cNvSpPr>
              <p:nvPr/>
            </p:nvSpPr>
            <p:spPr>
              <a:xfrm>
                <a:off x="7440199" y="833469"/>
                <a:ext cx="3346002" cy="590226"/>
              </a:xfrm>
              <a:prstGeom prst="rect">
                <a:avLst/>
              </a:prstGeom>
              <a:blipFill>
                <a:blip r:embed="rId5"/>
                <a:stretch>
                  <a:fillRect b="-8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7" name="TextBox 76">
                <a:extLst>
                  <a:ext uri="{FF2B5EF4-FFF2-40B4-BE49-F238E27FC236}">
                    <a16:creationId xmlns:a16="http://schemas.microsoft.com/office/drawing/2014/main" id="{F37EFB2F-A019-D37F-342B-5AFC8F66845E}"/>
                  </a:ext>
                </a:extLst>
              </p:cNvPr>
              <p:cNvSpPr txBox="1"/>
              <p:nvPr/>
            </p:nvSpPr>
            <p:spPr>
              <a:xfrm>
                <a:off x="6955942" y="1602468"/>
                <a:ext cx="2446695" cy="8712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𝑊</m:t>
                          </m:r>
                        </m:den>
                      </m:f>
                      <m:r>
                        <a:rPr lang="en-US" b="0" i="0" smtClean="0">
                          <a:latin typeface="Cambria Math" panose="02040503050406030204" pitchFamily="18" charset="0"/>
                          <a:ea typeface="Cambria Math" panose="02040503050406030204" pitchFamily="18" charset="0"/>
                        </a:rPr>
                        <m:t> =</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𝑇</m:t>
                          </m:r>
                        </m:sup>
                        <m:e>
                          <m:f>
                            <m:fPr>
                              <m:ctrlPr>
                                <a:rPr lang="en-US" b="0" i="1" smtClean="0">
                                  <a:latin typeface="Cambria Math" panose="02040503050406030204" pitchFamily="18" charset="0"/>
                                  <a:ea typeface="Cambria Math" panose="02040503050406030204" pitchFamily="18" charset="0"/>
                                </a:rPr>
                              </m:ctrlPr>
                            </m:fPr>
                            <m:num>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r>
                                <a:rPr lang="en-US" b="0" i="1" baseline="-25000" smtClean="0">
                                  <a:latin typeface="Cambria Math" panose="02040503050406030204" pitchFamily="18" charset="0"/>
                                  <a:ea typeface="Cambria Math" panose="02040503050406030204" pitchFamily="18" charset="0"/>
                                </a:rPr>
                                <m:t>𝑡</m:t>
                              </m:r>
                            </m:num>
                            <m:den>
                              <m:r>
                                <a:rPr lang="el-GR"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𝑊</m:t>
                              </m:r>
                            </m:den>
                          </m:f>
                        </m:e>
                      </m:nary>
                    </m:oMath>
                  </m:oMathPara>
                </a14:m>
                <a:endParaRPr lang="en-US" dirty="0"/>
              </a:p>
            </p:txBody>
          </p:sp>
        </mc:Choice>
        <mc:Fallback>
          <p:sp>
            <p:nvSpPr>
              <p:cNvPr id="77" name="TextBox 76">
                <a:extLst>
                  <a:ext uri="{FF2B5EF4-FFF2-40B4-BE49-F238E27FC236}">
                    <a16:creationId xmlns:a16="http://schemas.microsoft.com/office/drawing/2014/main" id="{F37EFB2F-A019-D37F-342B-5AFC8F66845E}"/>
                  </a:ext>
                </a:extLst>
              </p:cNvPr>
              <p:cNvSpPr txBox="1">
                <a:spLocks noRot="1" noChangeAspect="1" noMove="1" noResize="1" noEditPoints="1" noAdjustHandles="1" noChangeArrowheads="1" noChangeShapeType="1" noTextEdit="1"/>
              </p:cNvSpPr>
              <p:nvPr/>
            </p:nvSpPr>
            <p:spPr>
              <a:xfrm>
                <a:off x="6955942" y="1602468"/>
                <a:ext cx="2446695" cy="871201"/>
              </a:xfrm>
              <a:prstGeom prst="rect">
                <a:avLst/>
              </a:prstGeom>
              <a:blipFill>
                <a:blip r:embed="rId6"/>
                <a:stretch>
                  <a:fillRect t="-95652" b="-15217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9" name="TextBox 78">
                <a:extLst>
                  <a:ext uri="{FF2B5EF4-FFF2-40B4-BE49-F238E27FC236}">
                    <a16:creationId xmlns:a16="http://schemas.microsoft.com/office/drawing/2014/main" id="{C4D471EC-07C4-40AE-F121-A2CF457C88CE}"/>
                  </a:ext>
                </a:extLst>
              </p:cNvPr>
              <p:cNvSpPr txBox="1"/>
              <p:nvPr/>
            </p:nvSpPr>
            <p:spPr>
              <a:xfrm>
                <a:off x="7440199" y="2648044"/>
                <a:ext cx="2531192" cy="627929"/>
              </a:xfrm>
              <a:prstGeom prst="rect">
                <a:avLst/>
              </a:prstGeom>
              <a:noFill/>
            </p:spPr>
            <p:txBody>
              <a:bodyPr wrap="square">
                <a:spAutoFit/>
              </a:bodyPr>
              <a:lstStyle/>
              <a:p>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r>
                          <a:rPr lang="en-US" sz="2200" b="0" i="1" baseline="-25000" smtClean="0">
                            <a:latin typeface="Cambria Math" panose="02040503050406030204" pitchFamily="18" charset="0"/>
                            <a:ea typeface="Cambria Math" panose="02040503050406030204" pitchFamily="18" charset="0"/>
                          </a:rPr>
                          <m:t>𝑡</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𝑊</m:t>
                        </m:r>
                      </m:den>
                    </m:f>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𝐿</m:t>
                        </m:r>
                        <m:r>
                          <a:rPr lang="en-US" sz="2200" b="0" i="1" baseline="-25000" smtClean="0">
                            <a:latin typeface="Cambria Math" panose="02040503050406030204" pitchFamily="18" charset="0"/>
                            <a:ea typeface="Cambria Math" panose="02040503050406030204" pitchFamily="18" charset="0"/>
                          </a:rPr>
                          <m:t>𝑡</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𝑦</m:t>
                        </m:r>
                        <m:r>
                          <a:rPr lang="en-US" sz="2200" b="0" i="1" baseline="-25000" smtClean="0">
                            <a:latin typeface="Cambria Math" panose="02040503050406030204" pitchFamily="18" charset="0"/>
                            <a:ea typeface="Cambria Math" panose="02040503050406030204" pitchFamily="18" charset="0"/>
                          </a:rPr>
                          <m:t>𝑡</m:t>
                        </m:r>
                      </m:den>
                    </m:f>
                  </m:oMath>
                </a14:m>
                <a:r>
                  <a:rPr lang="en-US" sz="2200" dirty="0"/>
                  <a:t> </a:t>
                </a: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𝑦</m:t>
                        </m:r>
                        <m:r>
                          <a:rPr lang="en-US" sz="2200" b="0" i="1" baseline="-25000" smtClean="0">
                            <a:latin typeface="Cambria Math" panose="02040503050406030204" pitchFamily="18" charset="0"/>
                            <a:ea typeface="Cambria Math" panose="02040503050406030204" pitchFamily="18" charset="0"/>
                          </a:rPr>
                          <m:t>𝑡</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𝑜</m:t>
                        </m:r>
                        <m:r>
                          <a:rPr lang="en-US" sz="2200" b="0" i="1" baseline="-25000" smtClean="0">
                            <a:latin typeface="Cambria Math" panose="02040503050406030204" pitchFamily="18" charset="0"/>
                            <a:ea typeface="Cambria Math" panose="02040503050406030204" pitchFamily="18" charset="0"/>
                          </a:rPr>
                          <m:t>𝑡</m:t>
                        </m:r>
                      </m:den>
                    </m:f>
                  </m:oMath>
                </a14:m>
                <a:r>
                  <a:rPr lang="en-US" sz="2200" dirty="0"/>
                  <a:t> </a:t>
                </a: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𝑜</m:t>
                        </m:r>
                        <m:r>
                          <a:rPr lang="en-US" sz="2200" b="0" i="1" baseline="-25000" smtClean="0">
                            <a:latin typeface="Cambria Math" panose="02040503050406030204" pitchFamily="18" charset="0"/>
                            <a:ea typeface="Cambria Math" panose="02040503050406030204" pitchFamily="18" charset="0"/>
                          </a:rPr>
                          <m:t>𝑡</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h</m:t>
                        </m:r>
                        <m:r>
                          <a:rPr lang="en-US" sz="2200" b="0" i="1" baseline="-25000" smtClean="0">
                            <a:latin typeface="Cambria Math" panose="02040503050406030204" pitchFamily="18" charset="0"/>
                            <a:ea typeface="Cambria Math" panose="02040503050406030204" pitchFamily="18" charset="0"/>
                          </a:rPr>
                          <m:t>𝑡</m:t>
                        </m:r>
                      </m:den>
                    </m:f>
                    <m:f>
                      <m:fPr>
                        <m:ctrlPr>
                          <a:rPr lang="en-US" sz="2200" b="0" i="1" smtClean="0">
                            <a:latin typeface="Cambria Math" panose="02040503050406030204" pitchFamily="18" charset="0"/>
                            <a:ea typeface="Cambria Math" panose="02040503050406030204" pitchFamily="18" charset="0"/>
                          </a:rPr>
                        </m:ctrlPr>
                      </m:fPr>
                      <m:num>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h</m:t>
                        </m:r>
                        <m:r>
                          <a:rPr lang="en-US" sz="2200" b="0" i="1" baseline="-25000" smtClean="0">
                            <a:latin typeface="Cambria Math" panose="02040503050406030204" pitchFamily="18" charset="0"/>
                            <a:ea typeface="Cambria Math" panose="02040503050406030204" pitchFamily="18" charset="0"/>
                          </a:rPr>
                          <m:t>𝑡</m:t>
                        </m:r>
                      </m:num>
                      <m:den>
                        <m:r>
                          <a:rPr lang="el-GR" sz="2200" b="0" i="1" smtClean="0">
                            <a:latin typeface="Cambria Math" panose="02040503050406030204" pitchFamily="18" charset="0"/>
                            <a:ea typeface="Cambria Math" panose="02040503050406030204" pitchFamily="18" charset="0"/>
                          </a:rPr>
                          <m:t>𝛿</m:t>
                        </m:r>
                        <m:r>
                          <a:rPr lang="en-US" sz="2200" b="0" i="1" smtClean="0">
                            <a:latin typeface="Cambria Math" panose="02040503050406030204" pitchFamily="18" charset="0"/>
                            <a:ea typeface="Cambria Math" panose="02040503050406030204" pitchFamily="18" charset="0"/>
                          </a:rPr>
                          <m:t>𝑊</m:t>
                        </m:r>
                      </m:den>
                    </m:f>
                  </m:oMath>
                </a14:m>
                <a:endParaRPr lang="en-US" sz="2200" dirty="0"/>
              </a:p>
            </p:txBody>
          </p:sp>
        </mc:Choice>
        <mc:Fallback>
          <p:sp>
            <p:nvSpPr>
              <p:cNvPr id="79" name="TextBox 78">
                <a:extLst>
                  <a:ext uri="{FF2B5EF4-FFF2-40B4-BE49-F238E27FC236}">
                    <a16:creationId xmlns:a16="http://schemas.microsoft.com/office/drawing/2014/main" id="{C4D471EC-07C4-40AE-F121-A2CF457C88CE}"/>
                  </a:ext>
                </a:extLst>
              </p:cNvPr>
              <p:cNvSpPr txBox="1">
                <a:spLocks noRot="1" noChangeAspect="1" noMove="1" noResize="1" noEditPoints="1" noAdjustHandles="1" noChangeArrowheads="1" noChangeShapeType="1" noTextEdit="1"/>
              </p:cNvSpPr>
              <p:nvPr/>
            </p:nvSpPr>
            <p:spPr>
              <a:xfrm>
                <a:off x="7440199" y="2648044"/>
                <a:ext cx="2531192" cy="627929"/>
              </a:xfrm>
              <a:prstGeom prst="rect">
                <a:avLst/>
              </a:prstGeom>
              <a:blipFill>
                <a:blip r:embed="rId7"/>
                <a:stretch>
                  <a:fillRect b="-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B21B215-5C5C-7B7E-224E-C86FE33A3721}"/>
                  </a:ext>
                </a:extLst>
              </p:cNvPr>
              <p:cNvSpPr txBox="1"/>
              <p:nvPr/>
            </p:nvSpPr>
            <p:spPr>
              <a:xfrm>
                <a:off x="7440199" y="3496382"/>
                <a:ext cx="2847315" cy="618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ea typeface="Cambria Math" panose="02040503050406030204" pitchFamily="18" charset="0"/>
                            </a:rPr>
                          </m:ctrlPr>
                        </m:fPr>
                        <m:num>
                          <m:r>
                            <a:rPr lang="el-GR" sz="1800" b="0" i="1" smtClean="0">
                              <a:latin typeface="Cambria Math" panose="02040503050406030204" pitchFamily="18" charset="0"/>
                              <a:ea typeface="Cambria Math" panose="02040503050406030204" pitchFamily="18" charset="0"/>
                            </a:rPr>
                            <m:t>𝛿</m:t>
                          </m:r>
                          <m:r>
                            <a:rPr lang="en-US" sz="1800" b="0" i="1" smtClean="0">
                              <a:latin typeface="Cambria Math" panose="02040503050406030204" pitchFamily="18" charset="0"/>
                              <a:ea typeface="Cambria Math" panose="02040503050406030204" pitchFamily="18" charset="0"/>
                            </a:rPr>
                            <m:t>h</m:t>
                          </m:r>
                          <m:r>
                            <a:rPr lang="en-US" sz="1800" b="0" i="1" baseline="-25000" smtClean="0">
                              <a:latin typeface="Cambria Math" panose="02040503050406030204" pitchFamily="18" charset="0"/>
                              <a:ea typeface="Cambria Math" panose="02040503050406030204" pitchFamily="18" charset="0"/>
                            </a:rPr>
                            <m:t>𝑡</m:t>
                          </m:r>
                        </m:num>
                        <m:den>
                          <m:r>
                            <a:rPr lang="el-GR" sz="1800" b="0" i="1" smtClean="0">
                              <a:latin typeface="Cambria Math" panose="02040503050406030204" pitchFamily="18" charset="0"/>
                              <a:ea typeface="Cambria Math" panose="02040503050406030204" pitchFamily="18" charset="0"/>
                            </a:rPr>
                            <m:t>𝛿</m:t>
                          </m:r>
                          <m:r>
                            <a:rPr lang="en-US" sz="1800" b="0" i="1" smtClean="0">
                              <a:latin typeface="Cambria Math" panose="02040503050406030204" pitchFamily="18" charset="0"/>
                              <a:ea typeface="Cambria Math" panose="02040503050406030204" pitchFamily="18" charset="0"/>
                            </a:rPr>
                            <m:t>𝑊</m:t>
                          </m:r>
                        </m:den>
                      </m:f>
                      <m:r>
                        <a:rPr lang="en-US" sz="1800" b="0" i="0"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l-GR"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h</m:t>
                          </m:r>
                          <m:r>
                            <a:rPr lang="en-US" i="1" baseline="-25000">
                              <a:latin typeface="Cambria Math" panose="02040503050406030204" pitchFamily="18" charset="0"/>
                              <a:ea typeface="Cambria Math" panose="02040503050406030204" pitchFamily="18" charset="0"/>
                            </a:rPr>
                            <m:t>𝑡</m:t>
                          </m:r>
                        </m:num>
                        <m:den>
                          <m:r>
                            <a:rPr lang="el-GR"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𝑊</m:t>
                          </m:r>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l-GR"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h</m:t>
                          </m:r>
                          <m:r>
                            <a:rPr lang="en-US" i="1" baseline="-25000">
                              <a:latin typeface="Cambria Math" panose="02040503050406030204" pitchFamily="18" charset="0"/>
                              <a:ea typeface="Cambria Math" panose="02040503050406030204" pitchFamily="18" charset="0"/>
                            </a:rPr>
                            <m:t>𝑡</m:t>
                          </m:r>
                        </m:num>
                        <m:den>
                          <m:r>
                            <a:rPr lang="el-GR" i="1">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h</m:t>
                          </m:r>
                          <m:r>
                            <a:rPr lang="en-US" b="0" i="1" baseline="-25000" smtClean="0">
                              <a:latin typeface="Cambria Math" panose="02040503050406030204" pitchFamily="18" charset="0"/>
                              <a:ea typeface="Cambria Math" panose="02040503050406030204" pitchFamily="18" charset="0"/>
                            </a:rPr>
                            <m:t>𝑡</m:t>
                          </m:r>
                          <m:r>
                            <a:rPr lang="en-US" b="0" i="1" baseline="-25000" smtClean="0">
                              <a:latin typeface="Cambria Math" panose="02040503050406030204" pitchFamily="18" charset="0"/>
                              <a:ea typeface="Cambria Math" panose="02040503050406030204" pitchFamily="18" charset="0"/>
                            </a:rPr>
                            <m:t>−1</m:t>
                          </m:r>
                        </m:den>
                      </m:f>
                      <m:f>
                        <m:fPr>
                          <m:ctrlPr>
                            <a:rPr lang="en-US" i="1">
                              <a:latin typeface="Cambria Math" panose="02040503050406030204" pitchFamily="18" charset="0"/>
                              <a:ea typeface="Cambria Math" panose="02040503050406030204" pitchFamily="18" charset="0"/>
                            </a:rPr>
                          </m:ctrlPr>
                        </m:fPr>
                        <m:num>
                          <m:r>
                            <a:rPr lang="el-GR"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h</m:t>
                          </m:r>
                          <m:r>
                            <a:rPr lang="en-US" i="1" baseline="-25000">
                              <a:latin typeface="Cambria Math" panose="02040503050406030204" pitchFamily="18" charset="0"/>
                              <a:ea typeface="Cambria Math" panose="02040503050406030204" pitchFamily="18" charset="0"/>
                            </a:rPr>
                            <m:t>𝑡</m:t>
                          </m:r>
                          <m:r>
                            <a:rPr lang="en-US" b="0" i="1" baseline="-25000" smtClean="0">
                              <a:latin typeface="Cambria Math" panose="02040503050406030204" pitchFamily="18" charset="0"/>
                              <a:ea typeface="Cambria Math" panose="02040503050406030204" pitchFamily="18" charset="0"/>
                            </a:rPr>
                            <m:t>−1</m:t>
                          </m:r>
                        </m:num>
                        <m:den>
                          <m:r>
                            <a:rPr lang="el-GR"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𝑊</m:t>
                          </m:r>
                        </m:den>
                      </m:f>
                    </m:oMath>
                  </m:oMathPara>
                </a14:m>
                <a:endParaRPr lang="en-US" dirty="0"/>
              </a:p>
            </p:txBody>
          </p:sp>
        </mc:Choice>
        <mc:Fallback>
          <p:sp>
            <p:nvSpPr>
              <p:cNvPr id="3" name="TextBox 2">
                <a:extLst>
                  <a:ext uri="{FF2B5EF4-FFF2-40B4-BE49-F238E27FC236}">
                    <a16:creationId xmlns:a16="http://schemas.microsoft.com/office/drawing/2014/main" id="{AB21B215-5C5C-7B7E-224E-C86FE33A3721}"/>
                  </a:ext>
                </a:extLst>
              </p:cNvPr>
              <p:cNvSpPr txBox="1">
                <a:spLocks noRot="1" noChangeAspect="1" noMove="1" noResize="1" noEditPoints="1" noAdjustHandles="1" noChangeArrowheads="1" noChangeShapeType="1" noTextEdit="1"/>
              </p:cNvSpPr>
              <p:nvPr/>
            </p:nvSpPr>
            <p:spPr>
              <a:xfrm>
                <a:off x="7440199" y="3496382"/>
                <a:ext cx="2847315" cy="618887"/>
              </a:xfrm>
              <a:prstGeom prst="rect">
                <a:avLst/>
              </a:prstGeom>
              <a:blipFill>
                <a:blip r:embed="rId8"/>
                <a:stretch>
                  <a:fillRect b="-1020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F4C50BAA-B862-AD84-7568-046A01913BF6}"/>
                  </a:ext>
                </a:extLst>
              </p:cNvPr>
              <p:cNvSpPr txBox="1"/>
              <p:nvPr/>
            </p:nvSpPr>
            <p:spPr>
              <a:xfrm>
                <a:off x="7440197" y="4447092"/>
                <a:ext cx="4624795" cy="618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ea typeface="Cambria Math" panose="02040503050406030204" pitchFamily="18" charset="0"/>
                            </a:rPr>
                          </m:ctrlPr>
                        </m:fPr>
                        <m:num>
                          <m:r>
                            <a:rPr lang="el-GR" sz="1800" b="0" i="1" smtClean="0">
                              <a:latin typeface="Cambria Math" panose="02040503050406030204" pitchFamily="18" charset="0"/>
                              <a:ea typeface="Cambria Math" panose="02040503050406030204" pitchFamily="18" charset="0"/>
                            </a:rPr>
                            <m:t>𝛿</m:t>
                          </m:r>
                          <m:r>
                            <a:rPr lang="en-US" sz="1800" b="0" i="1" smtClean="0">
                              <a:latin typeface="Cambria Math" panose="02040503050406030204" pitchFamily="18" charset="0"/>
                              <a:ea typeface="Cambria Math" panose="02040503050406030204" pitchFamily="18" charset="0"/>
                            </a:rPr>
                            <m:t>h</m:t>
                          </m:r>
                          <m:r>
                            <a:rPr lang="en-US" sz="1800" b="0" i="1" baseline="-25000" smtClean="0">
                              <a:latin typeface="Cambria Math" panose="02040503050406030204" pitchFamily="18" charset="0"/>
                              <a:ea typeface="Cambria Math" panose="02040503050406030204" pitchFamily="18" charset="0"/>
                            </a:rPr>
                            <m:t>𝑡</m:t>
                          </m:r>
                        </m:num>
                        <m:den>
                          <m:r>
                            <a:rPr lang="el-GR" sz="1800" b="0" i="1" smtClean="0">
                              <a:latin typeface="Cambria Math" panose="02040503050406030204" pitchFamily="18" charset="0"/>
                              <a:ea typeface="Cambria Math" panose="02040503050406030204" pitchFamily="18" charset="0"/>
                            </a:rPr>
                            <m:t>𝛿</m:t>
                          </m:r>
                          <m:r>
                            <a:rPr lang="en-US" sz="1800" b="0" i="1" smtClean="0">
                              <a:latin typeface="Cambria Math" panose="02040503050406030204" pitchFamily="18" charset="0"/>
                              <a:ea typeface="Cambria Math" panose="02040503050406030204" pitchFamily="18" charset="0"/>
                            </a:rPr>
                            <m:t>𝑊</m:t>
                          </m:r>
                        </m:den>
                      </m:f>
                      <m:r>
                        <a:rPr lang="en-US" sz="1800" b="0" i="0"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l-GR"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h</m:t>
                          </m:r>
                          <m:r>
                            <a:rPr lang="en-US" i="1" baseline="-25000">
                              <a:latin typeface="Cambria Math" panose="02040503050406030204" pitchFamily="18" charset="0"/>
                              <a:ea typeface="Cambria Math" panose="02040503050406030204" pitchFamily="18" charset="0"/>
                            </a:rPr>
                            <m:t>𝑡</m:t>
                          </m:r>
                        </m:num>
                        <m:den>
                          <m:r>
                            <a:rPr lang="el-GR"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𝑊</m:t>
                          </m:r>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l-GR"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h</m:t>
                          </m:r>
                          <m:r>
                            <a:rPr lang="en-US" i="1" baseline="-25000">
                              <a:latin typeface="Cambria Math" panose="02040503050406030204" pitchFamily="18" charset="0"/>
                              <a:ea typeface="Cambria Math" panose="02040503050406030204" pitchFamily="18" charset="0"/>
                            </a:rPr>
                            <m:t>𝑡</m:t>
                          </m:r>
                        </m:num>
                        <m:den>
                          <m:r>
                            <a:rPr lang="el-GR" i="1">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h</m:t>
                          </m:r>
                          <m:r>
                            <a:rPr lang="en-US" b="0" i="1" baseline="-25000" smtClean="0">
                              <a:latin typeface="Cambria Math" panose="02040503050406030204" pitchFamily="18" charset="0"/>
                              <a:ea typeface="Cambria Math" panose="02040503050406030204" pitchFamily="18" charset="0"/>
                            </a:rPr>
                            <m:t>𝑡</m:t>
                          </m:r>
                          <m:r>
                            <a:rPr lang="en-US" b="0" i="1" baseline="-25000" smtClean="0">
                              <a:latin typeface="Cambria Math" panose="02040503050406030204" pitchFamily="18" charset="0"/>
                              <a:ea typeface="Cambria Math" panose="02040503050406030204" pitchFamily="18" charset="0"/>
                            </a:rPr>
                            <m:t>−1</m:t>
                          </m:r>
                        </m:den>
                      </m:f>
                      <m:r>
                        <a:rPr lang="en-US" b="0" i="1"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l-GR"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h</m:t>
                          </m:r>
                          <m:r>
                            <a:rPr lang="en-US" i="1" baseline="-25000">
                              <a:latin typeface="Cambria Math" panose="02040503050406030204" pitchFamily="18" charset="0"/>
                              <a:ea typeface="Cambria Math" panose="02040503050406030204" pitchFamily="18" charset="0"/>
                            </a:rPr>
                            <m:t>𝑡</m:t>
                          </m:r>
                          <m:r>
                            <a:rPr lang="en-US" b="0" i="1" baseline="-25000" smtClean="0">
                              <a:latin typeface="Cambria Math" panose="02040503050406030204" pitchFamily="18" charset="0"/>
                              <a:ea typeface="Cambria Math" panose="02040503050406030204" pitchFamily="18" charset="0"/>
                            </a:rPr>
                            <m:t>−1</m:t>
                          </m:r>
                        </m:num>
                        <m:den>
                          <m:r>
                            <a:rPr lang="el-GR"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𝑊</m:t>
                          </m:r>
                        </m:den>
                      </m:f>
                      <m:r>
                        <a:rPr lang="en-US" b="0" i="1" smtClean="0">
                          <a:latin typeface="Cambria Math" panose="02040503050406030204" pitchFamily="18" charset="0"/>
                          <a:ea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r>
                            <a:rPr lang="el-GR"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h</m:t>
                          </m:r>
                          <m:r>
                            <a:rPr lang="en-US" i="1" baseline="-25000">
                              <a:latin typeface="Cambria Math" panose="02040503050406030204" pitchFamily="18" charset="0"/>
                              <a:ea typeface="Cambria Math" panose="02040503050406030204" pitchFamily="18" charset="0"/>
                            </a:rPr>
                            <m:t>𝑡</m:t>
                          </m:r>
                          <m:r>
                            <a:rPr lang="en-US" b="0" i="1" baseline="-25000" smtClean="0">
                              <a:latin typeface="Cambria Math" panose="02040503050406030204" pitchFamily="18" charset="0"/>
                              <a:ea typeface="Cambria Math" panose="02040503050406030204" pitchFamily="18" charset="0"/>
                            </a:rPr>
                            <m:t>−1</m:t>
                          </m:r>
                        </m:num>
                        <m:den>
                          <m:r>
                            <a:rPr lang="el-GR" i="1">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h</m:t>
                          </m:r>
                          <m:r>
                            <a:rPr lang="en-US" b="0" i="1" baseline="-25000" smtClean="0">
                              <a:latin typeface="Cambria Math" panose="02040503050406030204" pitchFamily="18" charset="0"/>
                              <a:ea typeface="Cambria Math" panose="02040503050406030204" pitchFamily="18" charset="0"/>
                            </a:rPr>
                            <m:t>𝑡</m:t>
                          </m:r>
                          <m:r>
                            <a:rPr lang="en-US" b="0" i="1" baseline="-25000" smtClean="0">
                              <a:latin typeface="Cambria Math" panose="02040503050406030204" pitchFamily="18" charset="0"/>
                              <a:ea typeface="Cambria Math" panose="02040503050406030204" pitchFamily="18" charset="0"/>
                            </a:rPr>
                            <m:t>−2</m:t>
                          </m:r>
                        </m:den>
                      </m:f>
                      <m:f>
                        <m:fPr>
                          <m:ctrlPr>
                            <a:rPr lang="en-US" i="1" smtClean="0">
                              <a:latin typeface="Cambria Math" panose="02040503050406030204" pitchFamily="18" charset="0"/>
                              <a:ea typeface="Cambria Math" panose="02040503050406030204" pitchFamily="18" charset="0"/>
                            </a:rPr>
                          </m:ctrlPr>
                        </m:fPr>
                        <m:num>
                          <m:r>
                            <a:rPr lang="el-GR"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h</m:t>
                          </m:r>
                          <m:r>
                            <a:rPr lang="en-US" i="1" baseline="-25000">
                              <a:latin typeface="Cambria Math" panose="02040503050406030204" pitchFamily="18" charset="0"/>
                              <a:ea typeface="Cambria Math" panose="02040503050406030204" pitchFamily="18" charset="0"/>
                            </a:rPr>
                            <m:t>𝑡</m:t>
                          </m:r>
                          <m:r>
                            <a:rPr lang="en-US" b="0" i="1" baseline="-25000" smtClean="0">
                              <a:latin typeface="Cambria Math" panose="02040503050406030204" pitchFamily="18" charset="0"/>
                              <a:ea typeface="Cambria Math" panose="02040503050406030204" pitchFamily="18" charset="0"/>
                            </a:rPr>
                            <m:t>−</m:t>
                          </m:r>
                          <m:r>
                            <a:rPr lang="en-US" b="0" i="1" baseline="-25000" smtClean="0">
                              <a:latin typeface="Cambria Math" panose="02040503050406030204" pitchFamily="18" charset="0"/>
                              <a:ea typeface="Cambria Math" panose="02040503050406030204" pitchFamily="18" charset="0"/>
                            </a:rPr>
                            <m:t>2</m:t>
                          </m:r>
                        </m:num>
                        <m:den>
                          <m:r>
                            <a:rPr lang="el-GR"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𝑊</m:t>
                          </m:r>
                        </m:den>
                      </m:f>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p:sp>
            <p:nvSpPr>
              <p:cNvPr id="24" name="TextBox 23">
                <a:extLst>
                  <a:ext uri="{FF2B5EF4-FFF2-40B4-BE49-F238E27FC236}">
                    <a16:creationId xmlns:a16="http://schemas.microsoft.com/office/drawing/2014/main" id="{F4C50BAA-B862-AD84-7568-046A01913BF6}"/>
                  </a:ext>
                </a:extLst>
              </p:cNvPr>
              <p:cNvSpPr txBox="1">
                <a:spLocks noRot="1" noChangeAspect="1" noMove="1" noResize="1" noEditPoints="1" noAdjustHandles="1" noChangeArrowheads="1" noChangeShapeType="1" noTextEdit="1"/>
              </p:cNvSpPr>
              <p:nvPr/>
            </p:nvSpPr>
            <p:spPr>
              <a:xfrm>
                <a:off x="7440197" y="4447092"/>
                <a:ext cx="4624795" cy="618887"/>
              </a:xfrm>
              <a:prstGeom prst="rect">
                <a:avLst/>
              </a:prstGeom>
              <a:blipFill>
                <a:blip r:embed="rId9"/>
                <a:stretch>
                  <a:fillRect b="-10204"/>
                </a:stretch>
              </a:blipFill>
            </p:spPr>
            <p:txBody>
              <a:bodyPr/>
              <a:lstStyle/>
              <a:p>
                <a:r>
                  <a:rPr lang="en-US">
                    <a:noFill/>
                  </a:rPr>
                  <a:t> </a:t>
                </a:r>
              </a:p>
            </p:txBody>
          </p:sp>
        </mc:Fallback>
      </mc:AlternateContent>
    </p:spTree>
    <p:extLst>
      <p:ext uri="{BB962C8B-B14F-4D97-AF65-F5344CB8AC3E}">
        <p14:creationId xmlns:p14="http://schemas.microsoft.com/office/powerpoint/2010/main" val="3978633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A840E-C313-3E73-D83D-41D32FBF5DFC}"/>
              </a:ext>
            </a:extLst>
          </p:cNvPr>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E3823C44-B6C1-0F7F-57AB-10E4431C18D3}"/>
                  </a:ext>
                </a:extLst>
              </p:cNvPr>
              <p:cNvSpPr txBox="1">
                <a:spLocks noGrp="1"/>
              </p:cNvSpPr>
              <p:nvPr>
                <p:ph idx="1"/>
              </p:nvPr>
            </p:nvSpPr>
            <p:spPr>
              <a:xfrm>
                <a:off x="838200" y="1825625"/>
                <a:ext cx="10515600" cy="3107326"/>
              </a:xfrm>
              <a:prstGeom prst="rect">
                <a:avLst/>
              </a:prstGeom>
              <a:noFill/>
            </p:spPr>
            <p:txBody>
              <a:bodyPr wrap="square">
                <a:spAutoFit/>
              </a:bodyPr>
              <a:lstStyle/>
              <a:p>
                <a:pPr/>
                <a14:m>
                  <m:oMath xmlns:m="http://schemas.openxmlformats.org/officeDocument/2006/math">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𝑊</m:t>
                        </m:r>
                      </m:den>
                    </m:f>
                    <m:r>
                      <a:rPr lang="en-US" sz="2400" b="0" i="0"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num>
                      <m:den>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𝑊</m:t>
                        </m:r>
                      </m:den>
                    </m:f>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num>
                      <m:den>
                        <m:r>
                          <a:rPr lang="el-GR" sz="2400" i="1">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−1</m:t>
                        </m:r>
                      </m:den>
                    </m:f>
                    <m:d>
                      <m:dPr>
                        <m:begChr m:val="{"/>
                        <m:endChr m:val="}"/>
                        <m:ctrlPr>
                          <a:rPr lang="en-US" sz="2400" b="0" i="1" smtClean="0">
                            <a:latin typeface="Cambria Math" panose="02040503050406030204" pitchFamily="18" charset="0"/>
                            <a:ea typeface="Cambria Math" panose="02040503050406030204" pitchFamily="18" charset="0"/>
                          </a:rPr>
                        </m:ctrlPr>
                      </m:dPr>
                      <m:e>
                        <m:f>
                          <m:fPr>
                            <m:ctrlPr>
                              <a:rPr lang="en-US" sz="2400" i="1" smtClean="0">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−1</m:t>
                            </m:r>
                          </m:num>
                          <m:den>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𝑊</m:t>
                            </m:r>
                          </m:den>
                        </m:f>
                        <m:r>
                          <a:rPr lang="en-US" sz="2400" b="0" i="1" smtClean="0">
                            <a:latin typeface="Cambria Math" panose="02040503050406030204" pitchFamily="18" charset="0"/>
                            <a:ea typeface="Cambria Math" panose="02040503050406030204" pitchFamily="18" charset="0"/>
                          </a:rPr>
                          <m:t>+ </m:t>
                        </m:r>
                        <m:f>
                          <m:fPr>
                            <m:ctrlPr>
                              <a:rPr lang="en-US" sz="2400" i="1">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−1</m:t>
                            </m:r>
                          </m:num>
                          <m:den>
                            <m:r>
                              <a:rPr lang="el-GR" sz="2400" i="1">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−2</m:t>
                            </m:r>
                          </m:den>
                        </m:f>
                        <m:f>
                          <m:fPr>
                            <m:ctrlPr>
                              <a:rPr lang="en-US" sz="2400" i="1" smtClean="0">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m:t>
                            </m:r>
                            <m:r>
                              <a:rPr lang="en-US" sz="2400" b="0" i="1" baseline="-25000" smtClean="0">
                                <a:latin typeface="Cambria Math" panose="02040503050406030204" pitchFamily="18" charset="0"/>
                                <a:ea typeface="Cambria Math" panose="02040503050406030204" pitchFamily="18" charset="0"/>
                              </a:rPr>
                              <m:t>2</m:t>
                            </m:r>
                          </m:num>
                          <m:den>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𝑊</m:t>
                            </m:r>
                          </m:den>
                        </m:f>
                      </m:e>
                    </m:d>
                  </m:oMath>
                </a14:m>
                <a:endParaRPr lang="en-US" sz="2400" b="0" dirty="0">
                  <a:ea typeface="Cambria Math" panose="02040503050406030204" pitchFamily="18" charset="0"/>
                </a:endParaRPr>
              </a:p>
              <a:p>
                <a:pPr/>
                <a14:m>
                  <m:oMath xmlns:m="http://schemas.openxmlformats.org/officeDocument/2006/math">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𝑊</m:t>
                        </m:r>
                      </m:den>
                    </m:f>
                    <m:r>
                      <a:rPr lang="en-US" sz="2400" b="0" i="0"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num>
                      <m:den>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𝑊</m:t>
                        </m:r>
                      </m:den>
                    </m:f>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num>
                      <m:den>
                        <m:r>
                          <a:rPr lang="el-GR" sz="2400" i="1">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−1</m:t>
                        </m:r>
                      </m:den>
                    </m:f>
                  </m:oMath>
                </a14:m>
                <a:r>
                  <a:rPr lang="en-US" sz="2400" dirty="0">
                    <a:ea typeface="Cambria Math" panose="02040503050406030204" pitchFamily="18" charset="0"/>
                  </a:rPr>
                  <a:t> </a:t>
                </a:r>
                <a14:m>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−1</m:t>
                        </m:r>
                      </m:num>
                      <m:den>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𝑊</m:t>
                        </m:r>
                      </m:den>
                    </m:f>
                    <m:r>
                      <a:rPr lang="en-US" sz="2400" b="0" i="1" smtClean="0">
                        <a:latin typeface="Cambria Math" panose="02040503050406030204" pitchFamily="18" charset="0"/>
                        <a:ea typeface="Cambria Math" panose="02040503050406030204" pitchFamily="18" charset="0"/>
                      </a:rPr>
                      <m:t>+</m:t>
                    </m:r>
                  </m:oMath>
                </a14:m>
                <a:r>
                  <a:rPr lang="en-US" sz="2400" dirty="0">
                    <a:ea typeface="Cambria Math" panose="02040503050406030204" pitchFamily="18" charset="0"/>
                  </a:rPr>
                  <a:t> </a:t>
                </a:r>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num>
                      <m:den>
                        <m:r>
                          <a:rPr lang="el-GR" sz="2400" i="1">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−1</m:t>
                        </m:r>
                      </m:den>
                    </m:f>
                  </m:oMath>
                </a14:m>
                <a:r>
                  <a:rPr lang="en-US" sz="2400" dirty="0">
                    <a:ea typeface="Cambria Math" panose="02040503050406030204" pitchFamily="18" charset="0"/>
                  </a:rPr>
                  <a:t> </a:t>
                </a:r>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−1</m:t>
                        </m:r>
                      </m:num>
                      <m:den>
                        <m:r>
                          <a:rPr lang="el-GR" sz="2400" i="1">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−2</m:t>
                        </m:r>
                      </m:den>
                    </m:f>
                    <m:f>
                      <m:fPr>
                        <m:ctrlPr>
                          <a:rPr lang="en-US" sz="2400" i="1" smtClean="0">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−2</m:t>
                        </m:r>
                      </m:num>
                      <m:den>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𝑊</m:t>
                        </m:r>
                      </m:den>
                    </m:f>
                  </m:oMath>
                </a14:m>
                <a:endParaRPr lang="en-US" sz="2400" dirty="0"/>
              </a:p>
              <a:p>
                <a:pPr/>
                <a14:m>
                  <m:oMath xmlns:m="http://schemas.openxmlformats.org/officeDocument/2006/math">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𝑊</m:t>
                        </m:r>
                      </m:den>
                    </m:f>
                    <m:r>
                      <a:rPr lang="en-US" sz="2400" b="0" i="0"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num>
                      <m:den>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𝑊</m:t>
                        </m:r>
                      </m:den>
                    </m:f>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num>
                      <m:den>
                        <m:r>
                          <a:rPr lang="el-GR" sz="2400" i="1">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−1</m:t>
                        </m:r>
                      </m:den>
                    </m:f>
                  </m:oMath>
                </a14:m>
                <a:r>
                  <a:rPr lang="en-US" sz="2400" dirty="0">
                    <a:ea typeface="Cambria Math" panose="02040503050406030204" pitchFamily="18" charset="0"/>
                  </a:rPr>
                  <a:t> </a:t>
                </a:r>
                <a14:m>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−1</m:t>
                        </m:r>
                      </m:num>
                      <m:den>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𝑊</m:t>
                        </m:r>
                      </m:den>
                    </m:f>
                    <m:r>
                      <a:rPr lang="en-US" sz="2400" b="0" i="1" smtClean="0">
                        <a:latin typeface="Cambria Math" panose="02040503050406030204" pitchFamily="18" charset="0"/>
                        <a:ea typeface="Cambria Math" panose="02040503050406030204" pitchFamily="18" charset="0"/>
                      </a:rPr>
                      <m:t>+</m:t>
                    </m:r>
                  </m:oMath>
                </a14:m>
                <a:r>
                  <a:rPr lang="en-US" sz="2400" dirty="0">
                    <a:ea typeface="Cambria Math" panose="02040503050406030204" pitchFamily="18" charset="0"/>
                  </a:rPr>
                  <a:t> </a:t>
                </a:r>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num>
                      <m:den>
                        <m:r>
                          <a:rPr lang="el-GR" sz="2400" i="1">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−2</m:t>
                        </m:r>
                      </m:den>
                    </m:f>
                  </m:oMath>
                </a14:m>
                <a:r>
                  <a:rPr lang="en-US" sz="2400" dirty="0">
                    <a:ea typeface="Cambria Math" panose="02040503050406030204" pitchFamily="18" charset="0"/>
                  </a:rPr>
                  <a:t> </a:t>
                </a:r>
                <a14:m>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h</m:t>
                        </m:r>
                        <m:r>
                          <a:rPr lang="en-US" sz="2400" i="1" baseline="-25000">
                            <a:latin typeface="Cambria Math" panose="02040503050406030204" pitchFamily="18" charset="0"/>
                            <a:ea typeface="Cambria Math" panose="02040503050406030204" pitchFamily="18" charset="0"/>
                          </a:rPr>
                          <m:t>𝑡</m:t>
                        </m:r>
                        <m:r>
                          <a:rPr lang="en-US" sz="2400" b="0" i="1" baseline="-25000" smtClean="0">
                            <a:latin typeface="Cambria Math" panose="02040503050406030204" pitchFamily="18" charset="0"/>
                            <a:ea typeface="Cambria Math" panose="02040503050406030204" pitchFamily="18" charset="0"/>
                          </a:rPr>
                          <m:t>−2</m:t>
                        </m:r>
                      </m:num>
                      <m:den>
                        <m:r>
                          <a:rPr lang="el-GR" sz="2400" i="1">
                            <a:latin typeface="Cambria Math" panose="02040503050406030204" pitchFamily="18" charset="0"/>
                            <a:ea typeface="Cambria Math" panose="02040503050406030204" pitchFamily="18" charset="0"/>
                          </a:rPr>
                          <m:t>𝛿</m:t>
                        </m:r>
                        <m:r>
                          <a:rPr lang="en-US" sz="2400" i="1">
                            <a:latin typeface="Cambria Math" panose="02040503050406030204" pitchFamily="18" charset="0"/>
                            <a:ea typeface="Cambria Math" panose="02040503050406030204" pitchFamily="18" charset="0"/>
                          </a:rPr>
                          <m:t>𝑊</m:t>
                        </m:r>
                      </m:den>
                    </m:f>
                  </m:oMath>
                </a14:m>
                <a:endParaRPr lang="en-US" sz="2400" dirty="0"/>
              </a:p>
              <a:p>
                <a:pPr/>
                <a14:m>
                  <m:oMath xmlns:m="http://schemas.openxmlformats.org/officeDocument/2006/math">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𝑊</m:t>
                        </m:r>
                      </m:den>
                    </m:f>
                    <m:r>
                      <a:rPr lang="en-US" sz="2400" b="0" i="1" smtClean="0">
                        <a:latin typeface="Cambria Math" panose="02040503050406030204" pitchFamily="18" charset="0"/>
                        <a:ea typeface="Cambria Math" panose="02040503050406030204" pitchFamily="18" charset="0"/>
                      </a:rPr>
                      <m:t>= </m:t>
                    </m:r>
                    <m:nary>
                      <m:naryPr>
                        <m:chr m:val="∑"/>
                        <m:ctrlPr>
                          <a:rPr lang="en-US" sz="2400" b="0" i="1" smtClean="0">
                            <a:latin typeface="Cambria Math" panose="02040503050406030204" pitchFamily="18" charset="0"/>
                            <a:ea typeface="Cambria Math" panose="02040503050406030204" pitchFamily="18" charset="0"/>
                          </a:rPr>
                        </m:ctrlPr>
                      </m:naryPr>
                      <m:sub>
                        <m:r>
                          <a:rPr lang="en-US" sz="2400" b="0" i="1" smtClean="0">
                            <a:latin typeface="Cambria Math" panose="02040503050406030204" pitchFamily="18" charset="0"/>
                            <a:ea typeface="Cambria Math" panose="02040503050406030204" pitchFamily="18" charset="0"/>
                          </a:rPr>
                          <m:t>𝑟</m:t>
                        </m:r>
                        <m:r>
                          <a:rPr lang="en-US" sz="2400" b="0" i="1" smtClean="0">
                            <a:latin typeface="Cambria Math" panose="02040503050406030204" pitchFamily="18" charset="0"/>
                            <a:ea typeface="Cambria Math" panose="02040503050406030204" pitchFamily="18" charset="0"/>
                          </a:rPr>
                          <m:t>=1</m:t>
                        </m:r>
                      </m:sub>
                      <m:sup>
                        <m:r>
                          <a:rPr lang="en-US" sz="2400" b="0" i="1" smtClean="0">
                            <a:latin typeface="Cambria Math" panose="02040503050406030204" pitchFamily="18" charset="0"/>
                            <a:ea typeface="Cambria Math" panose="02040503050406030204" pitchFamily="18" charset="0"/>
                          </a:rPr>
                          <m:t>𝑡</m:t>
                        </m:r>
                      </m:sup>
                      <m:e>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𝑟</m:t>
                            </m:r>
                          </m:den>
                        </m:f>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𝑟</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𝑊</m:t>
                            </m:r>
                          </m:den>
                        </m:f>
                      </m:e>
                    </m:nary>
                  </m:oMath>
                </a14:m>
                <a:endParaRPr lang="en-US" sz="2400" dirty="0"/>
              </a:p>
              <a:p>
                <a:pPr/>
                <a14:m>
                  <m:oMath xmlns:m="http://schemas.openxmlformats.org/officeDocument/2006/math">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𝐿</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𝑊</m:t>
                        </m:r>
                      </m:den>
                    </m:f>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𝐿</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𝑦</m:t>
                        </m:r>
                        <m:r>
                          <a:rPr lang="en-US" sz="2400" b="0" i="1" baseline="-25000" smtClean="0">
                            <a:latin typeface="Cambria Math" panose="02040503050406030204" pitchFamily="18" charset="0"/>
                            <a:ea typeface="Cambria Math" panose="02040503050406030204" pitchFamily="18" charset="0"/>
                          </a:rPr>
                          <m:t>𝑡</m:t>
                        </m:r>
                      </m:den>
                    </m:f>
                  </m:oMath>
                </a14:m>
                <a:r>
                  <a:rPr lang="en-US" sz="2400" dirty="0"/>
                  <a:t> </a:t>
                </a:r>
                <a14:m>
                  <m:oMath xmlns:m="http://schemas.openxmlformats.org/officeDocument/2006/math">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𝑦</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𝑜</m:t>
                        </m:r>
                        <m:r>
                          <a:rPr lang="en-US" sz="2400" b="0" i="1" baseline="-25000" smtClean="0">
                            <a:latin typeface="Cambria Math" panose="02040503050406030204" pitchFamily="18" charset="0"/>
                            <a:ea typeface="Cambria Math" panose="02040503050406030204" pitchFamily="18" charset="0"/>
                          </a:rPr>
                          <m:t>𝑡</m:t>
                        </m:r>
                      </m:den>
                    </m:f>
                  </m:oMath>
                </a14:m>
                <a:r>
                  <a:rPr lang="en-US" sz="2400" dirty="0"/>
                  <a:t> </a:t>
                </a:r>
                <a14:m>
                  <m:oMath xmlns:m="http://schemas.openxmlformats.org/officeDocument/2006/math">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𝑜</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den>
                    </m:f>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𝑊</m:t>
                        </m:r>
                      </m:den>
                    </m:f>
                    <m:r>
                      <a:rPr lang="en-US" sz="2400" b="0" i="1" smtClean="0">
                        <a:latin typeface="Cambria Math" panose="02040503050406030204" pitchFamily="18" charset="0"/>
                        <a:ea typeface="Cambria Math" panose="02040503050406030204" pitchFamily="18" charset="0"/>
                      </a:rPr>
                      <m:t> −→</m:t>
                    </m:r>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𝐿</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𝑦</m:t>
                        </m:r>
                        <m:r>
                          <a:rPr lang="en-US" sz="2400" b="0" i="1" baseline="-25000" smtClean="0">
                            <a:latin typeface="Cambria Math" panose="02040503050406030204" pitchFamily="18" charset="0"/>
                            <a:ea typeface="Cambria Math" panose="02040503050406030204" pitchFamily="18" charset="0"/>
                          </a:rPr>
                          <m:t>𝑡</m:t>
                        </m:r>
                      </m:den>
                    </m:f>
                    <m:r>
                      <m:rPr>
                        <m:nor/>
                      </m:rPr>
                      <a:rPr lang="en-US" sz="2400" dirty="0"/>
                      <m:t> </m:t>
                    </m:r>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𝑦</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𝑜</m:t>
                        </m:r>
                        <m:r>
                          <a:rPr lang="en-US" sz="2400" b="0" i="1" baseline="-25000" smtClean="0">
                            <a:latin typeface="Cambria Math" panose="02040503050406030204" pitchFamily="18" charset="0"/>
                            <a:ea typeface="Cambria Math" panose="02040503050406030204" pitchFamily="18" charset="0"/>
                          </a:rPr>
                          <m:t>𝑡</m:t>
                        </m:r>
                      </m:den>
                    </m:f>
                    <m:r>
                      <m:rPr>
                        <m:nor/>
                      </m:rPr>
                      <a:rPr lang="en-US" sz="2400" dirty="0"/>
                      <m:t> </m:t>
                    </m:r>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𝑜</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den>
                    </m:f>
                    <m:nary>
                      <m:naryPr>
                        <m:chr m:val="∑"/>
                        <m:ctrlPr>
                          <a:rPr lang="en-US" sz="2400" b="0" i="1" smtClean="0">
                            <a:latin typeface="Cambria Math" panose="02040503050406030204" pitchFamily="18" charset="0"/>
                            <a:ea typeface="Cambria Math" panose="02040503050406030204" pitchFamily="18" charset="0"/>
                          </a:rPr>
                        </m:ctrlPr>
                      </m:naryPr>
                      <m:sub>
                        <m:r>
                          <a:rPr lang="en-US" sz="2400" b="0" i="1" smtClean="0">
                            <a:latin typeface="Cambria Math" panose="02040503050406030204" pitchFamily="18" charset="0"/>
                            <a:ea typeface="Cambria Math" panose="02040503050406030204" pitchFamily="18" charset="0"/>
                          </a:rPr>
                          <m:t>𝑟</m:t>
                        </m:r>
                        <m:r>
                          <a:rPr lang="en-US" sz="2400" b="0" i="1" smtClean="0">
                            <a:latin typeface="Cambria Math" panose="02040503050406030204" pitchFamily="18" charset="0"/>
                            <a:ea typeface="Cambria Math" panose="02040503050406030204" pitchFamily="18" charset="0"/>
                          </a:rPr>
                          <m:t>=0</m:t>
                        </m:r>
                      </m:sub>
                      <m:sup>
                        <m:r>
                          <a:rPr lang="en-US" sz="2400" b="0" i="1" smtClean="0">
                            <a:latin typeface="Cambria Math" panose="02040503050406030204" pitchFamily="18" charset="0"/>
                            <a:ea typeface="Cambria Math" panose="02040503050406030204" pitchFamily="18" charset="0"/>
                          </a:rPr>
                          <m:t>𝑡</m:t>
                        </m:r>
                      </m:sup>
                      <m:e>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𝑡</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𝑟</m:t>
                            </m:r>
                          </m:den>
                        </m:f>
                        <m:f>
                          <m:fPr>
                            <m:ctrlPr>
                              <a:rPr lang="en-US" sz="2400" b="0" i="1" smtClean="0">
                                <a:latin typeface="Cambria Math" panose="02040503050406030204" pitchFamily="18" charset="0"/>
                                <a:ea typeface="Cambria Math" panose="02040503050406030204" pitchFamily="18" charset="0"/>
                              </a:rPr>
                            </m:ctrlPr>
                          </m:fPr>
                          <m:num>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h</m:t>
                            </m:r>
                            <m:r>
                              <a:rPr lang="en-US" sz="2400" b="0" i="1" baseline="-25000" smtClean="0">
                                <a:latin typeface="Cambria Math" panose="02040503050406030204" pitchFamily="18" charset="0"/>
                                <a:ea typeface="Cambria Math" panose="02040503050406030204" pitchFamily="18" charset="0"/>
                              </a:rPr>
                              <m:t>𝑟</m:t>
                            </m:r>
                          </m:num>
                          <m:den>
                            <m:r>
                              <a:rPr lang="el-GR" sz="2400" b="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𝑊</m:t>
                            </m:r>
                          </m:den>
                        </m:f>
                      </m:e>
                    </m:nary>
                  </m:oMath>
                </a14:m>
                <a:endParaRPr lang="en-US" sz="2400" dirty="0"/>
              </a:p>
            </p:txBody>
          </p:sp>
        </mc:Choice>
        <mc:Fallback>
          <p:sp>
            <p:nvSpPr>
              <p:cNvPr id="4" name="Content Placeholder 3">
                <a:extLst>
                  <a:ext uri="{FF2B5EF4-FFF2-40B4-BE49-F238E27FC236}">
                    <a16:creationId xmlns:a16="http://schemas.microsoft.com/office/drawing/2014/main" id="{E3823C44-B6C1-0F7F-57AB-10E4431C18D3}"/>
                  </a:ext>
                </a:extLst>
              </p:cNvPr>
              <p:cNvSpPr txBox="1">
                <a:spLocks noGrp="1" noRot="1" noChangeAspect="1" noMove="1" noResize="1" noEditPoints="1" noAdjustHandles="1" noChangeArrowheads="1" noChangeShapeType="1" noTextEdit="1"/>
              </p:cNvSpPr>
              <p:nvPr>
                <p:ph idx="1"/>
              </p:nvPr>
            </p:nvSpPr>
            <p:spPr>
              <a:xfrm>
                <a:off x="838200" y="1825625"/>
                <a:ext cx="10515600" cy="3107326"/>
              </a:xfrm>
              <a:prstGeom prst="rect">
                <a:avLst/>
              </a:prstGeom>
              <a:blipFill>
                <a:blip r:embed="rId2"/>
                <a:stretch>
                  <a:fillRect l="-844" b="-24390"/>
                </a:stretch>
              </a:blipFill>
            </p:spPr>
            <p:txBody>
              <a:bodyPr/>
              <a:lstStyle/>
              <a:p>
                <a:r>
                  <a:rPr lang="en-US">
                    <a:noFill/>
                  </a:rPr>
                  <a:t> </a:t>
                </a:r>
              </a:p>
            </p:txBody>
          </p:sp>
        </mc:Fallback>
      </mc:AlternateContent>
    </p:spTree>
    <p:extLst>
      <p:ext uri="{BB962C8B-B14F-4D97-AF65-F5344CB8AC3E}">
        <p14:creationId xmlns:p14="http://schemas.microsoft.com/office/powerpoint/2010/main" val="10938362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1361</TotalTime>
  <Words>2105</Words>
  <Application>Microsoft Macintosh PowerPoint</Application>
  <PresentationFormat>Widescreen</PresentationFormat>
  <Paragraphs>389</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Aptos</vt:lpstr>
      <vt:lpstr>Aptos Display</vt:lpstr>
      <vt:lpstr>Arial</vt:lpstr>
      <vt:lpstr>Cambria Math</vt:lpstr>
      <vt:lpstr>KaTeX_Main</vt:lpstr>
      <vt:lpstr>KaTeX_Math</vt:lpstr>
      <vt:lpstr>KaTeX_Size4</vt:lpstr>
      <vt:lpstr>Söhne</vt:lpstr>
      <vt:lpstr>Office Theme</vt:lpstr>
      <vt:lpstr>PowerPoint Presentation</vt:lpstr>
      <vt:lpstr>PowerPoint Presentation</vt:lpstr>
      <vt:lpstr>PowerPoint Presentation</vt:lpstr>
      <vt:lpstr>PowerPoint Presentation</vt:lpstr>
      <vt:lpstr>PowerPoint Presentation</vt:lpstr>
      <vt:lpstr>Compute total loss</vt:lpstr>
      <vt:lpstr>Compute total loss</vt:lpstr>
      <vt:lpstr>Backpropagation for Output Layer Weights (V)</vt:lpstr>
      <vt:lpstr>Backpropagation for Output Layer Weights (V)</vt:lpstr>
      <vt:lpstr>Backpropagation for Hidden Layer Weights (U and W)</vt:lpstr>
      <vt:lpstr>Backpropagation for Hidden Layer Weights (U and W)</vt:lpstr>
      <vt:lpstr>Backpropagation for Hidden Layer Weights (U and W)</vt:lpstr>
      <vt:lpstr>Backpropagation for Hidden Layer Weights (U and W)</vt:lpstr>
      <vt:lpstr>Backpropagation for Hidden Layer Weights (U and W)</vt:lpstr>
      <vt:lpstr>Example Calculation:</vt:lpstr>
      <vt:lpstr>Example Calculation:</vt:lpstr>
      <vt:lpstr>Back Propagation through time: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Amit Pandey</dc:creator>
  <cp:lastModifiedBy>Amit Pandey</cp:lastModifiedBy>
  <cp:revision>63</cp:revision>
  <dcterms:created xsi:type="dcterms:W3CDTF">2024-04-05T07:26:19Z</dcterms:created>
  <dcterms:modified xsi:type="dcterms:W3CDTF">2024-04-06T06:07:50Z</dcterms:modified>
</cp:coreProperties>
</file>