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71" r:id="rId14"/>
    <p:sldId id="272" r:id="rId15"/>
    <p:sldId id="273" r:id="rId16"/>
    <p:sldId id="274" r:id="rId17"/>
    <p:sldId id="275"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669"/>
  </p:normalViewPr>
  <p:slideViewPr>
    <p:cSldViewPr snapToGrid="0">
      <p:cViewPr varScale="1">
        <p:scale>
          <a:sx n="114" d="100"/>
          <a:sy n="114" d="100"/>
        </p:scale>
        <p:origin x="7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494C6-C78D-EC37-47CA-421226B689A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CA57A0D-E28C-DC40-D0B4-224CD14A56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5B762F4-994F-898C-FA20-A4BE39A7EAAF}"/>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5" name="Footer Placeholder 4">
            <a:extLst>
              <a:ext uri="{FF2B5EF4-FFF2-40B4-BE49-F238E27FC236}">
                <a16:creationId xmlns:a16="http://schemas.microsoft.com/office/drawing/2014/main" id="{C094495A-918E-CEC6-2336-287440179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AA98D-CFF3-2A99-C323-BA1630830A7B}"/>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2986184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6633-BBF7-9F48-C782-CBF6FEF4E0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0ABDC97-6F17-8B20-0BFD-44EBEF67BD0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98DF52-499B-D702-10B5-EA2E50A76CD7}"/>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5" name="Footer Placeholder 4">
            <a:extLst>
              <a:ext uri="{FF2B5EF4-FFF2-40B4-BE49-F238E27FC236}">
                <a16:creationId xmlns:a16="http://schemas.microsoft.com/office/drawing/2014/main" id="{BAC14826-6BED-3A19-773F-63A195542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84BC25-E38E-935B-2E9C-CBAED3511360}"/>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718983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9489C-9616-85A4-7DEA-99CE61A565C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010557F-DF85-FA05-E509-79E20292BC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4D45BC-47AD-8233-349B-EA2994F2DFD3}"/>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5" name="Footer Placeholder 4">
            <a:extLst>
              <a:ext uri="{FF2B5EF4-FFF2-40B4-BE49-F238E27FC236}">
                <a16:creationId xmlns:a16="http://schemas.microsoft.com/office/drawing/2014/main" id="{B6FE9444-3D29-14BA-D17B-347CCFC05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94C0-CE22-B883-E1C3-F0A3508E7576}"/>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3827580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4FB92-5EC0-7A02-560E-8874B6B0A4F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CE80320-806B-4268-F4A1-2F78310ABAD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F90A4FF-D94D-83E3-769C-670894BB80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6CB75EF-7869-A116-2430-3D95B451B883}"/>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6" name="Footer Placeholder 5">
            <a:extLst>
              <a:ext uri="{FF2B5EF4-FFF2-40B4-BE49-F238E27FC236}">
                <a16:creationId xmlns:a16="http://schemas.microsoft.com/office/drawing/2014/main" id="{12270D5C-D09F-F822-F1D5-40C747C61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46D588-ECBF-8F0F-D955-D0DBA2B03545}"/>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777127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EAC7-7FCC-14D0-E3D9-0B41503FA1F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6BF78A2-B12B-F56F-9854-5CECFE3886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F765E1-9AFF-E025-7310-87C07F4442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0454DA8-94D9-A7E5-C120-3AFFC9FDD1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70F7392-6EEE-F223-AF5C-84ECAF0D727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097E26F-7588-10EA-3F7E-E605F3E3F1DC}"/>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8" name="Footer Placeholder 7">
            <a:extLst>
              <a:ext uri="{FF2B5EF4-FFF2-40B4-BE49-F238E27FC236}">
                <a16:creationId xmlns:a16="http://schemas.microsoft.com/office/drawing/2014/main" id="{69B729A1-9CE1-C904-BEAF-545A817E99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EE153C-46CB-779A-0B68-1E467F01F43A}"/>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3134699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7FD80-9562-5C3D-D822-712A4115026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0DE1F8-BAF8-4BAE-9BF3-47C3C61A9CFB}"/>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4" name="Footer Placeholder 3">
            <a:extLst>
              <a:ext uri="{FF2B5EF4-FFF2-40B4-BE49-F238E27FC236}">
                <a16:creationId xmlns:a16="http://schemas.microsoft.com/office/drawing/2014/main" id="{50EC5DC0-28A6-61B8-8E23-F69DA54222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300AEC-8B9E-B5DD-E0D3-0D92AD878C2F}"/>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1547528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89C6E8-A2A7-D9BC-2217-B5663D602582}"/>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3" name="Footer Placeholder 2">
            <a:extLst>
              <a:ext uri="{FF2B5EF4-FFF2-40B4-BE49-F238E27FC236}">
                <a16:creationId xmlns:a16="http://schemas.microsoft.com/office/drawing/2014/main" id="{E67A314A-0491-232E-FF9C-585CD5044B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9C27DF-6F2A-C5FF-0733-EEC2FF4EEF3D}"/>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1922573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380D3-81B6-B176-D76B-FFB4CB44D8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E93FF62-853B-2ABF-9D9E-B420ADFA7D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6BE4EA3-D9A9-80CF-1450-A2EF530486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002469-D463-20E8-E68A-92632AFD67AE}"/>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6" name="Footer Placeholder 5">
            <a:extLst>
              <a:ext uri="{FF2B5EF4-FFF2-40B4-BE49-F238E27FC236}">
                <a16:creationId xmlns:a16="http://schemas.microsoft.com/office/drawing/2014/main" id="{63EF7CB9-0724-5C6D-895E-96EDCFD7C7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AEEB17-FB7F-EA98-D2CF-E45DBD6F453B}"/>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4059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AEA06-0CD2-3D89-7EA1-72CB2786CBD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3A6C97C-3040-38B5-ADA5-01BCC735C0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46A618-3C6F-82EF-362C-EA60DAB09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35B62B3-564F-697D-00AC-2AF7B39DB266}"/>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6" name="Footer Placeholder 5">
            <a:extLst>
              <a:ext uri="{FF2B5EF4-FFF2-40B4-BE49-F238E27FC236}">
                <a16:creationId xmlns:a16="http://schemas.microsoft.com/office/drawing/2014/main" id="{184A69BE-7E6A-43C8-D4F8-FDAB897C7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1F9FED-E7FD-9006-7BCC-5E9E8DC0E476}"/>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3738868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3F9F-6237-4AD4-E705-6B3841BBBFC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6CF161-3A1C-B451-7CA9-681B7C8DC49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C43FCB-0DA1-38E5-FC09-8D87F5B5BEEA}"/>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5" name="Footer Placeholder 4">
            <a:extLst>
              <a:ext uri="{FF2B5EF4-FFF2-40B4-BE49-F238E27FC236}">
                <a16:creationId xmlns:a16="http://schemas.microsoft.com/office/drawing/2014/main" id="{DF6C8EFC-894B-3E16-F768-D3B7DBBE57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273CB6-563F-FFEB-DEDB-2E43A73A1BAA}"/>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640549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561572-2ACD-B6BD-354D-ECDA34E65D6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BE450E-BE10-801D-E16A-DB0AF97D5AF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57986C-F394-E35B-B6E7-817A063E856F}"/>
              </a:ext>
            </a:extLst>
          </p:cNvPr>
          <p:cNvSpPr>
            <a:spLocks noGrp="1"/>
          </p:cNvSpPr>
          <p:nvPr>
            <p:ph type="dt" sz="half" idx="10"/>
          </p:nvPr>
        </p:nvSpPr>
        <p:spPr/>
        <p:txBody>
          <a:bodyPr/>
          <a:lstStyle/>
          <a:p>
            <a:fld id="{14050F4C-652E-3C46-A0BB-1F0B08F2FAE4}" type="datetimeFigureOut">
              <a:rPr lang="en-US" smtClean="0"/>
              <a:t>3/7/26</a:t>
            </a:fld>
            <a:endParaRPr lang="en-US"/>
          </a:p>
        </p:txBody>
      </p:sp>
      <p:sp>
        <p:nvSpPr>
          <p:cNvPr id="5" name="Footer Placeholder 4">
            <a:extLst>
              <a:ext uri="{FF2B5EF4-FFF2-40B4-BE49-F238E27FC236}">
                <a16:creationId xmlns:a16="http://schemas.microsoft.com/office/drawing/2014/main" id="{E3B47B59-FB97-ABB8-B4EB-E48774F39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7E7D04-B391-B831-E978-3031583FBDCE}"/>
              </a:ext>
            </a:extLst>
          </p:cNvPr>
          <p:cNvSpPr>
            <a:spLocks noGrp="1"/>
          </p:cNvSpPr>
          <p:nvPr>
            <p:ph type="sldNum" sz="quarter" idx="12"/>
          </p:nvPr>
        </p:nvSpPr>
        <p:spPr/>
        <p:txBody>
          <a:bodyPr/>
          <a:lstStyle/>
          <a:p>
            <a:fld id="{CF5C63CA-1E3C-3641-A6E9-D507660CE71B}" type="slidenum">
              <a:rPr lang="en-US" smtClean="0"/>
              <a:t>‹#›</a:t>
            </a:fld>
            <a:endParaRPr lang="en-US"/>
          </a:p>
        </p:txBody>
      </p:sp>
    </p:spTree>
    <p:extLst>
      <p:ext uri="{BB962C8B-B14F-4D97-AF65-F5344CB8AC3E}">
        <p14:creationId xmlns:p14="http://schemas.microsoft.com/office/powerpoint/2010/main" val="4047746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F27DBF-8979-3C28-C698-7173486D16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1741F57-0196-AE44-7168-615EB88D34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E46237-8D39-5870-E830-8ECE33293D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050F4C-652E-3C46-A0BB-1F0B08F2FAE4}" type="datetimeFigureOut">
              <a:rPr lang="en-US" smtClean="0"/>
              <a:t>3/7/26</a:t>
            </a:fld>
            <a:endParaRPr lang="en-US"/>
          </a:p>
        </p:txBody>
      </p:sp>
      <p:sp>
        <p:nvSpPr>
          <p:cNvPr id="5" name="Footer Placeholder 4">
            <a:extLst>
              <a:ext uri="{FF2B5EF4-FFF2-40B4-BE49-F238E27FC236}">
                <a16:creationId xmlns:a16="http://schemas.microsoft.com/office/drawing/2014/main" id="{7F3C19BE-D6A6-03B4-6DBC-321156C39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91BD8D-D6F1-BAB2-3369-2B86AE6098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5C63CA-1E3C-3641-A6E9-D507660CE71B}" type="slidenum">
              <a:rPr lang="en-US" smtClean="0"/>
              <a:t>‹#›</a:t>
            </a:fld>
            <a:endParaRPr lang="en-US"/>
          </a:p>
        </p:txBody>
      </p:sp>
    </p:spTree>
    <p:extLst>
      <p:ext uri="{BB962C8B-B14F-4D97-AF65-F5344CB8AC3E}">
        <p14:creationId xmlns:p14="http://schemas.microsoft.com/office/powerpoint/2010/main" val="3807150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F1B-F5E8-8B7C-4FE9-BD7201F2F407}"/>
              </a:ext>
            </a:extLst>
          </p:cNvPr>
          <p:cNvSpPr>
            <a:spLocks noGrp="1"/>
          </p:cNvSpPr>
          <p:nvPr>
            <p:ph type="ctrTitle"/>
          </p:nvPr>
        </p:nvSpPr>
        <p:spPr/>
        <p:txBody>
          <a:bodyPr/>
          <a:lstStyle/>
          <a:p>
            <a:r>
              <a:rPr lang="en-US" dirty="0"/>
              <a:t>Optimization Technique</a:t>
            </a:r>
          </a:p>
        </p:txBody>
      </p:sp>
      <p:sp>
        <p:nvSpPr>
          <p:cNvPr id="3" name="Subtitle 2">
            <a:extLst>
              <a:ext uri="{FF2B5EF4-FFF2-40B4-BE49-F238E27FC236}">
                <a16:creationId xmlns:a16="http://schemas.microsoft.com/office/drawing/2014/main" id="{88320FA9-6D05-BEDA-7E3F-77643290AF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51078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C5FA-3723-8785-4EC4-C2CB6041A3AC}"/>
              </a:ext>
            </a:extLst>
          </p:cNvPr>
          <p:cNvSpPr>
            <a:spLocks noGrp="1"/>
          </p:cNvSpPr>
          <p:nvPr>
            <p:ph type="title"/>
          </p:nvPr>
        </p:nvSpPr>
        <p:spPr/>
        <p:txBody>
          <a:bodyPr/>
          <a:lstStyle/>
          <a:p>
            <a:r>
              <a:rPr lang="en-IN" b="1" i="0" dirty="0">
                <a:effectLst/>
                <a:latin typeface="+mn-lt"/>
              </a:rPr>
              <a:t>Architecture Modifications</a:t>
            </a:r>
            <a:endParaRPr lang="en-US" dirty="0">
              <a:latin typeface="+mn-lt"/>
            </a:endParaRPr>
          </a:p>
        </p:txBody>
      </p:sp>
      <p:sp>
        <p:nvSpPr>
          <p:cNvPr id="3" name="Content Placeholder 2">
            <a:extLst>
              <a:ext uri="{FF2B5EF4-FFF2-40B4-BE49-F238E27FC236}">
                <a16:creationId xmlns:a16="http://schemas.microsoft.com/office/drawing/2014/main" id="{F44EA778-C53B-BDCA-62DD-4E54DD9AA7FB}"/>
              </a:ext>
            </a:extLst>
          </p:cNvPr>
          <p:cNvSpPr>
            <a:spLocks noGrp="1"/>
          </p:cNvSpPr>
          <p:nvPr>
            <p:ph idx="1"/>
          </p:nvPr>
        </p:nvSpPr>
        <p:spPr/>
        <p:txBody>
          <a:bodyPr/>
          <a:lstStyle/>
          <a:p>
            <a:pPr algn="l">
              <a:buFont typeface="Arial" panose="020B0604020202020204" pitchFamily="34" charset="0"/>
              <a:buChar char="•"/>
            </a:pPr>
            <a:r>
              <a:rPr lang="en-IN" b="1" i="0" dirty="0">
                <a:effectLst/>
              </a:rPr>
              <a:t>Convolutional Neural Networks (CNN)</a:t>
            </a:r>
            <a:r>
              <a:rPr lang="en-IN" b="0" i="0" dirty="0">
                <a:effectLst/>
              </a:rPr>
              <a:t>: While you've used an Artificial Neural Network (ANN), Convolutional Neural Networks are typically better suited for image data due to their ability to recognize local patterns in an image.</a:t>
            </a:r>
          </a:p>
          <a:p>
            <a:pPr algn="l">
              <a:buFont typeface="Arial" panose="020B0604020202020204" pitchFamily="34" charset="0"/>
              <a:buChar char="•"/>
            </a:pPr>
            <a:r>
              <a:rPr lang="en-IN" b="1" i="0" dirty="0">
                <a:effectLst/>
              </a:rPr>
              <a:t>Depth</a:t>
            </a:r>
            <a:r>
              <a:rPr lang="en-IN" b="0" i="0" dirty="0">
                <a:effectLst/>
              </a:rPr>
              <a:t>: Increase or decrease the number of layers. Sometimes, a deeper model might capture better patterns, but it can also overfit if not regularized properly.</a:t>
            </a:r>
          </a:p>
          <a:p>
            <a:pPr algn="l">
              <a:buFont typeface="Arial" panose="020B0604020202020204" pitchFamily="34" charset="0"/>
              <a:buChar char="•"/>
            </a:pPr>
            <a:r>
              <a:rPr lang="en-IN" b="1" i="0" dirty="0">
                <a:effectLst/>
              </a:rPr>
              <a:t>Width</a:t>
            </a:r>
            <a:r>
              <a:rPr lang="en-IN" b="0" i="0" dirty="0">
                <a:effectLst/>
              </a:rPr>
              <a:t>: Increase or decrease the number of neurons in each layer.</a:t>
            </a:r>
          </a:p>
          <a:p>
            <a:endParaRPr lang="en-US" dirty="0"/>
          </a:p>
        </p:txBody>
      </p:sp>
    </p:spTree>
    <p:extLst>
      <p:ext uri="{BB962C8B-B14F-4D97-AF65-F5344CB8AC3E}">
        <p14:creationId xmlns:p14="http://schemas.microsoft.com/office/powerpoint/2010/main" val="266623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6855-4CD0-6945-1BE4-FB771EFA552A}"/>
              </a:ext>
            </a:extLst>
          </p:cNvPr>
          <p:cNvSpPr>
            <a:spLocks noGrp="1"/>
          </p:cNvSpPr>
          <p:nvPr>
            <p:ph type="title"/>
          </p:nvPr>
        </p:nvSpPr>
        <p:spPr/>
        <p:txBody>
          <a:bodyPr/>
          <a:lstStyle/>
          <a:p>
            <a:r>
              <a:rPr lang="en-IN" b="1" i="0" dirty="0">
                <a:effectLst/>
                <a:latin typeface="+mn-lt"/>
              </a:rPr>
              <a:t>Regularization Techniques</a:t>
            </a:r>
            <a:endParaRPr lang="en-US" dirty="0">
              <a:latin typeface="+mn-lt"/>
            </a:endParaRPr>
          </a:p>
        </p:txBody>
      </p:sp>
      <p:sp>
        <p:nvSpPr>
          <p:cNvPr id="3" name="Content Placeholder 2">
            <a:extLst>
              <a:ext uri="{FF2B5EF4-FFF2-40B4-BE49-F238E27FC236}">
                <a16:creationId xmlns:a16="http://schemas.microsoft.com/office/drawing/2014/main" id="{87042274-50CC-4B51-37E1-78A54128B293}"/>
              </a:ext>
            </a:extLst>
          </p:cNvPr>
          <p:cNvSpPr>
            <a:spLocks noGrp="1"/>
          </p:cNvSpPr>
          <p:nvPr>
            <p:ph idx="1"/>
          </p:nvPr>
        </p:nvSpPr>
        <p:spPr/>
        <p:txBody>
          <a:bodyPr/>
          <a:lstStyle/>
          <a:p>
            <a:pPr algn="l">
              <a:buFont typeface="Arial" panose="020B0604020202020204" pitchFamily="34" charset="0"/>
              <a:buChar char="•"/>
            </a:pPr>
            <a:r>
              <a:rPr lang="en-IN" b="1" i="0" dirty="0">
                <a:effectLst/>
              </a:rPr>
              <a:t>Dropout</a:t>
            </a:r>
            <a:r>
              <a:rPr lang="en-IN" b="0" i="0" dirty="0">
                <a:effectLst/>
              </a:rPr>
              <a:t>: You've already added dropout layers, which is one of the most common regularization techniques for neural networks. You can experiment with different dropout rates.</a:t>
            </a:r>
          </a:p>
          <a:p>
            <a:pPr algn="l">
              <a:buFont typeface="Arial" panose="020B0604020202020204" pitchFamily="34" charset="0"/>
              <a:buChar char="•"/>
            </a:pPr>
            <a:r>
              <a:rPr lang="en-IN" b="1" i="0" dirty="0">
                <a:effectLst/>
              </a:rPr>
              <a:t>L1 &amp; L2 Regularization</a:t>
            </a:r>
            <a:r>
              <a:rPr lang="en-IN" b="0" i="0" dirty="0">
                <a:effectLst/>
              </a:rPr>
              <a:t>: These add penalties to the loss for larger weights. This can prevent overfitting.</a:t>
            </a:r>
          </a:p>
          <a:p>
            <a:endParaRPr lang="en-US" dirty="0"/>
          </a:p>
        </p:txBody>
      </p:sp>
    </p:spTree>
    <p:extLst>
      <p:ext uri="{BB962C8B-B14F-4D97-AF65-F5344CB8AC3E}">
        <p14:creationId xmlns:p14="http://schemas.microsoft.com/office/powerpoint/2010/main" val="218655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0A65-4965-3450-6A92-F03CAAA062A5}"/>
              </a:ext>
            </a:extLst>
          </p:cNvPr>
          <p:cNvSpPr>
            <a:spLocks noGrp="1"/>
          </p:cNvSpPr>
          <p:nvPr>
            <p:ph type="title"/>
          </p:nvPr>
        </p:nvSpPr>
        <p:spPr/>
        <p:txBody>
          <a:bodyPr/>
          <a:lstStyle/>
          <a:p>
            <a:r>
              <a:rPr lang="en-IN" b="1" i="0" dirty="0">
                <a:effectLst/>
                <a:latin typeface="+mn-lt"/>
              </a:rPr>
              <a:t>Optimization Algorithms</a:t>
            </a:r>
            <a:endParaRPr lang="en-US" dirty="0">
              <a:latin typeface="+mn-lt"/>
            </a:endParaRPr>
          </a:p>
        </p:txBody>
      </p:sp>
      <p:sp>
        <p:nvSpPr>
          <p:cNvPr id="3" name="Content Placeholder 2">
            <a:extLst>
              <a:ext uri="{FF2B5EF4-FFF2-40B4-BE49-F238E27FC236}">
                <a16:creationId xmlns:a16="http://schemas.microsoft.com/office/drawing/2014/main" id="{E2447601-D8EA-98E3-2055-4EC621FC3CAF}"/>
              </a:ext>
            </a:extLst>
          </p:cNvPr>
          <p:cNvSpPr>
            <a:spLocks noGrp="1"/>
          </p:cNvSpPr>
          <p:nvPr>
            <p:ph idx="1"/>
          </p:nvPr>
        </p:nvSpPr>
        <p:spPr/>
        <p:txBody>
          <a:bodyPr/>
          <a:lstStyle/>
          <a:p>
            <a:pPr algn="l">
              <a:buFont typeface="Arial" panose="020B0604020202020204" pitchFamily="34" charset="0"/>
              <a:buChar char="•"/>
            </a:pPr>
            <a:r>
              <a:rPr lang="en-IN" b="1" i="0" dirty="0">
                <a:effectLst/>
              </a:rPr>
              <a:t>Adam</a:t>
            </a:r>
            <a:r>
              <a:rPr lang="en-IN" b="0" i="0" dirty="0">
                <a:effectLst/>
              </a:rPr>
              <a:t>: You've used Adam, which is a good default choice.</a:t>
            </a:r>
          </a:p>
          <a:p>
            <a:pPr algn="l">
              <a:buFont typeface="Arial" panose="020B0604020202020204" pitchFamily="34" charset="0"/>
              <a:buChar char="•"/>
            </a:pPr>
            <a:r>
              <a:rPr lang="en-IN" b="1" i="0" dirty="0">
                <a:effectLst/>
              </a:rPr>
              <a:t>SGD (Stochastic Gradient Descent)</a:t>
            </a:r>
            <a:r>
              <a:rPr lang="en-IN" b="0" i="0" dirty="0">
                <a:effectLst/>
              </a:rPr>
              <a:t>: This is another popular optimizer. Consider using it with momentum.</a:t>
            </a:r>
          </a:p>
          <a:p>
            <a:pPr algn="l">
              <a:buFont typeface="Arial" panose="020B0604020202020204" pitchFamily="34" charset="0"/>
              <a:buChar char="•"/>
            </a:pPr>
            <a:r>
              <a:rPr lang="en-IN" b="1" i="0" dirty="0">
                <a:effectLst/>
              </a:rPr>
              <a:t>RMSprop</a:t>
            </a:r>
            <a:r>
              <a:rPr lang="en-IN" b="0" i="0" dirty="0">
                <a:effectLst/>
              </a:rPr>
              <a:t>: An optimizer that adjusts learning rates for each of the parameters.</a:t>
            </a:r>
          </a:p>
          <a:p>
            <a:endParaRPr lang="en-US" dirty="0"/>
          </a:p>
        </p:txBody>
      </p:sp>
    </p:spTree>
    <p:extLst>
      <p:ext uri="{BB962C8B-B14F-4D97-AF65-F5344CB8AC3E}">
        <p14:creationId xmlns:p14="http://schemas.microsoft.com/office/powerpoint/2010/main" val="2796479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A260-F263-5DC7-EF23-06206CD68B03}"/>
              </a:ext>
            </a:extLst>
          </p:cNvPr>
          <p:cNvSpPr>
            <a:spLocks noGrp="1"/>
          </p:cNvSpPr>
          <p:nvPr>
            <p:ph type="title"/>
          </p:nvPr>
        </p:nvSpPr>
        <p:spPr/>
        <p:txBody>
          <a:bodyPr/>
          <a:lstStyle/>
          <a:p>
            <a:r>
              <a:rPr lang="en-IN" b="1" i="0" dirty="0">
                <a:effectLst/>
                <a:latin typeface="+mn-lt"/>
              </a:rPr>
              <a:t>Learning Rate Scheduling</a:t>
            </a:r>
            <a:endParaRPr lang="en-US" dirty="0">
              <a:latin typeface="+mn-lt"/>
            </a:endParaRPr>
          </a:p>
        </p:txBody>
      </p:sp>
      <p:sp>
        <p:nvSpPr>
          <p:cNvPr id="3" name="Content Placeholder 2">
            <a:extLst>
              <a:ext uri="{FF2B5EF4-FFF2-40B4-BE49-F238E27FC236}">
                <a16:creationId xmlns:a16="http://schemas.microsoft.com/office/drawing/2014/main" id="{74E067FA-9E1B-1BD1-A086-31A29EB813A0}"/>
              </a:ext>
            </a:extLst>
          </p:cNvPr>
          <p:cNvSpPr>
            <a:spLocks noGrp="1"/>
          </p:cNvSpPr>
          <p:nvPr>
            <p:ph idx="1"/>
          </p:nvPr>
        </p:nvSpPr>
        <p:spPr/>
        <p:txBody>
          <a:bodyPr/>
          <a:lstStyle/>
          <a:p>
            <a:pPr algn="l">
              <a:buFont typeface="Arial" panose="020B0604020202020204" pitchFamily="34" charset="0"/>
              <a:buChar char="•"/>
            </a:pPr>
            <a:r>
              <a:rPr lang="en-IN" b="1" i="0" dirty="0">
                <a:effectLst/>
              </a:rPr>
              <a:t>Step Decay</a:t>
            </a:r>
            <a:r>
              <a:rPr lang="en-IN" b="0" i="0" dirty="0">
                <a:effectLst/>
              </a:rPr>
              <a:t>: Decrease the learning rate after a set number of epochs.</a:t>
            </a:r>
          </a:p>
          <a:p>
            <a:pPr algn="l">
              <a:buFont typeface="Arial" panose="020B0604020202020204" pitchFamily="34" charset="0"/>
              <a:buChar char="•"/>
            </a:pPr>
            <a:r>
              <a:rPr lang="en-IN" b="1" i="0" dirty="0">
                <a:effectLst/>
              </a:rPr>
              <a:t>Exponential Decay</a:t>
            </a:r>
            <a:r>
              <a:rPr lang="en-IN" b="0" i="0" dirty="0">
                <a:effectLst/>
              </a:rPr>
              <a:t>: Gradually reduce the learning rate according to an exponential function.</a:t>
            </a:r>
          </a:p>
          <a:p>
            <a:pPr algn="l">
              <a:buFont typeface="Arial" panose="020B0604020202020204" pitchFamily="34" charset="0"/>
              <a:buChar char="•"/>
            </a:pPr>
            <a:r>
              <a:rPr lang="en-IN" b="1" i="0" dirty="0" err="1">
                <a:effectLst/>
              </a:rPr>
              <a:t>ReduceLROnPlateau</a:t>
            </a:r>
            <a:r>
              <a:rPr lang="en-IN" b="0" i="0" dirty="0">
                <a:effectLst/>
              </a:rPr>
              <a:t>: Reduce the learning rate when the validation loss plateaus.</a:t>
            </a:r>
          </a:p>
          <a:p>
            <a:endParaRPr lang="en-US" dirty="0"/>
          </a:p>
        </p:txBody>
      </p:sp>
    </p:spTree>
    <p:extLst>
      <p:ext uri="{BB962C8B-B14F-4D97-AF65-F5344CB8AC3E}">
        <p14:creationId xmlns:p14="http://schemas.microsoft.com/office/powerpoint/2010/main" val="863184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2D4EA-AAFD-D3F0-5D3E-631B17214BDA}"/>
              </a:ext>
            </a:extLst>
          </p:cNvPr>
          <p:cNvSpPr>
            <a:spLocks noGrp="1"/>
          </p:cNvSpPr>
          <p:nvPr>
            <p:ph type="title"/>
          </p:nvPr>
        </p:nvSpPr>
        <p:spPr/>
        <p:txBody>
          <a:bodyPr/>
          <a:lstStyle/>
          <a:p>
            <a:r>
              <a:rPr lang="en-IN" b="1" i="0" dirty="0">
                <a:effectLst/>
                <a:latin typeface="+mn-lt"/>
              </a:rPr>
              <a:t>Data Augmentation</a:t>
            </a:r>
            <a:endParaRPr lang="en-US" dirty="0">
              <a:latin typeface="+mn-lt"/>
            </a:endParaRPr>
          </a:p>
        </p:txBody>
      </p:sp>
      <p:sp>
        <p:nvSpPr>
          <p:cNvPr id="3" name="Content Placeholder 2">
            <a:extLst>
              <a:ext uri="{FF2B5EF4-FFF2-40B4-BE49-F238E27FC236}">
                <a16:creationId xmlns:a16="http://schemas.microsoft.com/office/drawing/2014/main" id="{76B76A71-BD3F-AC84-2B2A-82B4EC64DF91}"/>
              </a:ext>
            </a:extLst>
          </p:cNvPr>
          <p:cNvSpPr>
            <a:spLocks noGrp="1"/>
          </p:cNvSpPr>
          <p:nvPr>
            <p:ph idx="1"/>
          </p:nvPr>
        </p:nvSpPr>
        <p:spPr/>
        <p:txBody>
          <a:bodyPr>
            <a:normAutofit lnSpcReduction="10000"/>
          </a:bodyPr>
          <a:lstStyle/>
          <a:p>
            <a:pPr marL="0" indent="0">
              <a:buNone/>
            </a:pPr>
            <a:r>
              <a:rPr lang="en-US" dirty="0" err="1"/>
              <a:t>train_datagen</a:t>
            </a:r>
            <a:r>
              <a:rPr lang="en-US" dirty="0"/>
              <a:t> = </a:t>
            </a:r>
            <a:r>
              <a:rPr lang="en-US" dirty="0" err="1"/>
              <a:t>ImageDataGenerator</a:t>
            </a:r>
            <a:r>
              <a:rPr lang="en-US" dirty="0"/>
              <a:t>(</a:t>
            </a:r>
          </a:p>
          <a:p>
            <a:pPr marL="0" indent="0">
              <a:buNone/>
            </a:pPr>
            <a:r>
              <a:rPr lang="en-US" dirty="0"/>
              <a:t>    rescale=1./255,</a:t>
            </a:r>
          </a:p>
          <a:p>
            <a:pPr marL="0" indent="0">
              <a:buNone/>
            </a:pPr>
            <a:r>
              <a:rPr lang="en-US" dirty="0"/>
              <a:t>    </a:t>
            </a:r>
            <a:r>
              <a:rPr lang="en-US" dirty="0" err="1"/>
              <a:t>rotation_range</a:t>
            </a:r>
            <a:r>
              <a:rPr lang="en-US" dirty="0"/>
              <a:t>=40,</a:t>
            </a:r>
          </a:p>
          <a:p>
            <a:pPr marL="0" indent="0">
              <a:buNone/>
            </a:pPr>
            <a:r>
              <a:rPr lang="en-US" dirty="0"/>
              <a:t>    </a:t>
            </a:r>
            <a:r>
              <a:rPr lang="en-US" dirty="0" err="1"/>
              <a:t>width_shift_range</a:t>
            </a:r>
            <a:r>
              <a:rPr lang="en-US" dirty="0"/>
              <a:t>=0.2,</a:t>
            </a:r>
          </a:p>
          <a:p>
            <a:pPr marL="0" indent="0">
              <a:buNone/>
            </a:pPr>
            <a:r>
              <a:rPr lang="en-US" dirty="0"/>
              <a:t>    </a:t>
            </a:r>
            <a:r>
              <a:rPr lang="en-US" dirty="0" err="1"/>
              <a:t>height_shift_range</a:t>
            </a:r>
            <a:r>
              <a:rPr lang="en-US" dirty="0"/>
              <a:t>=0.2,</a:t>
            </a:r>
          </a:p>
          <a:p>
            <a:pPr marL="0" indent="0">
              <a:buNone/>
            </a:pPr>
            <a:r>
              <a:rPr lang="en-US" dirty="0"/>
              <a:t>    </a:t>
            </a:r>
            <a:r>
              <a:rPr lang="en-US" dirty="0" err="1"/>
              <a:t>shear_range</a:t>
            </a:r>
            <a:r>
              <a:rPr lang="en-US" dirty="0"/>
              <a:t>=0.2,</a:t>
            </a:r>
          </a:p>
          <a:p>
            <a:pPr marL="0" indent="0">
              <a:buNone/>
            </a:pPr>
            <a:r>
              <a:rPr lang="en-US" dirty="0"/>
              <a:t>    </a:t>
            </a:r>
            <a:r>
              <a:rPr lang="en-US" dirty="0" err="1"/>
              <a:t>zoom_range</a:t>
            </a:r>
            <a:r>
              <a:rPr lang="en-US" dirty="0"/>
              <a:t>=0.2,</a:t>
            </a:r>
          </a:p>
          <a:p>
            <a:pPr marL="0" indent="0">
              <a:buNone/>
            </a:pPr>
            <a:r>
              <a:rPr lang="en-US" dirty="0"/>
              <a:t>    </a:t>
            </a:r>
            <a:r>
              <a:rPr lang="en-US" dirty="0" err="1"/>
              <a:t>horizontal_flip</a:t>
            </a:r>
            <a:r>
              <a:rPr lang="en-US" dirty="0"/>
              <a:t>=True</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56644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C619B-3E4F-4BEF-DCEC-842F5F1540DA}"/>
              </a:ext>
            </a:extLst>
          </p:cNvPr>
          <p:cNvSpPr>
            <a:spLocks noGrp="1"/>
          </p:cNvSpPr>
          <p:nvPr>
            <p:ph type="title"/>
          </p:nvPr>
        </p:nvSpPr>
        <p:spPr/>
        <p:txBody>
          <a:bodyPr/>
          <a:lstStyle/>
          <a:p>
            <a:r>
              <a:rPr lang="en-IN" b="1" i="0" dirty="0">
                <a:effectLst/>
                <a:latin typeface="+mn-lt"/>
              </a:rPr>
              <a:t>Early Stopping</a:t>
            </a:r>
            <a:endParaRPr lang="en-US" dirty="0">
              <a:latin typeface="+mn-lt"/>
            </a:endParaRPr>
          </a:p>
        </p:txBody>
      </p:sp>
      <p:sp>
        <p:nvSpPr>
          <p:cNvPr id="3" name="Content Placeholder 2">
            <a:extLst>
              <a:ext uri="{FF2B5EF4-FFF2-40B4-BE49-F238E27FC236}">
                <a16:creationId xmlns:a16="http://schemas.microsoft.com/office/drawing/2014/main" id="{CC84D502-9DA8-4B32-DF3A-06DE29EC7F58}"/>
              </a:ext>
            </a:extLst>
          </p:cNvPr>
          <p:cNvSpPr>
            <a:spLocks noGrp="1"/>
          </p:cNvSpPr>
          <p:nvPr>
            <p:ph idx="1"/>
          </p:nvPr>
        </p:nvSpPr>
        <p:spPr/>
        <p:txBody>
          <a:bodyPr>
            <a:normAutofit fontScale="85000" lnSpcReduction="20000"/>
          </a:bodyPr>
          <a:lstStyle/>
          <a:p>
            <a:pPr marL="0" indent="0">
              <a:buNone/>
            </a:pPr>
            <a:r>
              <a:rPr lang="en-US" dirty="0"/>
              <a:t>from </a:t>
            </a:r>
            <a:r>
              <a:rPr lang="en-US" dirty="0" err="1"/>
              <a:t>tensorflow.keras.callbacks</a:t>
            </a:r>
            <a:r>
              <a:rPr lang="en-US" dirty="0"/>
              <a:t> import </a:t>
            </a:r>
            <a:r>
              <a:rPr lang="en-US" dirty="0" err="1"/>
              <a:t>EarlyStopping</a:t>
            </a:r>
            <a:r>
              <a:rPr lang="en-US" dirty="0"/>
              <a:t>, </a:t>
            </a:r>
            <a:r>
              <a:rPr lang="en-US" dirty="0" err="1"/>
              <a:t>ModelCheckpoint</a:t>
            </a:r>
            <a:endParaRPr lang="en-US" dirty="0"/>
          </a:p>
          <a:p>
            <a:pPr marL="0" indent="0">
              <a:buNone/>
            </a:pPr>
            <a:endParaRPr lang="en-US" dirty="0"/>
          </a:p>
          <a:p>
            <a:pPr marL="0" indent="0">
              <a:buNone/>
            </a:pPr>
            <a:r>
              <a:rPr lang="en-US" dirty="0" err="1"/>
              <a:t>early_stopping</a:t>
            </a:r>
            <a:r>
              <a:rPr lang="en-US" dirty="0"/>
              <a:t> = </a:t>
            </a:r>
            <a:r>
              <a:rPr lang="en-US" dirty="0" err="1"/>
              <a:t>EarlyStopping</a:t>
            </a:r>
            <a:r>
              <a:rPr lang="en-US" dirty="0"/>
              <a:t>(monitor='</a:t>
            </a:r>
            <a:r>
              <a:rPr lang="en-US" dirty="0" err="1"/>
              <a:t>val_loss</a:t>
            </a:r>
            <a:r>
              <a:rPr lang="en-US" dirty="0"/>
              <a:t>', patience=10)</a:t>
            </a:r>
          </a:p>
          <a:p>
            <a:pPr marL="0" indent="0">
              <a:buNone/>
            </a:pPr>
            <a:r>
              <a:rPr lang="en-US" dirty="0"/>
              <a:t>checkpoint = </a:t>
            </a:r>
            <a:r>
              <a:rPr lang="en-US" dirty="0" err="1"/>
              <a:t>ModelCheckpoint</a:t>
            </a:r>
            <a:r>
              <a:rPr lang="en-US" dirty="0"/>
              <a:t>('best_model.h5', </a:t>
            </a:r>
            <a:r>
              <a:rPr lang="en-US" dirty="0" err="1"/>
              <a:t>save_best_only</a:t>
            </a:r>
            <a:r>
              <a:rPr lang="en-US" dirty="0"/>
              <a:t>=True)</a:t>
            </a:r>
          </a:p>
          <a:p>
            <a:pPr marL="0" indent="0">
              <a:buNone/>
            </a:pPr>
            <a:endParaRPr lang="en-US" dirty="0"/>
          </a:p>
          <a:p>
            <a:pPr marL="0" indent="0">
              <a:buNone/>
            </a:pPr>
            <a:r>
              <a:rPr lang="en-US" dirty="0"/>
              <a:t>history = </a:t>
            </a:r>
            <a:r>
              <a:rPr lang="en-US" dirty="0" err="1"/>
              <a:t>model.fit</a:t>
            </a:r>
            <a:r>
              <a:rPr lang="en-US" dirty="0"/>
              <a:t>(</a:t>
            </a:r>
          </a:p>
          <a:p>
            <a:pPr marL="0" indent="0">
              <a:buNone/>
            </a:pPr>
            <a:r>
              <a:rPr lang="en-US" dirty="0"/>
              <a:t>    </a:t>
            </a:r>
            <a:r>
              <a:rPr lang="en-US" dirty="0" err="1"/>
              <a:t>train_generator</a:t>
            </a:r>
            <a:r>
              <a:rPr lang="en-US" dirty="0"/>
              <a:t>,</a:t>
            </a:r>
          </a:p>
          <a:p>
            <a:pPr marL="0" indent="0">
              <a:buNone/>
            </a:pPr>
            <a:r>
              <a:rPr lang="en-US" dirty="0"/>
              <a:t>    epochs=100,  # set a high epoch, early stopping will halt it if necessary</a:t>
            </a:r>
          </a:p>
          <a:p>
            <a:pPr marL="0" indent="0">
              <a:buNone/>
            </a:pPr>
            <a:r>
              <a:rPr lang="en-US" dirty="0"/>
              <a:t>    </a:t>
            </a:r>
            <a:r>
              <a:rPr lang="en-US" dirty="0" err="1"/>
              <a:t>validation_data</a:t>
            </a:r>
            <a:r>
              <a:rPr lang="en-US" dirty="0"/>
              <a:t>=</a:t>
            </a:r>
            <a:r>
              <a:rPr lang="en-US" dirty="0" err="1"/>
              <a:t>validation_generator</a:t>
            </a:r>
            <a:r>
              <a:rPr lang="en-US" dirty="0"/>
              <a:t>,</a:t>
            </a:r>
          </a:p>
          <a:p>
            <a:pPr marL="0" indent="0">
              <a:buNone/>
            </a:pPr>
            <a:r>
              <a:rPr lang="en-US" dirty="0"/>
              <a:t>    callbacks=[</a:t>
            </a:r>
            <a:r>
              <a:rPr lang="en-US" dirty="0" err="1"/>
              <a:t>early_stopping</a:t>
            </a:r>
            <a:r>
              <a:rPr lang="en-US" dirty="0"/>
              <a:t>, checkpoint]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507971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249A6-151F-E2C0-7CDA-A5A2ECB0CD5F}"/>
              </a:ext>
            </a:extLst>
          </p:cNvPr>
          <p:cNvSpPr>
            <a:spLocks noGrp="1"/>
          </p:cNvSpPr>
          <p:nvPr>
            <p:ph type="title"/>
          </p:nvPr>
        </p:nvSpPr>
        <p:spPr/>
        <p:txBody>
          <a:bodyPr/>
          <a:lstStyle/>
          <a:p>
            <a:r>
              <a:rPr lang="en-US" dirty="0">
                <a:latin typeface="+mn-lt"/>
              </a:rPr>
              <a:t>Others</a:t>
            </a:r>
          </a:p>
        </p:txBody>
      </p:sp>
      <p:sp>
        <p:nvSpPr>
          <p:cNvPr id="3" name="Content Placeholder 2">
            <a:extLst>
              <a:ext uri="{FF2B5EF4-FFF2-40B4-BE49-F238E27FC236}">
                <a16:creationId xmlns:a16="http://schemas.microsoft.com/office/drawing/2014/main" id="{F3BD16E0-79E1-2ACA-0A3C-B7DB00912CC1}"/>
              </a:ext>
            </a:extLst>
          </p:cNvPr>
          <p:cNvSpPr>
            <a:spLocks noGrp="1"/>
          </p:cNvSpPr>
          <p:nvPr>
            <p:ph idx="1"/>
          </p:nvPr>
        </p:nvSpPr>
        <p:spPr/>
        <p:txBody>
          <a:bodyPr/>
          <a:lstStyle/>
          <a:p>
            <a:r>
              <a:rPr lang="en-IN" b="1" i="0" dirty="0">
                <a:effectLst/>
              </a:rPr>
              <a:t>Transfer Learning – </a:t>
            </a:r>
            <a:r>
              <a:rPr lang="en-IN" b="0" i="0" dirty="0">
                <a:effectLst/>
              </a:rPr>
              <a:t>Use pre-trained models (e.g., VGG16, </a:t>
            </a:r>
            <a:r>
              <a:rPr lang="en-IN" b="0" i="0" dirty="0" err="1">
                <a:effectLst/>
              </a:rPr>
              <a:t>ResNet</a:t>
            </a:r>
            <a:r>
              <a:rPr lang="en-IN" b="0" i="0" dirty="0">
                <a:effectLst/>
              </a:rPr>
              <a:t>, etc.) and fine-tune them on your dataset. These models have already learned useful features from massive datasets and can boost performance, especially if your dataset is relatively small</a:t>
            </a:r>
          </a:p>
          <a:p>
            <a:r>
              <a:rPr lang="en-IN" b="1" i="0" dirty="0">
                <a:effectLst/>
              </a:rPr>
              <a:t>Model Ensembles</a:t>
            </a:r>
            <a:r>
              <a:rPr lang="en-IN" dirty="0"/>
              <a:t> – </a:t>
            </a:r>
            <a:r>
              <a:rPr lang="en-IN" b="0" i="0" dirty="0">
                <a:effectLst/>
              </a:rPr>
              <a:t>Train multiple models and average their predictions. This can help reduce overfitting and often produces better results</a:t>
            </a:r>
          </a:p>
          <a:p>
            <a:r>
              <a:rPr lang="en-IN" b="1" i="0" dirty="0">
                <a:effectLst/>
              </a:rPr>
              <a:t>Batch Normalization</a:t>
            </a:r>
            <a:r>
              <a:rPr lang="en-IN" dirty="0"/>
              <a:t> - </a:t>
            </a:r>
            <a:r>
              <a:rPr lang="en-IN" b="0" i="0" dirty="0">
                <a:effectLst/>
              </a:rPr>
              <a:t>Helps in stabilizing and accelerating the training of deep networks by normalizing activations within layers</a:t>
            </a:r>
            <a:endParaRPr lang="en-IN" dirty="0"/>
          </a:p>
          <a:p>
            <a:endParaRPr lang="en-US" dirty="0"/>
          </a:p>
        </p:txBody>
      </p:sp>
    </p:spTree>
    <p:extLst>
      <p:ext uri="{BB962C8B-B14F-4D97-AF65-F5344CB8AC3E}">
        <p14:creationId xmlns:p14="http://schemas.microsoft.com/office/powerpoint/2010/main" val="2572037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A2BD37-29CE-EEF8-4452-C8E3AE0FEAD1}"/>
              </a:ext>
            </a:extLst>
          </p:cNvPr>
          <p:cNvSpPr>
            <a:spLocks noGrp="1"/>
          </p:cNvSpPr>
          <p:nvPr>
            <p:ph type="ctrTitle"/>
          </p:nvPr>
        </p:nvSpPr>
        <p:spPr/>
        <p:txBody>
          <a:bodyPr/>
          <a:lstStyle/>
          <a:p>
            <a:r>
              <a:rPr lang="en-US" dirty="0"/>
              <a:t>Activation functions</a:t>
            </a:r>
          </a:p>
        </p:txBody>
      </p:sp>
      <p:sp>
        <p:nvSpPr>
          <p:cNvPr id="5" name="Subtitle 4">
            <a:extLst>
              <a:ext uri="{FF2B5EF4-FFF2-40B4-BE49-F238E27FC236}">
                <a16:creationId xmlns:a16="http://schemas.microsoft.com/office/drawing/2014/main" id="{88F374EF-BB60-FDFA-B7CA-7448C9C21A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94520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D833-1CA3-878F-6BFF-1AF55BA60CD5}"/>
              </a:ext>
            </a:extLst>
          </p:cNvPr>
          <p:cNvSpPr>
            <a:spLocks noGrp="1"/>
          </p:cNvSpPr>
          <p:nvPr>
            <p:ph type="title"/>
          </p:nvPr>
        </p:nvSpPr>
        <p:spPr/>
        <p:txBody>
          <a:bodyPr/>
          <a:lstStyle/>
          <a:p>
            <a:r>
              <a:rPr lang="en-IN" b="1" i="0" dirty="0">
                <a:effectLst/>
                <a:latin typeface="+mn-lt"/>
              </a:rPr>
              <a:t>Sigmoid (Logistic)</a:t>
            </a:r>
            <a:endParaRPr lang="en-US" dirty="0">
              <a:latin typeface="+mn-lt"/>
            </a:endParaRPr>
          </a:p>
        </p:txBody>
      </p:sp>
      <p:sp>
        <p:nvSpPr>
          <p:cNvPr id="3" name="Content Placeholder 2">
            <a:extLst>
              <a:ext uri="{FF2B5EF4-FFF2-40B4-BE49-F238E27FC236}">
                <a16:creationId xmlns:a16="http://schemas.microsoft.com/office/drawing/2014/main" id="{D6B2CFDA-A45B-F9EB-EEA5-2D50D68177F2}"/>
              </a:ext>
            </a:extLst>
          </p:cNvPr>
          <p:cNvSpPr>
            <a:spLocks noGrp="1"/>
          </p:cNvSpPr>
          <p:nvPr>
            <p:ph idx="1"/>
          </p:nvPr>
        </p:nvSpPr>
        <p:spPr/>
        <p:txBody>
          <a:bodyPr/>
          <a:lstStyle/>
          <a:p>
            <a:pPr algn="l">
              <a:buFont typeface="Arial" panose="020B0604020202020204" pitchFamily="34" charset="0"/>
              <a:buChar char="•"/>
            </a:pPr>
            <a:r>
              <a:rPr lang="en-IN" b="0" i="0" dirty="0">
                <a:effectLst/>
              </a:rPr>
              <a:t>Formula: </a:t>
            </a:r>
            <a:r>
              <a:rPr lang="en-IN" dirty="0"/>
              <a:t>f</a:t>
            </a:r>
            <a:r>
              <a:rPr lang="en-IN" b="0" i="0" dirty="0">
                <a:effectLst/>
              </a:rPr>
              <a:t>(</a:t>
            </a:r>
            <a:r>
              <a:rPr lang="en-IN" dirty="0"/>
              <a:t>x</a:t>
            </a:r>
            <a:r>
              <a:rPr lang="en-IN" b="0" i="0" dirty="0">
                <a:effectLst/>
              </a:rPr>
              <a:t>)=1/(1+e</a:t>
            </a:r>
            <a:r>
              <a:rPr lang="en-IN" b="0" i="0" baseline="30000" dirty="0">
                <a:effectLst/>
              </a:rPr>
              <a:t>−x</a:t>
            </a:r>
            <a:r>
              <a:rPr lang="en-IN" b="0" i="0" dirty="0">
                <a:effectLst/>
              </a:rPr>
              <a:t>)</a:t>
            </a:r>
          </a:p>
          <a:p>
            <a:pPr algn="l">
              <a:buFont typeface="Arial" panose="020B0604020202020204" pitchFamily="34" charset="0"/>
              <a:buChar char="•"/>
            </a:pPr>
            <a:r>
              <a:rPr lang="en-IN" b="0" i="0" dirty="0">
                <a:effectLst/>
              </a:rPr>
              <a:t>Range: (0, 1)</a:t>
            </a:r>
          </a:p>
          <a:p>
            <a:pPr algn="l">
              <a:buFont typeface="Arial" panose="020B0604020202020204" pitchFamily="34" charset="0"/>
              <a:buChar char="•"/>
            </a:pPr>
            <a:r>
              <a:rPr lang="en-IN" b="0" i="0" dirty="0">
                <a:effectLst/>
              </a:rPr>
              <a:t>Traditionally used for the output layer in binary classification problems.</a:t>
            </a:r>
          </a:p>
          <a:p>
            <a:pPr algn="l">
              <a:buFont typeface="Arial" panose="020B0604020202020204" pitchFamily="34" charset="0"/>
              <a:buChar char="•"/>
            </a:pPr>
            <a:r>
              <a:rPr lang="en-IN" b="0" i="0" dirty="0">
                <a:effectLst/>
              </a:rPr>
              <a:t>Can cause vanishing gradient problems in deep networks.</a:t>
            </a:r>
          </a:p>
          <a:p>
            <a:endParaRPr lang="en-US" dirty="0"/>
          </a:p>
        </p:txBody>
      </p:sp>
    </p:spTree>
    <p:extLst>
      <p:ext uri="{BB962C8B-B14F-4D97-AF65-F5344CB8AC3E}">
        <p14:creationId xmlns:p14="http://schemas.microsoft.com/office/powerpoint/2010/main" val="2515272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8BBA-4C9E-A7CA-837C-8927C9E9C412}"/>
              </a:ext>
            </a:extLst>
          </p:cNvPr>
          <p:cNvSpPr>
            <a:spLocks noGrp="1"/>
          </p:cNvSpPr>
          <p:nvPr>
            <p:ph type="title"/>
          </p:nvPr>
        </p:nvSpPr>
        <p:spPr/>
        <p:txBody>
          <a:bodyPr>
            <a:normAutofit fontScale="90000"/>
          </a:bodyPr>
          <a:lstStyle/>
          <a:p>
            <a:br>
              <a:rPr lang="en-IN" b="0" i="0" dirty="0">
                <a:effectLst/>
                <a:latin typeface="+mn-lt"/>
              </a:rPr>
            </a:br>
            <a:r>
              <a:rPr lang="en-IN" b="1" i="0" dirty="0">
                <a:effectLst/>
                <a:latin typeface="+mn-lt"/>
              </a:rPr>
              <a:t>Hyperbolic Tangent (tanh)</a:t>
            </a:r>
            <a:br>
              <a:rPr lang="en-IN" b="0" i="0" dirty="0">
                <a:effectLst/>
                <a:latin typeface="+mn-lt"/>
              </a:rPr>
            </a:br>
            <a:endParaRPr lang="en-US" dirty="0">
              <a:latin typeface="+mn-lt"/>
            </a:endParaRPr>
          </a:p>
        </p:txBody>
      </p:sp>
      <p:sp>
        <p:nvSpPr>
          <p:cNvPr id="3" name="Content Placeholder 2">
            <a:extLst>
              <a:ext uri="{FF2B5EF4-FFF2-40B4-BE49-F238E27FC236}">
                <a16:creationId xmlns:a16="http://schemas.microsoft.com/office/drawing/2014/main" id="{996EE3F9-7CD5-2B1B-624A-1095855B378E}"/>
              </a:ext>
            </a:extLst>
          </p:cNvPr>
          <p:cNvSpPr>
            <a:spLocks noGrp="1"/>
          </p:cNvSpPr>
          <p:nvPr>
            <p:ph idx="1"/>
          </p:nvPr>
        </p:nvSpPr>
        <p:spPr/>
        <p:txBody>
          <a:bodyPr/>
          <a:lstStyle/>
          <a:p>
            <a:pPr algn="l">
              <a:buFont typeface="Arial" panose="020B0604020202020204" pitchFamily="34" charset="0"/>
              <a:buChar char="•"/>
            </a:pPr>
            <a:r>
              <a:rPr lang="en-IN" b="0" i="0" dirty="0">
                <a:effectLst/>
              </a:rPr>
              <a:t>Formula: </a:t>
            </a:r>
            <a:r>
              <a:rPr lang="en-IN" dirty="0"/>
              <a:t>f</a:t>
            </a:r>
            <a:r>
              <a:rPr lang="en-IN" b="0" i="0" dirty="0">
                <a:effectLst/>
              </a:rPr>
              <a:t>(</a:t>
            </a:r>
            <a:r>
              <a:rPr lang="en-IN" dirty="0"/>
              <a:t>x</a:t>
            </a:r>
            <a:r>
              <a:rPr lang="en-IN" b="0" i="0" dirty="0">
                <a:effectLst/>
              </a:rPr>
              <a:t>)=(</a:t>
            </a:r>
            <a:r>
              <a:rPr lang="en-IN" dirty="0"/>
              <a:t>e</a:t>
            </a:r>
            <a:r>
              <a:rPr lang="en-IN" baseline="30000" dirty="0"/>
              <a:t>x</a:t>
            </a:r>
            <a:r>
              <a:rPr lang="en-IN" b="0" i="0" dirty="0">
                <a:effectLst/>
              </a:rPr>
              <a:t>−e</a:t>
            </a:r>
            <a:r>
              <a:rPr lang="en-IN" b="0" i="0" baseline="30000" dirty="0">
                <a:effectLst/>
              </a:rPr>
              <a:t>−x</a:t>
            </a:r>
            <a:r>
              <a:rPr lang="en-IN" b="0" i="0" dirty="0">
                <a:effectLst/>
              </a:rPr>
              <a:t>)/(</a:t>
            </a:r>
            <a:r>
              <a:rPr lang="en-IN" b="0" i="0" dirty="0" err="1">
                <a:effectLst/>
              </a:rPr>
              <a:t>e</a:t>
            </a:r>
            <a:r>
              <a:rPr lang="en-IN" b="0" i="0" baseline="30000" dirty="0" err="1">
                <a:effectLst/>
              </a:rPr>
              <a:t>x</a:t>
            </a:r>
            <a:r>
              <a:rPr lang="en-IN" b="0" i="0" dirty="0" err="1">
                <a:effectLst/>
              </a:rPr>
              <a:t>+</a:t>
            </a:r>
            <a:r>
              <a:rPr lang="en-IN" dirty="0" err="1"/>
              <a:t>e</a:t>
            </a:r>
            <a:r>
              <a:rPr lang="en-IN" b="0" i="0" baseline="30000" dirty="0" err="1">
                <a:effectLst/>
              </a:rPr>
              <a:t>−x</a:t>
            </a:r>
            <a:r>
              <a:rPr lang="en-IN" b="0" i="0" dirty="0">
                <a:effectLst/>
              </a:rPr>
              <a:t>) ​</a:t>
            </a:r>
          </a:p>
          <a:p>
            <a:pPr algn="l">
              <a:buFont typeface="Arial" panose="020B0604020202020204" pitchFamily="34" charset="0"/>
              <a:buChar char="•"/>
            </a:pPr>
            <a:r>
              <a:rPr lang="en-IN" b="0" i="0" dirty="0">
                <a:effectLst/>
              </a:rPr>
              <a:t>Range: (-1, 1)</a:t>
            </a:r>
          </a:p>
          <a:p>
            <a:pPr algn="l">
              <a:buFont typeface="Arial" panose="020B0604020202020204" pitchFamily="34" charset="0"/>
              <a:buChar char="•"/>
            </a:pPr>
            <a:r>
              <a:rPr lang="en-IN" b="0" i="0" dirty="0">
                <a:effectLst/>
              </a:rPr>
              <a:t>It's zero-</a:t>
            </a:r>
            <a:r>
              <a:rPr lang="en-IN" b="0" i="0" dirty="0" err="1">
                <a:effectLst/>
              </a:rPr>
              <a:t>centered</a:t>
            </a:r>
            <a:r>
              <a:rPr lang="en-IN" b="0" i="0" dirty="0">
                <a:effectLst/>
              </a:rPr>
              <a:t>, making it easier for the model to learn in the early stages.</a:t>
            </a:r>
          </a:p>
          <a:p>
            <a:pPr algn="l">
              <a:buFont typeface="Arial" panose="020B0604020202020204" pitchFamily="34" charset="0"/>
              <a:buChar char="•"/>
            </a:pPr>
            <a:r>
              <a:rPr lang="en-IN" b="0" i="0" dirty="0">
                <a:effectLst/>
              </a:rPr>
              <a:t>Can still suffer from vanishing gradient problems.</a:t>
            </a:r>
          </a:p>
          <a:p>
            <a:endParaRPr lang="en-US" dirty="0"/>
          </a:p>
        </p:txBody>
      </p:sp>
    </p:spTree>
    <p:extLst>
      <p:ext uri="{BB962C8B-B14F-4D97-AF65-F5344CB8AC3E}">
        <p14:creationId xmlns:p14="http://schemas.microsoft.com/office/powerpoint/2010/main" val="207371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7D50F-EF6E-1966-A15A-B93FCB253CED}"/>
              </a:ext>
            </a:extLst>
          </p:cNvPr>
          <p:cNvSpPr>
            <a:spLocks noGrp="1"/>
          </p:cNvSpPr>
          <p:nvPr>
            <p:ph type="title"/>
          </p:nvPr>
        </p:nvSpPr>
        <p:spPr/>
        <p:txBody>
          <a:bodyPr/>
          <a:lstStyle/>
          <a:p>
            <a:r>
              <a:rPr lang="en-IN" b="1" i="0" dirty="0">
                <a:effectLst/>
                <a:latin typeface="+mn-lt"/>
              </a:rPr>
              <a:t>Rectified Linear Unit (</a:t>
            </a:r>
            <a:r>
              <a:rPr lang="en-IN" b="1" i="0" dirty="0" err="1">
                <a:effectLst/>
                <a:latin typeface="+mn-lt"/>
              </a:rPr>
              <a:t>ReLU</a:t>
            </a:r>
            <a:r>
              <a:rPr lang="en-IN" b="1" i="0" dirty="0">
                <a:effectLst/>
                <a:latin typeface="+mn-lt"/>
              </a:rPr>
              <a:t>)</a:t>
            </a:r>
            <a:endParaRPr lang="en-US" dirty="0">
              <a:latin typeface="+mn-lt"/>
            </a:endParaRPr>
          </a:p>
        </p:txBody>
      </p:sp>
      <p:sp>
        <p:nvSpPr>
          <p:cNvPr id="3" name="Content Placeholder 2">
            <a:extLst>
              <a:ext uri="{FF2B5EF4-FFF2-40B4-BE49-F238E27FC236}">
                <a16:creationId xmlns:a16="http://schemas.microsoft.com/office/drawing/2014/main" id="{A59A38F1-81F1-6CA0-0C26-3B3B7D46AD82}"/>
              </a:ext>
            </a:extLst>
          </p:cNvPr>
          <p:cNvSpPr>
            <a:spLocks noGrp="1"/>
          </p:cNvSpPr>
          <p:nvPr>
            <p:ph idx="1"/>
          </p:nvPr>
        </p:nvSpPr>
        <p:spPr/>
        <p:txBody>
          <a:bodyPr/>
          <a:lstStyle/>
          <a:p>
            <a:pPr algn="l">
              <a:buFont typeface="Arial" panose="020B0604020202020204" pitchFamily="34" charset="0"/>
              <a:buChar char="•"/>
            </a:pPr>
            <a:r>
              <a:rPr lang="en-IN" b="0" i="0" dirty="0">
                <a:effectLst/>
              </a:rPr>
              <a:t>Formula: </a:t>
            </a:r>
            <a:r>
              <a:rPr lang="en-IN" dirty="0"/>
              <a:t>f</a:t>
            </a:r>
            <a:r>
              <a:rPr lang="en-IN" b="0" i="0" dirty="0">
                <a:effectLst/>
              </a:rPr>
              <a:t>(</a:t>
            </a:r>
            <a:r>
              <a:rPr lang="en-IN" dirty="0"/>
              <a:t>x</a:t>
            </a:r>
            <a:r>
              <a:rPr lang="en-IN" b="0" i="0" dirty="0">
                <a:effectLst/>
              </a:rPr>
              <a:t>)=max(0,x)</a:t>
            </a:r>
          </a:p>
          <a:p>
            <a:pPr algn="l">
              <a:buFont typeface="Arial" panose="020B0604020202020204" pitchFamily="34" charset="0"/>
              <a:buChar char="•"/>
            </a:pPr>
            <a:r>
              <a:rPr lang="en-IN" b="0" i="0" dirty="0">
                <a:effectLst/>
              </a:rPr>
              <a:t>Range: [0, ∞)</a:t>
            </a:r>
          </a:p>
          <a:p>
            <a:pPr algn="l">
              <a:buFont typeface="Arial" panose="020B0604020202020204" pitchFamily="34" charset="0"/>
              <a:buChar char="•"/>
            </a:pPr>
            <a:r>
              <a:rPr lang="en-IN" b="0" i="0" dirty="0">
                <a:effectLst/>
              </a:rPr>
              <a:t>Popular choice for hidden layers in neural networks.</a:t>
            </a:r>
          </a:p>
          <a:p>
            <a:pPr algn="l">
              <a:buFont typeface="Arial" panose="020B0604020202020204" pitchFamily="34" charset="0"/>
              <a:buChar char="•"/>
            </a:pPr>
            <a:r>
              <a:rPr lang="en-IN" b="0" i="0" dirty="0">
                <a:effectLst/>
              </a:rPr>
              <a:t>Helps mitigate the vanishing gradient problem.</a:t>
            </a:r>
          </a:p>
          <a:p>
            <a:pPr algn="l">
              <a:buFont typeface="Arial" panose="020B0604020202020204" pitchFamily="34" charset="0"/>
              <a:buChar char="•"/>
            </a:pPr>
            <a:r>
              <a:rPr lang="en-IN" b="0" i="0" dirty="0">
                <a:effectLst/>
              </a:rPr>
              <a:t>Not zero-</a:t>
            </a:r>
            <a:r>
              <a:rPr lang="en-IN" b="0" i="0" dirty="0" err="1">
                <a:effectLst/>
              </a:rPr>
              <a:t>centered</a:t>
            </a:r>
            <a:r>
              <a:rPr lang="en-IN" b="0" i="0" dirty="0">
                <a:effectLst/>
              </a:rPr>
              <a:t>.</a:t>
            </a:r>
          </a:p>
          <a:p>
            <a:pPr algn="l">
              <a:buFont typeface="Arial" panose="020B0604020202020204" pitchFamily="34" charset="0"/>
              <a:buChar char="•"/>
            </a:pPr>
            <a:r>
              <a:rPr lang="en-IN" b="0" i="0" dirty="0">
                <a:effectLst/>
              </a:rPr>
              <a:t>Can cause "dying </a:t>
            </a:r>
            <a:r>
              <a:rPr lang="en-IN" b="0" i="0" dirty="0" err="1">
                <a:effectLst/>
              </a:rPr>
              <a:t>ReLU</a:t>
            </a:r>
            <a:r>
              <a:rPr lang="en-IN" b="0" i="0" dirty="0">
                <a:effectLst/>
              </a:rPr>
              <a:t>" problem where neurons can sometimes get stuck during training and stop updating, essentially rendering them useless.</a:t>
            </a:r>
          </a:p>
          <a:p>
            <a:endParaRPr lang="en-US" dirty="0"/>
          </a:p>
        </p:txBody>
      </p:sp>
    </p:spTree>
    <p:extLst>
      <p:ext uri="{BB962C8B-B14F-4D97-AF65-F5344CB8AC3E}">
        <p14:creationId xmlns:p14="http://schemas.microsoft.com/office/powerpoint/2010/main" val="3209473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C23D7-A159-C18F-7896-2503DB2A262A}"/>
              </a:ext>
            </a:extLst>
          </p:cNvPr>
          <p:cNvSpPr>
            <a:spLocks noGrp="1"/>
          </p:cNvSpPr>
          <p:nvPr>
            <p:ph type="title"/>
          </p:nvPr>
        </p:nvSpPr>
        <p:spPr/>
        <p:txBody>
          <a:bodyPr/>
          <a:lstStyle/>
          <a:p>
            <a:r>
              <a:rPr lang="en-IN" b="1" i="0" dirty="0">
                <a:effectLst/>
                <a:latin typeface="+mn-lt"/>
              </a:rPr>
              <a:t>Leaky Rectified Linear Unit (Leaky </a:t>
            </a:r>
            <a:r>
              <a:rPr lang="en-IN" b="1" i="0" dirty="0" err="1">
                <a:effectLst/>
                <a:latin typeface="+mn-lt"/>
              </a:rPr>
              <a:t>ReLU</a:t>
            </a:r>
            <a:r>
              <a:rPr lang="en-IN" b="1" i="0" dirty="0">
                <a:effectLst/>
                <a:latin typeface="+mn-lt"/>
              </a:rPr>
              <a:t>)</a:t>
            </a:r>
            <a:endParaRPr lang="en-US" dirty="0">
              <a:latin typeface="+mn-lt"/>
            </a:endParaRPr>
          </a:p>
        </p:txBody>
      </p:sp>
      <p:sp>
        <p:nvSpPr>
          <p:cNvPr id="3" name="Content Placeholder 2">
            <a:extLst>
              <a:ext uri="{FF2B5EF4-FFF2-40B4-BE49-F238E27FC236}">
                <a16:creationId xmlns:a16="http://schemas.microsoft.com/office/drawing/2014/main" id="{5111E658-111D-F4FD-0468-2F896E8F9BFD}"/>
              </a:ext>
            </a:extLst>
          </p:cNvPr>
          <p:cNvSpPr>
            <a:spLocks noGrp="1"/>
          </p:cNvSpPr>
          <p:nvPr>
            <p:ph idx="1"/>
          </p:nvPr>
        </p:nvSpPr>
        <p:spPr/>
        <p:txBody>
          <a:bodyPr/>
          <a:lstStyle/>
          <a:p>
            <a:pPr algn="l">
              <a:buFont typeface="Arial" panose="020B0604020202020204" pitchFamily="34" charset="0"/>
              <a:buChar char="•"/>
            </a:pPr>
            <a:r>
              <a:rPr lang="en-IN" b="0" i="0" dirty="0">
                <a:effectLst/>
              </a:rPr>
              <a:t>Formula: </a:t>
            </a:r>
            <a:r>
              <a:rPr lang="en-IN" b="0" i="1" dirty="0">
                <a:effectLst/>
              </a:rPr>
              <a:t>f</a:t>
            </a:r>
            <a:r>
              <a:rPr lang="en-IN" b="0" i="0" dirty="0">
                <a:effectLst/>
              </a:rPr>
              <a:t>(</a:t>
            </a:r>
            <a:r>
              <a:rPr lang="en-IN" b="0" i="1" dirty="0">
                <a:effectLst/>
              </a:rPr>
              <a:t>x</a:t>
            </a:r>
            <a:r>
              <a:rPr lang="en-IN" b="0" i="0" dirty="0">
                <a:effectLst/>
              </a:rPr>
              <a:t>)=</a:t>
            </a:r>
            <a:r>
              <a:rPr lang="en-IN" b="0" i="1" dirty="0">
                <a:effectLst/>
              </a:rPr>
              <a:t>x</a:t>
            </a:r>
            <a:r>
              <a:rPr lang="en-IN" dirty="0"/>
              <a:t> </a:t>
            </a:r>
            <a:r>
              <a:rPr lang="en-IN" b="0" i="0" dirty="0">
                <a:effectLst/>
              </a:rPr>
              <a:t>for </a:t>
            </a:r>
            <a:r>
              <a:rPr lang="en-IN" dirty="0"/>
              <a:t>x</a:t>
            </a:r>
            <a:r>
              <a:rPr lang="en-IN" b="0" i="0" dirty="0">
                <a:effectLst/>
              </a:rPr>
              <a:t>&gt;0 and </a:t>
            </a:r>
            <a:r>
              <a:rPr lang="en-IN" b="0" i="1" dirty="0">
                <a:effectLst/>
              </a:rPr>
              <a:t>f</a:t>
            </a:r>
            <a:r>
              <a:rPr lang="en-IN" b="0" i="0" dirty="0">
                <a:effectLst/>
              </a:rPr>
              <a:t>(</a:t>
            </a:r>
            <a:r>
              <a:rPr lang="en-IN" b="0" i="1" dirty="0">
                <a:effectLst/>
              </a:rPr>
              <a:t>x</a:t>
            </a:r>
            <a:r>
              <a:rPr lang="en-IN" b="0" i="0" dirty="0">
                <a:effectLst/>
              </a:rPr>
              <a:t>)=</a:t>
            </a:r>
            <a:r>
              <a:rPr lang="el-GR" b="0" i="1" dirty="0">
                <a:effectLst/>
              </a:rPr>
              <a:t>α</a:t>
            </a:r>
            <a:r>
              <a:rPr lang="en-IN" b="0" i="1" dirty="0">
                <a:effectLst/>
              </a:rPr>
              <a:t>x</a:t>
            </a:r>
            <a:r>
              <a:rPr lang="en-IN" b="0" i="0" dirty="0">
                <a:effectLst/>
              </a:rPr>
              <a:t> for </a:t>
            </a:r>
            <a:r>
              <a:rPr lang="en-IN" b="0" i="1" dirty="0">
                <a:effectLst/>
              </a:rPr>
              <a:t>x</a:t>
            </a:r>
            <a:r>
              <a:rPr lang="en-IN" b="0" i="0" dirty="0">
                <a:effectLst/>
              </a:rPr>
              <a:t>≤0 (where </a:t>
            </a:r>
            <a:r>
              <a:rPr lang="el-GR" b="0" i="1" dirty="0">
                <a:effectLst/>
              </a:rPr>
              <a:t>α</a:t>
            </a:r>
            <a:r>
              <a:rPr lang="el-GR" b="0" i="0" dirty="0">
                <a:effectLst/>
              </a:rPr>
              <a:t> </a:t>
            </a:r>
            <a:r>
              <a:rPr lang="en-IN" b="0" i="0" dirty="0">
                <a:effectLst/>
              </a:rPr>
              <a:t>is a small constant, e.g., 0.01)</a:t>
            </a:r>
          </a:p>
          <a:p>
            <a:pPr algn="l">
              <a:buFont typeface="Arial" panose="020B0604020202020204" pitchFamily="34" charset="0"/>
              <a:buChar char="•"/>
            </a:pPr>
            <a:r>
              <a:rPr lang="en-IN" b="0" i="0" dirty="0">
                <a:effectLst/>
              </a:rPr>
              <a:t>Helps in fixing the "dying </a:t>
            </a:r>
            <a:r>
              <a:rPr lang="en-IN" b="0" i="0" dirty="0" err="1">
                <a:effectLst/>
              </a:rPr>
              <a:t>ReLU</a:t>
            </a:r>
            <a:r>
              <a:rPr lang="en-IN" b="0" i="0" dirty="0">
                <a:effectLst/>
              </a:rPr>
              <a:t>" problem by allowing small negative values when </a:t>
            </a:r>
            <a:r>
              <a:rPr lang="en-IN" b="0" i="1" dirty="0">
                <a:effectLst/>
              </a:rPr>
              <a:t>x</a:t>
            </a:r>
            <a:r>
              <a:rPr lang="en-IN" b="0" i="0" dirty="0">
                <a:effectLst/>
              </a:rPr>
              <a:t> is less than zero.</a:t>
            </a:r>
          </a:p>
          <a:p>
            <a:pPr algn="l">
              <a:buFont typeface="Arial" panose="020B0604020202020204" pitchFamily="34" charset="0"/>
              <a:buChar char="•"/>
            </a:pPr>
            <a:endParaRPr lang="en-IN" b="0" i="0" dirty="0">
              <a:effectLst/>
            </a:endParaRPr>
          </a:p>
        </p:txBody>
      </p:sp>
    </p:spTree>
    <p:extLst>
      <p:ext uri="{BB962C8B-B14F-4D97-AF65-F5344CB8AC3E}">
        <p14:creationId xmlns:p14="http://schemas.microsoft.com/office/powerpoint/2010/main" val="3800852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259B-DEE6-EC8A-3CCE-59C0ED5D9CDD}"/>
              </a:ext>
            </a:extLst>
          </p:cNvPr>
          <p:cNvSpPr>
            <a:spLocks noGrp="1"/>
          </p:cNvSpPr>
          <p:nvPr>
            <p:ph type="title"/>
          </p:nvPr>
        </p:nvSpPr>
        <p:spPr/>
        <p:txBody>
          <a:bodyPr/>
          <a:lstStyle/>
          <a:p>
            <a:r>
              <a:rPr lang="en-IN" b="1" i="0" dirty="0">
                <a:effectLst/>
                <a:latin typeface="+mn-lt"/>
              </a:rPr>
              <a:t>Exponential Linear Unit (ELU)</a:t>
            </a:r>
            <a:endParaRPr lang="en-US" dirty="0">
              <a:latin typeface="+mn-lt"/>
            </a:endParaRPr>
          </a:p>
        </p:txBody>
      </p:sp>
      <p:sp>
        <p:nvSpPr>
          <p:cNvPr id="3" name="Content Placeholder 2">
            <a:extLst>
              <a:ext uri="{FF2B5EF4-FFF2-40B4-BE49-F238E27FC236}">
                <a16:creationId xmlns:a16="http://schemas.microsoft.com/office/drawing/2014/main" id="{88826C7E-E340-DB70-C283-CBD0EA6F3802}"/>
              </a:ext>
            </a:extLst>
          </p:cNvPr>
          <p:cNvSpPr>
            <a:spLocks noGrp="1"/>
          </p:cNvSpPr>
          <p:nvPr>
            <p:ph idx="1"/>
          </p:nvPr>
        </p:nvSpPr>
        <p:spPr/>
        <p:txBody>
          <a:bodyPr/>
          <a:lstStyle/>
          <a:p>
            <a:pPr algn="l">
              <a:buFont typeface="Arial" panose="020B0604020202020204" pitchFamily="34" charset="0"/>
              <a:buChar char="•"/>
            </a:pPr>
            <a:r>
              <a:rPr lang="en-IN" b="0" i="0" dirty="0">
                <a:effectLst/>
              </a:rPr>
              <a:t>Introduces a non-zero gradient for negative input which speeds up learning.</a:t>
            </a:r>
          </a:p>
          <a:p>
            <a:pPr algn="l">
              <a:buFont typeface="Arial" panose="020B0604020202020204" pitchFamily="34" charset="0"/>
              <a:buChar char="•"/>
            </a:pPr>
            <a:r>
              <a:rPr lang="en-IN" b="0" i="0" dirty="0">
                <a:effectLst/>
              </a:rPr>
              <a:t>Tends to converge the cost to zero faster and produce more accurate models.</a:t>
            </a:r>
          </a:p>
          <a:p>
            <a:pPr algn="l">
              <a:buFont typeface="Arial" panose="020B0604020202020204" pitchFamily="34" charset="0"/>
              <a:buChar char="•"/>
            </a:pPr>
            <a:r>
              <a:rPr lang="en-IN" b="0" i="0" dirty="0">
                <a:effectLst/>
              </a:rPr>
              <a:t>Can be computationally more expensive due to the use of the exponential operation.</a:t>
            </a:r>
          </a:p>
          <a:p>
            <a:endParaRPr lang="en-US" dirty="0"/>
          </a:p>
        </p:txBody>
      </p:sp>
    </p:spTree>
    <p:extLst>
      <p:ext uri="{BB962C8B-B14F-4D97-AF65-F5344CB8AC3E}">
        <p14:creationId xmlns:p14="http://schemas.microsoft.com/office/powerpoint/2010/main" val="4260510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365E1-2763-9738-8DEC-988070AA0CD0}"/>
              </a:ext>
            </a:extLst>
          </p:cNvPr>
          <p:cNvSpPr>
            <a:spLocks noGrp="1"/>
          </p:cNvSpPr>
          <p:nvPr>
            <p:ph type="title"/>
          </p:nvPr>
        </p:nvSpPr>
        <p:spPr/>
        <p:txBody>
          <a:bodyPr/>
          <a:lstStyle/>
          <a:p>
            <a:r>
              <a:rPr lang="en-IN" b="1" i="0" dirty="0">
                <a:effectLst/>
                <a:latin typeface="+mn-lt"/>
              </a:rPr>
              <a:t>Swish</a:t>
            </a:r>
            <a:endParaRPr lang="en-US" dirty="0">
              <a:latin typeface="+mn-lt"/>
            </a:endParaRPr>
          </a:p>
        </p:txBody>
      </p:sp>
      <p:sp>
        <p:nvSpPr>
          <p:cNvPr id="3" name="Content Placeholder 2">
            <a:extLst>
              <a:ext uri="{FF2B5EF4-FFF2-40B4-BE49-F238E27FC236}">
                <a16:creationId xmlns:a16="http://schemas.microsoft.com/office/drawing/2014/main" id="{72B7CCC8-A9F2-CD3A-9E0D-D387B1D49F01}"/>
              </a:ext>
            </a:extLst>
          </p:cNvPr>
          <p:cNvSpPr>
            <a:spLocks noGrp="1"/>
          </p:cNvSpPr>
          <p:nvPr>
            <p:ph idx="1"/>
          </p:nvPr>
        </p:nvSpPr>
        <p:spPr/>
        <p:txBody>
          <a:bodyPr/>
          <a:lstStyle/>
          <a:p>
            <a:pPr algn="l">
              <a:buFont typeface="Arial" panose="020B0604020202020204" pitchFamily="34" charset="0"/>
              <a:buChar char="•"/>
            </a:pPr>
            <a:r>
              <a:rPr lang="en-IN" b="0" i="0" dirty="0">
                <a:effectLst/>
              </a:rPr>
              <a:t>Formula: </a:t>
            </a:r>
            <a:r>
              <a:rPr lang="en-IN" b="0" i="1" dirty="0">
                <a:effectLst/>
              </a:rPr>
              <a:t>f</a:t>
            </a:r>
            <a:r>
              <a:rPr lang="en-IN" b="0" i="0" dirty="0">
                <a:effectLst/>
              </a:rPr>
              <a:t>(</a:t>
            </a:r>
            <a:r>
              <a:rPr lang="en-IN" b="0" i="1" dirty="0">
                <a:effectLst/>
              </a:rPr>
              <a:t>x</a:t>
            </a:r>
            <a:r>
              <a:rPr lang="en-IN" b="0" i="0" dirty="0">
                <a:effectLst/>
              </a:rPr>
              <a:t>)=</a:t>
            </a:r>
            <a:r>
              <a:rPr lang="en-IN" b="0" i="1" dirty="0">
                <a:effectLst/>
              </a:rPr>
              <a:t>x</a:t>
            </a:r>
            <a:r>
              <a:rPr lang="en-IN" b="0" i="0" dirty="0">
                <a:effectLst/>
              </a:rPr>
              <a:t>⋅</a:t>
            </a:r>
            <a:r>
              <a:rPr lang="el-GR" b="0" i="1" dirty="0">
                <a:effectLst/>
              </a:rPr>
              <a:t>σ</a:t>
            </a:r>
            <a:r>
              <a:rPr lang="el-GR" b="0" i="0" dirty="0">
                <a:effectLst/>
              </a:rPr>
              <a:t>(</a:t>
            </a:r>
            <a:r>
              <a:rPr lang="en-IN" b="0" i="1" dirty="0">
                <a:effectLst/>
              </a:rPr>
              <a:t>x</a:t>
            </a:r>
            <a:r>
              <a:rPr lang="en-IN" b="0" i="0" dirty="0">
                <a:effectLst/>
              </a:rPr>
              <a:t>) where </a:t>
            </a:r>
            <a:r>
              <a:rPr lang="el-GR" b="0" i="1" dirty="0">
                <a:effectLst/>
              </a:rPr>
              <a:t>σ</a:t>
            </a:r>
            <a:r>
              <a:rPr lang="el-GR" b="0" i="0" dirty="0">
                <a:effectLst/>
              </a:rPr>
              <a:t> </a:t>
            </a:r>
            <a:r>
              <a:rPr lang="en-IN" b="0" i="0" dirty="0">
                <a:effectLst/>
              </a:rPr>
              <a:t>is the sigmoid function.</a:t>
            </a:r>
          </a:p>
          <a:p>
            <a:pPr algn="l">
              <a:buFont typeface="Arial" panose="020B0604020202020204" pitchFamily="34" charset="0"/>
              <a:buChar char="•"/>
            </a:pPr>
            <a:r>
              <a:rPr lang="en-IN" b="0" i="0" dirty="0">
                <a:effectLst/>
              </a:rPr>
              <a:t>An activation function proposed by researchers at Google.</a:t>
            </a:r>
          </a:p>
          <a:p>
            <a:pPr algn="l">
              <a:buFont typeface="Arial" panose="020B0604020202020204" pitchFamily="34" charset="0"/>
              <a:buChar char="•"/>
            </a:pPr>
            <a:r>
              <a:rPr lang="en-IN" b="0" i="0" dirty="0">
                <a:effectLst/>
              </a:rPr>
              <a:t>Found to outperform </a:t>
            </a:r>
            <a:r>
              <a:rPr lang="en-IN" b="0" i="0" dirty="0" err="1">
                <a:effectLst/>
              </a:rPr>
              <a:t>ReLU</a:t>
            </a:r>
            <a:r>
              <a:rPr lang="en-IN" b="0" i="0" dirty="0">
                <a:effectLst/>
              </a:rPr>
              <a:t> in deeper models.</a:t>
            </a:r>
          </a:p>
          <a:p>
            <a:endParaRPr lang="en-US" dirty="0"/>
          </a:p>
        </p:txBody>
      </p:sp>
    </p:spTree>
    <p:extLst>
      <p:ext uri="{BB962C8B-B14F-4D97-AF65-F5344CB8AC3E}">
        <p14:creationId xmlns:p14="http://schemas.microsoft.com/office/powerpoint/2010/main" val="1312246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712B-BAFA-A083-0982-006DACABA9EF}"/>
              </a:ext>
            </a:extLst>
          </p:cNvPr>
          <p:cNvSpPr>
            <a:spLocks noGrp="1"/>
          </p:cNvSpPr>
          <p:nvPr>
            <p:ph type="title"/>
          </p:nvPr>
        </p:nvSpPr>
        <p:spPr/>
        <p:txBody>
          <a:bodyPr/>
          <a:lstStyle/>
          <a:p>
            <a:r>
              <a:rPr lang="en-IN" b="1" i="0" dirty="0" err="1">
                <a:effectLst/>
              </a:rPr>
              <a:t>Softmax</a:t>
            </a:r>
            <a:endParaRPr lang="en-US" dirty="0"/>
          </a:p>
        </p:txBody>
      </p:sp>
      <p:sp>
        <p:nvSpPr>
          <p:cNvPr id="3" name="Content Placeholder 2">
            <a:extLst>
              <a:ext uri="{FF2B5EF4-FFF2-40B4-BE49-F238E27FC236}">
                <a16:creationId xmlns:a16="http://schemas.microsoft.com/office/drawing/2014/main" id="{83EF6671-1FED-F64A-A67D-1EC58542A17E}"/>
              </a:ext>
            </a:extLst>
          </p:cNvPr>
          <p:cNvSpPr>
            <a:spLocks noGrp="1"/>
          </p:cNvSpPr>
          <p:nvPr>
            <p:ph idx="1"/>
          </p:nvPr>
        </p:nvSpPr>
        <p:spPr/>
        <p:txBody>
          <a:bodyPr/>
          <a:lstStyle/>
          <a:p>
            <a:pPr algn="l">
              <a:buFont typeface="Arial" panose="020B0604020202020204" pitchFamily="34" charset="0"/>
              <a:buChar char="•"/>
            </a:pPr>
            <a:r>
              <a:rPr lang="en-IN" b="0" i="0" dirty="0">
                <a:effectLst/>
                <a:latin typeface="+mj-lt"/>
              </a:rPr>
              <a:t>Typically used for the output layer of multi-class classification problems.</a:t>
            </a:r>
          </a:p>
          <a:p>
            <a:pPr algn="l">
              <a:buFont typeface="Arial" panose="020B0604020202020204" pitchFamily="34" charset="0"/>
              <a:buChar char="•"/>
            </a:pPr>
            <a:r>
              <a:rPr lang="en-IN" b="0" i="0" dirty="0">
                <a:effectLst/>
                <a:latin typeface="+mj-lt"/>
              </a:rPr>
              <a:t>Converts the model's output into a probability distribution over classes.</a:t>
            </a:r>
          </a:p>
          <a:p>
            <a:endParaRPr lang="en-US" dirty="0">
              <a:latin typeface="+mj-lt"/>
            </a:endParaRPr>
          </a:p>
        </p:txBody>
      </p:sp>
    </p:spTree>
    <p:extLst>
      <p:ext uri="{BB962C8B-B14F-4D97-AF65-F5344CB8AC3E}">
        <p14:creationId xmlns:p14="http://schemas.microsoft.com/office/powerpoint/2010/main" val="4163253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2577-07E2-FF18-863A-D623443D5E3A}"/>
              </a:ext>
            </a:extLst>
          </p:cNvPr>
          <p:cNvSpPr>
            <a:spLocks noGrp="1"/>
          </p:cNvSpPr>
          <p:nvPr>
            <p:ph type="title"/>
          </p:nvPr>
        </p:nvSpPr>
        <p:spPr/>
        <p:txBody>
          <a:bodyPr>
            <a:normAutofit/>
          </a:bodyPr>
          <a:lstStyle/>
          <a:p>
            <a:r>
              <a:rPr lang="en-IN" b="1" i="0" dirty="0">
                <a:effectLst/>
                <a:latin typeface="+mn-lt"/>
              </a:rPr>
              <a:t>Why and When to Use Which Activation Function?</a:t>
            </a:r>
            <a:endParaRPr lang="en-US" dirty="0">
              <a:latin typeface="+mn-lt"/>
            </a:endParaRPr>
          </a:p>
        </p:txBody>
      </p:sp>
      <p:sp>
        <p:nvSpPr>
          <p:cNvPr id="3" name="Content Placeholder 2">
            <a:extLst>
              <a:ext uri="{FF2B5EF4-FFF2-40B4-BE49-F238E27FC236}">
                <a16:creationId xmlns:a16="http://schemas.microsoft.com/office/drawing/2014/main" id="{C843249F-B11B-5E14-828D-3C26BAA1511D}"/>
              </a:ext>
            </a:extLst>
          </p:cNvPr>
          <p:cNvSpPr>
            <a:spLocks noGrp="1"/>
          </p:cNvSpPr>
          <p:nvPr>
            <p:ph idx="1"/>
          </p:nvPr>
        </p:nvSpPr>
        <p:spPr/>
        <p:txBody>
          <a:bodyPr>
            <a:normAutofit/>
          </a:bodyPr>
          <a:lstStyle/>
          <a:p>
            <a:pPr algn="l"/>
            <a:r>
              <a:rPr lang="en-IN" b="1" i="0" dirty="0">
                <a:effectLst/>
              </a:rPr>
              <a:t>Hidden Layers</a:t>
            </a:r>
            <a:endParaRPr lang="en-IN" b="0" i="0" dirty="0">
              <a:effectLst/>
            </a:endParaRPr>
          </a:p>
          <a:p>
            <a:pPr lvl="1"/>
            <a:r>
              <a:rPr lang="en-IN" b="1" i="0" dirty="0" err="1">
                <a:effectLst/>
              </a:rPr>
              <a:t>ReLU</a:t>
            </a:r>
            <a:r>
              <a:rPr lang="en-IN" b="0" i="0" dirty="0">
                <a:effectLst/>
              </a:rPr>
              <a:t> is a popular choice because of its simplicity and performance across diverse datasets and tasks. It's especially beneficial in deeper networks.</a:t>
            </a:r>
          </a:p>
          <a:p>
            <a:pPr lvl="1"/>
            <a:r>
              <a:rPr lang="en-IN" b="0" i="0" dirty="0">
                <a:effectLst/>
              </a:rPr>
              <a:t>If facing issues with dying neurons in </a:t>
            </a:r>
            <a:r>
              <a:rPr lang="en-IN" b="0" i="0" dirty="0" err="1">
                <a:effectLst/>
              </a:rPr>
              <a:t>ReLU</a:t>
            </a:r>
            <a:r>
              <a:rPr lang="en-IN" b="0" i="0" dirty="0">
                <a:effectLst/>
              </a:rPr>
              <a:t>, </a:t>
            </a:r>
            <a:r>
              <a:rPr lang="en-IN" b="1" i="0" dirty="0">
                <a:effectLst/>
              </a:rPr>
              <a:t>Leaky </a:t>
            </a:r>
            <a:r>
              <a:rPr lang="en-IN" b="1" i="0" dirty="0" err="1">
                <a:effectLst/>
              </a:rPr>
              <a:t>ReLU</a:t>
            </a:r>
            <a:r>
              <a:rPr lang="en-IN" b="0" i="0" dirty="0">
                <a:effectLst/>
              </a:rPr>
              <a:t> or </a:t>
            </a:r>
            <a:r>
              <a:rPr lang="en-IN" b="1" i="0" dirty="0">
                <a:effectLst/>
              </a:rPr>
              <a:t>ELU</a:t>
            </a:r>
            <a:r>
              <a:rPr lang="en-IN" b="0" i="0" dirty="0">
                <a:effectLst/>
              </a:rPr>
              <a:t> can be alternatives.</a:t>
            </a:r>
          </a:p>
          <a:p>
            <a:pPr lvl="1"/>
            <a:r>
              <a:rPr lang="en-IN" b="1" i="0" dirty="0">
                <a:effectLst/>
              </a:rPr>
              <a:t>Swish</a:t>
            </a:r>
            <a:r>
              <a:rPr lang="en-IN" b="0" i="0" dirty="0">
                <a:effectLst/>
              </a:rPr>
              <a:t> is a newer function that has been found beneficial in some deep architectures.</a:t>
            </a:r>
          </a:p>
          <a:p>
            <a:pPr lvl="1"/>
            <a:r>
              <a:rPr lang="en-IN" b="1" i="0" dirty="0">
                <a:effectLst/>
              </a:rPr>
              <a:t>tanh</a:t>
            </a:r>
            <a:r>
              <a:rPr lang="en-IN" b="0" i="0" dirty="0">
                <a:effectLst/>
              </a:rPr>
              <a:t> and </a:t>
            </a:r>
            <a:r>
              <a:rPr lang="en-IN" b="1" i="0" dirty="0">
                <a:effectLst/>
              </a:rPr>
              <a:t>sigmoid</a:t>
            </a:r>
            <a:r>
              <a:rPr lang="en-IN" b="0" i="0" dirty="0">
                <a:effectLst/>
              </a:rPr>
              <a:t> are older functions and are less used in recent deep learning architectures because </a:t>
            </a:r>
            <a:r>
              <a:rPr lang="en-IN" b="0" i="0" dirty="0" err="1">
                <a:effectLst/>
              </a:rPr>
              <a:t>ReLU</a:t>
            </a:r>
            <a:r>
              <a:rPr lang="en-IN" b="0" i="0" dirty="0">
                <a:effectLst/>
              </a:rPr>
              <a:t> and its variants tend to outperform them. However, they can still be suitable for shallow architectures or specific problems.</a:t>
            </a:r>
          </a:p>
          <a:p>
            <a:endParaRPr lang="en-US" dirty="0"/>
          </a:p>
        </p:txBody>
      </p:sp>
    </p:spTree>
    <p:extLst>
      <p:ext uri="{BB962C8B-B14F-4D97-AF65-F5344CB8AC3E}">
        <p14:creationId xmlns:p14="http://schemas.microsoft.com/office/powerpoint/2010/main" val="1446997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4098-3881-9A5E-A0DF-28EF956E2E2B}"/>
              </a:ext>
            </a:extLst>
          </p:cNvPr>
          <p:cNvSpPr>
            <a:spLocks noGrp="1"/>
          </p:cNvSpPr>
          <p:nvPr>
            <p:ph type="title"/>
          </p:nvPr>
        </p:nvSpPr>
        <p:spPr/>
        <p:txBody>
          <a:bodyPr/>
          <a:lstStyle/>
          <a:p>
            <a:r>
              <a:rPr lang="en-IN" b="1" i="0" dirty="0">
                <a:effectLst/>
                <a:latin typeface="+mn-lt"/>
              </a:rPr>
              <a:t>Why and When to Use Which Activation Function?</a:t>
            </a:r>
            <a:endParaRPr lang="en-US" dirty="0"/>
          </a:p>
        </p:txBody>
      </p:sp>
      <p:sp>
        <p:nvSpPr>
          <p:cNvPr id="3" name="Content Placeholder 2">
            <a:extLst>
              <a:ext uri="{FF2B5EF4-FFF2-40B4-BE49-F238E27FC236}">
                <a16:creationId xmlns:a16="http://schemas.microsoft.com/office/drawing/2014/main" id="{45C84423-8A49-8EA0-8D98-4125C8F21B53}"/>
              </a:ext>
            </a:extLst>
          </p:cNvPr>
          <p:cNvSpPr>
            <a:spLocks noGrp="1"/>
          </p:cNvSpPr>
          <p:nvPr>
            <p:ph idx="1"/>
          </p:nvPr>
        </p:nvSpPr>
        <p:spPr/>
        <p:txBody>
          <a:bodyPr/>
          <a:lstStyle/>
          <a:p>
            <a:pPr algn="l"/>
            <a:r>
              <a:rPr lang="en-IN" b="1" i="0" dirty="0">
                <a:effectLst/>
              </a:rPr>
              <a:t>Output Layers</a:t>
            </a:r>
            <a:r>
              <a:rPr lang="en-IN" b="0" i="0" dirty="0">
                <a:effectLst/>
              </a:rPr>
              <a:t>:</a:t>
            </a:r>
          </a:p>
          <a:p>
            <a:pPr lvl="1"/>
            <a:r>
              <a:rPr lang="en-IN" b="0" i="0" dirty="0">
                <a:effectLst/>
              </a:rPr>
              <a:t>For binary classification, use </a:t>
            </a:r>
            <a:r>
              <a:rPr lang="en-IN" b="1" i="0" dirty="0">
                <a:effectLst/>
              </a:rPr>
              <a:t>sigmoid</a:t>
            </a:r>
            <a:r>
              <a:rPr lang="en-IN" b="0" i="0" dirty="0">
                <a:effectLst/>
              </a:rPr>
              <a:t> to get an output between 0 and 1.</a:t>
            </a:r>
          </a:p>
          <a:p>
            <a:pPr lvl="1"/>
            <a:r>
              <a:rPr lang="en-IN" b="0" i="0" dirty="0">
                <a:effectLst/>
              </a:rPr>
              <a:t>For multi-class classification, use </a:t>
            </a:r>
            <a:r>
              <a:rPr lang="en-IN" b="1" i="0" dirty="0" err="1">
                <a:effectLst/>
              </a:rPr>
              <a:t>softmax</a:t>
            </a:r>
            <a:r>
              <a:rPr lang="en-IN" b="0" i="0" dirty="0">
                <a:effectLst/>
              </a:rPr>
              <a:t> to get probabilities for each class</a:t>
            </a:r>
          </a:p>
          <a:p>
            <a:endParaRPr lang="en-US" dirty="0"/>
          </a:p>
        </p:txBody>
      </p:sp>
    </p:spTree>
    <p:extLst>
      <p:ext uri="{BB962C8B-B14F-4D97-AF65-F5344CB8AC3E}">
        <p14:creationId xmlns:p14="http://schemas.microsoft.com/office/powerpoint/2010/main" val="1484715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4098-3881-9A5E-A0DF-28EF956E2E2B}"/>
              </a:ext>
            </a:extLst>
          </p:cNvPr>
          <p:cNvSpPr>
            <a:spLocks noGrp="1"/>
          </p:cNvSpPr>
          <p:nvPr>
            <p:ph type="title"/>
          </p:nvPr>
        </p:nvSpPr>
        <p:spPr/>
        <p:txBody>
          <a:bodyPr/>
          <a:lstStyle/>
          <a:p>
            <a:r>
              <a:rPr lang="en-IN" b="1" i="0" dirty="0">
                <a:effectLst/>
                <a:latin typeface="+mn-lt"/>
              </a:rPr>
              <a:t>Why and When to Use Which Activation Function?</a:t>
            </a:r>
            <a:endParaRPr lang="en-US" dirty="0"/>
          </a:p>
        </p:txBody>
      </p:sp>
      <p:sp>
        <p:nvSpPr>
          <p:cNvPr id="3" name="Content Placeholder 2">
            <a:extLst>
              <a:ext uri="{FF2B5EF4-FFF2-40B4-BE49-F238E27FC236}">
                <a16:creationId xmlns:a16="http://schemas.microsoft.com/office/drawing/2014/main" id="{45C84423-8A49-8EA0-8D98-4125C8F21B53}"/>
              </a:ext>
            </a:extLst>
          </p:cNvPr>
          <p:cNvSpPr>
            <a:spLocks noGrp="1"/>
          </p:cNvSpPr>
          <p:nvPr>
            <p:ph idx="1"/>
          </p:nvPr>
        </p:nvSpPr>
        <p:spPr/>
        <p:txBody>
          <a:bodyPr/>
          <a:lstStyle/>
          <a:p>
            <a:pPr marL="0" indent="0">
              <a:buNone/>
            </a:pPr>
            <a:r>
              <a:rPr lang="en-IN" b="0" i="0" dirty="0">
                <a:effectLst/>
              </a:rPr>
              <a:t>The choice of activation function can vary based on the specific problem, the nature of the data, and the architecture of the neural network. While there are general guidelines, as above, it's beneficial to experiment with different activation functions and observe their impact on model training and performance.</a:t>
            </a:r>
            <a:endParaRPr lang="en-US" dirty="0"/>
          </a:p>
        </p:txBody>
      </p:sp>
    </p:spTree>
    <p:extLst>
      <p:ext uri="{BB962C8B-B14F-4D97-AF65-F5344CB8AC3E}">
        <p14:creationId xmlns:p14="http://schemas.microsoft.com/office/powerpoint/2010/main" val="2630198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1017</Words>
  <Application>Microsoft Macintosh PowerPoint</Application>
  <PresentationFormat>Widescreen</PresentationFormat>
  <Paragraphs>86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Optimization Technique</vt:lpstr>
      <vt:lpstr>Architecture Modifications</vt:lpstr>
      <vt:lpstr>Regularization Techniques</vt:lpstr>
      <vt:lpstr>Optimization Algorithms</vt:lpstr>
      <vt:lpstr>Learning Rate Scheduling</vt:lpstr>
      <vt:lpstr>Data Augmentation</vt:lpstr>
      <vt:lpstr>Early Stopping</vt:lpstr>
      <vt:lpstr>Others</vt:lpstr>
      <vt:lpstr>Activation functions</vt:lpstr>
      <vt:lpstr>Sigmoid (Logistic)</vt:lpstr>
      <vt:lpstr> Hyperbolic Tangent (tanh) </vt:lpstr>
      <vt:lpstr>Rectified Linear Unit (ReLU)</vt:lpstr>
      <vt:lpstr>Leaky Rectified Linear Unit (Leaky ReLU)</vt:lpstr>
      <vt:lpstr>Exponential Linear Unit (ELU)</vt:lpstr>
      <vt:lpstr>Swish</vt:lpstr>
      <vt:lpstr>Softmax</vt:lpstr>
      <vt:lpstr>Why and When to Use Which Activation Function?</vt:lpstr>
      <vt:lpstr>Why and When to Use Which Activation Function?</vt:lpstr>
      <vt:lpstr>Why and When to Use Which Activation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 Technique</dc:title>
  <dc:creator>Amit Pandey</dc:creator>
  <cp:lastModifiedBy>Deven Kalra</cp:lastModifiedBy>
  <cp:revision>11</cp:revision>
  <dcterms:created xsi:type="dcterms:W3CDTF">2023-10-01T12:34:26Z</dcterms:created>
  <dcterms:modified xsi:type="dcterms:W3CDTF">2026-03-06T23:45:00Z</dcterms:modified>
</cp:coreProperties>
</file>