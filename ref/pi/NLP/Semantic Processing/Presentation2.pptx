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84"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451"/>
    <p:restoredTop sz="94676"/>
  </p:normalViewPr>
  <p:slideViewPr>
    <p:cSldViewPr snapToGrid="0">
      <p:cViewPr varScale="1">
        <p:scale>
          <a:sx n="114" d="100"/>
          <a:sy n="114" d="100"/>
        </p:scale>
        <p:origin x="736" y="176"/>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4063AD-6E2A-7243-998F-9C8C7ECDEEA7}" type="datetimeFigureOut">
              <a:rPr lang="en-US" smtClean="0"/>
              <a:t>4/1/26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6F8C1D-E8EB-CC45-8B03-D4E4656A9C83}" type="slidenum">
              <a:rPr lang="en-US" smtClean="0"/>
              <a:t>‹#›</a:t>
            </a:fld>
            <a:endParaRPr lang="en-US"/>
          </a:p>
        </p:txBody>
      </p:sp>
    </p:spTree>
    <p:extLst>
      <p:ext uri="{BB962C8B-B14F-4D97-AF65-F5344CB8AC3E}">
        <p14:creationId xmlns:p14="http://schemas.microsoft.com/office/powerpoint/2010/main" val="19176364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86F8C1D-E8EB-CC45-8B03-D4E4656A9C83}" type="slidenum">
              <a:rPr lang="en-US" smtClean="0"/>
              <a:t>3</a:t>
            </a:fld>
            <a:endParaRPr lang="en-US"/>
          </a:p>
        </p:txBody>
      </p:sp>
    </p:spTree>
    <p:extLst>
      <p:ext uri="{BB962C8B-B14F-4D97-AF65-F5344CB8AC3E}">
        <p14:creationId xmlns:p14="http://schemas.microsoft.com/office/powerpoint/2010/main" val="28665847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86F8C1D-E8EB-CC45-8B03-D4E4656A9C83}" type="slidenum">
              <a:rPr lang="en-US" smtClean="0"/>
              <a:t>4</a:t>
            </a:fld>
            <a:endParaRPr lang="en-US"/>
          </a:p>
        </p:txBody>
      </p:sp>
    </p:spTree>
    <p:extLst>
      <p:ext uri="{BB962C8B-B14F-4D97-AF65-F5344CB8AC3E}">
        <p14:creationId xmlns:p14="http://schemas.microsoft.com/office/powerpoint/2010/main" val="35874883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86F8C1D-E8EB-CC45-8B03-D4E4656A9C83}" type="slidenum">
              <a:rPr lang="en-US" smtClean="0"/>
              <a:t>5</a:t>
            </a:fld>
            <a:endParaRPr lang="en-US"/>
          </a:p>
        </p:txBody>
      </p:sp>
    </p:spTree>
    <p:extLst>
      <p:ext uri="{BB962C8B-B14F-4D97-AF65-F5344CB8AC3E}">
        <p14:creationId xmlns:p14="http://schemas.microsoft.com/office/powerpoint/2010/main" val="28031750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86F8C1D-E8EB-CC45-8B03-D4E4656A9C83}" type="slidenum">
              <a:rPr lang="en-US" smtClean="0"/>
              <a:t>6</a:t>
            </a:fld>
            <a:endParaRPr lang="en-US"/>
          </a:p>
        </p:txBody>
      </p:sp>
    </p:spTree>
    <p:extLst>
      <p:ext uri="{BB962C8B-B14F-4D97-AF65-F5344CB8AC3E}">
        <p14:creationId xmlns:p14="http://schemas.microsoft.com/office/powerpoint/2010/main" val="29517009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75286-3BEA-3971-1894-738D1BD991B8}"/>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A4B3066D-D477-0FEE-17A4-0F602209020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880DC7E5-0C85-C352-F46D-7D65E7CAA341}"/>
              </a:ext>
            </a:extLst>
          </p:cNvPr>
          <p:cNvSpPr>
            <a:spLocks noGrp="1"/>
          </p:cNvSpPr>
          <p:nvPr>
            <p:ph type="dt" sz="half" idx="10"/>
          </p:nvPr>
        </p:nvSpPr>
        <p:spPr/>
        <p:txBody>
          <a:bodyPr/>
          <a:lstStyle/>
          <a:p>
            <a:fld id="{03077AD7-A64C-6B4B-AAD5-32F5BD611F51}" type="datetimeFigureOut">
              <a:rPr lang="en-US" smtClean="0"/>
              <a:t>4/1/26</a:t>
            </a:fld>
            <a:endParaRPr lang="en-US"/>
          </a:p>
        </p:txBody>
      </p:sp>
      <p:sp>
        <p:nvSpPr>
          <p:cNvPr id="5" name="Footer Placeholder 4">
            <a:extLst>
              <a:ext uri="{FF2B5EF4-FFF2-40B4-BE49-F238E27FC236}">
                <a16:creationId xmlns:a16="http://schemas.microsoft.com/office/drawing/2014/main" id="{A8255D39-09DA-5CB8-5572-3EFD95719C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FF2412-170C-28A3-9AA7-563EA08F0AC7}"/>
              </a:ext>
            </a:extLst>
          </p:cNvPr>
          <p:cNvSpPr>
            <a:spLocks noGrp="1"/>
          </p:cNvSpPr>
          <p:nvPr>
            <p:ph type="sldNum" sz="quarter" idx="12"/>
          </p:nvPr>
        </p:nvSpPr>
        <p:spPr/>
        <p:txBody>
          <a:bodyPr/>
          <a:lstStyle/>
          <a:p>
            <a:fld id="{7BE1CD62-165D-F646-BEF1-751E028A6F93}" type="slidenum">
              <a:rPr lang="en-US" smtClean="0"/>
              <a:t>‹#›</a:t>
            </a:fld>
            <a:endParaRPr lang="en-US"/>
          </a:p>
        </p:txBody>
      </p:sp>
    </p:spTree>
    <p:extLst>
      <p:ext uri="{BB962C8B-B14F-4D97-AF65-F5344CB8AC3E}">
        <p14:creationId xmlns:p14="http://schemas.microsoft.com/office/powerpoint/2010/main" val="25365778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C3BD3-E854-5C0C-1FE7-9BA5AAE50272}"/>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C98C6C3A-11C4-49A1-FF5C-03679B2F5E3D}"/>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D47B5B1-C01A-C6A7-321C-A5E668D7D371}"/>
              </a:ext>
            </a:extLst>
          </p:cNvPr>
          <p:cNvSpPr>
            <a:spLocks noGrp="1"/>
          </p:cNvSpPr>
          <p:nvPr>
            <p:ph type="dt" sz="half" idx="10"/>
          </p:nvPr>
        </p:nvSpPr>
        <p:spPr/>
        <p:txBody>
          <a:bodyPr/>
          <a:lstStyle/>
          <a:p>
            <a:fld id="{03077AD7-A64C-6B4B-AAD5-32F5BD611F51}" type="datetimeFigureOut">
              <a:rPr lang="en-US" smtClean="0"/>
              <a:t>4/1/26</a:t>
            </a:fld>
            <a:endParaRPr lang="en-US"/>
          </a:p>
        </p:txBody>
      </p:sp>
      <p:sp>
        <p:nvSpPr>
          <p:cNvPr id="5" name="Footer Placeholder 4">
            <a:extLst>
              <a:ext uri="{FF2B5EF4-FFF2-40B4-BE49-F238E27FC236}">
                <a16:creationId xmlns:a16="http://schemas.microsoft.com/office/drawing/2014/main" id="{03AE00A9-463C-0AAF-63E4-DF67DE8F1A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5C3C42-D5B8-B840-5F72-8F28DDD07E88}"/>
              </a:ext>
            </a:extLst>
          </p:cNvPr>
          <p:cNvSpPr>
            <a:spLocks noGrp="1"/>
          </p:cNvSpPr>
          <p:nvPr>
            <p:ph type="sldNum" sz="quarter" idx="12"/>
          </p:nvPr>
        </p:nvSpPr>
        <p:spPr/>
        <p:txBody>
          <a:bodyPr/>
          <a:lstStyle/>
          <a:p>
            <a:fld id="{7BE1CD62-165D-F646-BEF1-751E028A6F93}" type="slidenum">
              <a:rPr lang="en-US" smtClean="0"/>
              <a:t>‹#›</a:t>
            </a:fld>
            <a:endParaRPr lang="en-US"/>
          </a:p>
        </p:txBody>
      </p:sp>
    </p:spTree>
    <p:extLst>
      <p:ext uri="{BB962C8B-B14F-4D97-AF65-F5344CB8AC3E}">
        <p14:creationId xmlns:p14="http://schemas.microsoft.com/office/powerpoint/2010/main" val="12846296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8441D-FE26-EE6A-ADCA-55269091ACFC}"/>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8430DD6F-1111-DDED-1D4E-FCB8331E694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2587845D-B89F-C5AA-1A82-F5E9AA6F7E89}"/>
              </a:ext>
            </a:extLst>
          </p:cNvPr>
          <p:cNvSpPr>
            <a:spLocks noGrp="1"/>
          </p:cNvSpPr>
          <p:nvPr>
            <p:ph type="dt" sz="half" idx="10"/>
          </p:nvPr>
        </p:nvSpPr>
        <p:spPr/>
        <p:txBody>
          <a:bodyPr/>
          <a:lstStyle/>
          <a:p>
            <a:fld id="{03077AD7-A64C-6B4B-AAD5-32F5BD611F51}" type="datetimeFigureOut">
              <a:rPr lang="en-US" smtClean="0"/>
              <a:t>4/1/26</a:t>
            </a:fld>
            <a:endParaRPr lang="en-US"/>
          </a:p>
        </p:txBody>
      </p:sp>
      <p:sp>
        <p:nvSpPr>
          <p:cNvPr id="5" name="Footer Placeholder 4">
            <a:extLst>
              <a:ext uri="{FF2B5EF4-FFF2-40B4-BE49-F238E27FC236}">
                <a16:creationId xmlns:a16="http://schemas.microsoft.com/office/drawing/2014/main" id="{684AE820-8177-9073-CFFC-244277DE55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E497FD-F1EC-8C77-BC1C-3973117EE327}"/>
              </a:ext>
            </a:extLst>
          </p:cNvPr>
          <p:cNvSpPr>
            <a:spLocks noGrp="1"/>
          </p:cNvSpPr>
          <p:nvPr>
            <p:ph type="sldNum" sz="quarter" idx="12"/>
          </p:nvPr>
        </p:nvSpPr>
        <p:spPr/>
        <p:txBody>
          <a:bodyPr/>
          <a:lstStyle/>
          <a:p>
            <a:fld id="{7BE1CD62-165D-F646-BEF1-751E028A6F93}" type="slidenum">
              <a:rPr lang="en-US" smtClean="0"/>
              <a:t>‹#›</a:t>
            </a:fld>
            <a:endParaRPr lang="en-US"/>
          </a:p>
        </p:txBody>
      </p:sp>
    </p:spTree>
    <p:extLst>
      <p:ext uri="{BB962C8B-B14F-4D97-AF65-F5344CB8AC3E}">
        <p14:creationId xmlns:p14="http://schemas.microsoft.com/office/powerpoint/2010/main" val="34581497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94BD5E-9B70-D252-E577-B75E7DC80B19}"/>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175A6C0A-B296-9906-B24E-18ED5DAA8C0A}"/>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9D8D59E2-6412-12A9-F08D-1EBD95E45089}"/>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96508C0A-1C68-016E-A1E4-64D4F4C577BB}"/>
              </a:ext>
            </a:extLst>
          </p:cNvPr>
          <p:cNvSpPr>
            <a:spLocks noGrp="1"/>
          </p:cNvSpPr>
          <p:nvPr>
            <p:ph type="dt" sz="half" idx="10"/>
          </p:nvPr>
        </p:nvSpPr>
        <p:spPr/>
        <p:txBody>
          <a:bodyPr/>
          <a:lstStyle/>
          <a:p>
            <a:fld id="{03077AD7-A64C-6B4B-AAD5-32F5BD611F51}" type="datetimeFigureOut">
              <a:rPr lang="en-US" smtClean="0"/>
              <a:t>4/1/26</a:t>
            </a:fld>
            <a:endParaRPr lang="en-US"/>
          </a:p>
        </p:txBody>
      </p:sp>
      <p:sp>
        <p:nvSpPr>
          <p:cNvPr id="6" name="Footer Placeholder 5">
            <a:extLst>
              <a:ext uri="{FF2B5EF4-FFF2-40B4-BE49-F238E27FC236}">
                <a16:creationId xmlns:a16="http://schemas.microsoft.com/office/drawing/2014/main" id="{FC8B7C77-26C3-B06E-A345-56C925B8F51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DBEE21-0FF7-1EDD-ED6D-D7FD85EE8535}"/>
              </a:ext>
            </a:extLst>
          </p:cNvPr>
          <p:cNvSpPr>
            <a:spLocks noGrp="1"/>
          </p:cNvSpPr>
          <p:nvPr>
            <p:ph type="sldNum" sz="quarter" idx="12"/>
          </p:nvPr>
        </p:nvSpPr>
        <p:spPr/>
        <p:txBody>
          <a:bodyPr/>
          <a:lstStyle/>
          <a:p>
            <a:fld id="{7BE1CD62-165D-F646-BEF1-751E028A6F93}" type="slidenum">
              <a:rPr lang="en-US" smtClean="0"/>
              <a:t>‹#›</a:t>
            </a:fld>
            <a:endParaRPr lang="en-US"/>
          </a:p>
        </p:txBody>
      </p:sp>
    </p:spTree>
    <p:extLst>
      <p:ext uri="{BB962C8B-B14F-4D97-AF65-F5344CB8AC3E}">
        <p14:creationId xmlns:p14="http://schemas.microsoft.com/office/powerpoint/2010/main" val="18675642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F41B32-7C73-06B4-36C0-D91998955E0A}"/>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43AB31AA-B446-0B25-E6AC-31759F36E3E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017EE6F9-2D56-692B-AD3C-B78531D9C579}"/>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F849A2A8-33A1-0962-8E99-7136193C332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8D3C463B-DCF4-2B2E-4B6E-14C075191963}"/>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951ADB4D-CEE3-6909-8203-BDD028EC953E}"/>
              </a:ext>
            </a:extLst>
          </p:cNvPr>
          <p:cNvSpPr>
            <a:spLocks noGrp="1"/>
          </p:cNvSpPr>
          <p:nvPr>
            <p:ph type="dt" sz="half" idx="10"/>
          </p:nvPr>
        </p:nvSpPr>
        <p:spPr/>
        <p:txBody>
          <a:bodyPr/>
          <a:lstStyle/>
          <a:p>
            <a:fld id="{03077AD7-A64C-6B4B-AAD5-32F5BD611F51}" type="datetimeFigureOut">
              <a:rPr lang="en-US" smtClean="0"/>
              <a:t>4/1/26</a:t>
            </a:fld>
            <a:endParaRPr lang="en-US"/>
          </a:p>
        </p:txBody>
      </p:sp>
      <p:sp>
        <p:nvSpPr>
          <p:cNvPr id="8" name="Footer Placeholder 7">
            <a:extLst>
              <a:ext uri="{FF2B5EF4-FFF2-40B4-BE49-F238E27FC236}">
                <a16:creationId xmlns:a16="http://schemas.microsoft.com/office/drawing/2014/main" id="{EA2B4442-24F8-C583-EF27-539FD9832CA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B2FCE09-EDB6-F4AF-348C-D29D10D3BC9D}"/>
              </a:ext>
            </a:extLst>
          </p:cNvPr>
          <p:cNvSpPr>
            <a:spLocks noGrp="1"/>
          </p:cNvSpPr>
          <p:nvPr>
            <p:ph type="sldNum" sz="quarter" idx="12"/>
          </p:nvPr>
        </p:nvSpPr>
        <p:spPr/>
        <p:txBody>
          <a:bodyPr/>
          <a:lstStyle/>
          <a:p>
            <a:fld id="{7BE1CD62-165D-F646-BEF1-751E028A6F93}" type="slidenum">
              <a:rPr lang="en-US" smtClean="0"/>
              <a:t>‹#›</a:t>
            </a:fld>
            <a:endParaRPr lang="en-US"/>
          </a:p>
        </p:txBody>
      </p:sp>
    </p:spTree>
    <p:extLst>
      <p:ext uri="{BB962C8B-B14F-4D97-AF65-F5344CB8AC3E}">
        <p14:creationId xmlns:p14="http://schemas.microsoft.com/office/powerpoint/2010/main" val="32766779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B31436-61E9-22E9-A56C-33D37EB5BBC2}"/>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EEE6C6C2-D525-5EAD-D5B2-9812B62ED0F8}"/>
              </a:ext>
            </a:extLst>
          </p:cNvPr>
          <p:cNvSpPr>
            <a:spLocks noGrp="1"/>
          </p:cNvSpPr>
          <p:nvPr>
            <p:ph type="dt" sz="half" idx="10"/>
          </p:nvPr>
        </p:nvSpPr>
        <p:spPr/>
        <p:txBody>
          <a:bodyPr/>
          <a:lstStyle/>
          <a:p>
            <a:fld id="{03077AD7-A64C-6B4B-AAD5-32F5BD611F51}" type="datetimeFigureOut">
              <a:rPr lang="en-US" smtClean="0"/>
              <a:t>4/1/26</a:t>
            </a:fld>
            <a:endParaRPr lang="en-US"/>
          </a:p>
        </p:txBody>
      </p:sp>
      <p:sp>
        <p:nvSpPr>
          <p:cNvPr id="4" name="Footer Placeholder 3">
            <a:extLst>
              <a:ext uri="{FF2B5EF4-FFF2-40B4-BE49-F238E27FC236}">
                <a16:creationId xmlns:a16="http://schemas.microsoft.com/office/drawing/2014/main" id="{996A18C9-4CA1-6BA7-53F6-7B3C596AF1F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9792914-F95F-23F9-12F5-2C3E4F030D60}"/>
              </a:ext>
            </a:extLst>
          </p:cNvPr>
          <p:cNvSpPr>
            <a:spLocks noGrp="1"/>
          </p:cNvSpPr>
          <p:nvPr>
            <p:ph type="sldNum" sz="quarter" idx="12"/>
          </p:nvPr>
        </p:nvSpPr>
        <p:spPr/>
        <p:txBody>
          <a:bodyPr/>
          <a:lstStyle/>
          <a:p>
            <a:fld id="{7BE1CD62-165D-F646-BEF1-751E028A6F93}" type="slidenum">
              <a:rPr lang="en-US" smtClean="0"/>
              <a:t>‹#›</a:t>
            </a:fld>
            <a:endParaRPr lang="en-US"/>
          </a:p>
        </p:txBody>
      </p:sp>
    </p:spTree>
    <p:extLst>
      <p:ext uri="{BB962C8B-B14F-4D97-AF65-F5344CB8AC3E}">
        <p14:creationId xmlns:p14="http://schemas.microsoft.com/office/powerpoint/2010/main" val="19593313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A93A72-2C43-9E27-C021-2AE8991B6767}"/>
              </a:ext>
            </a:extLst>
          </p:cNvPr>
          <p:cNvSpPr>
            <a:spLocks noGrp="1"/>
          </p:cNvSpPr>
          <p:nvPr>
            <p:ph type="dt" sz="half" idx="10"/>
          </p:nvPr>
        </p:nvSpPr>
        <p:spPr/>
        <p:txBody>
          <a:bodyPr/>
          <a:lstStyle/>
          <a:p>
            <a:fld id="{03077AD7-A64C-6B4B-AAD5-32F5BD611F51}" type="datetimeFigureOut">
              <a:rPr lang="en-US" smtClean="0"/>
              <a:t>4/1/26</a:t>
            </a:fld>
            <a:endParaRPr lang="en-US"/>
          </a:p>
        </p:txBody>
      </p:sp>
      <p:sp>
        <p:nvSpPr>
          <p:cNvPr id="3" name="Footer Placeholder 2">
            <a:extLst>
              <a:ext uri="{FF2B5EF4-FFF2-40B4-BE49-F238E27FC236}">
                <a16:creationId xmlns:a16="http://schemas.microsoft.com/office/drawing/2014/main" id="{FBC92DF9-EFFF-7773-601F-115074DE487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EF52548-96C2-4BED-75E4-0214FB950D0E}"/>
              </a:ext>
            </a:extLst>
          </p:cNvPr>
          <p:cNvSpPr>
            <a:spLocks noGrp="1"/>
          </p:cNvSpPr>
          <p:nvPr>
            <p:ph type="sldNum" sz="quarter" idx="12"/>
          </p:nvPr>
        </p:nvSpPr>
        <p:spPr/>
        <p:txBody>
          <a:bodyPr/>
          <a:lstStyle/>
          <a:p>
            <a:fld id="{7BE1CD62-165D-F646-BEF1-751E028A6F93}" type="slidenum">
              <a:rPr lang="en-US" smtClean="0"/>
              <a:t>‹#›</a:t>
            </a:fld>
            <a:endParaRPr lang="en-US"/>
          </a:p>
        </p:txBody>
      </p:sp>
    </p:spTree>
    <p:extLst>
      <p:ext uri="{BB962C8B-B14F-4D97-AF65-F5344CB8AC3E}">
        <p14:creationId xmlns:p14="http://schemas.microsoft.com/office/powerpoint/2010/main" val="3621642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2D4098-C748-0C86-A1DD-827761637FA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54217E19-BB38-2397-A66E-89B78A3EE54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FCBB9B92-CB7B-CE8A-652C-8C13E2BAE0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3D4E421-F36B-9D11-F21E-43E3D09D8C1C}"/>
              </a:ext>
            </a:extLst>
          </p:cNvPr>
          <p:cNvSpPr>
            <a:spLocks noGrp="1"/>
          </p:cNvSpPr>
          <p:nvPr>
            <p:ph type="dt" sz="half" idx="10"/>
          </p:nvPr>
        </p:nvSpPr>
        <p:spPr/>
        <p:txBody>
          <a:bodyPr/>
          <a:lstStyle/>
          <a:p>
            <a:fld id="{03077AD7-A64C-6B4B-AAD5-32F5BD611F51}" type="datetimeFigureOut">
              <a:rPr lang="en-US" smtClean="0"/>
              <a:t>4/1/26</a:t>
            </a:fld>
            <a:endParaRPr lang="en-US"/>
          </a:p>
        </p:txBody>
      </p:sp>
      <p:sp>
        <p:nvSpPr>
          <p:cNvPr id="6" name="Footer Placeholder 5">
            <a:extLst>
              <a:ext uri="{FF2B5EF4-FFF2-40B4-BE49-F238E27FC236}">
                <a16:creationId xmlns:a16="http://schemas.microsoft.com/office/drawing/2014/main" id="{E9CD5A86-9672-1A6B-7D2F-7F01C6604CB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9DD52D-18E7-8064-2AF4-6A2E2271A64C}"/>
              </a:ext>
            </a:extLst>
          </p:cNvPr>
          <p:cNvSpPr>
            <a:spLocks noGrp="1"/>
          </p:cNvSpPr>
          <p:nvPr>
            <p:ph type="sldNum" sz="quarter" idx="12"/>
          </p:nvPr>
        </p:nvSpPr>
        <p:spPr/>
        <p:txBody>
          <a:bodyPr/>
          <a:lstStyle/>
          <a:p>
            <a:fld id="{7BE1CD62-165D-F646-BEF1-751E028A6F93}" type="slidenum">
              <a:rPr lang="en-US" smtClean="0"/>
              <a:t>‹#›</a:t>
            </a:fld>
            <a:endParaRPr lang="en-US"/>
          </a:p>
        </p:txBody>
      </p:sp>
    </p:spTree>
    <p:extLst>
      <p:ext uri="{BB962C8B-B14F-4D97-AF65-F5344CB8AC3E}">
        <p14:creationId xmlns:p14="http://schemas.microsoft.com/office/powerpoint/2010/main" val="28443094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22F61-3518-55D1-724D-37A55F67D5B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D5137B37-12A0-2E16-4BC1-BF1EBBDB71E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13A1F75-DCB2-F308-905B-71D63D70B3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6D28B76-71FD-7915-81FC-B425016B15E4}"/>
              </a:ext>
            </a:extLst>
          </p:cNvPr>
          <p:cNvSpPr>
            <a:spLocks noGrp="1"/>
          </p:cNvSpPr>
          <p:nvPr>
            <p:ph type="dt" sz="half" idx="10"/>
          </p:nvPr>
        </p:nvSpPr>
        <p:spPr/>
        <p:txBody>
          <a:bodyPr/>
          <a:lstStyle/>
          <a:p>
            <a:fld id="{03077AD7-A64C-6B4B-AAD5-32F5BD611F51}" type="datetimeFigureOut">
              <a:rPr lang="en-US" smtClean="0"/>
              <a:t>4/1/26</a:t>
            </a:fld>
            <a:endParaRPr lang="en-US"/>
          </a:p>
        </p:txBody>
      </p:sp>
      <p:sp>
        <p:nvSpPr>
          <p:cNvPr id="6" name="Footer Placeholder 5">
            <a:extLst>
              <a:ext uri="{FF2B5EF4-FFF2-40B4-BE49-F238E27FC236}">
                <a16:creationId xmlns:a16="http://schemas.microsoft.com/office/drawing/2014/main" id="{3A3CD691-3697-18D5-95C8-BF53F8E85E2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48E276-D2F7-E9E5-E296-7353BCC054F9}"/>
              </a:ext>
            </a:extLst>
          </p:cNvPr>
          <p:cNvSpPr>
            <a:spLocks noGrp="1"/>
          </p:cNvSpPr>
          <p:nvPr>
            <p:ph type="sldNum" sz="quarter" idx="12"/>
          </p:nvPr>
        </p:nvSpPr>
        <p:spPr/>
        <p:txBody>
          <a:bodyPr/>
          <a:lstStyle/>
          <a:p>
            <a:fld id="{7BE1CD62-165D-F646-BEF1-751E028A6F93}" type="slidenum">
              <a:rPr lang="en-US" smtClean="0"/>
              <a:t>‹#›</a:t>
            </a:fld>
            <a:endParaRPr lang="en-US"/>
          </a:p>
        </p:txBody>
      </p:sp>
    </p:spTree>
    <p:extLst>
      <p:ext uri="{BB962C8B-B14F-4D97-AF65-F5344CB8AC3E}">
        <p14:creationId xmlns:p14="http://schemas.microsoft.com/office/powerpoint/2010/main" val="42703588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6CD96-48EE-8EDD-DB9B-11D804BDF330}"/>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8B14D46D-543B-E856-9F25-BB3C85DE4461}"/>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DAF6C8A-D374-1AB8-D57D-2523F980C143}"/>
              </a:ext>
            </a:extLst>
          </p:cNvPr>
          <p:cNvSpPr>
            <a:spLocks noGrp="1"/>
          </p:cNvSpPr>
          <p:nvPr>
            <p:ph type="dt" sz="half" idx="10"/>
          </p:nvPr>
        </p:nvSpPr>
        <p:spPr/>
        <p:txBody>
          <a:bodyPr/>
          <a:lstStyle/>
          <a:p>
            <a:fld id="{03077AD7-A64C-6B4B-AAD5-32F5BD611F51}" type="datetimeFigureOut">
              <a:rPr lang="en-US" smtClean="0"/>
              <a:t>4/1/26</a:t>
            </a:fld>
            <a:endParaRPr lang="en-US"/>
          </a:p>
        </p:txBody>
      </p:sp>
      <p:sp>
        <p:nvSpPr>
          <p:cNvPr id="5" name="Footer Placeholder 4">
            <a:extLst>
              <a:ext uri="{FF2B5EF4-FFF2-40B4-BE49-F238E27FC236}">
                <a16:creationId xmlns:a16="http://schemas.microsoft.com/office/drawing/2014/main" id="{77DD4F59-74A2-14DA-75A1-8FB390055E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88C1C0-1734-61EC-9192-44E05E089861}"/>
              </a:ext>
            </a:extLst>
          </p:cNvPr>
          <p:cNvSpPr>
            <a:spLocks noGrp="1"/>
          </p:cNvSpPr>
          <p:nvPr>
            <p:ph type="sldNum" sz="quarter" idx="12"/>
          </p:nvPr>
        </p:nvSpPr>
        <p:spPr/>
        <p:txBody>
          <a:bodyPr/>
          <a:lstStyle/>
          <a:p>
            <a:fld id="{7BE1CD62-165D-F646-BEF1-751E028A6F93}" type="slidenum">
              <a:rPr lang="en-US" smtClean="0"/>
              <a:t>‹#›</a:t>
            </a:fld>
            <a:endParaRPr lang="en-US"/>
          </a:p>
        </p:txBody>
      </p:sp>
    </p:spTree>
    <p:extLst>
      <p:ext uri="{BB962C8B-B14F-4D97-AF65-F5344CB8AC3E}">
        <p14:creationId xmlns:p14="http://schemas.microsoft.com/office/powerpoint/2010/main" val="7824813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C88152-C894-6803-5469-DAA9D7B40D54}"/>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BE18C23B-C6C9-D279-93FB-0B728D26F8E7}"/>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8197588-CDB9-E967-44D4-EB8EEE3678C2}"/>
              </a:ext>
            </a:extLst>
          </p:cNvPr>
          <p:cNvSpPr>
            <a:spLocks noGrp="1"/>
          </p:cNvSpPr>
          <p:nvPr>
            <p:ph type="dt" sz="half" idx="10"/>
          </p:nvPr>
        </p:nvSpPr>
        <p:spPr/>
        <p:txBody>
          <a:bodyPr/>
          <a:lstStyle/>
          <a:p>
            <a:fld id="{03077AD7-A64C-6B4B-AAD5-32F5BD611F51}" type="datetimeFigureOut">
              <a:rPr lang="en-US" smtClean="0"/>
              <a:t>4/1/26</a:t>
            </a:fld>
            <a:endParaRPr lang="en-US"/>
          </a:p>
        </p:txBody>
      </p:sp>
      <p:sp>
        <p:nvSpPr>
          <p:cNvPr id="5" name="Footer Placeholder 4">
            <a:extLst>
              <a:ext uri="{FF2B5EF4-FFF2-40B4-BE49-F238E27FC236}">
                <a16:creationId xmlns:a16="http://schemas.microsoft.com/office/drawing/2014/main" id="{BF2D8AF2-73C3-B4D5-76F2-A2D9DD643E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61C2B4-36C9-446A-5A7E-B351A8EC02EE}"/>
              </a:ext>
            </a:extLst>
          </p:cNvPr>
          <p:cNvSpPr>
            <a:spLocks noGrp="1"/>
          </p:cNvSpPr>
          <p:nvPr>
            <p:ph type="sldNum" sz="quarter" idx="12"/>
          </p:nvPr>
        </p:nvSpPr>
        <p:spPr/>
        <p:txBody>
          <a:bodyPr/>
          <a:lstStyle/>
          <a:p>
            <a:fld id="{7BE1CD62-165D-F646-BEF1-751E028A6F93}" type="slidenum">
              <a:rPr lang="en-US" smtClean="0"/>
              <a:t>‹#›</a:t>
            </a:fld>
            <a:endParaRPr lang="en-US"/>
          </a:p>
        </p:txBody>
      </p:sp>
    </p:spTree>
    <p:extLst>
      <p:ext uri="{BB962C8B-B14F-4D97-AF65-F5344CB8AC3E}">
        <p14:creationId xmlns:p14="http://schemas.microsoft.com/office/powerpoint/2010/main" val="25996662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27B63ED-69F1-0754-3CA1-50251D5D8D1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4513302-B3E9-04C4-DA48-3D69858B6EC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A4BAF82-5496-873F-E6B9-87A7EA103E2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3077AD7-A64C-6B4B-AAD5-32F5BD611F51}" type="datetimeFigureOut">
              <a:rPr lang="en-US" smtClean="0"/>
              <a:t>4/1/26</a:t>
            </a:fld>
            <a:endParaRPr lang="en-US"/>
          </a:p>
        </p:txBody>
      </p:sp>
      <p:sp>
        <p:nvSpPr>
          <p:cNvPr id="5" name="Footer Placeholder 4">
            <a:extLst>
              <a:ext uri="{FF2B5EF4-FFF2-40B4-BE49-F238E27FC236}">
                <a16:creationId xmlns:a16="http://schemas.microsoft.com/office/drawing/2014/main" id="{2BD42F12-6825-8A26-5444-6C7A30ED212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6C8C71D-25B4-B3DE-0E75-3E0EA115622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BE1CD62-165D-F646-BEF1-751E028A6F93}" type="slidenum">
              <a:rPr lang="en-US" smtClean="0"/>
              <a:t>‹#›</a:t>
            </a:fld>
            <a:endParaRPr lang="en-US"/>
          </a:p>
        </p:txBody>
      </p:sp>
    </p:spTree>
    <p:extLst>
      <p:ext uri="{BB962C8B-B14F-4D97-AF65-F5344CB8AC3E}">
        <p14:creationId xmlns:p14="http://schemas.microsoft.com/office/powerpoint/2010/main" val="18952943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sv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sv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DCDA7-DF40-D5D7-BAE4-A2CA99CCC345}"/>
              </a:ext>
            </a:extLst>
          </p:cNvPr>
          <p:cNvSpPr>
            <a:spLocks noGrp="1"/>
          </p:cNvSpPr>
          <p:nvPr>
            <p:ph type="ctrTitle"/>
          </p:nvPr>
        </p:nvSpPr>
        <p:spPr/>
        <p:txBody>
          <a:bodyPr/>
          <a:lstStyle/>
          <a:p>
            <a:r>
              <a:rPr lang="en-US" dirty="0"/>
              <a:t>Syntactic and </a:t>
            </a:r>
            <a:r>
              <a:rPr lang="en-US"/>
              <a:t>Semantic Processing</a:t>
            </a:r>
          </a:p>
        </p:txBody>
      </p:sp>
      <p:sp>
        <p:nvSpPr>
          <p:cNvPr id="3" name="Subtitle 2">
            <a:extLst>
              <a:ext uri="{FF2B5EF4-FFF2-40B4-BE49-F238E27FC236}">
                <a16:creationId xmlns:a16="http://schemas.microsoft.com/office/drawing/2014/main" id="{F8FF4F0D-D320-DE38-5B9E-97205CB0BFB7}"/>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2657423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32C05-AB20-8186-F9FD-F9107EC2C61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56CCA6E-40A0-46AD-47BC-1CFE88894DD1}"/>
              </a:ext>
            </a:extLst>
          </p:cNvPr>
          <p:cNvSpPr>
            <a:spLocks noGrp="1"/>
          </p:cNvSpPr>
          <p:nvPr>
            <p:ph idx="1"/>
          </p:nvPr>
        </p:nvSpPr>
        <p:spPr/>
        <p:txBody>
          <a:bodyPr/>
          <a:lstStyle/>
          <a:p>
            <a:r>
              <a:rPr lang="en-IN" b="1" dirty="0"/>
              <a:t>Syntactic Processing</a:t>
            </a:r>
            <a:r>
              <a:rPr lang="en-IN" dirty="0"/>
              <a:t>: Focuses on the structure and grammatical relationships within a sentence, such as how words are arranged and how they relate to each other (e.g., subject-verb-object relationships).</a:t>
            </a:r>
          </a:p>
          <a:p>
            <a:r>
              <a:rPr lang="en-IN" b="1" dirty="0"/>
              <a:t>Semantic Processing</a:t>
            </a:r>
            <a:r>
              <a:rPr lang="en-IN" dirty="0"/>
              <a:t>: Focuses on the meaning of the words, phrases, and sentences, including the relationships between different concepts and entities within the text.</a:t>
            </a:r>
          </a:p>
          <a:p>
            <a:endParaRPr lang="en-US" dirty="0"/>
          </a:p>
        </p:txBody>
      </p:sp>
    </p:spTree>
    <p:extLst>
      <p:ext uri="{BB962C8B-B14F-4D97-AF65-F5344CB8AC3E}">
        <p14:creationId xmlns:p14="http://schemas.microsoft.com/office/powerpoint/2010/main" val="29315778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 name="Arc 11">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AAD3396-0EA9-CA01-149A-0FDFDEF81210}"/>
              </a:ext>
            </a:extLst>
          </p:cNvPr>
          <p:cNvSpPr>
            <a:spLocks noGrp="1"/>
          </p:cNvSpPr>
          <p:nvPr>
            <p:ph type="title"/>
          </p:nvPr>
        </p:nvSpPr>
        <p:spPr>
          <a:xfrm>
            <a:off x="5894962" y="479493"/>
            <a:ext cx="5458838" cy="1325563"/>
          </a:xfrm>
        </p:spPr>
        <p:txBody>
          <a:bodyPr>
            <a:normAutofit/>
          </a:bodyPr>
          <a:lstStyle/>
          <a:p>
            <a:r>
              <a:rPr lang="en-IN"/>
              <a:t>Parse Trees</a:t>
            </a:r>
            <a:endParaRPr lang="en-US" dirty="0"/>
          </a:p>
        </p:txBody>
      </p:sp>
      <p:sp>
        <p:nvSpPr>
          <p:cNvPr id="14" name="Freeform: Shape 13">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descr="A black background with white lines and pink letters&#10;&#10;Description automatically generated">
            <a:extLst>
              <a:ext uri="{FF2B5EF4-FFF2-40B4-BE49-F238E27FC236}">
                <a16:creationId xmlns:a16="http://schemas.microsoft.com/office/drawing/2014/main" id="{48956C11-1B43-DAEE-90C0-FCA420F6D833}"/>
              </a:ext>
            </a:extLst>
          </p:cNvPr>
          <p:cNvPicPr>
            <a:picLocks noChangeAspect="1"/>
          </p:cNvPicPr>
          <p:nvPr/>
        </p:nvPicPr>
        <p:blipFill>
          <a:blip r:embed="rId3"/>
          <a:stretch>
            <a:fillRect/>
          </a:stretch>
        </p:blipFill>
        <p:spPr>
          <a:xfrm>
            <a:off x="783113" y="511293"/>
            <a:ext cx="4617519" cy="5665670"/>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3" name="Content Placeholder 2">
            <a:extLst>
              <a:ext uri="{FF2B5EF4-FFF2-40B4-BE49-F238E27FC236}">
                <a16:creationId xmlns:a16="http://schemas.microsoft.com/office/drawing/2014/main" id="{F9DE9EB0-DCFA-7B65-67E5-FDA5862E6614}"/>
              </a:ext>
            </a:extLst>
          </p:cNvPr>
          <p:cNvSpPr>
            <a:spLocks noGrp="1"/>
          </p:cNvSpPr>
          <p:nvPr>
            <p:ph idx="1"/>
          </p:nvPr>
        </p:nvSpPr>
        <p:spPr>
          <a:xfrm>
            <a:off x="5894962" y="1984443"/>
            <a:ext cx="5458838" cy="4192520"/>
          </a:xfrm>
        </p:spPr>
        <p:txBody>
          <a:bodyPr>
            <a:normAutofit/>
          </a:bodyPr>
          <a:lstStyle/>
          <a:p>
            <a:r>
              <a:rPr lang="en-IN" sz="1500" dirty="0"/>
              <a:t>A </a:t>
            </a:r>
            <a:r>
              <a:rPr lang="en-IN" sz="1500" b="1" dirty="0"/>
              <a:t>parse tree</a:t>
            </a:r>
            <a:r>
              <a:rPr lang="en-IN" sz="1500" dirty="0"/>
              <a:t> (or syntax tree) represents the syntactic structure of a sentence according to a formal grammar. It shows how the sentence is derived from the start symbol of the grammar.</a:t>
            </a:r>
          </a:p>
          <a:p>
            <a:r>
              <a:rPr lang="en-IN" sz="1500" b="1" dirty="0"/>
              <a:t>Example : </a:t>
            </a:r>
            <a:r>
              <a:rPr lang="en-IN" sz="1500" dirty="0"/>
              <a:t>Consider the sentence: "The cat sat on the mat.”</a:t>
            </a:r>
          </a:p>
          <a:p>
            <a:pPr lvl="1"/>
            <a:r>
              <a:rPr lang="en-IN" sz="1500" b="1" dirty="0"/>
              <a:t>S</a:t>
            </a:r>
            <a:r>
              <a:rPr lang="en-IN" sz="1500" dirty="0"/>
              <a:t>: Sentence</a:t>
            </a:r>
          </a:p>
          <a:p>
            <a:pPr lvl="1"/>
            <a:r>
              <a:rPr lang="en-IN" sz="1500" b="1" dirty="0"/>
              <a:t>NP</a:t>
            </a:r>
            <a:r>
              <a:rPr lang="en-IN" sz="1500" dirty="0"/>
              <a:t>: Noun Phrase</a:t>
            </a:r>
          </a:p>
          <a:p>
            <a:pPr lvl="1"/>
            <a:r>
              <a:rPr lang="en-IN" sz="1500" b="1" dirty="0"/>
              <a:t>VP</a:t>
            </a:r>
            <a:r>
              <a:rPr lang="en-IN" sz="1500" dirty="0"/>
              <a:t>: Verb Phrase</a:t>
            </a:r>
          </a:p>
          <a:p>
            <a:pPr lvl="1"/>
            <a:r>
              <a:rPr lang="en-IN" sz="1500" b="1" dirty="0"/>
              <a:t>Det</a:t>
            </a:r>
            <a:r>
              <a:rPr lang="en-IN" sz="1500" dirty="0"/>
              <a:t>: Determiner</a:t>
            </a:r>
          </a:p>
          <a:p>
            <a:pPr lvl="1"/>
            <a:r>
              <a:rPr lang="en-IN" sz="1500" b="1" dirty="0"/>
              <a:t>V</a:t>
            </a:r>
            <a:r>
              <a:rPr lang="en-IN" sz="1500" dirty="0"/>
              <a:t>: Verb</a:t>
            </a:r>
          </a:p>
          <a:p>
            <a:pPr lvl="1"/>
            <a:r>
              <a:rPr lang="en-IN" sz="1500" b="1" dirty="0"/>
              <a:t>PP</a:t>
            </a:r>
            <a:r>
              <a:rPr lang="en-IN" sz="1500" dirty="0"/>
              <a:t>: Prepositional Phrase</a:t>
            </a:r>
          </a:p>
          <a:p>
            <a:pPr lvl="1"/>
            <a:r>
              <a:rPr lang="en-IN" sz="1500" b="1" dirty="0"/>
              <a:t>P</a:t>
            </a:r>
            <a:r>
              <a:rPr lang="en-IN" sz="1500" dirty="0"/>
              <a:t>: Preposition</a:t>
            </a:r>
          </a:p>
          <a:p>
            <a:pPr lvl="1"/>
            <a:endParaRPr lang="en-IN" sz="1500" dirty="0"/>
          </a:p>
          <a:p>
            <a:pPr lvl="1"/>
            <a:endParaRPr lang="en-IN" sz="1500" dirty="0"/>
          </a:p>
          <a:p>
            <a:endParaRPr lang="en-US" sz="1500" dirty="0"/>
          </a:p>
        </p:txBody>
      </p:sp>
    </p:spTree>
    <p:extLst>
      <p:ext uri="{BB962C8B-B14F-4D97-AF65-F5344CB8AC3E}">
        <p14:creationId xmlns:p14="http://schemas.microsoft.com/office/powerpoint/2010/main" val="20884040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 name="Arc 11">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AF33211-9A3C-BE7C-3F89-67AB6ADF0621}"/>
              </a:ext>
            </a:extLst>
          </p:cNvPr>
          <p:cNvSpPr>
            <a:spLocks noGrp="1"/>
          </p:cNvSpPr>
          <p:nvPr>
            <p:ph type="title"/>
          </p:nvPr>
        </p:nvSpPr>
        <p:spPr>
          <a:xfrm>
            <a:off x="5894962" y="479493"/>
            <a:ext cx="5458838" cy="1325563"/>
          </a:xfrm>
        </p:spPr>
        <p:txBody>
          <a:bodyPr>
            <a:normAutofit/>
          </a:bodyPr>
          <a:lstStyle/>
          <a:p>
            <a:r>
              <a:rPr lang="en-IN" dirty="0"/>
              <a:t>Dependency Trees</a:t>
            </a:r>
            <a:endParaRPr lang="en-US" dirty="0"/>
          </a:p>
        </p:txBody>
      </p:sp>
      <p:sp>
        <p:nvSpPr>
          <p:cNvPr id="14" name="Freeform: Shape 13">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descr="A black background with white lines and text&#10;&#10;Description automatically generated">
            <a:extLst>
              <a:ext uri="{FF2B5EF4-FFF2-40B4-BE49-F238E27FC236}">
                <a16:creationId xmlns:a16="http://schemas.microsoft.com/office/drawing/2014/main" id="{29B3CDB8-A0A3-7009-2759-62E2009F77CA}"/>
              </a:ext>
            </a:extLst>
          </p:cNvPr>
          <p:cNvPicPr>
            <a:picLocks noChangeAspect="1"/>
          </p:cNvPicPr>
          <p:nvPr/>
        </p:nvPicPr>
        <p:blipFill>
          <a:blip r:embed="rId3"/>
          <a:stretch>
            <a:fillRect/>
          </a:stretch>
        </p:blipFill>
        <p:spPr>
          <a:xfrm>
            <a:off x="703182" y="1275871"/>
            <a:ext cx="4777381" cy="4136513"/>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3" name="Content Placeholder 2">
            <a:extLst>
              <a:ext uri="{FF2B5EF4-FFF2-40B4-BE49-F238E27FC236}">
                <a16:creationId xmlns:a16="http://schemas.microsoft.com/office/drawing/2014/main" id="{89B1B55F-C9AE-1D84-C507-1AE39ADD66D1}"/>
              </a:ext>
            </a:extLst>
          </p:cNvPr>
          <p:cNvSpPr>
            <a:spLocks noGrp="1"/>
          </p:cNvSpPr>
          <p:nvPr>
            <p:ph idx="1"/>
          </p:nvPr>
        </p:nvSpPr>
        <p:spPr>
          <a:xfrm>
            <a:off x="5894962" y="1984443"/>
            <a:ext cx="5458838" cy="4192520"/>
          </a:xfrm>
        </p:spPr>
        <p:txBody>
          <a:bodyPr>
            <a:normAutofit/>
          </a:bodyPr>
          <a:lstStyle/>
          <a:p>
            <a:r>
              <a:rPr lang="en-IN" sz="1800" dirty="0"/>
              <a:t>A </a:t>
            </a:r>
            <a:r>
              <a:rPr lang="en-IN" sz="1800" b="1" dirty="0"/>
              <a:t>dependency tree</a:t>
            </a:r>
            <a:r>
              <a:rPr lang="en-IN" sz="1800" dirty="0"/>
              <a:t> represents the syntactic structure of a sentence by showing how words are connected or depend on each other. Each node in the tree corresponds to a word, and directed edges represent grammatical relations between words.</a:t>
            </a:r>
          </a:p>
          <a:p>
            <a:r>
              <a:rPr lang="en-IN" sz="1800" b="1" dirty="0"/>
              <a:t>Example: </a:t>
            </a:r>
            <a:r>
              <a:rPr lang="en-IN" sz="1800" dirty="0"/>
              <a:t>"The cat chased the mouse."</a:t>
            </a:r>
          </a:p>
          <a:p>
            <a:pPr lvl="1"/>
            <a:r>
              <a:rPr lang="en-IN" sz="1400" dirty="0"/>
              <a:t>"chased" is the root (the main verb).</a:t>
            </a:r>
          </a:p>
          <a:p>
            <a:pPr lvl="1"/>
            <a:r>
              <a:rPr lang="en-IN" sz="1400" dirty="0"/>
              <a:t>"The" is dependent on "cat" (determiner dependency).</a:t>
            </a:r>
          </a:p>
          <a:p>
            <a:pPr lvl="1"/>
            <a:r>
              <a:rPr lang="en-IN" sz="1400" dirty="0"/>
              <a:t>"cat" and "mouse" are dependent on "chased" (subject and object dependencies, respectively).”</a:t>
            </a:r>
          </a:p>
          <a:p>
            <a:pPr lvl="1"/>
            <a:r>
              <a:rPr lang="en-IN" sz="1400" dirty="0"/>
              <a:t>"The" is dependent on "mouse" (determiner dependency).</a:t>
            </a:r>
            <a:endParaRPr lang="en-US" sz="1400" dirty="0"/>
          </a:p>
        </p:txBody>
      </p:sp>
    </p:spTree>
    <p:extLst>
      <p:ext uri="{BB962C8B-B14F-4D97-AF65-F5344CB8AC3E}">
        <p14:creationId xmlns:p14="http://schemas.microsoft.com/office/powerpoint/2010/main" val="41335398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 name="Arc 11">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0ED51C3-F587-A137-F9BE-132E768CEB68}"/>
              </a:ext>
            </a:extLst>
          </p:cNvPr>
          <p:cNvSpPr>
            <a:spLocks noGrp="1"/>
          </p:cNvSpPr>
          <p:nvPr>
            <p:ph type="title"/>
          </p:nvPr>
        </p:nvSpPr>
        <p:spPr>
          <a:xfrm>
            <a:off x="5894962" y="479493"/>
            <a:ext cx="5458838" cy="1325563"/>
          </a:xfrm>
        </p:spPr>
        <p:txBody>
          <a:bodyPr>
            <a:normAutofit/>
          </a:bodyPr>
          <a:lstStyle/>
          <a:p>
            <a:r>
              <a:rPr lang="en-IN" dirty="0"/>
              <a:t>Constituency Parsing</a:t>
            </a:r>
            <a:endParaRPr lang="en-US" dirty="0"/>
          </a:p>
        </p:txBody>
      </p:sp>
      <p:sp>
        <p:nvSpPr>
          <p:cNvPr id="14" name="Freeform: Shape 13">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descr="A black background with white and pink text&#10;&#10;Description automatically generated">
            <a:extLst>
              <a:ext uri="{FF2B5EF4-FFF2-40B4-BE49-F238E27FC236}">
                <a16:creationId xmlns:a16="http://schemas.microsoft.com/office/drawing/2014/main" id="{1263E379-E506-8800-4E5F-69AABF37EA51}"/>
              </a:ext>
            </a:extLst>
          </p:cNvPr>
          <p:cNvPicPr>
            <a:picLocks noChangeAspect="1"/>
          </p:cNvPicPr>
          <p:nvPr/>
        </p:nvPicPr>
        <p:blipFill>
          <a:blip r:embed="rId3"/>
          <a:stretch>
            <a:fillRect/>
          </a:stretch>
        </p:blipFill>
        <p:spPr>
          <a:xfrm>
            <a:off x="1193874" y="511293"/>
            <a:ext cx="3795997" cy="5665670"/>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3" name="Content Placeholder 2">
            <a:extLst>
              <a:ext uri="{FF2B5EF4-FFF2-40B4-BE49-F238E27FC236}">
                <a16:creationId xmlns:a16="http://schemas.microsoft.com/office/drawing/2014/main" id="{8D24486B-6BF3-715C-DDBF-299D65D053DA}"/>
              </a:ext>
            </a:extLst>
          </p:cNvPr>
          <p:cNvSpPr>
            <a:spLocks noGrp="1"/>
          </p:cNvSpPr>
          <p:nvPr>
            <p:ph idx="1"/>
          </p:nvPr>
        </p:nvSpPr>
        <p:spPr>
          <a:xfrm>
            <a:off x="5894962" y="1984443"/>
            <a:ext cx="5458838" cy="4192520"/>
          </a:xfrm>
        </p:spPr>
        <p:txBody>
          <a:bodyPr>
            <a:normAutofit/>
          </a:bodyPr>
          <a:lstStyle/>
          <a:p>
            <a:r>
              <a:rPr lang="en-IN" sz="1600" b="1" dirty="0"/>
              <a:t>Constituency parsing</a:t>
            </a:r>
            <a:r>
              <a:rPr lang="en-IN" sz="1600" dirty="0"/>
              <a:t> involves breaking down a sentence into its constituent parts (phrases). It creates a parse tree like the first example, where each phrase or sub-phrase is represented as a node.</a:t>
            </a:r>
          </a:p>
          <a:p>
            <a:r>
              <a:rPr lang="en-IN" sz="1600" dirty="0"/>
              <a:t>Constituency parsing identifies larger units (constituents) that act together as a single unit within a sentence, such as noun phrases (NPs), verb phrases (VPs), and prepositional phrases (PPs).</a:t>
            </a:r>
          </a:p>
          <a:p>
            <a:r>
              <a:rPr lang="en-IN" sz="1600" dirty="0"/>
              <a:t>Example - "She enjoys playing the piano”</a:t>
            </a:r>
          </a:p>
          <a:p>
            <a:pPr lvl="1"/>
            <a:r>
              <a:rPr lang="en-IN" sz="1600" b="1" dirty="0"/>
              <a:t>S</a:t>
            </a:r>
            <a:r>
              <a:rPr lang="en-IN" sz="1600" dirty="0"/>
              <a:t>: Sentence</a:t>
            </a:r>
          </a:p>
          <a:p>
            <a:pPr lvl="1"/>
            <a:r>
              <a:rPr lang="en-IN" sz="1600" b="1" dirty="0"/>
              <a:t>NP</a:t>
            </a:r>
            <a:r>
              <a:rPr lang="en-IN" sz="1600" dirty="0"/>
              <a:t>: Noun Phrase</a:t>
            </a:r>
          </a:p>
          <a:p>
            <a:pPr lvl="1"/>
            <a:r>
              <a:rPr lang="en-IN" sz="1600" b="1" dirty="0"/>
              <a:t>VP</a:t>
            </a:r>
            <a:r>
              <a:rPr lang="en-IN" sz="1600" dirty="0"/>
              <a:t>: Verb Phrase</a:t>
            </a:r>
          </a:p>
          <a:p>
            <a:pPr lvl="1"/>
            <a:r>
              <a:rPr lang="en-IN" sz="1600" b="1" dirty="0"/>
              <a:t>V</a:t>
            </a:r>
            <a:r>
              <a:rPr lang="en-IN" sz="1600" dirty="0"/>
              <a:t>: Verb</a:t>
            </a:r>
          </a:p>
          <a:p>
            <a:pPr lvl="1"/>
            <a:r>
              <a:rPr lang="en-IN" sz="1600" b="1" dirty="0"/>
              <a:t>Det</a:t>
            </a:r>
            <a:r>
              <a:rPr lang="en-IN" sz="1600" dirty="0"/>
              <a:t>: Determiner</a:t>
            </a:r>
            <a:endParaRPr lang="en-US" sz="1600" dirty="0"/>
          </a:p>
        </p:txBody>
      </p:sp>
    </p:spTree>
    <p:extLst>
      <p:ext uri="{BB962C8B-B14F-4D97-AF65-F5344CB8AC3E}">
        <p14:creationId xmlns:p14="http://schemas.microsoft.com/office/powerpoint/2010/main" val="23919163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1EF551E-FC81-815D-D005-403F249F5858}"/>
              </a:ext>
            </a:extLst>
          </p:cNvPr>
          <p:cNvSpPr>
            <a:spLocks noGrp="1"/>
          </p:cNvSpPr>
          <p:nvPr>
            <p:ph type="title"/>
          </p:nvPr>
        </p:nvSpPr>
        <p:spPr>
          <a:xfrm>
            <a:off x="838200" y="365125"/>
            <a:ext cx="10515600" cy="1325563"/>
          </a:xfrm>
        </p:spPr>
        <p:txBody>
          <a:bodyPr>
            <a:normAutofit/>
          </a:bodyPr>
          <a:lstStyle/>
          <a:p>
            <a:r>
              <a:rPr lang="en-US" dirty="0"/>
              <a:t>Summary</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0078F599-DD3C-B854-89E6-07BF47B13008}"/>
              </a:ext>
            </a:extLst>
          </p:cNvPr>
          <p:cNvSpPr>
            <a:spLocks noGrp="1"/>
          </p:cNvSpPr>
          <p:nvPr>
            <p:ph idx="1"/>
          </p:nvPr>
        </p:nvSpPr>
        <p:spPr>
          <a:xfrm>
            <a:off x="838200" y="1825625"/>
            <a:ext cx="10515600" cy="4351338"/>
          </a:xfrm>
        </p:spPr>
        <p:txBody>
          <a:bodyPr>
            <a:normAutofit/>
          </a:bodyPr>
          <a:lstStyle/>
          <a:p>
            <a:r>
              <a:rPr lang="en-IN" sz="1700" b="1"/>
              <a:t>Parse Trees</a:t>
            </a:r>
            <a:r>
              <a:rPr lang="en-IN" sz="1700"/>
              <a:t>: </a:t>
            </a:r>
          </a:p>
          <a:p>
            <a:pPr lvl="1"/>
            <a:r>
              <a:rPr lang="en-IN" sz="1700"/>
              <a:t>Focus on the hierarchical structure of the sentence based on a formal grammar.</a:t>
            </a:r>
          </a:p>
          <a:p>
            <a:pPr lvl="1"/>
            <a:r>
              <a:rPr lang="en-IN" sz="1700"/>
              <a:t>It show the syntactic structure of a sentence using grammar rules.</a:t>
            </a:r>
          </a:p>
          <a:p>
            <a:r>
              <a:rPr lang="en-IN" sz="1700" b="1"/>
              <a:t>Dependency Trees</a:t>
            </a:r>
            <a:r>
              <a:rPr lang="en-IN" sz="1700"/>
              <a:t>: </a:t>
            </a:r>
          </a:p>
          <a:p>
            <a:pPr lvl="1"/>
            <a:r>
              <a:rPr lang="en-IN" sz="1700"/>
              <a:t>Emphasize the direct syntactic dependencies between words in the sentence.</a:t>
            </a:r>
          </a:p>
          <a:p>
            <a:pPr lvl="1"/>
            <a:r>
              <a:rPr lang="en-IN" sz="1700"/>
              <a:t>It display word-to-word relationships based on grammatical dependencies.</a:t>
            </a:r>
          </a:p>
          <a:p>
            <a:r>
              <a:rPr lang="en-IN" sz="1700" b="1"/>
              <a:t>Constituency Parsing</a:t>
            </a:r>
            <a:r>
              <a:rPr lang="en-IN" sz="1700"/>
              <a:t>: </a:t>
            </a:r>
          </a:p>
          <a:p>
            <a:pPr lvl="1"/>
            <a:r>
              <a:rPr lang="en-IN" sz="1700"/>
              <a:t>Focuses on dividing a sentence into sub-phrases, showing how words group together into constituents. </a:t>
            </a:r>
          </a:p>
          <a:p>
            <a:pPr lvl="1"/>
            <a:r>
              <a:rPr lang="en-IN" sz="1700"/>
              <a:t>It breaks down a sentence into its constituent phrases, illustrating the hierarchical structure of these phrases.</a:t>
            </a:r>
            <a:endParaRPr lang="en-US" sz="1700"/>
          </a:p>
        </p:txBody>
      </p:sp>
    </p:spTree>
    <p:extLst>
      <p:ext uri="{BB962C8B-B14F-4D97-AF65-F5344CB8AC3E}">
        <p14:creationId xmlns:p14="http://schemas.microsoft.com/office/powerpoint/2010/main" val="11370547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 name="Arc 11">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59AE487-428F-3C8B-A316-0B42E2AE1603}"/>
              </a:ext>
            </a:extLst>
          </p:cNvPr>
          <p:cNvSpPr>
            <a:spLocks noGrp="1"/>
          </p:cNvSpPr>
          <p:nvPr>
            <p:ph type="title"/>
          </p:nvPr>
        </p:nvSpPr>
        <p:spPr>
          <a:xfrm>
            <a:off x="5894962" y="479493"/>
            <a:ext cx="5458838" cy="1325563"/>
          </a:xfrm>
        </p:spPr>
        <p:txBody>
          <a:bodyPr>
            <a:normAutofit/>
          </a:bodyPr>
          <a:lstStyle/>
          <a:p>
            <a:r>
              <a:rPr lang="en-IN" sz="3100" dirty="0"/>
              <a:t>Common issues - Parse tree construction and interpretation</a:t>
            </a:r>
            <a:endParaRPr lang="en-US" sz="3100" dirty="0"/>
          </a:p>
        </p:txBody>
      </p:sp>
      <p:sp>
        <p:nvSpPr>
          <p:cNvPr id="14" name="Freeform: Shape 13">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descr="A black background with white text&#10;&#10;Description automatically generated">
            <a:extLst>
              <a:ext uri="{FF2B5EF4-FFF2-40B4-BE49-F238E27FC236}">
                <a16:creationId xmlns:a16="http://schemas.microsoft.com/office/drawing/2014/main" id="{D17728C1-2DBF-6C74-E0A0-C5EB0953A5CD}"/>
              </a:ext>
            </a:extLst>
          </p:cNvPr>
          <p:cNvPicPr>
            <a:picLocks noChangeAspect="1"/>
          </p:cNvPicPr>
          <p:nvPr/>
        </p:nvPicPr>
        <p:blipFill>
          <a:blip r:embed="rId2"/>
          <a:stretch>
            <a:fillRect/>
          </a:stretch>
        </p:blipFill>
        <p:spPr>
          <a:xfrm>
            <a:off x="703182" y="593515"/>
            <a:ext cx="4777381" cy="5501225"/>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3" name="Content Placeholder 2">
            <a:extLst>
              <a:ext uri="{FF2B5EF4-FFF2-40B4-BE49-F238E27FC236}">
                <a16:creationId xmlns:a16="http://schemas.microsoft.com/office/drawing/2014/main" id="{4DC00F23-771C-EADA-D12C-5E8B555D3991}"/>
              </a:ext>
            </a:extLst>
          </p:cNvPr>
          <p:cNvSpPr>
            <a:spLocks noGrp="1"/>
          </p:cNvSpPr>
          <p:nvPr>
            <p:ph idx="1"/>
          </p:nvPr>
        </p:nvSpPr>
        <p:spPr>
          <a:xfrm>
            <a:off x="5894962" y="1984443"/>
            <a:ext cx="5458838" cy="4192520"/>
          </a:xfrm>
        </p:spPr>
        <p:txBody>
          <a:bodyPr>
            <a:normAutofit/>
          </a:bodyPr>
          <a:lstStyle/>
          <a:p>
            <a:r>
              <a:rPr lang="en-IN" sz="1700" b="1"/>
              <a:t>1. Identifying the Root of the Parse Tree</a:t>
            </a:r>
          </a:p>
          <a:p>
            <a:pPr lvl="1"/>
            <a:r>
              <a:rPr lang="en-IN" sz="1700" b="1"/>
              <a:t>Issue</a:t>
            </a:r>
            <a:r>
              <a:rPr lang="en-IN" sz="1700"/>
              <a:t>: Confusion about which part of the sentence should be the root.</a:t>
            </a:r>
          </a:p>
          <a:p>
            <a:pPr lvl="1"/>
            <a:r>
              <a:rPr lang="en-IN" sz="1700" b="1"/>
              <a:t>Solution</a:t>
            </a:r>
            <a:r>
              <a:rPr lang="en-IN" sz="1700"/>
              <a:t>: The root of the parse tree should always be the main verb of the sentence, as it usually represents the main action or state. Everything else in the sentence relates to this verb.</a:t>
            </a:r>
          </a:p>
          <a:p>
            <a:pPr lvl="1"/>
            <a:r>
              <a:rPr lang="en-IN" sz="1700" b="1"/>
              <a:t>Example</a:t>
            </a:r>
            <a:r>
              <a:rPr lang="en-IN" sz="1700"/>
              <a:t>:</a:t>
            </a:r>
          </a:p>
          <a:p>
            <a:pPr lvl="2"/>
            <a:r>
              <a:rPr lang="en-IN" sz="1700"/>
              <a:t>Sentence: "The dog barks loudly."</a:t>
            </a:r>
          </a:p>
          <a:p>
            <a:pPr lvl="2"/>
            <a:r>
              <a:rPr lang="en-IN" sz="1700"/>
              <a:t>Root: "barks" (the main verb).</a:t>
            </a:r>
          </a:p>
          <a:p>
            <a:endParaRPr lang="en-US" sz="1700"/>
          </a:p>
        </p:txBody>
      </p:sp>
    </p:spTree>
    <p:extLst>
      <p:ext uri="{BB962C8B-B14F-4D97-AF65-F5344CB8AC3E}">
        <p14:creationId xmlns:p14="http://schemas.microsoft.com/office/powerpoint/2010/main" val="40202890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 name="Arc 11">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9145D39-65C0-6E05-F7A9-493822B90CA3}"/>
              </a:ext>
            </a:extLst>
          </p:cNvPr>
          <p:cNvSpPr>
            <a:spLocks noGrp="1"/>
          </p:cNvSpPr>
          <p:nvPr>
            <p:ph type="title"/>
          </p:nvPr>
        </p:nvSpPr>
        <p:spPr>
          <a:xfrm>
            <a:off x="5894962" y="479493"/>
            <a:ext cx="5458838" cy="1325563"/>
          </a:xfrm>
        </p:spPr>
        <p:txBody>
          <a:bodyPr>
            <a:normAutofit/>
          </a:bodyPr>
          <a:lstStyle/>
          <a:p>
            <a:r>
              <a:rPr lang="en-IN" sz="3100" dirty="0"/>
              <a:t>Common issues - Parse tree construction and interpretation</a:t>
            </a:r>
            <a:endParaRPr lang="en-US" sz="3100" dirty="0"/>
          </a:p>
        </p:txBody>
      </p:sp>
      <p:sp>
        <p:nvSpPr>
          <p:cNvPr id="14" name="Freeform: Shape 13">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descr="A black background with white lines and pink letters&#10;&#10;Description automatically generated">
            <a:extLst>
              <a:ext uri="{FF2B5EF4-FFF2-40B4-BE49-F238E27FC236}">
                <a16:creationId xmlns:a16="http://schemas.microsoft.com/office/drawing/2014/main" id="{4984CEE5-9210-84D6-6BEF-798104B6B277}"/>
              </a:ext>
            </a:extLst>
          </p:cNvPr>
          <p:cNvPicPr>
            <a:picLocks noChangeAspect="1"/>
          </p:cNvPicPr>
          <p:nvPr/>
        </p:nvPicPr>
        <p:blipFill>
          <a:blip r:embed="rId2"/>
          <a:stretch>
            <a:fillRect/>
          </a:stretch>
        </p:blipFill>
        <p:spPr>
          <a:xfrm>
            <a:off x="1087642" y="511293"/>
            <a:ext cx="4008460" cy="5665670"/>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3" name="Content Placeholder 2">
            <a:extLst>
              <a:ext uri="{FF2B5EF4-FFF2-40B4-BE49-F238E27FC236}">
                <a16:creationId xmlns:a16="http://schemas.microsoft.com/office/drawing/2014/main" id="{BD8346F4-DE8D-BB4C-89B7-BBE898EEE0ED}"/>
              </a:ext>
            </a:extLst>
          </p:cNvPr>
          <p:cNvSpPr>
            <a:spLocks noGrp="1"/>
          </p:cNvSpPr>
          <p:nvPr>
            <p:ph idx="1"/>
          </p:nvPr>
        </p:nvSpPr>
        <p:spPr>
          <a:xfrm>
            <a:off x="5894962" y="1984443"/>
            <a:ext cx="5458838" cy="4192520"/>
          </a:xfrm>
        </p:spPr>
        <p:txBody>
          <a:bodyPr>
            <a:normAutofit/>
          </a:bodyPr>
          <a:lstStyle/>
          <a:p>
            <a:r>
              <a:rPr lang="en-IN" sz="1300" dirty="0"/>
              <a:t>2. </a:t>
            </a:r>
            <a:r>
              <a:rPr lang="en-IN" sz="1300" b="1" dirty="0"/>
              <a:t>Grouping Words into Phrases</a:t>
            </a:r>
          </a:p>
          <a:p>
            <a:pPr lvl="1"/>
            <a:r>
              <a:rPr lang="en-IN" sz="1300" b="1" dirty="0"/>
              <a:t>Issue</a:t>
            </a:r>
            <a:r>
              <a:rPr lang="en-IN" sz="1300" dirty="0"/>
              <a:t>: Difficulty in identifying how words should be grouped into phrases (e.g., noun phrases, verb phrases).</a:t>
            </a:r>
          </a:p>
          <a:p>
            <a:pPr lvl="1"/>
            <a:r>
              <a:rPr lang="en-IN" sz="1300" b="1" dirty="0"/>
              <a:t>Solution</a:t>
            </a:r>
            <a:r>
              <a:rPr lang="en-IN" sz="1300" dirty="0"/>
              <a:t>: Look for natural groups of words that function together as a single unit. For example, a noun phrase might consist of a determiner and a noun, or a prepositional phrase might consist of a preposition and a noun phrase.</a:t>
            </a:r>
          </a:p>
          <a:p>
            <a:pPr lvl="1"/>
            <a:r>
              <a:rPr lang="en-IN" sz="1300" b="1" dirty="0"/>
              <a:t>Example</a:t>
            </a:r>
            <a:r>
              <a:rPr lang="en-IN" sz="1300" dirty="0"/>
              <a:t>:</a:t>
            </a:r>
          </a:p>
          <a:p>
            <a:pPr lvl="2"/>
            <a:r>
              <a:rPr lang="en-IN" sz="1300" dirty="0"/>
              <a:t>Sentence: "The quick brown fox jumps over the lazy dog."</a:t>
            </a:r>
          </a:p>
          <a:p>
            <a:pPr lvl="2"/>
            <a:r>
              <a:rPr lang="en-IN" sz="1300" dirty="0"/>
              <a:t>Grouping:</a:t>
            </a:r>
          </a:p>
          <a:p>
            <a:pPr marL="1657350" lvl="3" indent="-285750"/>
            <a:r>
              <a:rPr lang="en-IN" sz="1300" dirty="0"/>
              <a:t>"The quick brown fox" is a noun phrase (NP).</a:t>
            </a:r>
          </a:p>
          <a:p>
            <a:pPr marL="1657350" lvl="3" indent="-285750"/>
            <a:r>
              <a:rPr lang="en-IN" sz="1300" dirty="0"/>
              <a:t>"jumps" is a verb phrase (VP).</a:t>
            </a:r>
          </a:p>
          <a:p>
            <a:pPr marL="1657350" lvl="3" indent="-285750"/>
            <a:r>
              <a:rPr lang="en-IN" sz="1300" dirty="0"/>
              <a:t>"over the lazy dog" is a prepositional phrase (PP).</a:t>
            </a:r>
          </a:p>
          <a:p>
            <a:endParaRPr lang="en-US" sz="1300" dirty="0"/>
          </a:p>
        </p:txBody>
      </p:sp>
    </p:spTree>
    <p:extLst>
      <p:ext uri="{BB962C8B-B14F-4D97-AF65-F5344CB8AC3E}">
        <p14:creationId xmlns:p14="http://schemas.microsoft.com/office/powerpoint/2010/main" val="12536066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9719F5A2-829D-9499-24E8-B416CC88A868}"/>
              </a:ext>
            </a:extLst>
          </p:cNvPr>
          <p:cNvSpPr>
            <a:spLocks noGrp="1"/>
          </p:cNvSpPr>
          <p:nvPr>
            <p:ph type="title"/>
          </p:nvPr>
        </p:nvSpPr>
        <p:spPr>
          <a:xfrm>
            <a:off x="838200" y="365125"/>
            <a:ext cx="10515600" cy="1325563"/>
          </a:xfrm>
        </p:spPr>
        <p:txBody>
          <a:bodyPr>
            <a:normAutofit/>
          </a:bodyPr>
          <a:lstStyle/>
          <a:p>
            <a:endParaRPr lang="en-US"/>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6A1F3D1F-7194-B215-A756-725EBEC7477A}"/>
              </a:ext>
            </a:extLst>
          </p:cNvPr>
          <p:cNvSpPr>
            <a:spLocks noGrp="1"/>
          </p:cNvSpPr>
          <p:nvPr>
            <p:ph idx="1"/>
          </p:nvPr>
        </p:nvSpPr>
        <p:spPr>
          <a:xfrm>
            <a:off x="838200" y="1825625"/>
            <a:ext cx="10515600" cy="4351338"/>
          </a:xfrm>
        </p:spPr>
        <p:txBody>
          <a:bodyPr>
            <a:normAutofit/>
          </a:bodyPr>
          <a:lstStyle/>
          <a:p>
            <a:r>
              <a:rPr lang="en-IN" b="1" dirty="0"/>
              <a:t>3. Handling Ambiguity</a:t>
            </a:r>
          </a:p>
          <a:p>
            <a:pPr lvl="1"/>
            <a:r>
              <a:rPr lang="en-IN" b="1" dirty="0"/>
              <a:t>Issue</a:t>
            </a:r>
            <a:r>
              <a:rPr lang="en-IN" dirty="0"/>
              <a:t>: Sentences can be ambiguous, leading to multiple possible parse trees.</a:t>
            </a:r>
          </a:p>
          <a:p>
            <a:pPr lvl="1"/>
            <a:r>
              <a:rPr lang="en-IN" b="1" dirty="0"/>
              <a:t>Solution</a:t>
            </a:r>
            <a:r>
              <a:rPr lang="en-IN" dirty="0"/>
              <a:t>: Determine the intended meaning of the sentence by considering the context. Then, construct the parse tree that best reflects that meaning.</a:t>
            </a:r>
          </a:p>
          <a:p>
            <a:pPr lvl="1"/>
            <a:r>
              <a:rPr lang="en-IN" b="1" dirty="0"/>
              <a:t>Example</a:t>
            </a:r>
            <a:r>
              <a:rPr lang="en-IN" dirty="0"/>
              <a:t>: "He saw the man with the telescope."</a:t>
            </a:r>
          </a:p>
          <a:p>
            <a:pPr lvl="1"/>
            <a:r>
              <a:rPr lang="en-IN" dirty="0"/>
              <a:t>Ambiguity:</a:t>
            </a:r>
          </a:p>
          <a:p>
            <a:pPr marL="1200150" lvl="2" indent="-285750"/>
            <a:r>
              <a:rPr lang="en-IN" dirty="0"/>
              <a:t>Does "with the telescope" describe "the man" (i.e., the man has a telescope)?</a:t>
            </a:r>
          </a:p>
          <a:p>
            <a:pPr marL="1200150" lvl="2" indent="-285750"/>
            <a:r>
              <a:rPr lang="en-IN" dirty="0"/>
              <a:t>Or does it describe how "he" saw the man (i.e., he used a telescope to see the man)?</a:t>
            </a:r>
          </a:p>
          <a:p>
            <a:endParaRPr lang="en-US" dirty="0"/>
          </a:p>
        </p:txBody>
      </p:sp>
    </p:spTree>
    <p:extLst>
      <p:ext uri="{BB962C8B-B14F-4D97-AF65-F5344CB8AC3E}">
        <p14:creationId xmlns:p14="http://schemas.microsoft.com/office/powerpoint/2010/main" val="27142936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 name="Arc 11">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62CAFF7-796E-0758-0FB4-DC0468A21BFE}"/>
              </a:ext>
            </a:extLst>
          </p:cNvPr>
          <p:cNvSpPr>
            <a:spLocks noGrp="1"/>
          </p:cNvSpPr>
          <p:nvPr>
            <p:ph type="title"/>
          </p:nvPr>
        </p:nvSpPr>
        <p:spPr>
          <a:xfrm>
            <a:off x="5894962" y="479493"/>
            <a:ext cx="5458838" cy="1325563"/>
          </a:xfrm>
        </p:spPr>
        <p:txBody>
          <a:bodyPr>
            <a:normAutofit/>
          </a:bodyPr>
          <a:lstStyle/>
          <a:p>
            <a:endParaRPr lang="en-US"/>
          </a:p>
        </p:txBody>
      </p:sp>
      <p:sp>
        <p:nvSpPr>
          <p:cNvPr id="14" name="Freeform: Shape 13">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descr="A black background with white text&#10;&#10;Description automatically generated">
            <a:extLst>
              <a:ext uri="{FF2B5EF4-FFF2-40B4-BE49-F238E27FC236}">
                <a16:creationId xmlns:a16="http://schemas.microsoft.com/office/drawing/2014/main" id="{9DDF158D-6311-E4CA-27B5-77EC9440760B}"/>
              </a:ext>
            </a:extLst>
          </p:cNvPr>
          <p:cNvPicPr>
            <a:picLocks noChangeAspect="1"/>
          </p:cNvPicPr>
          <p:nvPr/>
        </p:nvPicPr>
        <p:blipFill>
          <a:blip r:embed="rId2"/>
          <a:stretch>
            <a:fillRect/>
          </a:stretch>
        </p:blipFill>
        <p:spPr>
          <a:xfrm>
            <a:off x="703182" y="1254024"/>
            <a:ext cx="4777381" cy="4180207"/>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3" name="Content Placeholder 2">
            <a:extLst>
              <a:ext uri="{FF2B5EF4-FFF2-40B4-BE49-F238E27FC236}">
                <a16:creationId xmlns:a16="http://schemas.microsoft.com/office/drawing/2014/main" id="{5AE05876-35D7-799C-235C-8DC9260FC20C}"/>
              </a:ext>
            </a:extLst>
          </p:cNvPr>
          <p:cNvSpPr>
            <a:spLocks noGrp="1"/>
          </p:cNvSpPr>
          <p:nvPr>
            <p:ph idx="1"/>
          </p:nvPr>
        </p:nvSpPr>
        <p:spPr>
          <a:xfrm>
            <a:off x="5894962" y="1984443"/>
            <a:ext cx="5458838" cy="4192520"/>
          </a:xfrm>
        </p:spPr>
        <p:txBody>
          <a:bodyPr>
            <a:normAutofit/>
          </a:bodyPr>
          <a:lstStyle/>
          <a:p>
            <a:pPr marL="0" indent="0">
              <a:buNone/>
            </a:pPr>
            <a:r>
              <a:rPr lang="en-IN" sz="1500" b="1"/>
              <a:t>4. Dealing with Compound Sentences</a:t>
            </a:r>
          </a:p>
          <a:p>
            <a:pPr lvl="1"/>
            <a:r>
              <a:rPr lang="en-IN" sz="1500" b="1"/>
              <a:t>Issue</a:t>
            </a:r>
            <a:r>
              <a:rPr lang="en-IN" sz="1500"/>
              <a:t>: Struggling with sentences that have more than one clause.</a:t>
            </a:r>
          </a:p>
          <a:p>
            <a:pPr lvl="1"/>
            <a:r>
              <a:rPr lang="en-IN" sz="1500" b="1"/>
              <a:t>Solution</a:t>
            </a:r>
            <a:r>
              <a:rPr lang="en-IN" sz="1500"/>
              <a:t>: Treat each clause as a separate sentence with its own structure, and then combine them under a higher-level node.</a:t>
            </a:r>
          </a:p>
          <a:p>
            <a:pPr lvl="1"/>
            <a:r>
              <a:rPr lang="en-IN" sz="1500" b="1"/>
              <a:t>Example</a:t>
            </a:r>
            <a:r>
              <a:rPr lang="en-IN" sz="1500"/>
              <a:t>: "She likes tea, but he prefers coffee."</a:t>
            </a:r>
          </a:p>
          <a:p>
            <a:pPr lvl="1"/>
            <a:r>
              <a:rPr lang="en-IN" sz="1500"/>
              <a:t>Clauses:</a:t>
            </a:r>
          </a:p>
          <a:p>
            <a:pPr marL="1200150" lvl="2" indent="-285750"/>
            <a:r>
              <a:rPr lang="en-IN" sz="1500"/>
              <a:t>Clause 1: "She likes tea."</a:t>
            </a:r>
          </a:p>
          <a:p>
            <a:pPr marL="1200150" lvl="2" indent="-285750"/>
            <a:r>
              <a:rPr lang="en-IN" sz="1500"/>
              <a:t>Clause 2: "He prefers coffee."</a:t>
            </a:r>
          </a:p>
          <a:p>
            <a:endParaRPr lang="en-US" sz="1500"/>
          </a:p>
        </p:txBody>
      </p:sp>
    </p:spTree>
    <p:extLst>
      <p:ext uri="{BB962C8B-B14F-4D97-AF65-F5344CB8AC3E}">
        <p14:creationId xmlns:p14="http://schemas.microsoft.com/office/powerpoint/2010/main" val="11337100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 name="Arc 11">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F7A11D0-43EE-DAC6-E57E-07294EE5EBD0}"/>
              </a:ext>
            </a:extLst>
          </p:cNvPr>
          <p:cNvSpPr>
            <a:spLocks noGrp="1"/>
          </p:cNvSpPr>
          <p:nvPr>
            <p:ph type="title"/>
          </p:nvPr>
        </p:nvSpPr>
        <p:spPr>
          <a:xfrm>
            <a:off x="5894962" y="479493"/>
            <a:ext cx="5458838" cy="1325563"/>
          </a:xfrm>
        </p:spPr>
        <p:txBody>
          <a:bodyPr>
            <a:normAutofit/>
          </a:bodyPr>
          <a:lstStyle/>
          <a:p>
            <a:endParaRPr lang="en-US"/>
          </a:p>
        </p:txBody>
      </p:sp>
      <p:sp>
        <p:nvSpPr>
          <p:cNvPr id="14" name="Freeform: Shape 13">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descr="A black background with white text&#10;&#10;Description automatically generated">
            <a:extLst>
              <a:ext uri="{FF2B5EF4-FFF2-40B4-BE49-F238E27FC236}">
                <a16:creationId xmlns:a16="http://schemas.microsoft.com/office/drawing/2014/main" id="{538D9C7D-AA0D-19BA-B8BF-CB7BD9562FBF}"/>
              </a:ext>
            </a:extLst>
          </p:cNvPr>
          <p:cNvPicPr>
            <a:picLocks noChangeAspect="1"/>
          </p:cNvPicPr>
          <p:nvPr/>
        </p:nvPicPr>
        <p:blipFill>
          <a:blip r:embed="rId2"/>
          <a:stretch>
            <a:fillRect/>
          </a:stretch>
        </p:blipFill>
        <p:spPr>
          <a:xfrm>
            <a:off x="703182" y="1427204"/>
            <a:ext cx="4777381" cy="3833848"/>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3" name="Content Placeholder 2">
            <a:extLst>
              <a:ext uri="{FF2B5EF4-FFF2-40B4-BE49-F238E27FC236}">
                <a16:creationId xmlns:a16="http://schemas.microsoft.com/office/drawing/2014/main" id="{8B2C9A20-D919-158F-B441-35BFC8C49FD8}"/>
              </a:ext>
            </a:extLst>
          </p:cNvPr>
          <p:cNvSpPr>
            <a:spLocks noGrp="1"/>
          </p:cNvSpPr>
          <p:nvPr>
            <p:ph idx="1"/>
          </p:nvPr>
        </p:nvSpPr>
        <p:spPr>
          <a:xfrm>
            <a:off x="5894962" y="1984443"/>
            <a:ext cx="5458838" cy="4192520"/>
          </a:xfrm>
        </p:spPr>
        <p:txBody>
          <a:bodyPr>
            <a:normAutofit/>
          </a:bodyPr>
          <a:lstStyle/>
          <a:p>
            <a:pPr marL="0" indent="0">
              <a:buNone/>
            </a:pPr>
            <a:r>
              <a:rPr lang="en-IN" sz="1700" b="1"/>
              <a:t>5. Understanding Coordination Structures</a:t>
            </a:r>
          </a:p>
          <a:p>
            <a:pPr lvl="1"/>
            <a:r>
              <a:rPr lang="en-IN" sz="1700" b="1"/>
              <a:t>Issue</a:t>
            </a:r>
            <a:r>
              <a:rPr lang="en-IN" sz="1700"/>
              <a:t>: Difficulty in parsing sentences with conjunctions like "and" or "or."</a:t>
            </a:r>
          </a:p>
          <a:p>
            <a:pPr lvl="1"/>
            <a:r>
              <a:rPr lang="en-IN" sz="1700" b="1"/>
              <a:t>Solution</a:t>
            </a:r>
            <a:r>
              <a:rPr lang="en-IN" sz="1700"/>
              <a:t>: Create a separate node for the conjunction and connect it to the coordinated elements.</a:t>
            </a:r>
          </a:p>
          <a:p>
            <a:pPr lvl="1"/>
            <a:r>
              <a:rPr lang="en-IN" sz="1700" b="1"/>
              <a:t>Example</a:t>
            </a:r>
            <a:r>
              <a:rPr lang="en-IN" sz="1700"/>
              <a:t>: "Cats and dogs are friendly."</a:t>
            </a:r>
          </a:p>
          <a:p>
            <a:pPr lvl="1"/>
            <a:r>
              <a:rPr lang="en-IN" sz="1700"/>
              <a:t>Coordination:</a:t>
            </a:r>
          </a:p>
          <a:p>
            <a:pPr marL="1200150" lvl="2" indent="-285750"/>
            <a:r>
              <a:rPr lang="en-IN" sz="1700"/>
              <a:t>Cats" and "dogs" are coordinated noun phrases joined by "and."</a:t>
            </a:r>
          </a:p>
          <a:p>
            <a:endParaRPr lang="en-US" sz="1700"/>
          </a:p>
        </p:txBody>
      </p:sp>
    </p:spTree>
    <p:extLst>
      <p:ext uri="{BB962C8B-B14F-4D97-AF65-F5344CB8AC3E}">
        <p14:creationId xmlns:p14="http://schemas.microsoft.com/office/powerpoint/2010/main" val="27202396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 name="Arc 11">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513F65C-6CF6-7301-C7B6-667B5BA00BFB}"/>
              </a:ext>
            </a:extLst>
          </p:cNvPr>
          <p:cNvSpPr>
            <a:spLocks noGrp="1"/>
          </p:cNvSpPr>
          <p:nvPr>
            <p:ph type="title"/>
          </p:nvPr>
        </p:nvSpPr>
        <p:spPr>
          <a:xfrm>
            <a:off x="5894962" y="479493"/>
            <a:ext cx="5458838" cy="1325563"/>
          </a:xfrm>
        </p:spPr>
        <p:txBody>
          <a:bodyPr>
            <a:normAutofit/>
          </a:bodyPr>
          <a:lstStyle/>
          <a:p>
            <a:endParaRPr lang="en-US"/>
          </a:p>
        </p:txBody>
      </p:sp>
      <p:sp>
        <p:nvSpPr>
          <p:cNvPr id="14" name="Freeform: Shape 13">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descr="A screen shot of a black background&#10;&#10;Description automatically generated">
            <a:extLst>
              <a:ext uri="{FF2B5EF4-FFF2-40B4-BE49-F238E27FC236}">
                <a16:creationId xmlns:a16="http://schemas.microsoft.com/office/drawing/2014/main" id="{84B1E324-90AF-A17D-0A81-C07D51BFA07A}"/>
              </a:ext>
            </a:extLst>
          </p:cNvPr>
          <p:cNvPicPr>
            <a:picLocks noChangeAspect="1"/>
          </p:cNvPicPr>
          <p:nvPr/>
        </p:nvPicPr>
        <p:blipFill>
          <a:blip r:embed="rId2"/>
          <a:stretch>
            <a:fillRect/>
          </a:stretch>
        </p:blipFill>
        <p:spPr>
          <a:xfrm>
            <a:off x="1732112" y="511293"/>
            <a:ext cx="2719521" cy="5665670"/>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3" name="Content Placeholder 2">
            <a:extLst>
              <a:ext uri="{FF2B5EF4-FFF2-40B4-BE49-F238E27FC236}">
                <a16:creationId xmlns:a16="http://schemas.microsoft.com/office/drawing/2014/main" id="{BB27E302-3A2A-4267-06A1-2B9D860EC05D}"/>
              </a:ext>
            </a:extLst>
          </p:cNvPr>
          <p:cNvSpPr>
            <a:spLocks noGrp="1"/>
          </p:cNvSpPr>
          <p:nvPr>
            <p:ph idx="1"/>
          </p:nvPr>
        </p:nvSpPr>
        <p:spPr>
          <a:xfrm>
            <a:off x="5894962" y="1984443"/>
            <a:ext cx="5458838" cy="4192520"/>
          </a:xfrm>
        </p:spPr>
        <p:txBody>
          <a:bodyPr>
            <a:normAutofit/>
          </a:bodyPr>
          <a:lstStyle/>
          <a:p>
            <a:pPr marL="0" indent="0">
              <a:buNone/>
            </a:pPr>
            <a:r>
              <a:rPr lang="en-IN" sz="1700" b="1"/>
              <a:t>6. Handling Embedded Clauses</a:t>
            </a:r>
          </a:p>
          <a:p>
            <a:pPr lvl="1"/>
            <a:r>
              <a:rPr lang="en-IN" sz="1700" b="1"/>
              <a:t>Issue</a:t>
            </a:r>
            <a:r>
              <a:rPr lang="en-IN" sz="1700"/>
              <a:t>: Confusion with sentences containing embedded (subordinate) clauses.</a:t>
            </a:r>
          </a:p>
          <a:p>
            <a:pPr lvl="1"/>
            <a:r>
              <a:rPr lang="en-IN" sz="1700" b="1"/>
              <a:t>Solution</a:t>
            </a:r>
            <a:r>
              <a:rPr lang="en-IN" sz="1700"/>
              <a:t>: Treat the embedded clause as a component within the larger sentence structure, typically under a node like NP or VP.</a:t>
            </a:r>
          </a:p>
          <a:p>
            <a:pPr lvl="1"/>
            <a:r>
              <a:rPr lang="en-IN" sz="1700" b="1" err="1"/>
              <a:t>Example</a:t>
            </a:r>
            <a:r>
              <a:rPr lang="en-IN" sz="1700"/>
              <a:t>: "The book that you gave me is interesting."</a:t>
            </a:r>
          </a:p>
          <a:p>
            <a:pPr lvl="1"/>
            <a:r>
              <a:rPr lang="en-IN" sz="1700"/>
              <a:t>Embedded Clause: "that you gave me"</a:t>
            </a:r>
          </a:p>
          <a:p>
            <a:endParaRPr lang="en-US" sz="1700"/>
          </a:p>
        </p:txBody>
      </p:sp>
    </p:spTree>
    <p:extLst>
      <p:ext uri="{BB962C8B-B14F-4D97-AF65-F5344CB8AC3E}">
        <p14:creationId xmlns:p14="http://schemas.microsoft.com/office/powerpoint/2010/main" val="7820424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 name="Arc 11">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1F3B966-0F66-CB18-49C6-C708F21F94AA}"/>
              </a:ext>
            </a:extLst>
          </p:cNvPr>
          <p:cNvSpPr>
            <a:spLocks noGrp="1"/>
          </p:cNvSpPr>
          <p:nvPr>
            <p:ph type="title"/>
          </p:nvPr>
        </p:nvSpPr>
        <p:spPr>
          <a:xfrm>
            <a:off x="5894962" y="479493"/>
            <a:ext cx="5458838" cy="1325563"/>
          </a:xfrm>
        </p:spPr>
        <p:txBody>
          <a:bodyPr>
            <a:normAutofit/>
          </a:bodyPr>
          <a:lstStyle/>
          <a:p>
            <a:r>
              <a:rPr lang="en-US" dirty="0"/>
              <a:t>Key Learnings</a:t>
            </a:r>
          </a:p>
        </p:txBody>
      </p:sp>
      <p:sp>
        <p:nvSpPr>
          <p:cNvPr id="14" name="Freeform: Shape 13">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 name="Graphic 6" descr="Communications">
            <a:extLst>
              <a:ext uri="{FF2B5EF4-FFF2-40B4-BE49-F238E27FC236}">
                <a16:creationId xmlns:a16="http://schemas.microsoft.com/office/drawing/2014/main" id="{5E58FDCF-ED33-CC04-76AC-E6DB05BFA6C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03182" y="955437"/>
            <a:ext cx="4777381" cy="4777381"/>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3" name="Content Placeholder 2">
            <a:extLst>
              <a:ext uri="{FF2B5EF4-FFF2-40B4-BE49-F238E27FC236}">
                <a16:creationId xmlns:a16="http://schemas.microsoft.com/office/drawing/2014/main" id="{5A4C9FCF-C7BE-B0CA-4BB9-CE843B15C237}"/>
              </a:ext>
            </a:extLst>
          </p:cNvPr>
          <p:cNvSpPr>
            <a:spLocks noGrp="1"/>
          </p:cNvSpPr>
          <p:nvPr>
            <p:ph idx="1"/>
          </p:nvPr>
        </p:nvSpPr>
        <p:spPr>
          <a:xfrm>
            <a:off x="5894962" y="1984443"/>
            <a:ext cx="5458838" cy="4192520"/>
          </a:xfrm>
        </p:spPr>
        <p:txBody>
          <a:bodyPr>
            <a:normAutofit/>
          </a:bodyPr>
          <a:lstStyle/>
          <a:p>
            <a:r>
              <a:rPr lang="en-IN" sz="1800" b="1" dirty="0"/>
              <a:t>Identifying the Root</a:t>
            </a:r>
            <a:r>
              <a:rPr lang="en-IN" sz="1800" dirty="0"/>
              <a:t>: Always use the main verb as the root of your tree.</a:t>
            </a:r>
          </a:p>
          <a:p>
            <a:r>
              <a:rPr lang="en-IN" sz="1800" b="1" dirty="0"/>
              <a:t>Grouping Words</a:t>
            </a:r>
            <a:r>
              <a:rPr lang="en-IN" sz="1800" dirty="0"/>
              <a:t>: Group words into natural phrases based on their function in the sentence.</a:t>
            </a:r>
          </a:p>
          <a:p>
            <a:r>
              <a:rPr lang="en-IN" sz="1800" b="1" dirty="0"/>
              <a:t>Handling Ambiguity</a:t>
            </a:r>
            <a:r>
              <a:rPr lang="en-IN" sz="1800" dirty="0"/>
              <a:t>: Consider context to choose the correct parse tree.</a:t>
            </a:r>
          </a:p>
          <a:p>
            <a:r>
              <a:rPr lang="en-IN" sz="1800" b="1" dirty="0"/>
              <a:t>Compound Sentences</a:t>
            </a:r>
            <a:r>
              <a:rPr lang="en-IN" sz="1800" dirty="0"/>
              <a:t>: Break them into individual clauses and then combine.</a:t>
            </a:r>
          </a:p>
          <a:p>
            <a:r>
              <a:rPr lang="en-IN" sz="1800" b="1" dirty="0"/>
              <a:t>Coordination Structures</a:t>
            </a:r>
            <a:r>
              <a:rPr lang="en-IN" sz="1800" dirty="0"/>
              <a:t>: Use a conjunction node to connect coordinated elements.</a:t>
            </a:r>
          </a:p>
          <a:p>
            <a:r>
              <a:rPr lang="en-IN" sz="1800" b="1" dirty="0"/>
              <a:t>Embedded Clauses</a:t>
            </a:r>
            <a:r>
              <a:rPr lang="en-IN" sz="1800" dirty="0"/>
              <a:t>: Treat them as part of the larger sentence structure.</a:t>
            </a:r>
            <a:endParaRPr lang="en-US" sz="1800" dirty="0"/>
          </a:p>
        </p:txBody>
      </p:sp>
    </p:spTree>
    <p:extLst>
      <p:ext uri="{BB962C8B-B14F-4D97-AF65-F5344CB8AC3E}">
        <p14:creationId xmlns:p14="http://schemas.microsoft.com/office/powerpoint/2010/main" val="22411767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 name="Arc 11">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419BF20-C2A0-7DD0-DAD8-0A55ABBF197B}"/>
              </a:ext>
            </a:extLst>
          </p:cNvPr>
          <p:cNvSpPr>
            <a:spLocks noGrp="1"/>
          </p:cNvSpPr>
          <p:nvPr>
            <p:ph type="title"/>
          </p:nvPr>
        </p:nvSpPr>
        <p:spPr>
          <a:xfrm>
            <a:off x="5894962" y="479493"/>
            <a:ext cx="5458838" cy="1325563"/>
          </a:xfrm>
        </p:spPr>
        <p:txBody>
          <a:bodyPr>
            <a:normAutofit/>
          </a:bodyPr>
          <a:lstStyle/>
          <a:p>
            <a:r>
              <a:rPr lang="en-IN" sz="2800"/>
              <a:t>Common issues such as dependency parsing algorithms and their applications.</a:t>
            </a:r>
            <a:endParaRPr lang="en-US" sz="2800"/>
          </a:p>
        </p:txBody>
      </p:sp>
      <p:sp>
        <p:nvSpPr>
          <p:cNvPr id="14" name="Freeform: Shape 13">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descr="A black background with white text&#10;&#10;Description automatically generated">
            <a:extLst>
              <a:ext uri="{FF2B5EF4-FFF2-40B4-BE49-F238E27FC236}">
                <a16:creationId xmlns:a16="http://schemas.microsoft.com/office/drawing/2014/main" id="{01A6C74F-4755-2932-BBC3-6526D8CB5C1C}"/>
              </a:ext>
            </a:extLst>
          </p:cNvPr>
          <p:cNvPicPr>
            <a:picLocks noChangeAspect="1"/>
          </p:cNvPicPr>
          <p:nvPr/>
        </p:nvPicPr>
        <p:blipFill>
          <a:blip r:embed="rId2"/>
          <a:stretch>
            <a:fillRect/>
          </a:stretch>
        </p:blipFill>
        <p:spPr>
          <a:xfrm>
            <a:off x="703182" y="574051"/>
            <a:ext cx="4777381" cy="5540154"/>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3" name="Content Placeholder 2">
            <a:extLst>
              <a:ext uri="{FF2B5EF4-FFF2-40B4-BE49-F238E27FC236}">
                <a16:creationId xmlns:a16="http://schemas.microsoft.com/office/drawing/2014/main" id="{5AF3A9CB-D6D5-9D49-F6EC-02B516E35B5E}"/>
              </a:ext>
            </a:extLst>
          </p:cNvPr>
          <p:cNvSpPr>
            <a:spLocks noGrp="1"/>
          </p:cNvSpPr>
          <p:nvPr>
            <p:ph idx="1"/>
          </p:nvPr>
        </p:nvSpPr>
        <p:spPr>
          <a:xfrm>
            <a:off x="5894962" y="1984443"/>
            <a:ext cx="5458838" cy="4192520"/>
          </a:xfrm>
        </p:spPr>
        <p:txBody>
          <a:bodyPr>
            <a:normAutofit/>
          </a:bodyPr>
          <a:lstStyle/>
          <a:p>
            <a:pPr marL="0" indent="0">
              <a:buNone/>
            </a:pPr>
            <a:r>
              <a:rPr lang="en-IN" sz="1400" b="1"/>
              <a:t>1. Understanding Dependency Relations</a:t>
            </a:r>
          </a:p>
          <a:p>
            <a:pPr lvl="1"/>
            <a:r>
              <a:rPr lang="en-IN" sz="1400" b="1"/>
              <a:t>Issue</a:t>
            </a:r>
            <a:r>
              <a:rPr lang="en-IN" sz="1400"/>
              <a:t>: Difficulty in understanding the types of dependencies and how they relate to the sentence structure.</a:t>
            </a:r>
          </a:p>
          <a:p>
            <a:pPr lvl="1"/>
            <a:r>
              <a:rPr lang="en-IN" sz="1400" b="1"/>
              <a:t>Solution</a:t>
            </a:r>
            <a:r>
              <a:rPr lang="en-IN" sz="1400"/>
              <a:t>: Learn the basic types of dependency relations, such as subject, object, and modifiers, and understand how they connect words in a sentence.</a:t>
            </a:r>
          </a:p>
          <a:p>
            <a:pPr lvl="1"/>
            <a:r>
              <a:rPr lang="en-IN" sz="1400" b="1"/>
              <a:t>Example</a:t>
            </a:r>
            <a:r>
              <a:rPr lang="en-IN" sz="1400"/>
              <a:t>: "The dog chased the cat."</a:t>
            </a:r>
          </a:p>
          <a:p>
            <a:pPr lvl="1"/>
            <a:r>
              <a:rPr lang="en-IN" sz="1400"/>
              <a:t>Dependencies:</a:t>
            </a:r>
          </a:p>
          <a:p>
            <a:pPr marL="1200150" lvl="2" indent="-285750"/>
            <a:r>
              <a:rPr lang="en-IN" sz="1400"/>
              <a:t>"dog" → "chased" (subject)</a:t>
            </a:r>
          </a:p>
          <a:p>
            <a:pPr marL="1200150" lvl="2" indent="-285750"/>
            <a:r>
              <a:rPr lang="en-IN" sz="1400"/>
              <a:t>"chased" → "cat" (object)</a:t>
            </a:r>
          </a:p>
          <a:p>
            <a:pPr marL="1200150" lvl="2" indent="-285750"/>
            <a:r>
              <a:rPr lang="en-IN" sz="1400"/>
              <a:t>"The" → "dog" (determiner)</a:t>
            </a:r>
          </a:p>
          <a:p>
            <a:pPr marL="1200150" lvl="2" indent="-285750"/>
            <a:r>
              <a:rPr lang="en-IN" sz="1400"/>
              <a:t>"The" → "cat" (determiner)</a:t>
            </a:r>
          </a:p>
          <a:p>
            <a:endParaRPr lang="en-US" sz="1400"/>
          </a:p>
        </p:txBody>
      </p:sp>
    </p:spTree>
    <p:extLst>
      <p:ext uri="{BB962C8B-B14F-4D97-AF65-F5344CB8AC3E}">
        <p14:creationId xmlns:p14="http://schemas.microsoft.com/office/powerpoint/2010/main" val="39558143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E02239D2-A05D-4A1C-9F06-FBA7FC730E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BA260B1-B043-43DC-1DE3-ACCE30FB2894}"/>
              </a:ext>
            </a:extLst>
          </p:cNvPr>
          <p:cNvSpPr>
            <a:spLocks noGrp="1"/>
          </p:cNvSpPr>
          <p:nvPr>
            <p:ph type="title"/>
          </p:nvPr>
        </p:nvSpPr>
        <p:spPr>
          <a:xfrm>
            <a:off x="2019300" y="538956"/>
            <a:ext cx="8985250" cy="1118394"/>
          </a:xfrm>
        </p:spPr>
        <p:txBody>
          <a:bodyPr anchor="t">
            <a:normAutofit/>
          </a:bodyPr>
          <a:lstStyle/>
          <a:p>
            <a:endParaRPr lang="en-US" sz="4000"/>
          </a:p>
        </p:txBody>
      </p:sp>
      <p:pic>
        <p:nvPicPr>
          <p:cNvPr id="7" name="Graphic 6" descr="Flowchart">
            <a:extLst>
              <a:ext uri="{FF2B5EF4-FFF2-40B4-BE49-F238E27FC236}">
                <a16:creationId xmlns:a16="http://schemas.microsoft.com/office/drawing/2014/main" id="{16DBE4EC-34A2-7548-D3DB-7F07870AE79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04900" y="538956"/>
            <a:ext cx="749300" cy="749300"/>
          </a:xfrm>
          <a:prstGeom prst="rect">
            <a:avLst/>
          </a:prstGeom>
        </p:spPr>
      </p:pic>
      <p:sp>
        <p:nvSpPr>
          <p:cNvPr id="3" name="Content Placeholder 2">
            <a:extLst>
              <a:ext uri="{FF2B5EF4-FFF2-40B4-BE49-F238E27FC236}">
                <a16:creationId xmlns:a16="http://schemas.microsoft.com/office/drawing/2014/main" id="{294AC360-4B2E-36C8-E0FD-AF5469F4B1A1}"/>
              </a:ext>
            </a:extLst>
          </p:cNvPr>
          <p:cNvSpPr>
            <a:spLocks noGrp="1"/>
          </p:cNvSpPr>
          <p:nvPr>
            <p:ph idx="1"/>
          </p:nvPr>
        </p:nvSpPr>
        <p:spPr>
          <a:xfrm>
            <a:off x="1009650" y="1847849"/>
            <a:ext cx="9994900" cy="4254501"/>
          </a:xfrm>
        </p:spPr>
        <p:txBody>
          <a:bodyPr>
            <a:normAutofit/>
          </a:bodyPr>
          <a:lstStyle/>
          <a:p>
            <a:pPr marL="0" indent="0">
              <a:buNone/>
            </a:pPr>
            <a:r>
              <a:rPr lang="en-IN" sz="1700" b="1"/>
              <a:t>2. Selecting a Dependency Parsing Algorithm</a:t>
            </a:r>
          </a:p>
          <a:p>
            <a:r>
              <a:rPr lang="en-IN" sz="1700" b="1"/>
              <a:t>Issue</a:t>
            </a:r>
            <a:r>
              <a:rPr lang="en-IN" sz="1700"/>
              <a:t>: Confusion about which dependency parsing algorithm to use.</a:t>
            </a:r>
          </a:p>
          <a:p>
            <a:r>
              <a:rPr lang="en-IN" sz="1700" b="1"/>
              <a:t>Solution</a:t>
            </a:r>
            <a:r>
              <a:rPr lang="en-IN" sz="1700"/>
              <a:t>: Understand the basic types of dependency parsing algorithms—transition-based, graph-based, and neural network-based—and choose one based on your specific requirements (e.g., accuracy, speed, language support).</a:t>
            </a:r>
          </a:p>
          <a:p>
            <a:r>
              <a:rPr lang="en-IN" sz="1700" b="1"/>
              <a:t>Transition-Based Parsing</a:t>
            </a:r>
            <a:r>
              <a:rPr lang="en-IN" sz="1700"/>
              <a:t>: Builds the dependency tree incrementally, making local decisions at each step. Fast but may suffer from error propagation.</a:t>
            </a:r>
          </a:p>
          <a:p>
            <a:pPr lvl="1"/>
            <a:r>
              <a:rPr lang="en-IN" sz="1700"/>
              <a:t>Common Algorithm: </a:t>
            </a:r>
            <a:r>
              <a:rPr lang="en-IN" sz="1700" b="1"/>
              <a:t>Arc-Standard</a:t>
            </a:r>
            <a:r>
              <a:rPr lang="en-IN" sz="1700"/>
              <a:t> or </a:t>
            </a:r>
            <a:r>
              <a:rPr lang="en-IN" sz="1700" b="1"/>
              <a:t>Arc-Eager</a:t>
            </a:r>
            <a:r>
              <a:rPr lang="en-IN" sz="1700"/>
              <a:t>.</a:t>
            </a:r>
          </a:p>
          <a:p>
            <a:r>
              <a:rPr lang="en-IN" sz="1700" b="1"/>
              <a:t>Graph-Based Parsing</a:t>
            </a:r>
            <a:r>
              <a:rPr lang="en-IN" sz="1700"/>
              <a:t>: Considers the entire sentence at once and finds the tree that maximizes a global score. More accurate but computationally expensive.</a:t>
            </a:r>
          </a:p>
          <a:p>
            <a:pPr lvl="1"/>
            <a:r>
              <a:rPr lang="en-IN" sz="1700"/>
              <a:t>Common Algorithm: </a:t>
            </a:r>
            <a:r>
              <a:rPr lang="en-IN" sz="1700" b="1"/>
              <a:t>Eisner's Algorithm</a:t>
            </a:r>
            <a:r>
              <a:rPr lang="en-IN" sz="1700"/>
              <a:t>.</a:t>
            </a:r>
          </a:p>
          <a:p>
            <a:r>
              <a:rPr lang="en-IN" sz="1700" b="1"/>
              <a:t>Neural Network-Based Parsing</a:t>
            </a:r>
            <a:r>
              <a:rPr lang="en-IN" sz="1700"/>
              <a:t>: Uses deep learning to predict dependencies, often yielding state-of-the-art performance.</a:t>
            </a:r>
          </a:p>
          <a:p>
            <a:pPr lvl="1"/>
            <a:r>
              <a:rPr lang="en-IN" sz="1700"/>
              <a:t>Common Model: </a:t>
            </a:r>
            <a:r>
              <a:rPr lang="en-IN" sz="1700" b="1"/>
              <a:t>Biaffine Parser</a:t>
            </a:r>
            <a:r>
              <a:rPr lang="en-IN" sz="1700"/>
              <a:t>.</a:t>
            </a:r>
          </a:p>
          <a:p>
            <a:pPr lvl="1"/>
            <a:endParaRPr lang="en-IN" sz="1700"/>
          </a:p>
          <a:p>
            <a:endParaRPr lang="en-US" sz="1700"/>
          </a:p>
        </p:txBody>
      </p:sp>
    </p:spTree>
    <p:extLst>
      <p:ext uri="{BB962C8B-B14F-4D97-AF65-F5344CB8AC3E}">
        <p14:creationId xmlns:p14="http://schemas.microsoft.com/office/powerpoint/2010/main" val="34194418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02239D2-A05D-4A1C-9F06-FBA7FC730E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D6C757B-30F6-AFE2-A684-95F61440733D}"/>
              </a:ext>
            </a:extLst>
          </p:cNvPr>
          <p:cNvSpPr>
            <a:spLocks noGrp="1"/>
          </p:cNvSpPr>
          <p:nvPr>
            <p:ph type="title"/>
          </p:nvPr>
        </p:nvSpPr>
        <p:spPr>
          <a:xfrm>
            <a:off x="2019300" y="538956"/>
            <a:ext cx="8985250" cy="1118394"/>
          </a:xfrm>
        </p:spPr>
        <p:txBody>
          <a:bodyPr anchor="t">
            <a:normAutofit/>
          </a:bodyPr>
          <a:lstStyle/>
          <a:p>
            <a:endParaRPr lang="en-US" sz="4000"/>
          </a:p>
        </p:txBody>
      </p:sp>
      <p:pic>
        <p:nvPicPr>
          <p:cNvPr id="7" name="Graphic 6" descr="Document">
            <a:extLst>
              <a:ext uri="{FF2B5EF4-FFF2-40B4-BE49-F238E27FC236}">
                <a16:creationId xmlns:a16="http://schemas.microsoft.com/office/drawing/2014/main" id="{0CD1BE2B-4E45-3890-7D22-9665608743E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04900" y="538956"/>
            <a:ext cx="749300" cy="749300"/>
          </a:xfrm>
          <a:prstGeom prst="rect">
            <a:avLst/>
          </a:prstGeom>
        </p:spPr>
      </p:pic>
      <p:sp>
        <p:nvSpPr>
          <p:cNvPr id="3" name="Content Placeholder 2">
            <a:extLst>
              <a:ext uri="{FF2B5EF4-FFF2-40B4-BE49-F238E27FC236}">
                <a16:creationId xmlns:a16="http://schemas.microsoft.com/office/drawing/2014/main" id="{EE9561C4-01DC-615F-BCA9-0295E8663746}"/>
              </a:ext>
            </a:extLst>
          </p:cNvPr>
          <p:cNvSpPr>
            <a:spLocks noGrp="1"/>
          </p:cNvSpPr>
          <p:nvPr>
            <p:ph idx="1"/>
          </p:nvPr>
        </p:nvSpPr>
        <p:spPr>
          <a:xfrm>
            <a:off x="1009650" y="1847849"/>
            <a:ext cx="9994900" cy="4254501"/>
          </a:xfrm>
        </p:spPr>
        <p:txBody>
          <a:bodyPr>
            <a:normAutofit/>
          </a:bodyPr>
          <a:lstStyle/>
          <a:p>
            <a:pPr marL="0" indent="0">
              <a:buNone/>
            </a:pPr>
            <a:r>
              <a:rPr lang="en-IN" sz="1700" b="1" dirty="0"/>
              <a:t>3. Handling Non-Projective Structures</a:t>
            </a:r>
          </a:p>
          <a:p>
            <a:pPr>
              <a:buFont typeface="Arial" panose="020B0604020202020204" pitchFamily="34" charset="0"/>
              <a:buChar char="•"/>
            </a:pPr>
            <a:r>
              <a:rPr lang="en-IN" sz="1700" b="1" dirty="0"/>
              <a:t>Issue</a:t>
            </a:r>
            <a:r>
              <a:rPr lang="en-IN" sz="1700" dirty="0"/>
              <a:t>: Struggles with sentences that have non-projective (crossing) dependencies, which are challenging for many parsers.</a:t>
            </a:r>
          </a:p>
          <a:p>
            <a:pPr>
              <a:buFont typeface="Arial" panose="020B0604020202020204" pitchFamily="34" charset="0"/>
              <a:buChar char="•"/>
            </a:pPr>
            <a:r>
              <a:rPr lang="en-IN" sz="1700" b="1" dirty="0"/>
              <a:t>Solution</a:t>
            </a:r>
            <a:r>
              <a:rPr lang="en-IN" sz="1700" dirty="0"/>
              <a:t>: Use algorithms that can handle non-projective structures, such as graph-based parsers or specific transition-based parsers with techniques like pseudo-projective parsing.</a:t>
            </a:r>
          </a:p>
          <a:p>
            <a:r>
              <a:rPr lang="en-IN" sz="1700" b="1" dirty="0"/>
              <a:t>Example</a:t>
            </a:r>
            <a:r>
              <a:rPr lang="en-IN" sz="1700" dirty="0"/>
              <a:t>: "The book that John read was interesting."</a:t>
            </a:r>
          </a:p>
          <a:p>
            <a:pPr>
              <a:buFont typeface="Arial" panose="020B0604020202020204" pitchFamily="34" charset="0"/>
              <a:buChar char="•"/>
            </a:pPr>
            <a:r>
              <a:rPr lang="en-IN" sz="1700" dirty="0"/>
              <a:t>Non-Projective Dependency:</a:t>
            </a:r>
          </a:p>
          <a:p>
            <a:pPr marL="742950" lvl="1" indent="-285750">
              <a:buFont typeface="Arial" panose="020B0604020202020204" pitchFamily="34" charset="0"/>
              <a:buChar char="•"/>
            </a:pPr>
            <a:r>
              <a:rPr lang="en-IN" sz="1700" dirty="0"/>
              <a:t>"book" → "read" (object)</a:t>
            </a:r>
          </a:p>
          <a:p>
            <a:pPr marL="742950" lvl="1" indent="-285750">
              <a:buFont typeface="Arial" panose="020B0604020202020204" pitchFamily="34" charset="0"/>
              <a:buChar char="•"/>
            </a:pPr>
            <a:r>
              <a:rPr lang="en-IN" sz="1700" dirty="0"/>
              <a:t>"read" → "John" (subject)</a:t>
            </a:r>
          </a:p>
          <a:p>
            <a:pPr marL="742950" lvl="1" indent="-285750">
              <a:buFont typeface="Arial" panose="020B0604020202020204" pitchFamily="34" charset="0"/>
              <a:buChar char="•"/>
            </a:pPr>
            <a:r>
              <a:rPr lang="en-IN" sz="1700" dirty="0"/>
              <a:t>"was" → "interesting" (main verb)</a:t>
            </a:r>
          </a:p>
          <a:p>
            <a:r>
              <a:rPr lang="en-IN" sz="1700" dirty="0"/>
              <a:t>In a non-projective structure, "read" and "John" would be connected even though other dependencies intervene.</a:t>
            </a:r>
          </a:p>
          <a:p>
            <a:r>
              <a:rPr lang="en-IN" sz="1700" b="1" dirty="0"/>
              <a:t>Graph-Based Parsing</a:t>
            </a:r>
            <a:r>
              <a:rPr lang="en-IN" sz="1700" dirty="0"/>
              <a:t> handles such cases better by considering global information.</a:t>
            </a:r>
          </a:p>
          <a:p>
            <a:endParaRPr lang="en-US" sz="1700" dirty="0"/>
          </a:p>
        </p:txBody>
      </p:sp>
    </p:spTree>
    <p:extLst>
      <p:ext uri="{BB962C8B-B14F-4D97-AF65-F5344CB8AC3E}">
        <p14:creationId xmlns:p14="http://schemas.microsoft.com/office/powerpoint/2010/main" val="40697171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02239D2-A05D-4A1C-9F06-FBA7FC730E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F35AC8-A3C8-6D06-C7A5-64EFD276883B}"/>
              </a:ext>
            </a:extLst>
          </p:cNvPr>
          <p:cNvSpPr>
            <a:spLocks noGrp="1"/>
          </p:cNvSpPr>
          <p:nvPr>
            <p:ph type="title"/>
          </p:nvPr>
        </p:nvSpPr>
        <p:spPr>
          <a:xfrm>
            <a:off x="2019300" y="538956"/>
            <a:ext cx="8985250" cy="1118394"/>
          </a:xfrm>
        </p:spPr>
        <p:txBody>
          <a:bodyPr anchor="t">
            <a:normAutofit/>
          </a:bodyPr>
          <a:lstStyle/>
          <a:p>
            <a:endParaRPr lang="en-US" sz="4000"/>
          </a:p>
        </p:txBody>
      </p:sp>
      <p:pic>
        <p:nvPicPr>
          <p:cNvPr id="7" name="Graphic 6" descr="Disconnected">
            <a:extLst>
              <a:ext uri="{FF2B5EF4-FFF2-40B4-BE49-F238E27FC236}">
                <a16:creationId xmlns:a16="http://schemas.microsoft.com/office/drawing/2014/main" id="{EDF36CF1-6BF5-5187-B4F9-4AC13B17020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04900" y="538956"/>
            <a:ext cx="749300" cy="749300"/>
          </a:xfrm>
          <a:prstGeom prst="rect">
            <a:avLst/>
          </a:prstGeom>
        </p:spPr>
      </p:pic>
      <p:sp>
        <p:nvSpPr>
          <p:cNvPr id="3" name="Content Placeholder 2">
            <a:extLst>
              <a:ext uri="{FF2B5EF4-FFF2-40B4-BE49-F238E27FC236}">
                <a16:creationId xmlns:a16="http://schemas.microsoft.com/office/drawing/2014/main" id="{CC6E913C-94DD-D77C-E6C5-B58ECD73FC9C}"/>
              </a:ext>
            </a:extLst>
          </p:cNvPr>
          <p:cNvSpPr>
            <a:spLocks noGrp="1"/>
          </p:cNvSpPr>
          <p:nvPr>
            <p:ph idx="1"/>
          </p:nvPr>
        </p:nvSpPr>
        <p:spPr>
          <a:xfrm>
            <a:off x="1009650" y="1847849"/>
            <a:ext cx="9994900" cy="4254501"/>
          </a:xfrm>
        </p:spPr>
        <p:txBody>
          <a:bodyPr>
            <a:normAutofit/>
          </a:bodyPr>
          <a:lstStyle/>
          <a:p>
            <a:pPr marL="0" indent="0">
              <a:buNone/>
            </a:pPr>
            <a:r>
              <a:rPr lang="en-IN" sz="2000" b="1"/>
              <a:t>4. Error Propagation in Transition-Based Parsers</a:t>
            </a:r>
          </a:p>
          <a:p>
            <a:pPr>
              <a:buFont typeface="Arial" panose="020B0604020202020204" pitchFamily="34" charset="0"/>
              <a:buChar char="•"/>
            </a:pPr>
            <a:r>
              <a:rPr lang="en-IN" sz="2000" b="1"/>
              <a:t>Issue</a:t>
            </a:r>
            <a:r>
              <a:rPr lang="en-IN" sz="2000"/>
              <a:t>: Transition-based parsers may propagate errors if an early decision is incorrect.</a:t>
            </a:r>
          </a:p>
          <a:p>
            <a:pPr>
              <a:buFont typeface="Arial" panose="020B0604020202020204" pitchFamily="34" charset="0"/>
              <a:buChar char="•"/>
            </a:pPr>
            <a:r>
              <a:rPr lang="en-IN" sz="2000" b="1"/>
              <a:t>Solution</a:t>
            </a:r>
            <a:r>
              <a:rPr lang="en-IN" sz="2000"/>
              <a:t>: Use beam search or lookahead mechanisms to mitigate error propagation by considering multiple possible actions at each step.</a:t>
            </a:r>
          </a:p>
          <a:p>
            <a:r>
              <a:rPr lang="en-IN" sz="2000" b="1"/>
              <a:t>Example</a:t>
            </a:r>
            <a:r>
              <a:rPr lang="en-IN" sz="2000"/>
              <a:t>: "The quick brown fox jumps over the lazy dog."</a:t>
            </a:r>
          </a:p>
          <a:p>
            <a:pPr>
              <a:buFont typeface="Arial" panose="020B0604020202020204" pitchFamily="34" charset="0"/>
              <a:buChar char="•"/>
            </a:pPr>
            <a:r>
              <a:rPr lang="en-IN" sz="2000"/>
              <a:t>If the parser incorrectly assigns "fox" as the subject of "over" early in the process, it could lead to a completely incorrect parse.</a:t>
            </a:r>
          </a:p>
          <a:p>
            <a:r>
              <a:rPr lang="en-IN" sz="2000"/>
              <a:t>Using </a:t>
            </a:r>
            <a:r>
              <a:rPr lang="en-IN" sz="2000" b="1"/>
              <a:t>beam search</a:t>
            </a:r>
            <a:r>
              <a:rPr lang="en-IN" sz="2000"/>
              <a:t> allows the parser to keep track of multiple hypotheses, reducing the impact of such early errors.</a:t>
            </a:r>
          </a:p>
          <a:p>
            <a:endParaRPr lang="en-US" sz="2000"/>
          </a:p>
        </p:txBody>
      </p:sp>
    </p:spTree>
    <p:extLst>
      <p:ext uri="{BB962C8B-B14F-4D97-AF65-F5344CB8AC3E}">
        <p14:creationId xmlns:p14="http://schemas.microsoft.com/office/powerpoint/2010/main" val="34923972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02239D2-A05D-4A1C-9F06-FBA7FC730E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57964BC-4007-381F-2372-01650AE6585C}"/>
              </a:ext>
            </a:extLst>
          </p:cNvPr>
          <p:cNvSpPr>
            <a:spLocks noGrp="1"/>
          </p:cNvSpPr>
          <p:nvPr>
            <p:ph type="title"/>
          </p:nvPr>
        </p:nvSpPr>
        <p:spPr>
          <a:xfrm>
            <a:off x="2019300" y="538956"/>
            <a:ext cx="8985250" cy="1118394"/>
          </a:xfrm>
        </p:spPr>
        <p:txBody>
          <a:bodyPr anchor="t">
            <a:normAutofit/>
          </a:bodyPr>
          <a:lstStyle/>
          <a:p>
            <a:endParaRPr lang="en-US" sz="4000"/>
          </a:p>
        </p:txBody>
      </p:sp>
      <p:pic>
        <p:nvPicPr>
          <p:cNvPr id="7" name="Graphic 6" descr="Maze">
            <a:extLst>
              <a:ext uri="{FF2B5EF4-FFF2-40B4-BE49-F238E27FC236}">
                <a16:creationId xmlns:a16="http://schemas.microsoft.com/office/drawing/2014/main" id="{DFE787C1-ED16-E994-298D-4C0F34BD07F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04900" y="538956"/>
            <a:ext cx="749300" cy="749300"/>
          </a:xfrm>
          <a:prstGeom prst="rect">
            <a:avLst/>
          </a:prstGeom>
        </p:spPr>
      </p:pic>
      <p:sp>
        <p:nvSpPr>
          <p:cNvPr id="3" name="Content Placeholder 2">
            <a:extLst>
              <a:ext uri="{FF2B5EF4-FFF2-40B4-BE49-F238E27FC236}">
                <a16:creationId xmlns:a16="http://schemas.microsoft.com/office/drawing/2014/main" id="{B2EEF3C1-5A56-03E9-A18E-431BA7DEC7E4}"/>
              </a:ext>
            </a:extLst>
          </p:cNvPr>
          <p:cNvSpPr>
            <a:spLocks noGrp="1"/>
          </p:cNvSpPr>
          <p:nvPr>
            <p:ph idx="1"/>
          </p:nvPr>
        </p:nvSpPr>
        <p:spPr>
          <a:xfrm>
            <a:off x="1009650" y="1847849"/>
            <a:ext cx="9994900" cy="4254501"/>
          </a:xfrm>
        </p:spPr>
        <p:txBody>
          <a:bodyPr>
            <a:normAutofit/>
          </a:bodyPr>
          <a:lstStyle/>
          <a:p>
            <a:pPr marL="0" indent="0">
              <a:buNone/>
            </a:pPr>
            <a:r>
              <a:rPr lang="en-IN" sz="1700" b="1" dirty="0"/>
              <a:t>5. Understanding Application of Dependency Parsing</a:t>
            </a:r>
          </a:p>
          <a:p>
            <a:pPr>
              <a:buFont typeface="Arial" panose="020B0604020202020204" pitchFamily="34" charset="0"/>
              <a:buChar char="•"/>
            </a:pPr>
            <a:r>
              <a:rPr lang="en-IN" sz="1700" b="1" dirty="0"/>
              <a:t>Issue</a:t>
            </a:r>
            <a:r>
              <a:rPr lang="en-IN" sz="1700" dirty="0"/>
              <a:t>: Uncertainty about how dependency parsing can be applied in real-world scenarios.</a:t>
            </a:r>
          </a:p>
          <a:p>
            <a:pPr>
              <a:buFont typeface="Arial" panose="020B0604020202020204" pitchFamily="34" charset="0"/>
              <a:buChar char="•"/>
            </a:pPr>
            <a:r>
              <a:rPr lang="en-IN" sz="1700" b="1" dirty="0"/>
              <a:t>Solution</a:t>
            </a:r>
            <a:r>
              <a:rPr lang="en-IN" sz="1700" dirty="0"/>
              <a:t>: Recognize the wide range of applications, including information extraction, machine translation, sentiment analysis, and question answering.</a:t>
            </a:r>
          </a:p>
          <a:p>
            <a:r>
              <a:rPr lang="en-IN" sz="1700" b="1" dirty="0"/>
              <a:t>Examples</a:t>
            </a:r>
            <a:r>
              <a:rPr lang="en-IN" sz="1700" dirty="0"/>
              <a:t>:</a:t>
            </a:r>
          </a:p>
          <a:p>
            <a:pPr>
              <a:buFont typeface="Arial" panose="020B0604020202020204" pitchFamily="34" charset="0"/>
              <a:buChar char="•"/>
            </a:pPr>
            <a:r>
              <a:rPr lang="en-IN" sz="1700" b="1" dirty="0"/>
              <a:t>Information Extraction</a:t>
            </a:r>
            <a:r>
              <a:rPr lang="en-IN" sz="1700" dirty="0"/>
              <a:t>: Dependency parsing can help identify relationships between entities, such as extracting "Person-Organization" pairs in sentences like "John works at Google."</a:t>
            </a:r>
          </a:p>
          <a:p>
            <a:pPr>
              <a:buFont typeface="Arial" panose="020B0604020202020204" pitchFamily="34" charset="0"/>
              <a:buChar char="•"/>
            </a:pPr>
            <a:r>
              <a:rPr lang="en-IN" sz="1700" b="1" dirty="0"/>
              <a:t>Machine Translation</a:t>
            </a:r>
            <a:r>
              <a:rPr lang="en-IN" sz="1700" dirty="0"/>
              <a:t>: Dependency structures help in understanding the syntactic roles of words, improving the quality of translations.</a:t>
            </a:r>
          </a:p>
          <a:p>
            <a:pPr>
              <a:buFont typeface="Arial" panose="020B0604020202020204" pitchFamily="34" charset="0"/>
              <a:buChar char="•"/>
            </a:pPr>
            <a:r>
              <a:rPr lang="en-IN" sz="1700" b="1" dirty="0"/>
              <a:t>Sentiment Analysis</a:t>
            </a:r>
            <a:r>
              <a:rPr lang="en-IN" sz="1700" dirty="0"/>
              <a:t>: Parsing can identify the relationship between sentiment-bearing words and their targets, enhancing the accuracy of sentiment detection.</a:t>
            </a:r>
          </a:p>
          <a:p>
            <a:pPr>
              <a:buFont typeface="Arial" panose="020B0604020202020204" pitchFamily="34" charset="0"/>
              <a:buChar char="•"/>
            </a:pPr>
            <a:r>
              <a:rPr lang="en-IN" sz="1700" b="1" dirty="0"/>
              <a:t>Question Answering</a:t>
            </a:r>
            <a:r>
              <a:rPr lang="en-IN" sz="1700" dirty="0"/>
              <a:t>: Dependency parsing helps understand the structure of questions and answers, allowing for more accurate matching.</a:t>
            </a:r>
          </a:p>
          <a:p>
            <a:endParaRPr lang="en-US" sz="1700" dirty="0"/>
          </a:p>
        </p:txBody>
      </p:sp>
    </p:spTree>
    <p:extLst>
      <p:ext uri="{BB962C8B-B14F-4D97-AF65-F5344CB8AC3E}">
        <p14:creationId xmlns:p14="http://schemas.microsoft.com/office/powerpoint/2010/main" val="18170044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02239D2-A05D-4A1C-9F06-FBA7FC730E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E4DD3BC-1391-708B-0370-CE3A7CE6C798}"/>
              </a:ext>
            </a:extLst>
          </p:cNvPr>
          <p:cNvSpPr>
            <a:spLocks noGrp="1"/>
          </p:cNvSpPr>
          <p:nvPr>
            <p:ph type="title"/>
          </p:nvPr>
        </p:nvSpPr>
        <p:spPr>
          <a:xfrm>
            <a:off x="2019300" y="538956"/>
            <a:ext cx="8985250" cy="1118394"/>
          </a:xfrm>
        </p:spPr>
        <p:txBody>
          <a:bodyPr anchor="t">
            <a:normAutofit/>
          </a:bodyPr>
          <a:lstStyle/>
          <a:p>
            <a:endParaRPr lang="en-US" sz="4000"/>
          </a:p>
        </p:txBody>
      </p:sp>
      <p:pic>
        <p:nvPicPr>
          <p:cNvPr id="7" name="Graphic 6" descr="Questions">
            <a:extLst>
              <a:ext uri="{FF2B5EF4-FFF2-40B4-BE49-F238E27FC236}">
                <a16:creationId xmlns:a16="http://schemas.microsoft.com/office/drawing/2014/main" id="{B6FC5F44-D662-30CA-62AF-A7F7D644640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04900" y="538956"/>
            <a:ext cx="749300" cy="749300"/>
          </a:xfrm>
          <a:prstGeom prst="rect">
            <a:avLst/>
          </a:prstGeom>
        </p:spPr>
      </p:pic>
      <p:sp>
        <p:nvSpPr>
          <p:cNvPr id="3" name="Content Placeholder 2">
            <a:extLst>
              <a:ext uri="{FF2B5EF4-FFF2-40B4-BE49-F238E27FC236}">
                <a16:creationId xmlns:a16="http://schemas.microsoft.com/office/drawing/2014/main" id="{AF20FA18-D57E-6B02-A7B5-059C56CFF5AD}"/>
              </a:ext>
            </a:extLst>
          </p:cNvPr>
          <p:cNvSpPr>
            <a:spLocks noGrp="1"/>
          </p:cNvSpPr>
          <p:nvPr>
            <p:ph idx="1"/>
          </p:nvPr>
        </p:nvSpPr>
        <p:spPr>
          <a:xfrm>
            <a:off x="1009650" y="1847849"/>
            <a:ext cx="9994900" cy="4254501"/>
          </a:xfrm>
        </p:spPr>
        <p:txBody>
          <a:bodyPr>
            <a:normAutofit/>
          </a:bodyPr>
          <a:lstStyle/>
          <a:p>
            <a:pPr marL="0" indent="0">
              <a:buNone/>
            </a:pPr>
            <a:r>
              <a:rPr lang="en-IN" sz="2000" b="1" dirty="0"/>
              <a:t>6. Dealing with Ambiguity</a:t>
            </a:r>
          </a:p>
          <a:p>
            <a:pPr>
              <a:buFont typeface="Arial" panose="020B0604020202020204" pitchFamily="34" charset="0"/>
              <a:buChar char="•"/>
            </a:pPr>
            <a:r>
              <a:rPr lang="en-IN" sz="2000" b="1" dirty="0"/>
              <a:t>Issue</a:t>
            </a:r>
            <a:r>
              <a:rPr lang="en-IN" sz="2000" dirty="0"/>
              <a:t>: Ambiguity in sentences can lead to multiple valid dependency parses.</a:t>
            </a:r>
          </a:p>
          <a:p>
            <a:pPr>
              <a:buFont typeface="Arial" panose="020B0604020202020204" pitchFamily="34" charset="0"/>
              <a:buChar char="•"/>
            </a:pPr>
            <a:r>
              <a:rPr lang="en-IN" sz="2000" b="1" dirty="0"/>
              <a:t>Solution</a:t>
            </a:r>
            <a:r>
              <a:rPr lang="en-IN" sz="2000" dirty="0"/>
              <a:t>: Use probabilistic or neural network-based parsers that assign probabilities to different parses, choosing the most likely one.</a:t>
            </a:r>
          </a:p>
          <a:p>
            <a:r>
              <a:rPr lang="en-IN" sz="2000" b="1" dirty="0"/>
              <a:t>Example</a:t>
            </a:r>
            <a:r>
              <a:rPr lang="en-IN" sz="2000" dirty="0"/>
              <a:t>: "He saw the man with the telescope."</a:t>
            </a:r>
          </a:p>
          <a:p>
            <a:pPr>
              <a:buFont typeface="Arial" panose="020B0604020202020204" pitchFamily="34" charset="0"/>
              <a:buChar char="•"/>
            </a:pPr>
            <a:r>
              <a:rPr lang="en-IN" sz="2000" dirty="0"/>
              <a:t>Ambiguity:</a:t>
            </a:r>
          </a:p>
          <a:p>
            <a:pPr marL="742950" lvl="1" indent="-285750">
              <a:buFont typeface="Arial" panose="020B0604020202020204" pitchFamily="34" charset="0"/>
              <a:buChar char="•"/>
            </a:pPr>
            <a:r>
              <a:rPr lang="en-IN" sz="2000" dirty="0"/>
              <a:t>Is "with the telescope" modifying "saw" or "man"?</a:t>
            </a:r>
          </a:p>
          <a:p>
            <a:r>
              <a:rPr lang="en-IN" sz="2000" b="1" dirty="0"/>
              <a:t>Probabilistic Parsing</a:t>
            </a:r>
            <a:r>
              <a:rPr lang="en-IN" sz="2000" dirty="0"/>
              <a:t>:</a:t>
            </a:r>
          </a:p>
          <a:p>
            <a:pPr lvl="1"/>
            <a:r>
              <a:rPr lang="en-IN" sz="2000" dirty="0"/>
              <a:t>A probabilistic parser might determine that "with the telescope" is more likely to modify "saw" based on contextual training data.</a:t>
            </a:r>
          </a:p>
          <a:p>
            <a:endParaRPr lang="en-US" sz="2000" dirty="0"/>
          </a:p>
        </p:txBody>
      </p:sp>
    </p:spTree>
    <p:extLst>
      <p:ext uri="{BB962C8B-B14F-4D97-AF65-F5344CB8AC3E}">
        <p14:creationId xmlns:p14="http://schemas.microsoft.com/office/powerpoint/2010/main" val="17121233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02239D2-A05D-4A1C-9F06-FBA7FC730E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79AF8CA-DE5D-9166-5E0B-98BE825D9FED}"/>
              </a:ext>
            </a:extLst>
          </p:cNvPr>
          <p:cNvSpPr>
            <a:spLocks noGrp="1"/>
          </p:cNvSpPr>
          <p:nvPr>
            <p:ph type="title"/>
          </p:nvPr>
        </p:nvSpPr>
        <p:spPr>
          <a:xfrm>
            <a:off x="2019300" y="538956"/>
            <a:ext cx="8985250" cy="1118394"/>
          </a:xfrm>
        </p:spPr>
        <p:txBody>
          <a:bodyPr anchor="t">
            <a:normAutofit/>
          </a:bodyPr>
          <a:lstStyle/>
          <a:p>
            <a:endParaRPr lang="en-US" sz="4000"/>
          </a:p>
        </p:txBody>
      </p:sp>
      <p:pic>
        <p:nvPicPr>
          <p:cNvPr id="7" name="Graphic 6" descr="Forest scene">
            <a:extLst>
              <a:ext uri="{FF2B5EF4-FFF2-40B4-BE49-F238E27FC236}">
                <a16:creationId xmlns:a16="http://schemas.microsoft.com/office/drawing/2014/main" id="{2C2E7AF0-880E-E954-6F7F-5CC610544D5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04900" y="538956"/>
            <a:ext cx="749300" cy="749300"/>
          </a:xfrm>
          <a:prstGeom prst="rect">
            <a:avLst/>
          </a:prstGeom>
        </p:spPr>
      </p:pic>
      <p:sp>
        <p:nvSpPr>
          <p:cNvPr id="3" name="Content Placeholder 2">
            <a:extLst>
              <a:ext uri="{FF2B5EF4-FFF2-40B4-BE49-F238E27FC236}">
                <a16:creationId xmlns:a16="http://schemas.microsoft.com/office/drawing/2014/main" id="{C1A084FC-45F7-56E2-8394-A085D2428CCC}"/>
              </a:ext>
            </a:extLst>
          </p:cNvPr>
          <p:cNvSpPr>
            <a:spLocks noGrp="1"/>
          </p:cNvSpPr>
          <p:nvPr>
            <p:ph idx="1"/>
          </p:nvPr>
        </p:nvSpPr>
        <p:spPr>
          <a:xfrm>
            <a:off x="1009650" y="1847849"/>
            <a:ext cx="9994900" cy="4254501"/>
          </a:xfrm>
        </p:spPr>
        <p:txBody>
          <a:bodyPr>
            <a:normAutofit lnSpcReduction="10000"/>
          </a:bodyPr>
          <a:lstStyle/>
          <a:p>
            <a:pPr marL="0" indent="0">
              <a:buNone/>
            </a:pPr>
            <a:r>
              <a:rPr lang="en-IN" sz="2000" b="1" dirty="0"/>
              <a:t>7. Interpretation of Dependency Trees</a:t>
            </a:r>
          </a:p>
          <a:p>
            <a:pPr>
              <a:buFont typeface="Arial" panose="020B0604020202020204" pitchFamily="34" charset="0"/>
              <a:buChar char="•"/>
            </a:pPr>
            <a:r>
              <a:rPr lang="en-IN" sz="2000" b="1" dirty="0"/>
              <a:t>Issue</a:t>
            </a:r>
            <a:r>
              <a:rPr lang="en-IN" sz="2000" dirty="0"/>
              <a:t>: Difficulty in interpreting complex dependency trees.</a:t>
            </a:r>
          </a:p>
          <a:p>
            <a:pPr>
              <a:buFont typeface="Arial" panose="020B0604020202020204" pitchFamily="34" charset="0"/>
              <a:buChar char="•"/>
            </a:pPr>
            <a:r>
              <a:rPr lang="en-IN" sz="2000" b="1" dirty="0"/>
              <a:t>Solution</a:t>
            </a:r>
            <a:r>
              <a:rPr lang="en-IN" sz="2000" dirty="0"/>
              <a:t>: Break down the tree into smaller parts, understanding the role of each word and its dependencies.</a:t>
            </a:r>
          </a:p>
          <a:p>
            <a:r>
              <a:rPr lang="en-IN" sz="2000" b="1" dirty="0"/>
              <a:t>Example</a:t>
            </a:r>
            <a:r>
              <a:rPr lang="en-IN" sz="2000" dirty="0"/>
              <a:t>: "The chef who won the award cooks delicious meals."</a:t>
            </a:r>
          </a:p>
          <a:p>
            <a:pPr>
              <a:buFont typeface="Arial" panose="020B0604020202020204" pitchFamily="34" charset="0"/>
              <a:buChar char="•"/>
            </a:pPr>
            <a:r>
              <a:rPr lang="en-IN" sz="2000" dirty="0"/>
              <a:t>Dependency Tree Interpretation:</a:t>
            </a:r>
          </a:p>
          <a:p>
            <a:pPr marL="742950" lvl="1" indent="-285750">
              <a:buFont typeface="Arial" panose="020B0604020202020204" pitchFamily="34" charset="0"/>
              <a:buChar char="•"/>
            </a:pPr>
            <a:r>
              <a:rPr lang="en-IN" sz="2000" dirty="0"/>
              <a:t>"chef" → "cooks" (subject)</a:t>
            </a:r>
          </a:p>
          <a:p>
            <a:pPr marL="742950" lvl="1" indent="-285750">
              <a:buFont typeface="Arial" panose="020B0604020202020204" pitchFamily="34" charset="0"/>
              <a:buChar char="•"/>
            </a:pPr>
            <a:r>
              <a:rPr lang="en-IN" sz="2000" dirty="0"/>
              <a:t>"chef" → "won" (relative clause)</a:t>
            </a:r>
          </a:p>
          <a:p>
            <a:pPr marL="742950" lvl="1" indent="-285750">
              <a:buFont typeface="Arial" panose="020B0604020202020204" pitchFamily="34" charset="0"/>
              <a:buChar char="•"/>
            </a:pPr>
            <a:r>
              <a:rPr lang="en-IN" sz="2000" dirty="0"/>
              <a:t>"won" → "award" (object)</a:t>
            </a:r>
          </a:p>
          <a:p>
            <a:pPr marL="742950" lvl="1" indent="-285750">
              <a:buFont typeface="Arial" panose="020B0604020202020204" pitchFamily="34" charset="0"/>
              <a:buChar char="•"/>
            </a:pPr>
            <a:r>
              <a:rPr lang="en-IN" sz="2000" dirty="0"/>
              <a:t>"cooks" → "meals" (object)</a:t>
            </a:r>
          </a:p>
          <a:p>
            <a:pPr marL="742950" lvl="1" indent="-285750">
              <a:buFont typeface="Arial" panose="020B0604020202020204" pitchFamily="34" charset="0"/>
              <a:buChar char="•"/>
            </a:pPr>
            <a:r>
              <a:rPr lang="en-IN" sz="2000" dirty="0"/>
              <a:t>"meals" → "delicious" (adjective)</a:t>
            </a:r>
          </a:p>
          <a:p>
            <a:pPr marL="285750" indent="-285750"/>
            <a:r>
              <a:rPr lang="en-IN" sz="1600" dirty="0"/>
              <a:t>By </a:t>
            </a:r>
            <a:r>
              <a:rPr lang="en-IN" sz="1600" dirty="0" err="1"/>
              <a:t>analyzing</a:t>
            </a:r>
            <a:r>
              <a:rPr lang="en-IN" sz="1600" dirty="0"/>
              <a:t> each part separately, the overall structure becomes clearer.</a:t>
            </a:r>
            <a:endParaRPr lang="en-IN" sz="2400" dirty="0"/>
          </a:p>
          <a:p>
            <a:endParaRPr lang="en-US" sz="2000" dirty="0"/>
          </a:p>
        </p:txBody>
      </p:sp>
    </p:spTree>
    <p:extLst>
      <p:ext uri="{BB962C8B-B14F-4D97-AF65-F5344CB8AC3E}">
        <p14:creationId xmlns:p14="http://schemas.microsoft.com/office/powerpoint/2010/main" val="35732818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02239D2-A05D-4A1C-9F06-FBA7FC730E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2FE42E3-A48F-F594-9040-35F0A148CB34}"/>
              </a:ext>
            </a:extLst>
          </p:cNvPr>
          <p:cNvSpPr>
            <a:spLocks noGrp="1"/>
          </p:cNvSpPr>
          <p:nvPr>
            <p:ph type="title"/>
          </p:nvPr>
        </p:nvSpPr>
        <p:spPr>
          <a:xfrm>
            <a:off x="2019300" y="538956"/>
            <a:ext cx="8985250" cy="1118394"/>
          </a:xfrm>
        </p:spPr>
        <p:txBody>
          <a:bodyPr anchor="t">
            <a:normAutofit/>
          </a:bodyPr>
          <a:lstStyle/>
          <a:p>
            <a:r>
              <a:rPr lang="en-US" sz="4000"/>
              <a:t>Key Learnings</a:t>
            </a:r>
          </a:p>
        </p:txBody>
      </p:sp>
      <p:pic>
        <p:nvPicPr>
          <p:cNvPr id="7" name="Graphic 6" descr="Fingerprint">
            <a:extLst>
              <a:ext uri="{FF2B5EF4-FFF2-40B4-BE49-F238E27FC236}">
                <a16:creationId xmlns:a16="http://schemas.microsoft.com/office/drawing/2014/main" id="{9B38E878-A6C8-4FF4-4755-AB508A580DD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04900" y="538956"/>
            <a:ext cx="749300" cy="749300"/>
          </a:xfrm>
          <a:prstGeom prst="rect">
            <a:avLst/>
          </a:prstGeom>
        </p:spPr>
      </p:pic>
      <p:sp>
        <p:nvSpPr>
          <p:cNvPr id="3" name="Content Placeholder 2">
            <a:extLst>
              <a:ext uri="{FF2B5EF4-FFF2-40B4-BE49-F238E27FC236}">
                <a16:creationId xmlns:a16="http://schemas.microsoft.com/office/drawing/2014/main" id="{44322BF7-2791-65EC-1B55-0B4D69F91130}"/>
              </a:ext>
            </a:extLst>
          </p:cNvPr>
          <p:cNvSpPr>
            <a:spLocks noGrp="1"/>
          </p:cNvSpPr>
          <p:nvPr>
            <p:ph idx="1"/>
          </p:nvPr>
        </p:nvSpPr>
        <p:spPr>
          <a:xfrm>
            <a:off x="1009650" y="1847849"/>
            <a:ext cx="9994900" cy="4254501"/>
          </a:xfrm>
        </p:spPr>
        <p:txBody>
          <a:bodyPr>
            <a:normAutofit/>
          </a:bodyPr>
          <a:lstStyle/>
          <a:p>
            <a:r>
              <a:rPr lang="en-IN" sz="2000" b="1"/>
              <a:t>Understanding Relations</a:t>
            </a:r>
            <a:r>
              <a:rPr lang="en-IN" sz="2000"/>
              <a:t>: Focus on basic dependency types and how they structure sentences.</a:t>
            </a:r>
          </a:p>
          <a:p>
            <a:r>
              <a:rPr lang="en-IN" sz="2000" b="1"/>
              <a:t>Algorithm Selection</a:t>
            </a:r>
            <a:r>
              <a:rPr lang="en-IN" sz="2000"/>
              <a:t>: Choose between transition-based, graph-based, or neural network-based algorithms based on your needs.</a:t>
            </a:r>
          </a:p>
          <a:p>
            <a:r>
              <a:rPr lang="en-IN" sz="2000" b="1"/>
              <a:t>Non-Projective Structures</a:t>
            </a:r>
            <a:r>
              <a:rPr lang="en-IN" sz="2000"/>
              <a:t>: Use graph-based parsers for complex non-projective dependencies.</a:t>
            </a:r>
          </a:p>
          <a:p>
            <a:r>
              <a:rPr lang="en-IN" sz="2000" b="1"/>
              <a:t>Error Propagation</a:t>
            </a:r>
            <a:r>
              <a:rPr lang="en-IN" sz="2000"/>
              <a:t>: Mitigate errors in transition-based parsers using techniques like beam search.</a:t>
            </a:r>
          </a:p>
          <a:p>
            <a:r>
              <a:rPr lang="en-IN" sz="2000" b="1"/>
              <a:t>Applications</a:t>
            </a:r>
            <a:r>
              <a:rPr lang="en-IN" sz="2000"/>
              <a:t>: Apply dependency parsing in information extraction, machine translation, sentiment analysis, etc.</a:t>
            </a:r>
          </a:p>
          <a:p>
            <a:r>
              <a:rPr lang="en-IN" sz="2000" b="1"/>
              <a:t>Ambiguity</a:t>
            </a:r>
            <a:r>
              <a:rPr lang="en-IN" sz="2000"/>
              <a:t>: Use probabilistic approaches to handle ambiguous sentences.</a:t>
            </a:r>
          </a:p>
          <a:p>
            <a:r>
              <a:rPr lang="en-IN" sz="2000" b="1"/>
              <a:t>Tree Interpretation</a:t>
            </a:r>
            <a:r>
              <a:rPr lang="en-IN" sz="2000"/>
              <a:t>: Break down complex trees into smaller, understandable parts.</a:t>
            </a:r>
            <a:endParaRPr lang="en-US" sz="2000"/>
          </a:p>
        </p:txBody>
      </p:sp>
    </p:spTree>
    <p:extLst>
      <p:ext uri="{BB962C8B-B14F-4D97-AF65-F5344CB8AC3E}">
        <p14:creationId xmlns:p14="http://schemas.microsoft.com/office/powerpoint/2010/main" val="5430737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56C8B-1668-376B-A664-68824CEA6DBC}"/>
              </a:ext>
            </a:extLst>
          </p:cNvPr>
          <p:cNvSpPr>
            <a:spLocks noGrp="1"/>
          </p:cNvSpPr>
          <p:nvPr>
            <p:ph type="title"/>
          </p:nvPr>
        </p:nvSpPr>
        <p:spPr/>
        <p:txBody>
          <a:bodyPr/>
          <a:lstStyle/>
          <a:p>
            <a:r>
              <a:rPr lang="en-IN" dirty="0"/>
              <a:t>Constituency parsing</a:t>
            </a:r>
            <a:endParaRPr lang="en-US" dirty="0"/>
          </a:p>
        </p:txBody>
      </p:sp>
      <p:sp>
        <p:nvSpPr>
          <p:cNvPr id="3" name="Content Placeholder 2">
            <a:extLst>
              <a:ext uri="{FF2B5EF4-FFF2-40B4-BE49-F238E27FC236}">
                <a16:creationId xmlns:a16="http://schemas.microsoft.com/office/drawing/2014/main" id="{2EB349C5-E3F7-1285-89A6-FB669FF9E274}"/>
              </a:ext>
            </a:extLst>
          </p:cNvPr>
          <p:cNvSpPr>
            <a:spLocks noGrp="1"/>
          </p:cNvSpPr>
          <p:nvPr>
            <p:ph idx="1"/>
          </p:nvPr>
        </p:nvSpPr>
        <p:spPr/>
        <p:txBody>
          <a:bodyPr/>
          <a:lstStyle/>
          <a:p>
            <a:r>
              <a:rPr lang="en-IN" dirty="0"/>
              <a:t>Constituency parsing, also known as phrase structure parsing, is a key task in Natural Language Processing (NLP) that involves breaking down a sentence into its constituent parts (phrases) according to a set of grammar rules. Unlike dependency parsing, which focuses on relationships between individual words, constituency parsing emphasizes the hierarchical structure of sentences, showing how words group together to form phrases and how these phrases function within a sentence.</a:t>
            </a:r>
            <a:endParaRPr lang="en-US" dirty="0"/>
          </a:p>
        </p:txBody>
      </p:sp>
    </p:spTree>
    <p:extLst>
      <p:ext uri="{BB962C8B-B14F-4D97-AF65-F5344CB8AC3E}">
        <p14:creationId xmlns:p14="http://schemas.microsoft.com/office/powerpoint/2010/main" val="7732023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56C8B-1668-376B-A664-68824CEA6DBC}"/>
              </a:ext>
            </a:extLst>
          </p:cNvPr>
          <p:cNvSpPr>
            <a:spLocks noGrp="1"/>
          </p:cNvSpPr>
          <p:nvPr>
            <p:ph type="title"/>
          </p:nvPr>
        </p:nvSpPr>
        <p:spPr/>
        <p:txBody>
          <a:bodyPr/>
          <a:lstStyle/>
          <a:p>
            <a:r>
              <a:rPr lang="en-IN" dirty="0"/>
              <a:t>Common issues in Constituency parsing</a:t>
            </a:r>
            <a:endParaRPr lang="en-US" dirty="0"/>
          </a:p>
        </p:txBody>
      </p:sp>
      <p:sp>
        <p:nvSpPr>
          <p:cNvPr id="3" name="Content Placeholder 2">
            <a:extLst>
              <a:ext uri="{FF2B5EF4-FFF2-40B4-BE49-F238E27FC236}">
                <a16:creationId xmlns:a16="http://schemas.microsoft.com/office/drawing/2014/main" id="{2EB349C5-E3F7-1285-89A6-FB669FF9E274}"/>
              </a:ext>
            </a:extLst>
          </p:cNvPr>
          <p:cNvSpPr>
            <a:spLocks noGrp="1"/>
          </p:cNvSpPr>
          <p:nvPr>
            <p:ph idx="1"/>
          </p:nvPr>
        </p:nvSpPr>
        <p:spPr/>
        <p:txBody>
          <a:bodyPr>
            <a:normAutofit fontScale="92500" lnSpcReduction="10000"/>
          </a:bodyPr>
          <a:lstStyle/>
          <a:p>
            <a:r>
              <a:rPr lang="en-IN" b="1" dirty="0"/>
              <a:t>Understanding the Hierarchical Structure</a:t>
            </a:r>
            <a:r>
              <a:rPr lang="en-IN" dirty="0"/>
              <a:t>:</a:t>
            </a:r>
          </a:p>
          <a:p>
            <a:pPr lvl="1"/>
            <a:r>
              <a:rPr lang="en-IN" dirty="0"/>
              <a:t>Constituency parsing involves understanding the hierarchical nature of language, where sentences are composed of nested phrases (e.g., noun phrases, verb phrases). This can be challenging because it requires recognizing how words group together to form meaningful units.</a:t>
            </a:r>
          </a:p>
          <a:p>
            <a:r>
              <a:rPr lang="en-IN" b="1" dirty="0"/>
              <a:t>Handling Ambiguity</a:t>
            </a:r>
            <a:r>
              <a:rPr lang="en-IN" dirty="0"/>
              <a:t>:</a:t>
            </a:r>
          </a:p>
          <a:p>
            <a:pPr lvl="1"/>
            <a:r>
              <a:rPr lang="en-IN" dirty="0"/>
              <a:t>Sentences can often be ambiguous, leading to multiple possible constituency parses. Understanding the intended meaning is crucial to selecting the correct parse.</a:t>
            </a:r>
          </a:p>
          <a:p>
            <a:r>
              <a:rPr lang="en-IN" b="1" dirty="0"/>
              <a:t>Application in NLP</a:t>
            </a:r>
            <a:r>
              <a:rPr lang="en-IN" dirty="0"/>
              <a:t>:</a:t>
            </a:r>
          </a:p>
          <a:p>
            <a:pPr lvl="1"/>
            <a:r>
              <a:rPr lang="en-IN" dirty="0"/>
              <a:t>Constituency parsing is important for various NLP tasks, including machine translation, sentiment analysis, and information extraction, where understanding the structure of sentences is crucial for accurate interpretation.</a:t>
            </a:r>
          </a:p>
        </p:txBody>
      </p:sp>
    </p:spTree>
    <p:extLst>
      <p:ext uri="{BB962C8B-B14F-4D97-AF65-F5344CB8AC3E}">
        <p14:creationId xmlns:p14="http://schemas.microsoft.com/office/powerpoint/2010/main" val="1054917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16A37-30DE-FAE6-F996-2B34FA066D12}"/>
              </a:ext>
            </a:extLst>
          </p:cNvPr>
          <p:cNvSpPr>
            <a:spLocks noGrp="1"/>
          </p:cNvSpPr>
          <p:nvPr>
            <p:ph type="title"/>
          </p:nvPr>
        </p:nvSpPr>
        <p:spPr/>
        <p:txBody>
          <a:bodyPr/>
          <a:lstStyle/>
          <a:p>
            <a:r>
              <a:rPr lang="en-US" dirty="0"/>
              <a:t>Constituency Parsing role in NLP</a:t>
            </a:r>
          </a:p>
        </p:txBody>
      </p:sp>
      <p:sp>
        <p:nvSpPr>
          <p:cNvPr id="3" name="Content Placeholder 2">
            <a:extLst>
              <a:ext uri="{FF2B5EF4-FFF2-40B4-BE49-F238E27FC236}">
                <a16:creationId xmlns:a16="http://schemas.microsoft.com/office/drawing/2014/main" id="{045F2A79-FE26-9472-E5B7-C4BD1E2B6C65}"/>
              </a:ext>
            </a:extLst>
          </p:cNvPr>
          <p:cNvSpPr>
            <a:spLocks noGrp="1"/>
          </p:cNvSpPr>
          <p:nvPr>
            <p:ph idx="1"/>
          </p:nvPr>
        </p:nvSpPr>
        <p:spPr/>
        <p:txBody>
          <a:bodyPr>
            <a:normAutofit lnSpcReduction="10000"/>
          </a:bodyPr>
          <a:lstStyle/>
          <a:p>
            <a:r>
              <a:rPr lang="en-IN" b="1" dirty="0"/>
              <a:t>Machine Translation</a:t>
            </a:r>
            <a:r>
              <a:rPr lang="en-IN" dirty="0"/>
              <a:t>:</a:t>
            </a:r>
          </a:p>
          <a:p>
            <a:pPr lvl="1"/>
            <a:r>
              <a:rPr lang="en-IN" dirty="0"/>
              <a:t>Constituency parsing helps in understanding the structure of sentences, enabling better translation by preserving the syntactic structure across languages.</a:t>
            </a:r>
          </a:p>
          <a:p>
            <a:r>
              <a:rPr lang="en-IN" b="1" dirty="0"/>
              <a:t>Sentiment Analysis</a:t>
            </a:r>
            <a:r>
              <a:rPr lang="en-IN" dirty="0"/>
              <a:t>:</a:t>
            </a:r>
          </a:p>
          <a:p>
            <a:pPr lvl="1"/>
            <a:r>
              <a:rPr lang="en-IN" dirty="0"/>
              <a:t>Identifying the structure of sentences can help in determining the scope of sentiment-carrying words, improving the accuracy of sentiment analysis.</a:t>
            </a:r>
          </a:p>
          <a:p>
            <a:r>
              <a:rPr lang="en-IN" b="1" dirty="0"/>
              <a:t>Information Extraction</a:t>
            </a:r>
            <a:r>
              <a:rPr lang="en-IN" dirty="0"/>
              <a:t>:</a:t>
            </a:r>
          </a:p>
          <a:p>
            <a:pPr lvl="1"/>
            <a:r>
              <a:rPr lang="en-IN" dirty="0"/>
              <a:t>Constituency parsing allows for the extraction of structured information from unstructured text, such as identifying entities and their relationships within a sentence.</a:t>
            </a:r>
          </a:p>
          <a:p>
            <a:endParaRPr lang="en-US" dirty="0"/>
          </a:p>
        </p:txBody>
      </p:sp>
    </p:spTree>
    <p:extLst>
      <p:ext uri="{BB962C8B-B14F-4D97-AF65-F5344CB8AC3E}">
        <p14:creationId xmlns:p14="http://schemas.microsoft.com/office/powerpoint/2010/main" val="1623198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A37DE-0DCC-FC6C-114E-506BE941CF98}"/>
              </a:ext>
            </a:extLst>
          </p:cNvPr>
          <p:cNvSpPr>
            <a:spLocks noGrp="1"/>
          </p:cNvSpPr>
          <p:nvPr>
            <p:ph type="title"/>
          </p:nvPr>
        </p:nvSpPr>
        <p:spPr/>
        <p:txBody>
          <a:bodyPr/>
          <a:lstStyle/>
          <a:p>
            <a:r>
              <a:rPr lang="en-IN" dirty="0"/>
              <a:t>Purposes of Semantic Processing</a:t>
            </a:r>
            <a:endParaRPr lang="en-US" dirty="0"/>
          </a:p>
        </p:txBody>
      </p:sp>
      <p:sp>
        <p:nvSpPr>
          <p:cNvPr id="3" name="Content Placeholder 2">
            <a:extLst>
              <a:ext uri="{FF2B5EF4-FFF2-40B4-BE49-F238E27FC236}">
                <a16:creationId xmlns:a16="http://schemas.microsoft.com/office/drawing/2014/main" id="{C92F824F-CD66-278E-AA8B-281CDDCFBD63}"/>
              </a:ext>
            </a:extLst>
          </p:cNvPr>
          <p:cNvSpPr>
            <a:spLocks noGrp="1"/>
          </p:cNvSpPr>
          <p:nvPr>
            <p:ph idx="1"/>
          </p:nvPr>
        </p:nvSpPr>
        <p:spPr/>
        <p:txBody>
          <a:bodyPr>
            <a:normAutofit lnSpcReduction="10000"/>
          </a:bodyPr>
          <a:lstStyle/>
          <a:p>
            <a:pPr marL="0" indent="0">
              <a:buNone/>
            </a:pPr>
            <a:r>
              <a:rPr lang="en-IN" b="1" dirty="0"/>
              <a:t>Word Sense Disambiguation (WSD)</a:t>
            </a:r>
            <a:r>
              <a:rPr lang="en-IN" dirty="0"/>
              <a:t>:</a:t>
            </a:r>
          </a:p>
          <a:p>
            <a:pPr lvl="1"/>
            <a:r>
              <a:rPr lang="en-IN" b="1" dirty="0"/>
              <a:t>Purpose</a:t>
            </a:r>
            <a:r>
              <a:rPr lang="en-IN" dirty="0"/>
              <a:t>: Identify the correct meaning of a word based on its context. Many words have multiple meanings, and understanding which meaning is intended is crucial.</a:t>
            </a:r>
          </a:p>
          <a:p>
            <a:pPr lvl="1"/>
            <a:r>
              <a:rPr lang="en-IN" b="1" dirty="0"/>
              <a:t>Example</a:t>
            </a:r>
            <a:r>
              <a:rPr lang="en-IN" dirty="0"/>
              <a:t>: The word "bank" can refer to a financial institution or the side of a river. Semantic processing helps determine the intended meaning based on context.</a:t>
            </a:r>
          </a:p>
          <a:p>
            <a:pPr marL="0" indent="0">
              <a:buNone/>
            </a:pPr>
            <a:r>
              <a:rPr lang="en-IN" b="1" dirty="0"/>
              <a:t>Entity Recognition and Linking</a:t>
            </a:r>
            <a:r>
              <a:rPr lang="en-IN" dirty="0"/>
              <a:t>:</a:t>
            </a:r>
          </a:p>
          <a:p>
            <a:pPr lvl="1"/>
            <a:r>
              <a:rPr lang="en-IN" b="1" dirty="0"/>
              <a:t>Purpose</a:t>
            </a:r>
            <a:r>
              <a:rPr lang="en-IN" dirty="0"/>
              <a:t>: Recognize named entities (e.g., people, places, organizations) in text and link them to knowledge bases.</a:t>
            </a:r>
          </a:p>
          <a:p>
            <a:pPr lvl="1"/>
            <a:r>
              <a:rPr lang="en-IN" b="1" dirty="0"/>
              <a:t>Example</a:t>
            </a:r>
            <a:r>
              <a:rPr lang="en-IN" dirty="0"/>
              <a:t>: In the sentence "Apple released a new iPhone," semantic processing identifies "Apple" as a company and not the fruit.</a:t>
            </a:r>
          </a:p>
          <a:p>
            <a:pPr marL="0" indent="0">
              <a:buNone/>
            </a:pPr>
            <a:endParaRPr lang="en-IN" dirty="0"/>
          </a:p>
          <a:p>
            <a:endParaRPr lang="en-US" dirty="0"/>
          </a:p>
        </p:txBody>
      </p:sp>
    </p:spTree>
    <p:extLst>
      <p:ext uri="{BB962C8B-B14F-4D97-AF65-F5344CB8AC3E}">
        <p14:creationId xmlns:p14="http://schemas.microsoft.com/office/powerpoint/2010/main" val="9087114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8BBC4-1F3B-DFF3-6FBB-AF05A17F1F3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505D3B9-F9B5-E586-3EAA-7A9E7E31AF42}"/>
              </a:ext>
            </a:extLst>
          </p:cNvPr>
          <p:cNvSpPr>
            <a:spLocks noGrp="1"/>
          </p:cNvSpPr>
          <p:nvPr>
            <p:ph idx="1"/>
          </p:nvPr>
        </p:nvSpPr>
        <p:spPr/>
        <p:txBody>
          <a:bodyPr/>
          <a:lstStyle/>
          <a:p>
            <a:pPr marL="0" indent="0">
              <a:buNone/>
            </a:pPr>
            <a:r>
              <a:rPr lang="en-IN" b="1" dirty="0"/>
              <a:t>Entity Recognition and Linking</a:t>
            </a:r>
            <a:r>
              <a:rPr lang="en-IN" dirty="0"/>
              <a:t>:</a:t>
            </a:r>
          </a:p>
          <a:p>
            <a:pPr>
              <a:buFont typeface="Arial" panose="020B0604020202020204" pitchFamily="34" charset="0"/>
              <a:buChar char="•"/>
            </a:pPr>
            <a:r>
              <a:rPr lang="en-IN" b="1" dirty="0"/>
              <a:t>Purpose</a:t>
            </a:r>
            <a:r>
              <a:rPr lang="en-IN" dirty="0"/>
              <a:t>: Recognize named entities (e.g., people, places, organizations) in text and link them to knowledge bases.</a:t>
            </a:r>
          </a:p>
          <a:p>
            <a:pPr>
              <a:buFont typeface="Arial" panose="020B0604020202020204" pitchFamily="34" charset="0"/>
              <a:buChar char="•"/>
            </a:pPr>
            <a:r>
              <a:rPr lang="en-IN" b="1" dirty="0"/>
              <a:t>Example</a:t>
            </a:r>
            <a:r>
              <a:rPr lang="en-IN" dirty="0"/>
              <a:t>: In the sentence "Apple released a new iPhone," semantic processing identifies "Apple" as a company and not the fruit.</a:t>
            </a:r>
          </a:p>
          <a:p>
            <a:endParaRPr lang="en-US" dirty="0"/>
          </a:p>
        </p:txBody>
      </p:sp>
    </p:spTree>
    <p:extLst>
      <p:ext uri="{BB962C8B-B14F-4D97-AF65-F5344CB8AC3E}">
        <p14:creationId xmlns:p14="http://schemas.microsoft.com/office/powerpoint/2010/main" val="19129375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A95AE-5C7D-F299-9ED8-7135E00731D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C6245E3-0D36-D7F1-CC85-FEA94FA52129}"/>
              </a:ext>
            </a:extLst>
          </p:cNvPr>
          <p:cNvSpPr>
            <a:spLocks noGrp="1"/>
          </p:cNvSpPr>
          <p:nvPr>
            <p:ph idx="1"/>
          </p:nvPr>
        </p:nvSpPr>
        <p:spPr/>
        <p:txBody>
          <a:bodyPr>
            <a:normAutofit/>
          </a:bodyPr>
          <a:lstStyle/>
          <a:p>
            <a:pPr marL="0" indent="0">
              <a:buNone/>
            </a:pPr>
            <a:r>
              <a:rPr lang="en-IN" b="1" dirty="0"/>
              <a:t>Relationship Extraction</a:t>
            </a:r>
            <a:r>
              <a:rPr lang="en-IN" dirty="0"/>
              <a:t>:</a:t>
            </a:r>
          </a:p>
          <a:p>
            <a:pPr lvl="1"/>
            <a:r>
              <a:rPr lang="en-IN" b="1" dirty="0"/>
              <a:t>Purpose</a:t>
            </a:r>
            <a:r>
              <a:rPr lang="en-IN" dirty="0"/>
              <a:t>: Identify relationships between entities within a text.</a:t>
            </a:r>
          </a:p>
          <a:p>
            <a:pPr lvl="1"/>
            <a:r>
              <a:rPr lang="en-IN" b="1" dirty="0"/>
              <a:t>Example</a:t>
            </a:r>
            <a:r>
              <a:rPr lang="en-IN" dirty="0"/>
              <a:t>: In "Barack Obama was born in Hawaii," semantic processing extracts the relationship between "Barack Obama" and "Hawaii" as a birth location.</a:t>
            </a:r>
          </a:p>
          <a:p>
            <a:pPr marL="0" indent="0">
              <a:buNone/>
            </a:pPr>
            <a:r>
              <a:rPr lang="en-IN" b="1" dirty="0"/>
              <a:t>Coreference Resolution</a:t>
            </a:r>
            <a:r>
              <a:rPr lang="en-IN" dirty="0"/>
              <a:t>:</a:t>
            </a:r>
          </a:p>
          <a:p>
            <a:pPr lvl="1"/>
            <a:r>
              <a:rPr lang="en-IN" b="1" dirty="0"/>
              <a:t>Purpose</a:t>
            </a:r>
            <a:r>
              <a:rPr lang="en-IN" dirty="0"/>
              <a:t>: Determine which words refer to the same entity within a text.</a:t>
            </a:r>
          </a:p>
          <a:p>
            <a:pPr lvl="1"/>
            <a:r>
              <a:rPr lang="en-IN" b="1" dirty="0"/>
              <a:t>Example</a:t>
            </a:r>
            <a:r>
              <a:rPr lang="en-IN" dirty="0"/>
              <a:t>: In the sentences "John went to the store. He bought milk," semantic processing identifies that "He" refers to "John."</a:t>
            </a:r>
          </a:p>
          <a:p>
            <a:endParaRPr lang="en-US" dirty="0"/>
          </a:p>
        </p:txBody>
      </p:sp>
    </p:spTree>
    <p:extLst>
      <p:ext uri="{BB962C8B-B14F-4D97-AF65-F5344CB8AC3E}">
        <p14:creationId xmlns:p14="http://schemas.microsoft.com/office/powerpoint/2010/main" val="16164097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81C66-6BBB-602F-DE3B-2F4DAE5CE98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EA00B71-DEFE-CA8E-FC3C-521EFD7F98F6}"/>
              </a:ext>
            </a:extLst>
          </p:cNvPr>
          <p:cNvSpPr>
            <a:spLocks noGrp="1"/>
          </p:cNvSpPr>
          <p:nvPr>
            <p:ph idx="1"/>
          </p:nvPr>
        </p:nvSpPr>
        <p:spPr/>
        <p:txBody>
          <a:bodyPr>
            <a:normAutofit/>
          </a:bodyPr>
          <a:lstStyle/>
          <a:p>
            <a:pPr marL="0" indent="0">
              <a:buNone/>
            </a:pPr>
            <a:r>
              <a:rPr lang="en-IN" b="1" dirty="0"/>
              <a:t>Semantic Role </a:t>
            </a:r>
            <a:r>
              <a:rPr lang="en-IN" b="1" dirty="0" err="1"/>
              <a:t>Labeling</a:t>
            </a:r>
            <a:r>
              <a:rPr lang="en-IN" b="1" dirty="0"/>
              <a:t> (SRL)</a:t>
            </a:r>
            <a:r>
              <a:rPr lang="en-IN" dirty="0"/>
              <a:t>:</a:t>
            </a:r>
          </a:p>
          <a:p>
            <a:pPr lvl="1"/>
            <a:r>
              <a:rPr lang="en-IN" b="1" dirty="0"/>
              <a:t>Purpose</a:t>
            </a:r>
            <a:r>
              <a:rPr lang="en-IN" dirty="0"/>
              <a:t>: Identify the roles of various constituents in a sentence (e.g., who did what to whom).</a:t>
            </a:r>
          </a:p>
          <a:p>
            <a:pPr lvl="1"/>
            <a:r>
              <a:rPr lang="en-IN" b="1" dirty="0"/>
              <a:t>Example</a:t>
            </a:r>
            <a:r>
              <a:rPr lang="en-IN" dirty="0"/>
              <a:t>: In "Sarah gave a book to John," SRL identifies "Sarah" as the giver, "book" as the thing given, and "John" as the receiver.</a:t>
            </a:r>
          </a:p>
          <a:p>
            <a:pPr marL="0" indent="0">
              <a:buNone/>
            </a:pPr>
            <a:r>
              <a:rPr lang="en-IN" b="1" dirty="0"/>
              <a:t>Textual Entailment</a:t>
            </a:r>
            <a:r>
              <a:rPr lang="en-IN" dirty="0"/>
              <a:t>:</a:t>
            </a:r>
          </a:p>
          <a:p>
            <a:pPr lvl="1"/>
            <a:r>
              <a:rPr lang="en-IN" b="1" dirty="0"/>
              <a:t>Purpose</a:t>
            </a:r>
            <a:r>
              <a:rPr lang="en-IN" dirty="0"/>
              <a:t>: Determine if one sentence logically follows from another.</a:t>
            </a:r>
          </a:p>
          <a:p>
            <a:pPr lvl="1"/>
            <a:r>
              <a:rPr lang="en-IN" b="1" dirty="0"/>
              <a:t>Example</a:t>
            </a:r>
            <a:r>
              <a:rPr lang="en-IN" dirty="0"/>
              <a:t>: From "All birds have wings" and "A sparrow is a bird," semantic processing infers that "A sparrow has wings."</a:t>
            </a:r>
          </a:p>
          <a:p>
            <a:endParaRPr lang="en-US" dirty="0"/>
          </a:p>
        </p:txBody>
      </p:sp>
    </p:spTree>
    <p:extLst>
      <p:ext uri="{BB962C8B-B14F-4D97-AF65-F5344CB8AC3E}">
        <p14:creationId xmlns:p14="http://schemas.microsoft.com/office/powerpoint/2010/main" val="23036716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1C7CA-DC42-BFB7-64BB-F0038D65A98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B13E53E-CCB2-5363-DD08-BA57A84940DE}"/>
              </a:ext>
            </a:extLst>
          </p:cNvPr>
          <p:cNvSpPr>
            <a:spLocks noGrp="1"/>
          </p:cNvSpPr>
          <p:nvPr>
            <p:ph idx="1"/>
          </p:nvPr>
        </p:nvSpPr>
        <p:spPr/>
        <p:txBody>
          <a:bodyPr>
            <a:normAutofit/>
          </a:bodyPr>
          <a:lstStyle/>
          <a:p>
            <a:pPr marL="0" indent="0">
              <a:buNone/>
            </a:pPr>
            <a:r>
              <a:rPr lang="en-IN" b="1" dirty="0"/>
              <a:t>Sentiment Analysis</a:t>
            </a:r>
            <a:r>
              <a:rPr lang="en-IN" dirty="0"/>
              <a:t>:</a:t>
            </a:r>
          </a:p>
          <a:p>
            <a:pPr lvl="1"/>
            <a:r>
              <a:rPr lang="en-IN" b="1" dirty="0"/>
              <a:t>Purpose</a:t>
            </a:r>
            <a:r>
              <a:rPr lang="en-IN" dirty="0"/>
              <a:t>: Identify the sentiment or emotional tone of a text.</a:t>
            </a:r>
          </a:p>
          <a:p>
            <a:pPr lvl="1"/>
            <a:r>
              <a:rPr lang="en-IN" b="1" dirty="0"/>
              <a:t>Example</a:t>
            </a:r>
            <a:r>
              <a:rPr lang="en-IN" dirty="0"/>
              <a:t>: Semantic processing can determine whether a movie review is positive, negative, or neutral.</a:t>
            </a:r>
          </a:p>
          <a:p>
            <a:pPr marL="0" indent="0">
              <a:buNone/>
            </a:pPr>
            <a:r>
              <a:rPr lang="en-IN" b="1" dirty="0"/>
              <a:t>Question Answering</a:t>
            </a:r>
            <a:r>
              <a:rPr lang="en-IN" dirty="0"/>
              <a:t>:</a:t>
            </a:r>
          </a:p>
          <a:p>
            <a:pPr lvl="1"/>
            <a:r>
              <a:rPr lang="en-IN" b="1" dirty="0"/>
              <a:t>Purpose</a:t>
            </a:r>
            <a:r>
              <a:rPr lang="en-IN" dirty="0"/>
              <a:t>: Provide accurate answers to questions based on a given text.</a:t>
            </a:r>
          </a:p>
          <a:p>
            <a:pPr lvl="1"/>
            <a:r>
              <a:rPr lang="en-IN" b="1" dirty="0"/>
              <a:t>Example</a:t>
            </a:r>
            <a:r>
              <a:rPr lang="en-IN" dirty="0"/>
              <a:t>: For the question "Who is the president of the United States?" semantic processing identifies and extracts the correct answer from the text.</a:t>
            </a:r>
          </a:p>
          <a:p>
            <a:endParaRPr lang="en-US" dirty="0"/>
          </a:p>
        </p:txBody>
      </p:sp>
    </p:spTree>
    <p:extLst>
      <p:ext uri="{BB962C8B-B14F-4D97-AF65-F5344CB8AC3E}">
        <p14:creationId xmlns:p14="http://schemas.microsoft.com/office/powerpoint/2010/main" val="12074747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89</TotalTime>
  <Words>2718</Words>
  <Application>Microsoft Macintosh PowerPoint</Application>
  <PresentationFormat>Widescreen</PresentationFormat>
  <Paragraphs>207</Paragraphs>
  <Slides>29</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Aptos</vt:lpstr>
      <vt:lpstr>Aptos Display</vt:lpstr>
      <vt:lpstr>Arial</vt:lpstr>
      <vt:lpstr>Calibri</vt:lpstr>
      <vt:lpstr>Office Theme</vt:lpstr>
      <vt:lpstr>Syntactic and Semantic Processing</vt:lpstr>
      <vt:lpstr>PowerPoint Presentation</vt:lpstr>
      <vt:lpstr>Parse Trees</vt:lpstr>
      <vt:lpstr>Dependency Trees</vt:lpstr>
      <vt:lpstr>Constituency Parsing</vt:lpstr>
      <vt:lpstr>Summary</vt:lpstr>
      <vt:lpstr>Common issues - Parse tree construction and interpretation</vt:lpstr>
      <vt:lpstr>Common issues - Parse tree construction and interpretation</vt:lpstr>
      <vt:lpstr>PowerPoint Presentation</vt:lpstr>
      <vt:lpstr>PowerPoint Presentation</vt:lpstr>
      <vt:lpstr>PowerPoint Presentation</vt:lpstr>
      <vt:lpstr>PowerPoint Presentation</vt:lpstr>
      <vt:lpstr>Key Learnings</vt:lpstr>
      <vt:lpstr>Common issues such as dependency parsing algorithms and their applications.</vt:lpstr>
      <vt:lpstr>PowerPoint Presentation</vt:lpstr>
      <vt:lpstr>PowerPoint Presentation</vt:lpstr>
      <vt:lpstr>PowerPoint Presentation</vt:lpstr>
      <vt:lpstr>PowerPoint Presentation</vt:lpstr>
      <vt:lpstr>PowerPoint Presentation</vt:lpstr>
      <vt:lpstr>PowerPoint Presentation</vt:lpstr>
      <vt:lpstr>Key Learnings</vt:lpstr>
      <vt:lpstr>Constituency parsing</vt:lpstr>
      <vt:lpstr>Common issues in Constituency parsing</vt:lpstr>
      <vt:lpstr>Constituency Parsing role in NLP</vt:lpstr>
      <vt:lpstr>Purposes of Semantic Processing</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Amit Pandey</dc:creator>
  <cp:lastModifiedBy>Deven Kalra</cp:lastModifiedBy>
  <cp:revision>10</cp:revision>
  <dcterms:created xsi:type="dcterms:W3CDTF">2024-08-17T20:40:16Z</dcterms:created>
  <dcterms:modified xsi:type="dcterms:W3CDTF">2026-04-01T08:05:39Z</dcterms:modified>
</cp:coreProperties>
</file>