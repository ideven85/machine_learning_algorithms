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4" r:id="rId4"/>
    <p:sldId id="266" r:id="rId5"/>
    <p:sldId id="267" r:id="rId6"/>
    <p:sldId id="257" r:id="rId7"/>
    <p:sldId id="258" r:id="rId8"/>
    <p:sldId id="259" r:id="rId9"/>
    <p:sldId id="260" r:id="rId10"/>
    <p:sldId id="261" r:id="rId11"/>
    <p:sldId id="262" r:id="rId12"/>
    <p:sldId id="263"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C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699"/>
  </p:normalViewPr>
  <p:slideViewPr>
    <p:cSldViewPr snapToGrid="0">
      <p:cViewPr>
        <p:scale>
          <a:sx n="125" d="100"/>
          <a:sy n="125" d="100"/>
        </p:scale>
        <p:origin x="3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5.394"/>
    </inkml:context>
    <inkml:brush xml:id="br0">
      <inkml:brushProperty name="width" value="0.05" units="cm"/>
      <inkml:brushProperty name="height" value="0.05" units="cm"/>
      <inkml:brushProperty name="color" value="#004F8B"/>
    </inkml:brush>
  </inkml:definitions>
  <inkml:trace contextRef="#ctx0" brushRef="#br0">0 2 24575,'52'0'0,"9"0"0,9 0 0,10 0-2593,-1 0 0,4 0 2593,-11 0 0,4 0 0,1 0-827,2 0 1,1 0 0,2 0 826,6 0 0,2 0 0,1 0-571,2-1 0,2 1 0,2 1 571,-16 2 0,2 1 0,0 2 0,-2-1 0,17 1 0,-2 0 0,2 2 0,-16 1 0,2 0 0,-2 2 0,-5-1-588,-3 0 0,-5 1 0,3 0 588,16 1 0,4 0 0,-5 0 0,7 3 0,-1 1 0,-11-2 0,3 1 0,-3-2 326,17 0 1,-4 1-327,-29-2 0,1 1 0,-3-1 0,15 0 0,-5-1 0,-18-3 0,-2 0 1070,4 2 0,-3-2-1070,15-7 0,13 5 3614,-17-6-3614,-14 0 2974,-14 0-2974,-11 0 1526,-7 0-1526,-8 0 235,-1 0-235,-10 0 0,1 0 0,-5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6.859"/>
    </inkml:context>
    <inkml:brush xml:id="br0">
      <inkml:brushProperty name="width" value="0.05" units="cm"/>
      <inkml:brushProperty name="height" value="0.05" units="cm"/>
      <inkml:brushProperty name="color" value="#004F8B"/>
    </inkml:brush>
  </inkml:definitions>
  <inkml:trace contextRef="#ctx0" brushRef="#br0">1 1 24575,'33'0'0,"26"0"0,19 0-1665,0 0 0,6 0 1665,-23 0 0,2 0 0,2 0 0,5 0 0,-2 0-808,10 0 1,1 0 807,18 0 0,4 0-375,-34 0 1,0 0 0,0 0 374,0 0 0,0 0 0,0 0 0,3 2 0,1 1 0,-2-1-746,21-1 1,-1 0 745,4 6 0,-1 0 0,-9-6 0,-3 0 0,-7 2 0,-3 0 445,-14-2 1,-3-2-446,-1 1 0,-1 0 0,27 0 1738,7 0-1738,-11 0 2411,-23 0-2411,-12 0 2072,-13 0-2072,-9 0 447,-6 0-447,-4 0 0,0 0 0,-3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1.130"/>
    </inkml:context>
    <inkml:brush xml:id="br0">
      <inkml:brushProperty name="width" value="0.05" units="cm"/>
      <inkml:brushProperty name="height" value="0.05" units="cm"/>
      <inkml:brushProperty name="color" value="#004F8B"/>
    </inkml:brush>
  </inkml:definitions>
  <inkml:trace contextRef="#ctx0" brushRef="#br0">0 16 18500,'12'-4'0,"13"1"2771,15 3-2771,25 0 0,-15 0 0,4 0-411,3 0 0,3 0 411,23 0 0,5 0-779,0 0 1,2 0 778,-21 0 0,2 0 0,2 0-546,5 0 0,3 0 0,0 0 546,8 0 0,1 0 0,0 0-917,5 0 1,0 0-1,1 0 917,2 0 0,2 0 0,0 0 0,-22 0 0,0 1 0,1-1 0,-1-1-439,1-1 0,0-1 0,0 1 0,1 0 439,2 3 0,1 1 0,0 0 0,-1 0 0,1-2 0,0 0 0,0 0 0,-1 2 0,-1 3 0,-1 2 0,-1 1 0,-2-1 0,9 2 0,-4-1 0,2 1 0,7 3 0,0 0 0,-3 0 0,-13-3 0,-2-2 0,1 2 0,10 2 0,3 0 0,-3 0 0,-6-2 0,-2-1 0,-1 0 0,-3 1 0,-1-1 0,-3 1 323,17 5 1,-4 0-324,-3-6 0,-4 0 1825,24 10-1825,-45-11 0,-3-1 0,20 5 2886,13 1-2886,-10-1 4260,-20-5-4260,-3 3 1605,-22-8-1605,-2 3 526,-14-4-526,-1 3 78,-4-2-78,0 2 0,-3 0 0,-1 1 0,-3 3 0,0-1 0,-3 1 0,-15 1 0,11-4 0,-10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31T05:52:12.759"/>
    </inkml:context>
    <inkml:brush xml:id="br0">
      <inkml:brushProperty name="width" value="0.05" units="cm"/>
      <inkml:brushProperty name="height" value="0.05" units="cm"/>
      <inkml:brushProperty name="color" value="#004F8B"/>
    </inkml:brush>
  </inkml:definitions>
  <inkml:trace contextRef="#ctx0" brushRef="#br0">1 0 24575,'47'0'0,"20"0"-2881,26 0 2881,-8 0 0,7 0-1237,-6 0 1,5 0 1236,-7 0 0,6 0 0,-1 0-834,-8 0 1,-1 0 0,2 0 833,10 0 0,3 0 0,0 0 0,4 0 0,0 0 0,2 0 0,-19 0 0,0 0 0,1 0 0,2 0 0,8 0 0,3 0 0,0 0 0,0 0-871,-3 0 0,0 0 0,0 0 0,0 0 871,2 0 0,0 0 0,1 0 0,-1 0 0,-1 0 0,1 0 0,-1 0 0,-1 0 0,-4 0 0,-2 0 0,1 0 0,1 0 0,5 0 0,2 0 0,0 0 0,-3 0-298,-6 0 1,-2 0 0,-2 0 0,-2 0 297,5 0 0,-3 0 0,5 0 0,1 0 0,6 0 0,-2 0 0,-11 0 0,2 0 0,0 0 0,-4 0 0,11 0 0,0 0 0,-10 0 0,10 0 0,-5 0-4,-8 0 0,3 0 1,-2 0 3,-11 0 0,-1 0 0,-1 0 637,28 0 0,-1 0-637,-4 0 0,-4 0 0,-11 0 0,-4 0 1369,-13 0 1,0 0-1370,17 0 0,-4 0 2614,2 0-2614,-9 0 0,0 0 0,5 0 0,7 0 0,-2 0 2408,-14 0-2408,-2 0 1929,-6 0-1929,0 0 1222,-6 0-1222,-2 0 352,-10 0-352,-7 0 0,-5 0 0,-9 0 0,-1 0 0,-4 0 0,-3 0 0,-1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A75F7-032B-0DE2-2452-9AE3FB2ABE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2B88D56-C5E1-C0C6-6A47-929AF9F95E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AB8E5AA-9627-DCB4-1835-A39C817C9F9D}"/>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5ACBD54D-A1AE-48FE-316F-B58AFEAA7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32929-F609-BAFA-CE12-6ACC6A45EB68}"/>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2083231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90D9-0BCD-52CA-8F26-DD786FFB118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0275867-DECD-DDD8-FAF3-236D3B25F3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DFC160-2A8D-F144-8B5D-7317E735279D}"/>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6377D64C-04FC-1FDB-6A09-78536F53A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01EDB-E27B-39EF-B183-CE8113AAB5BD}"/>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46110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4BDC-0AC9-9110-A597-8F882E23F29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C824D6-6752-EFBA-630D-F9326AD8A5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2768ED6-7398-24C3-01CC-2B1CC33599FF}"/>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36DE54DF-4694-0E37-929D-FBD9A0FB4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0EF8E-6C8B-853F-676C-0305580A67C5}"/>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56493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E181-FDBD-5C5C-FA20-37400B0779F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44746D8-5685-4E0A-58C8-F3A33AD720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0AF1977-FFC4-9EC3-47EF-656E4894E9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D07D7D3-80B7-75A6-20F0-9F65774F1ED7}"/>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6" name="Footer Placeholder 5">
            <a:extLst>
              <a:ext uri="{FF2B5EF4-FFF2-40B4-BE49-F238E27FC236}">
                <a16:creationId xmlns:a16="http://schemas.microsoft.com/office/drawing/2014/main" id="{8BC4095A-DF50-AE36-EBF0-6D7C8FF773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11CEFE-8864-4B63-6554-983FFA5B4B0A}"/>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45041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0D94F-3298-8FFA-BD71-5407EC1B830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D4D9F4-71D8-F5FB-8F81-AF83E18E4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A549DA-020C-2B64-A725-6CA4D3C4798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4C642AA-D994-8745-85C3-B9EAC929EA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C78094C-A7A8-2354-79C8-4F6230EB6B9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744ED6F-AD6B-1E26-3492-EB15E4C7E552}"/>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8" name="Footer Placeholder 7">
            <a:extLst>
              <a:ext uri="{FF2B5EF4-FFF2-40B4-BE49-F238E27FC236}">
                <a16:creationId xmlns:a16="http://schemas.microsoft.com/office/drawing/2014/main" id="{666045A7-0387-1D0D-B3E3-6B5E01929D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C620C9-75C9-5867-2706-069E8D952C3F}"/>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783276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D1B2-1FEF-780E-4DC6-B8BD4C98441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13BF028-4DA7-0ECA-BC43-0B94E448B331}"/>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4" name="Footer Placeholder 3">
            <a:extLst>
              <a:ext uri="{FF2B5EF4-FFF2-40B4-BE49-F238E27FC236}">
                <a16:creationId xmlns:a16="http://schemas.microsoft.com/office/drawing/2014/main" id="{19D727AD-7F49-EF39-9D0D-34A71A606C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35581F-1DEC-3A8A-7A94-68C27D022B88}"/>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460513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E7CD39-64A5-E853-D92E-DCC895420C76}"/>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3" name="Footer Placeholder 2">
            <a:extLst>
              <a:ext uri="{FF2B5EF4-FFF2-40B4-BE49-F238E27FC236}">
                <a16:creationId xmlns:a16="http://schemas.microsoft.com/office/drawing/2014/main" id="{E8C2AABF-222D-1EAA-DAB2-9167C5B1F8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7B9A21-10B1-6101-3D8D-60DB11D52C01}"/>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84091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A8303-0D81-AB2D-84C4-70A9E595F1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061DEA3-A281-659D-2CB7-1E496E738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BD48B0F-C78B-9E15-0779-F7AF899A8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71D242-BB05-3BD2-2D7F-EAAA58DD8C69}"/>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6" name="Footer Placeholder 5">
            <a:extLst>
              <a:ext uri="{FF2B5EF4-FFF2-40B4-BE49-F238E27FC236}">
                <a16:creationId xmlns:a16="http://schemas.microsoft.com/office/drawing/2014/main" id="{06F68595-32D1-834B-09E6-F34AA01B19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D41A5-0A84-2F85-3E47-25E1C2615B5E}"/>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182814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8BA3-F0A5-CA5D-8567-543EAB6618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61F2C3A-DFFF-D7CC-A2B3-1CD75FB9A5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95EF7-D058-6241-3A7E-CF4F0C3C5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473E7F-DA5A-7777-6184-9D2575A3C32A}"/>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6" name="Footer Placeholder 5">
            <a:extLst>
              <a:ext uri="{FF2B5EF4-FFF2-40B4-BE49-F238E27FC236}">
                <a16:creationId xmlns:a16="http://schemas.microsoft.com/office/drawing/2014/main" id="{3171D6A9-57F9-F82E-E68C-8554D5A669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919FD-ECA1-1D38-BE1A-99DA2DD82F72}"/>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400651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4AB7-FCCB-4ACF-28CB-72EDEE425CD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8B89167-80DD-AE63-FC22-44EACAA8CB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F8846C-7BAA-FDD1-0345-A85771DD3D65}"/>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510FCAEC-E778-4AEA-7756-DF6E01F3A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5C9A36-F50A-3AB9-2D1D-E60FF5B68090}"/>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3488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55D74-E0D9-0BF5-E24C-23383D908AE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77FE6F-C6C3-9E72-4A31-24777DE4C42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F4C7CC-6DEE-5DA1-8D71-E9F1450931D0}"/>
              </a:ext>
            </a:extLst>
          </p:cNvPr>
          <p:cNvSpPr>
            <a:spLocks noGrp="1"/>
          </p:cNvSpPr>
          <p:nvPr>
            <p:ph type="dt" sz="half" idx="10"/>
          </p:nvPr>
        </p:nvSpPr>
        <p:spPr/>
        <p:txBody>
          <a:body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9F35D49E-A9AB-0BD3-7EEE-C116DA494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58288-2F82-8AAF-4CA6-FB4B0F710701}"/>
              </a:ext>
            </a:extLst>
          </p:cNvPr>
          <p:cNvSpPr>
            <a:spLocks noGrp="1"/>
          </p:cNvSpPr>
          <p:nvPr>
            <p:ph type="sldNum" sz="quarter" idx="12"/>
          </p:nvPr>
        </p:nvSpPr>
        <p:spPr/>
        <p:txBody>
          <a:bodyPr/>
          <a:lstStyle/>
          <a:p>
            <a:fld id="{8CA99E6B-12FA-A048-9246-7C2F5B15C3AF}" type="slidenum">
              <a:rPr lang="en-US" smtClean="0"/>
              <a:t>‹#›</a:t>
            </a:fld>
            <a:endParaRPr lang="en-US"/>
          </a:p>
        </p:txBody>
      </p:sp>
    </p:spTree>
    <p:extLst>
      <p:ext uri="{BB962C8B-B14F-4D97-AF65-F5344CB8AC3E}">
        <p14:creationId xmlns:p14="http://schemas.microsoft.com/office/powerpoint/2010/main" val="2778138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F9DE05-333D-912C-E4EC-F03BDD3D7A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CF7E5D2-2AFF-DB82-F90C-3C87760F58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8834B4B-9A39-3E80-F355-964E4EC7F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941C9D-19F1-954F-98F0-A1651B0F13FE}" type="datetimeFigureOut">
              <a:rPr lang="en-US" smtClean="0"/>
              <a:t>2/25/26</a:t>
            </a:fld>
            <a:endParaRPr lang="en-US"/>
          </a:p>
        </p:txBody>
      </p:sp>
      <p:sp>
        <p:nvSpPr>
          <p:cNvPr id="5" name="Footer Placeholder 4">
            <a:extLst>
              <a:ext uri="{FF2B5EF4-FFF2-40B4-BE49-F238E27FC236}">
                <a16:creationId xmlns:a16="http://schemas.microsoft.com/office/drawing/2014/main" id="{38FE9FE9-7AC0-6C6C-E9A9-E675B29A4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A2B52B-FE5A-581B-700C-BBEF1C715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A99E6B-12FA-A048-9246-7C2F5B15C3AF}" type="slidenum">
              <a:rPr lang="en-US" smtClean="0"/>
              <a:t>‹#›</a:t>
            </a:fld>
            <a:endParaRPr lang="en-US"/>
          </a:p>
        </p:txBody>
      </p:sp>
    </p:spTree>
    <p:extLst>
      <p:ext uri="{BB962C8B-B14F-4D97-AF65-F5344CB8AC3E}">
        <p14:creationId xmlns:p14="http://schemas.microsoft.com/office/powerpoint/2010/main" val="1622580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77D9-1E6B-D9E5-E3A1-BF71CAF3B6A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06BA444-0167-1740-41EA-FD1DE55BB71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5273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4505-5BBE-C1F9-4DFC-5461F2E592A5}"/>
              </a:ext>
            </a:extLst>
          </p:cNvPr>
          <p:cNvSpPr>
            <a:spLocks noGrp="1"/>
          </p:cNvSpPr>
          <p:nvPr>
            <p:ph type="title"/>
          </p:nvPr>
        </p:nvSpPr>
        <p:spPr/>
        <p:txBody>
          <a:bodyPr/>
          <a:lstStyle/>
          <a:p>
            <a:r>
              <a:rPr lang="en-IN" dirty="0"/>
              <a:t>Components of the Perceptron</a:t>
            </a:r>
            <a:endParaRPr lang="en-US" dirty="0"/>
          </a:p>
        </p:txBody>
      </p:sp>
      <p:sp>
        <p:nvSpPr>
          <p:cNvPr id="3" name="Content Placeholder 2">
            <a:extLst>
              <a:ext uri="{FF2B5EF4-FFF2-40B4-BE49-F238E27FC236}">
                <a16:creationId xmlns:a16="http://schemas.microsoft.com/office/drawing/2014/main" id="{78CF2023-97CC-D684-4EEF-22007E0D6068}"/>
              </a:ext>
            </a:extLst>
          </p:cNvPr>
          <p:cNvSpPr>
            <a:spLocks noGrp="1"/>
          </p:cNvSpPr>
          <p:nvPr>
            <p:ph idx="1"/>
          </p:nvPr>
        </p:nvSpPr>
        <p:spPr/>
        <p:txBody>
          <a:bodyPr>
            <a:normAutofit fontScale="85000" lnSpcReduction="20000"/>
          </a:bodyPr>
          <a:lstStyle/>
          <a:p>
            <a:r>
              <a:rPr lang="en-IN" b="1" dirty="0"/>
              <a:t>Input Features (</a:t>
            </a:r>
            <a:r>
              <a:rPr lang="en-IN" b="1" dirty="0" err="1"/>
              <a:t>Color</a:t>
            </a:r>
            <a:r>
              <a:rPr lang="en-IN" b="1" dirty="0"/>
              <a:t>, Size):</a:t>
            </a:r>
            <a:endParaRPr lang="en-IN" dirty="0"/>
          </a:p>
          <a:p>
            <a:pPr lvl="1"/>
            <a:r>
              <a:rPr lang="en-IN" dirty="0"/>
              <a:t>These are the characteristics you’ll use to make your decision. For example, </a:t>
            </a:r>
            <a:r>
              <a:rPr lang="en-IN" dirty="0" err="1"/>
              <a:t>color</a:t>
            </a:r>
            <a:r>
              <a:rPr lang="en-IN" dirty="0"/>
              <a:t> might be represented as a number (say, 1 for red and 0 for orange), and size could be a measurement like diameter.</a:t>
            </a:r>
          </a:p>
          <a:p>
            <a:r>
              <a:rPr lang="en-IN" b="1" dirty="0"/>
              <a:t>Weights:</a:t>
            </a:r>
            <a:endParaRPr lang="en-IN" dirty="0"/>
          </a:p>
          <a:p>
            <a:pPr lvl="1"/>
            <a:r>
              <a:rPr lang="en-IN" dirty="0"/>
              <a:t>Weights are like the importance you assign to each feature when making your decision. If </a:t>
            </a:r>
            <a:r>
              <a:rPr lang="en-IN" dirty="0" err="1"/>
              <a:t>color</a:t>
            </a:r>
            <a:r>
              <a:rPr lang="en-IN" dirty="0"/>
              <a:t> is more important in distinguishing apples from oranges, the weight associated with </a:t>
            </a:r>
            <a:r>
              <a:rPr lang="en-IN" dirty="0" err="1"/>
              <a:t>color</a:t>
            </a:r>
            <a:r>
              <a:rPr lang="en-IN" dirty="0"/>
              <a:t> will be higher.</a:t>
            </a:r>
          </a:p>
          <a:p>
            <a:r>
              <a:rPr lang="en-IN" b="1" dirty="0"/>
              <a:t>Bias:</a:t>
            </a:r>
            <a:endParaRPr lang="en-IN" dirty="0"/>
          </a:p>
          <a:p>
            <a:pPr lvl="1"/>
            <a:r>
              <a:rPr lang="en-IN" dirty="0"/>
              <a:t>Bias is an additional factor that helps adjust the decision boundary, allowing the perceptron to make more accurate decisions. It’s like having a rule of thumb that shifts your decision slightly in one direction or the other.</a:t>
            </a:r>
          </a:p>
          <a:p>
            <a:r>
              <a:rPr lang="en-IN" b="1" dirty="0"/>
              <a:t>Activation Function:</a:t>
            </a:r>
            <a:endParaRPr lang="en-IN" dirty="0"/>
          </a:p>
          <a:p>
            <a:pPr lvl="1"/>
            <a:r>
              <a:rPr lang="en-IN" dirty="0"/>
              <a:t>The perceptron uses a simple activation function (usually a step function) that decides the output based on a threshold. If the combined input (after applying weights and bias) is above a certain threshold, the output is 1 (apple); otherwise, it’s 0 (orange).</a:t>
            </a:r>
          </a:p>
          <a:p>
            <a:endParaRPr lang="en-US" dirty="0"/>
          </a:p>
        </p:txBody>
      </p:sp>
    </p:spTree>
    <p:extLst>
      <p:ext uri="{BB962C8B-B14F-4D97-AF65-F5344CB8AC3E}">
        <p14:creationId xmlns:p14="http://schemas.microsoft.com/office/powerpoint/2010/main" val="2369873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3E86-C51B-94DF-E9FF-7409877654A7}"/>
              </a:ext>
            </a:extLst>
          </p:cNvPr>
          <p:cNvSpPr>
            <a:spLocks noGrp="1"/>
          </p:cNvSpPr>
          <p:nvPr>
            <p:ph type="title"/>
          </p:nvPr>
        </p:nvSpPr>
        <p:spPr/>
        <p:txBody>
          <a:bodyPr/>
          <a:lstStyle/>
          <a:p>
            <a:r>
              <a:rPr lang="en-IN" dirty="0"/>
              <a:t>How the Perceptron Works</a:t>
            </a:r>
            <a:endParaRPr lang="en-US" dirty="0"/>
          </a:p>
        </p:txBody>
      </p:sp>
      <p:sp>
        <p:nvSpPr>
          <p:cNvPr id="3" name="Content Placeholder 2">
            <a:extLst>
              <a:ext uri="{FF2B5EF4-FFF2-40B4-BE49-F238E27FC236}">
                <a16:creationId xmlns:a16="http://schemas.microsoft.com/office/drawing/2014/main" id="{D4F386D6-D975-A971-266E-85FE091C765E}"/>
              </a:ext>
            </a:extLst>
          </p:cNvPr>
          <p:cNvSpPr>
            <a:spLocks noGrp="1"/>
          </p:cNvSpPr>
          <p:nvPr>
            <p:ph idx="1"/>
          </p:nvPr>
        </p:nvSpPr>
        <p:spPr/>
        <p:txBody>
          <a:bodyPr>
            <a:normAutofit fontScale="92500" lnSpcReduction="20000"/>
          </a:bodyPr>
          <a:lstStyle/>
          <a:p>
            <a:r>
              <a:rPr lang="en-IN" b="1" dirty="0"/>
              <a:t>Input Features:</a:t>
            </a:r>
            <a:endParaRPr lang="en-IN" dirty="0"/>
          </a:p>
          <a:p>
            <a:pPr lvl="1"/>
            <a:r>
              <a:rPr lang="en-IN" dirty="0"/>
              <a:t>Suppose you have a fruit that is red (</a:t>
            </a:r>
            <a:r>
              <a:rPr lang="en-IN" dirty="0" err="1"/>
              <a:t>color</a:t>
            </a:r>
            <a:r>
              <a:rPr lang="en-IN" dirty="0"/>
              <a:t> = 1) and has a diameter of 7 cm (size = 7).</a:t>
            </a:r>
          </a:p>
          <a:p>
            <a:r>
              <a:rPr lang="en-IN" b="1" dirty="0"/>
              <a:t>Weighted Sum:</a:t>
            </a:r>
            <a:endParaRPr lang="en-IN" dirty="0"/>
          </a:p>
          <a:p>
            <a:pPr lvl="1"/>
            <a:r>
              <a:rPr lang="en-IN" dirty="0"/>
              <a:t>The perceptron calculates a weighted sum of the input features. If the weight for </a:t>
            </a:r>
            <a:r>
              <a:rPr lang="en-IN" dirty="0" err="1"/>
              <a:t>color</a:t>
            </a:r>
            <a:r>
              <a:rPr lang="en-IN" dirty="0"/>
              <a:t> is 2 and for size is 0.5, the calculation would be: </a:t>
            </a:r>
            <a:r>
              <a:rPr lang="en-IN" dirty="0">
                <a:highlight>
                  <a:srgbClr val="FFFF00"/>
                </a:highlight>
              </a:rPr>
              <a:t>Weighted Sum=(2×1)+(0.5×7)=2+3.5=5.5</a:t>
            </a:r>
          </a:p>
          <a:p>
            <a:pPr lvl="1"/>
            <a:r>
              <a:rPr lang="en-IN" dirty="0"/>
              <a:t>Let’s also assume the bias is -4, so the final sum becomes: </a:t>
            </a:r>
            <a:r>
              <a:rPr lang="en-IN" dirty="0">
                <a:highlight>
                  <a:srgbClr val="FFFF00"/>
                </a:highlight>
              </a:rPr>
              <a:t>Final Sum=5.5−4=1.5</a:t>
            </a:r>
          </a:p>
          <a:p>
            <a:r>
              <a:rPr lang="en-IN" b="1" dirty="0"/>
              <a:t>Activation Function:</a:t>
            </a:r>
            <a:endParaRPr lang="en-IN" dirty="0"/>
          </a:p>
          <a:p>
            <a:pPr lvl="1"/>
            <a:r>
              <a:rPr lang="en-IN" dirty="0"/>
              <a:t>The perceptron then applies the activation function (a step function in this case). If the final sum is greater than 0, the perceptron outputs 1 (indicating an apple). If it’s 0 or less, it outputs 0 (indicating an orange).</a:t>
            </a:r>
          </a:p>
          <a:p>
            <a:pPr lvl="1"/>
            <a:r>
              <a:rPr lang="en-IN" dirty="0"/>
              <a:t>In this case, 1.5 is greater than 0, so the perceptron decides it’s an apple.</a:t>
            </a:r>
          </a:p>
          <a:p>
            <a:endParaRPr lang="en-US" dirty="0"/>
          </a:p>
        </p:txBody>
      </p:sp>
    </p:spTree>
    <p:extLst>
      <p:ext uri="{BB962C8B-B14F-4D97-AF65-F5344CB8AC3E}">
        <p14:creationId xmlns:p14="http://schemas.microsoft.com/office/powerpoint/2010/main" val="1712558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A3BE1-28C7-4989-95DE-CCE943E104A9}"/>
              </a:ext>
            </a:extLst>
          </p:cNvPr>
          <p:cNvSpPr>
            <a:spLocks noGrp="1"/>
          </p:cNvSpPr>
          <p:nvPr>
            <p:ph type="title"/>
          </p:nvPr>
        </p:nvSpPr>
        <p:spPr/>
        <p:txBody>
          <a:bodyPr/>
          <a:lstStyle/>
          <a:p>
            <a:r>
              <a:rPr lang="en-IN" dirty="0"/>
              <a:t>Learning in the Perceptron</a:t>
            </a:r>
            <a:endParaRPr lang="en-US" dirty="0"/>
          </a:p>
        </p:txBody>
      </p:sp>
      <p:sp>
        <p:nvSpPr>
          <p:cNvPr id="3" name="Content Placeholder 2">
            <a:extLst>
              <a:ext uri="{FF2B5EF4-FFF2-40B4-BE49-F238E27FC236}">
                <a16:creationId xmlns:a16="http://schemas.microsoft.com/office/drawing/2014/main" id="{868D6D1D-45B8-AF91-2873-78679DD4B912}"/>
              </a:ext>
            </a:extLst>
          </p:cNvPr>
          <p:cNvSpPr>
            <a:spLocks noGrp="1"/>
          </p:cNvSpPr>
          <p:nvPr>
            <p:ph idx="1"/>
          </p:nvPr>
        </p:nvSpPr>
        <p:spPr/>
        <p:txBody>
          <a:bodyPr>
            <a:normAutofit fontScale="70000" lnSpcReduction="20000"/>
          </a:bodyPr>
          <a:lstStyle/>
          <a:p>
            <a:r>
              <a:rPr lang="en-IN" b="1" dirty="0"/>
              <a:t>Start with Initial Weights and Bias:</a:t>
            </a:r>
            <a:endParaRPr lang="en-IN" dirty="0"/>
          </a:p>
          <a:p>
            <a:pPr lvl="1"/>
            <a:r>
              <a:rPr lang="en-IN" dirty="0"/>
              <a:t>The perceptron starts with random or zero weights and bias.</a:t>
            </a:r>
          </a:p>
          <a:p>
            <a:r>
              <a:rPr lang="en-IN" b="1" dirty="0"/>
              <a:t>Make a Prediction:</a:t>
            </a:r>
            <a:endParaRPr lang="en-IN" dirty="0"/>
          </a:p>
          <a:p>
            <a:pPr lvl="1"/>
            <a:r>
              <a:rPr lang="en-IN" dirty="0"/>
              <a:t>For each training example, the perceptron calculates the weighted sum, applies the activation function, and makes a prediction.</a:t>
            </a:r>
          </a:p>
          <a:p>
            <a:r>
              <a:rPr lang="en-IN" b="1" dirty="0"/>
              <a:t>Calculate the Error:</a:t>
            </a:r>
            <a:endParaRPr lang="en-IN" dirty="0"/>
          </a:p>
          <a:p>
            <a:pPr lvl="1"/>
            <a:r>
              <a:rPr lang="en-IN" dirty="0"/>
              <a:t>The error is the difference between the actual label (e.g., whether the fruit is actually an apple or an orange) and the predicted label.</a:t>
            </a:r>
          </a:p>
          <a:p>
            <a:r>
              <a:rPr lang="en-IN" b="1" dirty="0"/>
              <a:t>Update the Weights and Bias:</a:t>
            </a:r>
            <a:endParaRPr lang="en-IN" dirty="0"/>
          </a:p>
          <a:p>
            <a:pPr lvl="1"/>
            <a:r>
              <a:rPr lang="en-IN" dirty="0"/>
              <a:t>If the prediction is incorrect, the weights and bias are adjusted to reduce the error. The update rule for weights is</a:t>
            </a:r>
            <a:r>
              <a:rPr lang="en-IN" dirty="0">
                <a:highlight>
                  <a:srgbClr val="FFFF00"/>
                </a:highlight>
              </a:rPr>
              <a:t>: New Weight=Old </a:t>
            </a:r>
            <a:r>
              <a:rPr lang="en-IN" dirty="0" err="1">
                <a:highlight>
                  <a:srgbClr val="FFFF00"/>
                </a:highlight>
              </a:rPr>
              <a:t>Weight+Learning</a:t>
            </a:r>
            <a:r>
              <a:rPr lang="en-IN" dirty="0">
                <a:highlight>
                  <a:srgbClr val="FFFF00"/>
                </a:highlight>
              </a:rPr>
              <a:t> Rate×(Actual Label−Predicted Label)×Input Feature</a:t>
            </a:r>
          </a:p>
          <a:p>
            <a:pPr lvl="1"/>
            <a:r>
              <a:rPr lang="en-IN" dirty="0"/>
              <a:t>The bias is updated similarly.</a:t>
            </a:r>
          </a:p>
          <a:p>
            <a:r>
              <a:rPr lang="en-IN" b="1" dirty="0"/>
              <a:t>Iterate:</a:t>
            </a:r>
            <a:endParaRPr lang="en-IN" dirty="0"/>
          </a:p>
          <a:p>
            <a:pPr lvl="1"/>
            <a:r>
              <a:rPr lang="en-IN" dirty="0"/>
              <a:t>The perceptron repeats this process for multiple training examples until it makes fewer errors or converges to a solution.</a:t>
            </a:r>
          </a:p>
        </p:txBody>
      </p:sp>
    </p:spTree>
    <p:extLst>
      <p:ext uri="{BB962C8B-B14F-4D97-AF65-F5344CB8AC3E}">
        <p14:creationId xmlns:p14="http://schemas.microsoft.com/office/powerpoint/2010/main" val="3302949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21AD-775E-6811-BA0F-15116B45EFF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A206AFA-BCA8-CAC9-9CFB-104D71157726}"/>
              </a:ext>
            </a:extLst>
          </p:cNvPr>
          <p:cNvSpPr>
            <a:spLocks noGrp="1"/>
          </p:cNvSpPr>
          <p:nvPr>
            <p:ph idx="1"/>
          </p:nvPr>
        </p:nvSpPr>
        <p:spPr/>
        <p:txBody>
          <a:bodyPr/>
          <a:lstStyle/>
          <a:p>
            <a:r>
              <a:rPr lang="en-IN" b="1" dirty="0"/>
              <a:t>The perceptron is a simple linear classifier</a:t>
            </a:r>
            <a:r>
              <a:rPr lang="en-IN" dirty="0"/>
              <a:t> that decides between two classes based on input features.</a:t>
            </a:r>
          </a:p>
          <a:p>
            <a:r>
              <a:rPr lang="en-IN" b="1" dirty="0"/>
              <a:t>It uses weights and biases</a:t>
            </a:r>
            <a:r>
              <a:rPr lang="en-IN" dirty="0"/>
              <a:t> to calculate a weighted sum of the inputs and then applies an activation function to make a decision.</a:t>
            </a:r>
          </a:p>
          <a:p>
            <a:r>
              <a:rPr lang="en-IN" b="1" dirty="0"/>
              <a:t>The perceptron learns by adjusting</a:t>
            </a:r>
            <a:r>
              <a:rPr lang="en-IN" dirty="0"/>
              <a:t> its weights and bias based on the errors it makes, gradually improving its ability to classify new inputs correctly.</a:t>
            </a:r>
            <a:endParaRPr lang="en-US" dirty="0"/>
          </a:p>
        </p:txBody>
      </p:sp>
    </p:spTree>
    <p:extLst>
      <p:ext uri="{BB962C8B-B14F-4D97-AF65-F5344CB8AC3E}">
        <p14:creationId xmlns:p14="http://schemas.microsoft.com/office/powerpoint/2010/main" val="209396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274D-56C0-99B9-A80F-214A84093AE1}"/>
              </a:ext>
            </a:extLst>
          </p:cNvPr>
          <p:cNvSpPr>
            <a:spLocks noGrp="1"/>
          </p:cNvSpPr>
          <p:nvPr>
            <p:ph type="title"/>
          </p:nvPr>
        </p:nvSpPr>
        <p:spPr/>
        <p:txBody>
          <a:bodyPr/>
          <a:lstStyle/>
          <a:p>
            <a:r>
              <a:rPr lang="en-US" dirty="0"/>
              <a:t>Feedforward Algorithm</a:t>
            </a:r>
          </a:p>
        </p:txBody>
      </p:sp>
      <p:sp>
        <p:nvSpPr>
          <p:cNvPr id="3" name="Content Placeholder 2">
            <a:extLst>
              <a:ext uri="{FF2B5EF4-FFF2-40B4-BE49-F238E27FC236}">
                <a16:creationId xmlns:a16="http://schemas.microsoft.com/office/drawing/2014/main" id="{6FD30459-2175-BBFD-1785-19A45B5BF864}"/>
              </a:ext>
            </a:extLst>
          </p:cNvPr>
          <p:cNvSpPr>
            <a:spLocks noGrp="1"/>
          </p:cNvSpPr>
          <p:nvPr>
            <p:ph idx="1"/>
          </p:nvPr>
        </p:nvSpPr>
        <p:spPr/>
        <p:txBody>
          <a:bodyPr/>
          <a:lstStyle/>
          <a:p>
            <a:r>
              <a:rPr lang="en-IN" dirty="0"/>
              <a:t>Imagine you’re trying to predict the price of a house based on several features: the size of the house, the number of bedrooms, the age of the house, and the location.</a:t>
            </a:r>
          </a:p>
          <a:p>
            <a:r>
              <a:rPr lang="en-IN" b="1" dirty="0"/>
              <a:t>Input Layer:</a:t>
            </a:r>
            <a:endParaRPr lang="en-IN" dirty="0"/>
          </a:p>
          <a:p>
            <a:pPr lvl="1"/>
            <a:r>
              <a:rPr lang="en-IN" dirty="0"/>
              <a:t>Each feature of the house (size, number of bedrooms, age, location) is treated as an input. Let’s say you have 4 features, so the input layer will have 4 nodes.</a:t>
            </a:r>
          </a:p>
          <a:p>
            <a:pPr lvl="1"/>
            <a:r>
              <a:rPr lang="en-IN" dirty="0"/>
              <a:t>Example Input: Size = 2000 </a:t>
            </a:r>
            <a:r>
              <a:rPr lang="en-IN" dirty="0" err="1"/>
              <a:t>sq</a:t>
            </a:r>
            <a:r>
              <a:rPr lang="en-IN" dirty="0"/>
              <a:t> ft, Bedrooms = 3, Age = 10 years, Location = Suburban</a:t>
            </a:r>
          </a:p>
          <a:p>
            <a:endParaRPr lang="en-US" dirty="0"/>
          </a:p>
        </p:txBody>
      </p:sp>
    </p:spTree>
    <p:extLst>
      <p:ext uri="{BB962C8B-B14F-4D97-AF65-F5344CB8AC3E}">
        <p14:creationId xmlns:p14="http://schemas.microsoft.com/office/powerpoint/2010/main" val="2915060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572F0-78C9-1CE1-DAEF-374289620E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7C67D9-8291-B716-2EBF-3769D34A6D66}"/>
              </a:ext>
            </a:extLst>
          </p:cNvPr>
          <p:cNvSpPr>
            <a:spLocks noGrp="1"/>
          </p:cNvSpPr>
          <p:nvPr>
            <p:ph idx="1"/>
          </p:nvPr>
        </p:nvSpPr>
        <p:spPr/>
        <p:txBody>
          <a:bodyPr/>
          <a:lstStyle/>
          <a:p>
            <a:r>
              <a:rPr lang="en-IN" b="1" dirty="0"/>
              <a:t>Hidden Layers:</a:t>
            </a:r>
            <a:endParaRPr lang="en-IN" dirty="0"/>
          </a:p>
          <a:p>
            <a:pPr lvl="1"/>
            <a:r>
              <a:rPr lang="en-IN" dirty="0"/>
              <a:t>The input features are passed into the first hidden layer. Each node in this layer takes a weighted sum of the inputs, adds a bias term, and applies an activation function (like </a:t>
            </a:r>
            <a:r>
              <a:rPr lang="en-IN" dirty="0" err="1"/>
              <a:t>ReLU</a:t>
            </a:r>
            <a:r>
              <a:rPr lang="en-IN" dirty="0"/>
              <a:t> or Sigmoid).</a:t>
            </a:r>
          </a:p>
          <a:p>
            <a:pPr lvl="1"/>
            <a:r>
              <a:rPr lang="en-IN" dirty="0"/>
              <a:t>Think of each node as a “black box” that processes the inputs in a way that extracts some useful patterns or features.</a:t>
            </a:r>
          </a:p>
          <a:p>
            <a:pPr lvl="1"/>
            <a:r>
              <a:rPr lang="en-IN" dirty="0"/>
              <a:t>For instance, one node might learn to recognize that larger houses generally cost more, while another node might focus on the impact of location.</a:t>
            </a:r>
          </a:p>
          <a:p>
            <a:endParaRPr lang="en-US" dirty="0"/>
          </a:p>
        </p:txBody>
      </p:sp>
    </p:spTree>
    <p:extLst>
      <p:ext uri="{BB962C8B-B14F-4D97-AF65-F5344CB8AC3E}">
        <p14:creationId xmlns:p14="http://schemas.microsoft.com/office/powerpoint/2010/main" val="41765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76113-B5FC-1C8D-F325-D824366497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277818-A057-EF05-4EA0-E8D60ADE0E66}"/>
              </a:ext>
            </a:extLst>
          </p:cNvPr>
          <p:cNvSpPr>
            <a:spLocks noGrp="1"/>
          </p:cNvSpPr>
          <p:nvPr>
            <p:ph idx="1"/>
          </p:nvPr>
        </p:nvSpPr>
        <p:spPr/>
        <p:txBody>
          <a:bodyPr>
            <a:normAutofit/>
          </a:bodyPr>
          <a:lstStyle/>
          <a:p>
            <a:r>
              <a:rPr lang="en-IN" b="1" dirty="0"/>
              <a:t>Simplified Calculation:</a:t>
            </a:r>
            <a:endParaRPr lang="en-IN" dirty="0"/>
          </a:p>
          <a:p>
            <a:pPr lvl="1"/>
            <a:r>
              <a:rPr lang="en-IN" dirty="0"/>
              <a:t>Suppose the input Size is 2000 </a:t>
            </a:r>
            <a:r>
              <a:rPr lang="en-IN" dirty="0" err="1"/>
              <a:t>sq</a:t>
            </a:r>
            <a:r>
              <a:rPr lang="en-IN" dirty="0"/>
              <a:t> ft. The node calculates: Node Output=(Weight1×Size)+(Weight2×Bedrooms)+(Weight3×Age)+(Weight4×Location)+Bias</a:t>
            </a:r>
          </a:p>
          <a:p>
            <a:pPr lvl="1"/>
            <a:r>
              <a:rPr lang="en-IN" dirty="0"/>
              <a:t>This output is then passed through an activation function to determine if the pattern is "activated" or not.</a:t>
            </a:r>
          </a:p>
          <a:p>
            <a:r>
              <a:rPr lang="en-IN" b="1" dirty="0"/>
              <a:t>Output Layer:</a:t>
            </a:r>
            <a:endParaRPr lang="en-IN" dirty="0"/>
          </a:p>
          <a:p>
            <a:pPr lvl="1"/>
            <a:r>
              <a:rPr lang="en-IN" dirty="0"/>
              <a:t>The hidden layers feed into the output layer. In this case, the output layer might have just one node, representing the predicted price of the house.</a:t>
            </a:r>
          </a:p>
          <a:p>
            <a:pPr lvl="1"/>
            <a:r>
              <a:rPr lang="en-IN" dirty="0"/>
              <a:t>The final output is the predicted price, which is a combination of all the patterns and features extracted by the hidden layers.</a:t>
            </a:r>
          </a:p>
          <a:p>
            <a:endParaRPr lang="en-IN" dirty="0"/>
          </a:p>
          <a:p>
            <a:endParaRPr lang="en-US" dirty="0"/>
          </a:p>
        </p:txBody>
      </p:sp>
    </p:spTree>
    <p:extLst>
      <p:ext uri="{BB962C8B-B14F-4D97-AF65-F5344CB8AC3E}">
        <p14:creationId xmlns:p14="http://schemas.microsoft.com/office/powerpoint/2010/main" val="1963200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53E7-BFDC-9020-3508-C9112C7783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AA4B7-0099-5EAC-9AD5-5AFB3D500F07}"/>
              </a:ext>
            </a:extLst>
          </p:cNvPr>
          <p:cNvSpPr>
            <a:spLocks noGrp="1"/>
          </p:cNvSpPr>
          <p:nvPr>
            <p:ph idx="1"/>
          </p:nvPr>
        </p:nvSpPr>
        <p:spPr/>
        <p:txBody>
          <a:bodyPr/>
          <a:lstStyle/>
          <a:p>
            <a:r>
              <a:rPr lang="en-IN" dirty="0"/>
              <a:t>Example output</a:t>
            </a:r>
          </a:p>
          <a:p>
            <a:pPr lvl="1"/>
            <a:r>
              <a:rPr lang="en-IN" dirty="0"/>
              <a:t>If the input is [2000 </a:t>
            </a:r>
            <a:r>
              <a:rPr lang="en-IN" dirty="0" err="1"/>
              <a:t>sq</a:t>
            </a:r>
            <a:r>
              <a:rPr lang="en-IN" dirty="0"/>
              <a:t> ft, 3 bedrooms, 10 years old, Suburban], the output might be something like $350,000.</a:t>
            </a:r>
            <a:endParaRPr lang="en-US" dirty="0"/>
          </a:p>
        </p:txBody>
      </p:sp>
    </p:spTree>
    <p:extLst>
      <p:ext uri="{BB962C8B-B14F-4D97-AF65-F5344CB8AC3E}">
        <p14:creationId xmlns:p14="http://schemas.microsoft.com/office/powerpoint/2010/main" val="4146881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0F46-4350-45E2-3BFF-29E54E866518}"/>
              </a:ext>
            </a:extLst>
          </p:cNvPr>
          <p:cNvSpPr>
            <a:spLocks noGrp="1"/>
          </p:cNvSpPr>
          <p:nvPr>
            <p:ph type="title"/>
          </p:nvPr>
        </p:nvSpPr>
        <p:spPr/>
        <p:txBody>
          <a:bodyPr/>
          <a:lstStyle/>
          <a:p>
            <a:r>
              <a:rPr lang="en-IN" dirty="0" err="1"/>
              <a:t>FeedForward</a:t>
            </a:r>
            <a:r>
              <a:rPr lang="en-IN" dirty="0"/>
              <a:t> in Action</a:t>
            </a:r>
            <a:endParaRPr lang="en-US" dirty="0"/>
          </a:p>
        </p:txBody>
      </p:sp>
      <p:sp>
        <p:nvSpPr>
          <p:cNvPr id="3" name="Content Placeholder 2">
            <a:extLst>
              <a:ext uri="{FF2B5EF4-FFF2-40B4-BE49-F238E27FC236}">
                <a16:creationId xmlns:a16="http://schemas.microsoft.com/office/drawing/2014/main" id="{0B89F2B6-6598-02FA-EE8B-23E3E6BE67F1}"/>
              </a:ext>
            </a:extLst>
          </p:cNvPr>
          <p:cNvSpPr>
            <a:spLocks noGrp="1"/>
          </p:cNvSpPr>
          <p:nvPr>
            <p:ph idx="1"/>
          </p:nvPr>
        </p:nvSpPr>
        <p:spPr/>
        <p:txBody>
          <a:bodyPr/>
          <a:lstStyle/>
          <a:p>
            <a:pPr>
              <a:buFont typeface="+mj-lt"/>
              <a:buAutoNum type="arabicPeriod"/>
            </a:pPr>
            <a:r>
              <a:rPr lang="en-IN" b="1" dirty="0"/>
              <a:t>Start with Inputs:</a:t>
            </a:r>
            <a:r>
              <a:rPr lang="en-IN" dirty="0"/>
              <a:t> The features of the house (2000 </a:t>
            </a:r>
            <a:r>
              <a:rPr lang="en-IN" dirty="0" err="1"/>
              <a:t>sq</a:t>
            </a:r>
            <a:r>
              <a:rPr lang="en-IN" dirty="0"/>
              <a:t> ft, 3 bedrooms, 10 years old, Suburban) are the inputs.</a:t>
            </a:r>
          </a:p>
          <a:p>
            <a:pPr>
              <a:buFont typeface="+mj-lt"/>
              <a:buAutoNum type="arabicPeriod"/>
            </a:pPr>
            <a:r>
              <a:rPr lang="en-IN" b="1" dirty="0"/>
              <a:t>Pass Through Hidden Layers:</a:t>
            </a:r>
            <a:endParaRPr lang="en-IN" dirty="0"/>
          </a:p>
          <a:p>
            <a:pPr marL="742950" lvl="1" indent="-285750">
              <a:buFont typeface="+mj-lt"/>
              <a:buAutoNum type="arabicPeriod"/>
            </a:pPr>
            <a:r>
              <a:rPr lang="en-IN" dirty="0"/>
              <a:t>The inputs are multiplied by weights, added together, and passed through an activation function.</a:t>
            </a:r>
          </a:p>
          <a:p>
            <a:pPr marL="742950" lvl="1" indent="-285750">
              <a:buFont typeface="+mj-lt"/>
              <a:buAutoNum type="arabicPeriod"/>
            </a:pPr>
            <a:r>
              <a:rPr lang="en-IN" dirty="0"/>
              <a:t>Each hidden layer refines the data further, learning more complex relationships.</a:t>
            </a:r>
          </a:p>
          <a:p>
            <a:pPr>
              <a:buFont typeface="+mj-lt"/>
              <a:buAutoNum type="arabicPeriod"/>
            </a:pPr>
            <a:r>
              <a:rPr lang="en-IN" b="1" dirty="0"/>
              <a:t>Produce the Output:</a:t>
            </a:r>
            <a:r>
              <a:rPr lang="en-IN" dirty="0"/>
              <a:t> The final layer combines the refined information to predict the house price, say $350,000.</a:t>
            </a:r>
          </a:p>
          <a:p>
            <a:endParaRPr lang="en-US" dirty="0"/>
          </a:p>
        </p:txBody>
      </p:sp>
    </p:spTree>
    <p:extLst>
      <p:ext uri="{BB962C8B-B14F-4D97-AF65-F5344CB8AC3E}">
        <p14:creationId xmlns:p14="http://schemas.microsoft.com/office/powerpoint/2010/main" val="359892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F1AD-7CEC-C165-5FBD-3FFB39A80A8C}"/>
              </a:ext>
            </a:extLst>
          </p:cNvPr>
          <p:cNvSpPr>
            <a:spLocks noGrp="1"/>
          </p:cNvSpPr>
          <p:nvPr>
            <p:ph type="title"/>
          </p:nvPr>
        </p:nvSpPr>
        <p:spPr/>
        <p:txBody>
          <a:bodyPr/>
          <a:lstStyle/>
          <a:p>
            <a:r>
              <a:rPr lang="en-IN" dirty="0"/>
              <a:t>Intuition Behind Weights and Biases</a:t>
            </a:r>
            <a:endParaRPr lang="en-US" dirty="0"/>
          </a:p>
        </p:txBody>
      </p:sp>
      <p:sp>
        <p:nvSpPr>
          <p:cNvPr id="3" name="Content Placeholder 2">
            <a:extLst>
              <a:ext uri="{FF2B5EF4-FFF2-40B4-BE49-F238E27FC236}">
                <a16:creationId xmlns:a16="http://schemas.microsoft.com/office/drawing/2014/main" id="{3F85BAB5-EDFD-9FDE-EC51-668553F3F98D}"/>
              </a:ext>
            </a:extLst>
          </p:cNvPr>
          <p:cNvSpPr>
            <a:spLocks noGrp="1"/>
          </p:cNvSpPr>
          <p:nvPr>
            <p:ph idx="1"/>
          </p:nvPr>
        </p:nvSpPr>
        <p:spPr/>
        <p:txBody>
          <a:bodyPr/>
          <a:lstStyle/>
          <a:p>
            <a:r>
              <a:rPr lang="en-IN" b="1" dirty="0"/>
              <a:t>Weights:</a:t>
            </a:r>
            <a:r>
              <a:rPr lang="en-IN" dirty="0"/>
              <a:t> Think of weights as the importance assigned to each feature. For example, in a certain area, the number of bedrooms might be more important than the size of the house, so that feature might have a higher weight.</a:t>
            </a:r>
          </a:p>
          <a:p>
            <a:r>
              <a:rPr lang="en-IN" b="1" dirty="0"/>
              <a:t>Biases:</a:t>
            </a:r>
            <a:r>
              <a:rPr lang="en-IN" dirty="0"/>
              <a:t> Bias allows the model to shift the output up or down, adjusting predictions in cases where all inputs might be zero.</a:t>
            </a:r>
            <a:endParaRPr lang="en-US" dirty="0"/>
          </a:p>
        </p:txBody>
      </p:sp>
    </p:spTree>
    <p:extLst>
      <p:ext uri="{BB962C8B-B14F-4D97-AF65-F5344CB8AC3E}">
        <p14:creationId xmlns:p14="http://schemas.microsoft.com/office/powerpoint/2010/main" val="2110900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E93E-2CF9-523B-3EE4-FCA4C0F4861A}"/>
              </a:ext>
            </a:extLst>
          </p:cNvPr>
          <p:cNvSpPr>
            <a:spLocks noGrp="1"/>
          </p:cNvSpPr>
          <p:nvPr>
            <p:ph type="title"/>
          </p:nvPr>
        </p:nvSpPr>
        <p:spPr/>
        <p:txBody>
          <a:bodyPr/>
          <a:lstStyle/>
          <a:p>
            <a:r>
              <a:rPr lang="en-IN" dirty="0"/>
              <a:t>Activation Function</a:t>
            </a:r>
            <a:endParaRPr lang="en-US" dirty="0"/>
          </a:p>
        </p:txBody>
      </p:sp>
      <p:sp>
        <p:nvSpPr>
          <p:cNvPr id="3" name="Content Placeholder 2">
            <a:extLst>
              <a:ext uri="{FF2B5EF4-FFF2-40B4-BE49-F238E27FC236}">
                <a16:creationId xmlns:a16="http://schemas.microsoft.com/office/drawing/2014/main" id="{FB762224-F39C-17C9-73FF-1DD39732FFF1}"/>
              </a:ext>
            </a:extLst>
          </p:cNvPr>
          <p:cNvSpPr>
            <a:spLocks noGrp="1"/>
          </p:cNvSpPr>
          <p:nvPr>
            <p:ph idx="1"/>
          </p:nvPr>
        </p:nvSpPr>
        <p:spPr/>
        <p:txBody>
          <a:bodyPr>
            <a:normAutofit fontScale="77500" lnSpcReduction="20000"/>
          </a:bodyPr>
          <a:lstStyle/>
          <a:p>
            <a:r>
              <a:rPr lang="en-IN" dirty="0"/>
              <a:t>The activation function adds non-linearity, enabling the network to learn complex patterns. Without it, the network would just be a linear model (like a simple regression).</a:t>
            </a:r>
          </a:p>
          <a:p>
            <a:r>
              <a:rPr lang="en-IN" dirty="0"/>
              <a:t>Activation functions help control how much of the input signal passes through to the next layer. They can decide which neurons should be activated or "fired" based on the input, making the network selective in what information it processes.</a:t>
            </a:r>
          </a:p>
          <a:p>
            <a:r>
              <a:rPr lang="en-IN" dirty="0"/>
              <a:t>Real-world data often has complex structures that simple linear models cannot capture. Non-linear activation functions enable neural networks to handle such complexities by allowing the network to approximate a wide variety of functions.</a:t>
            </a:r>
          </a:p>
          <a:p>
            <a:r>
              <a:rPr lang="en-IN" b="1" dirty="0"/>
              <a:t>Example:</a:t>
            </a:r>
            <a:r>
              <a:rPr lang="en-IN" dirty="0"/>
              <a:t> Imagine trying to classify data points that lie in a circular pattern. A linear model would struggle to draw a decision boundary that effectively separates these points because it can only create straight lines. Non-linear activation functions enable the network to create more complex, curved boundaries that can separate the data more effectively.</a:t>
            </a:r>
            <a:endParaRPr lang="en-US" dirty="0"/>
          </a:p>
        </p:txBody>
      </p:sp>
    </p:spTree>
    <p:extLst>
      <p:ext uri="{BB962C8B-B14F-4D97-AF65-F5344CB8AC3E}">
        <p14:creationId xmlns:p14="http://schemas.microsoft.com/office/powerpoint/2010/main" val="1067216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70DF-7CA8-FCE3-1520-2C8A9D7CB67D}"/>
              </a:ext>
            </a:extLst>
          </p:cNvPr>
          <p:cNvSpPr>
            <a:spLocks noGrp="1"/>
          </p:cNvSpPr>
          <p:nvPr>
            <p:ph type="title"/>
          </p:nvPr>
        </p:nvSpPr>
        <p:spPr/>
        <p:txBody>
          <a:bodyPr/>
          <a:lstStyle/>
          <a:p>
            <a:r>
              <a:rPr lang="en-IN" dirty="0"/>
              <a:t>Vanishing/Exploding Gradients</a:t>
            </a:r>
            <a:endParaRPr lang="en-US" dirty="0"/>
          </a:p>
        </p:txBody>
      </p:sp>
      <p:sp>
        <p:nvSpPr>
          <p:cNvPr id="3" name="Content Placeholder 2">
            <a:extLst>
              <a:ext uri="{FF2B5EF4-FFF2-40B4-BE49-F238E27FC236}">
                <a16:creationId xmlns:a16="http://schemas.microsoft.com/office/drawing/2014/main" id="{C9B37AD8-3B41-33D9-52F3-9FEB2348AA1E}"/>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In a deep learning project for financial prediction, a company used a deep feedforward neural network to model complex patterns in stock price movements.</a:t>
            </a:r>
          </a:p>
          <a:p>
            <a:pPr>
              <a:buFont typeface="Arial" panose="020B0604020202020204" pitchFamily="34" charset="0"/>
              <a:buChar char="•"/>
            </a:pPr>
            <a:r>
              <a:rPr lang="en-IN" b="1" dirty="0"/>
              <a:t>Error:</a:t>
            </a:r>
            <a:r>
              <a:rPr lang="en-IN" dirty="0"/>
              <a:t> The model had many layers, but they used a sigmoid activation function in all hidden layers. During training, gradients became extremely small (vanishing gradients) in the earlier layers, making the model learn very slowly or not at all.</a:t>
            </a:r>
          </a:p>
          <a:p>
            <a:pPr>
              <a:buFont typeface="Arial" panose="020B0604020202020204" pitchFamily="34" charset="0"/>
              <a:buChar char="•"/>
            </a:pPr>
            <a:r>
              <a:rPr lang="en-IN" b="1" dirty="0"/>
              <a:t>Solution:</a:t>
            </a:r>
            <a:r>
              <a:rPr lang="en-IN" dirty="0"/>
              <a:t> Switching to </a:t>
            </a:r>
            <a:r>
              <a:rPr lang="en-IN" dirty="0" err="1"/>
              <a:t>ReLU</a:t>
            </a:r>
            <a:r>
              <a:rPr lang="en-IN" dirty="0"/>
              <a:t> or its variants (Leaky </a:t>
            </a:r>
            <a:r>
              <a:rPr lang="en-IN" dirty="0" err="1"/>
              <a:t>ReLU</a:t>
            </a:r>
            <a:r>
              <a:rPr lang="en-IN" dirty="0"/>
              <a:t>, </a:t>
            </a:r>
            <a:r>
              <a:rPr lang="en-IN" dirty="0" err="1"/>
              <a:t>PReLU</a:t>
            </a:r>
            <a:r>
              <a:rPr lang="en-IN" dirty="0"/>
              <a:t>) and normalizing the inputs resolved the issue, leading to faster convergence and better performance.</a:t>
            </a:r>
          </a:p>
          <a:p>
            <a:endParaRPr lang="en-US" dirty="0"/>
          </a:p>
        </p:txBody>
      </p:sp>
    </p:spTree>
    <p:extLst>
      <p:ext uri="{BB962C8B-B14F-4D97-AF65-F5344CB8AC3E}">
        <p14:creationId xmlns:p14="http://schemas.microsoft.com/office/powerpoint/2010/main" val="1699730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2960-DBC9-B928-C296-E8C2C284292C}"/>
              </a:ext>
            </a:extLst>
          </p:cNvPr>
          <p:cNvSpPr>
            <a:spLocks noGrp="1"/>
          </p:cNvSpPr>
          <p:nvPr>
            <p:ph type="title"/>
          </p:nvPr>
        </p:nvSpPr>
        <p:spPr/>
        <p:txBody>
          <a:bodyPr/>
          <a:lstStyle/>
          <a:p>
            <a:r>
              <a:rPr lang="en-IN" b="1" dirty="0"/>
              <a:t>Incorrect Weight Initialization</a:t>
            </a:r>
            <a:endParaRPr lang="en-US" dirty="0"/>
          </a:p>
        </p:txBody>
      </p:sp>
      <p:sp>
        <p:nvSpPr>
          <p:cNvPr id="3" name="Content Placeholder 2">
            <a:extLst>
              <a:ext uri="{FF2B5EF4-FFF2-40B4-BE49-F238E27FC236}">
                <a16:creationId xmlns:a16="http://schemas.microsoft.com/office/drawing/2014/main" id="{F3A67936-F57A-E0D9-DCC1-44350EDAFD83}"/>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startup in the healthcare sector was building a neural network to diagnose diseases from medical images.</a:t>
            </a:r>
          </a:p>
          <a:p>
            <a:pPr>
              <a:buFont typeface="Arial" panose="020B0604020202020204" pitchFamily="34" charset="0"/>
              <a:buChar char="•"/>
            </a:pPr>
            <a:r>
              <a:rPr lang="en-IN" b="1" dirty="0"/>
              <a:t>Error:</a:t>
            </a:r>
            <a:r>
              <a:rPr lang="en-IN" dirty="0"/>
              <a:t> The network's weights were initialized with a zero mean and a large variance. This caused the activations to become extremely large or small, especially in the later layers, leading to poor training performance.</a:t>
            </a:r>
          </a:p>
          <a:p>
            <a:pPr>
              <a:buFont typeface="Arial" panose="020B0604020202020204" pitchFamily="34" charset="0"/>
              <a:buChar char="•"/>
            </a:pPr>
            <a:r>
              <a:rPr lang="en-IN" b="1" dirty="0"/>
              <a:t>Solution:</a:t>
            </a:r>
            <a:r>
              <a:rPr lang="en-IN" dirty="0"/>
              <a:t> Implementing proper weight initialization techniques like Xavier (</a:t>
            </a:r>
            <a:r>
              <a:rPr lang="en-IN" dirty="0" err="1"/>
              <a:t>Glorot</a:t>
            </a:r>
            <a:r>
              <a:rPr lang="en-IN" dirty="0"/>
              <a:t>) initialization for tanh activation or He initialization for </a:t>
            </a:r>
            <a:r>
              <a:rPr lang="en-IN" dirty="0" err="1"/>
              <a:t>ReLU</a:t>
            </a:r>
            <a:r>
              <a:rPr lang="en-IN" dirty="0"/>
              <a:t> significantly improved the training stability and model accuracy.</a:t>
            </a:r>
          </a:p>
          <a:p>
            <a:endParaRPr lang="en-US" dirty="0"/>
          </a:p>
        </p:txBody>
      </p:sp>
    </p:spTree>
    <p:extLst>
      <p:ext uri="{BB962C8B-B14F-4D97-AF65-F5344CB8AC3E}">
        <p14:creationId xmlns:p14="http://schemas.microsoft.com/office/powerpoint/2010/main" val="1531275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C855-1DC7-5C5B-B11D-43F9918A66AE}"/>
              </a:ext>
            </a:extLst>
          </p:cNvPr>
          <p:cNvSpPr>
            <a:spLocks noGrp="1"/>
          </p:cNvSpPr>
          <p:nvPr>
            <p:ph type="title"/>
          </p:nvPr>
        </p:nvSpPr>
        <p:spPr/>
        <p:txBody>
          <a:bodyPr/>
          <a:lstStyle/>
          <a:p>
            <a:r>
              <a:rPr lang="en-IN" dirty="0"/>
              <a:t>Improper Input Scaling</a:t>
            </a:r>
            <a:endParaRPr lang="en-US" dirty="0"/>
          </a:p>
        </p:txBody>
      </p:sp>
      <p:sp>
        <p:nvSpPr>
          <p:cNvPr id="3" name="Content Placeholder 2">
            <a:extLst>
              <a:ext uri="{FF2B5EF4-FFF2-40B4-BE49-F238E27FC236}">
                <a16:creationId xmlns:a16="http://schemas.microsoft.com/office/drawing/2014/main" id="{1992AB6A-E56B-6D1C-3D0D-81F50AA845E9}"/>
              </a:ext>
            </a:extLst>
          </p:cNvPr>
          <p:cNvSpPr>
            <a:spLocks noGrp="1"/>
          </p:cNvSpPr>
          <p:nvPr>
            <p:ph idx="1"/>
          </p:nvPr>
        </p:nvSpPr>
        <p:spPr/>
        <p:txBody>
          <a:bodyPr/>
          <a:lstStyle/>
          <a:p>
            <a:r>
              <a:rPr lang="en-IN" b="1" dirty="0"/>
              <a:t>Scenario:</a:t>
            </a:r>
            <a:r>
              <a:rPr lang="en-IN" dirty="0"/>
              <a:t> A company working on a recommendation system for e-commerce used a neural network to predict user preferences based on a variety of features.</a:t>
            </a:r>
          </a:p>
          <a:p>
            <a:r>
              <a:rPr lang="en-IN" b="1" dirty="0"/>
              <a:t>Error:</a:t>
            </a:r>
            <a:r>
              <a:rPr lang="en-IN" dirty="0"/>
              <a:t> They fed the raw data directly into the network without normalizing or standardizing the input features. Since different features had vastly different ranges, the network struggled to converge, leading to poor recommendations.</a:t>
            </a:r>
          </a:p>
          <a:p>
            <a:r>
              <a:rPr lang="en-IN" b="1" dirty="0"/>
              <a:t>Solution:</a:t>
            </a:r>
            <a:r>
              <a:rPr lang="en-IN" dirty="0"/>
              <a:t> Normalizing the input data to a similar range (e.g., using standardization to zero mean and unit variance) improved model convergence and the quality of recommendations.</a:t>
            </a:r>
            <a:endParaRPr lang="en-US" dirty="0"/>
          </a:p>
        </p:txBody>
      </p:sp>
    </p:spTree>
    <p:extLst>
      <p:ext uri="{BB962C8B-B14F-4D97-AF65-F5344CB8AC3E}">
        <p14:creationId xmlns:p14="http://schemas.microsoft.com/office/powerpoint/2010/main" val="3591078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4BDCD-6ECA-A698-1E38-92FD73E7FACE}"/>
              </a:ext>
            </a:extLst>
          </p:cNvPr>
          <p:cNvSpPr>
            <a:spLocks noGrp="1"/>
          </p:cNvSpPr>
          <p:nvPr>
            <p:ph type="title"/>
          </p:nvPr>
        </p:nvSpPr>
        <p:spPr/>
        <p:txBody>
          <a:bodyPr/>
          <a:lstStyle/>
          <a:p>
            <a:r>
              <a:rPr lang="en-IN" b="1" dirty="0"/>
              <a:t>Incorrect Learning Rate</a:t>
            </a:r>
            <a:endParaRPr lang="en-US" dirty="0"/>
          </a:p>
        </p:txBody>
      </p:sp>
      <p:sp>
        <p:nvSpPr>
          <p:cNvPr id="3" name="Content Placeholder 2">
            <a:extLst>
              <a:ext uri="{FF2B5EF4-FFF2-40B4-BE49-F238E27FC236}">
                <a16:creationId xmlns:a16="http://schemas.microsoft.com/office/drawing/2014/main" id="{BBC028EA-1002-E05C-0B16-6377DEDCF98B}"/>
              </a:ext>
            </a:extLst>
          </p:cNvPr>
          <p:cNvSpPr>
            <a:spLocks noGrp="1"/>
          </p:cNvSpPr>
          <p:nvPr>
            <p:ph idx="1"/>
          </p:nvPr>
        </p:nvSpPr>
        <p:spPr/>
        <p:txBody>
          <a:bodyPr/>
          <a:lstStyle/>
          <a:p>
            <a:r>
              <a:rPr lang="en-IN" b="1" dirty="0"/>
              <a:t>Scenario:</a:t>
            </a:r>
            <a:r>
              <a:rPr lang="en-IN" dirty="0"/>
              <a:t> A retail company was using a feedforward neural network to predict sales based on historical data and promotional events.</a:t>
            </a:r>
          </a:p>
          <a:p>
            <a:r>
              <a:rPr lang="en-IN" b="1" dirty="0"/>
              <a:t>Error:</a:t>
            </a:r>
            <a:r>
              <a:rPr lang="en-IN" dirty="0"/>
              <a:t> The learning rate was set too high, causing the model to oscillate and fail to converge, or too low, leading to extremely slow learning.</a:t>
            </a:r>
          </a:p>
          <a:p>
            <a:r>
              <a:rPr lang="en-IN" b="1" dirty="0"/>
              <a:t>Solution:</a:t>
            </a:r>
            <a:r>
              <a:rPr lang="en-IN" dirty="0"/>
              <a:t> Using learning rate schedules or adaptive learning rate optimizers like Adam helped find an optimal learning rate, leading to faster and more stable convergence.</a:t>
            </a:r>
            <a:endParaRPr lang="en-US" dirty="0"/>
          </a:p>
        </p:txBody>
      </p:sp>
    </p:spTree>
    <p:extLst>
      <p:ext uri="{BB962C8B-B14F-4D97-AF65-F5344CB8AC3E}">
        <p14:creationId xmlns:p14="http://schemas.microsoft.com/office/powerpoint/2010/main" val="52646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DEF8F-89A9-BB10-FE1D-2EB68DA2D561}"/>
              </a:ext>
            </a:extLst>
          </p:cNvPr>
          <p:cNvSpPr>
            <a:spLocks noGrp="1"/>
          </p:cNvSpPr>
          <p:nvPr>
            <p:ph type="title"/>
          </p:nvPr>
        </p:nvSpPr>
        <p:spPr/>
        <p:txBody>
          <a:bodyPr/>
          <a:lstStyle/>
          <a:p>
            <a:r>
              <a:rPr lang="en-IN" dirty="0"/>
              <a:t>Overfitting Due to Lack of Regularization</a:t>
            </a:r>
            <a:endParaRPr lang="en-US" dirty="0"/>
          </a:p>
        </p:txBody>
      </p:sp>
      <p:sp>
        <p:nvSpPr>
          <p:cNvPr id="3" name="Content Placeholder 2">
            <a:extLst>
              <a:ext uri="{FF2B5EF4-FFF2-40B4-BE49-F238E27FC236}">
                <a16:creationId xmlns:a16="http://schemas.microsoft.com/office/drawing/2014/main" id="{F4E7BE0C-EA58-8223-C7A5-3A166879CFFC}"/>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An insurance company implemented a neural network to assess the risk profiles of clients based on historical data.</a:t>
            </a:r>
          </a:p>
          <a:p>
            <a:pPr>
              <a:buFont typeface="Arial" panose="020B0604020202020204" pitchFamily="34" charset="0"/>
              <a:buChar char="•"/>
            </a:pPr>
            <a:r>
              <a:rPr lang="en-IN" b="1" dirty="0"/>
              <a:t>Error:</a:t>
            </a:r>
            <a:r>
              <a:rPr lang="en-IN" dirty="0"/>
              <a:t> The model performed exceptionally well on training data but failed miserably on unseen data (overfitting). This was due to the large model capacity and lack of regularization techniques.</a:t>
            </a:r>
          </a:p>
          <a:p>
            <a:pPr>
              <a:buFont typeface="Arial" panose="020B0604020202020204" pitchFamily="34" charset="0"/>
              <a:buChar char="•"/>
            </a:pPr>
            <a:r>
              <a:rPr lang="en-IN" b="1" dirty="0"/>
              <a:t>Solution:</a:t>
            </a:r>
            <a:r>
              <a:rPr lang="en-IN" dirty="0"/>
              <a:t> Implementing regularization techniques like L2 regularization (weight decay), dropout layers, and early stopping helped the model generalize better to new data.</a:t>
            </a:r>
          </a:p>
        </p:txBody>
      </p:sp>
    </p:spTree>
    <p:extLst>
      <p:ext uri="{BB962C8B-B14F-4D97-AF65-F5344CB8AC3E}">
        <p14:creationId xmlns:p14="http://schemas.microsoft.com/office/powerpoint/2010/main" val="172455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A67D9-CD5A-E758-AB4C-C98BCE7A7B1B}"/>
              </a:ext>
            </a:extLst>
          </p:cNvPr>
          <p:cNvSpPr>
            <a:spLocks noGrp="1"/>
          </p:cNvSpPr>
          <p:nvPr>
            <p:ph type="title"/>
          </p:nvPr>
        </p:nvSpPr>
        <p:spPr/>
        <p:txBody>
          <a:bodyPr/>
          <a:lstStyle/>
          <a:p>
            <a:r>
              <a:rPr lang="en-IN" dirty="0"/>
              <a:t>Ignoring Data Imbalance</a:t>
            </a:r>
            <a:endParaRPr lang="en-US" dirty="0"/>
          </a:p>
        </p:txBody>
      </p:sp>
      <p:sp>
        <p:nvSpPr>
          <p:cNvPr id="3" name="Content Placeholder 2">
            <a:extLst>
              <a:ext uri="{FF2B5EF4-FFF2-40B4-BE49-F238E27FC236}">
                <a16:creationId xmlns:a16="http://schemas.microsoft.com/office/drawing/2014/main" id="{F07F0A0E-89D3-9D15-D225-AF3FE0D5ECAA}"/>
              </a:ext>
            </a:extLst>
          </p:cNvPr>
          <p:cNvSpPr>
            <a:spLocks noGrp="1"/>
          </p:cNvSpPr>
          <p:nvPr>
            <p:ph idx="1"/>
          </p:nvPr>
        </p:nvSpPr>
        <p:spPr/>
        <p:txBody>
          <a:bodyPr/>
          <a:lstStyle/>
          <a:p>
            <a:r>
              <a:rPr lang="en-IN" b="1" dirty="0"/>
              <a:t>Scenario:</a:t>
            </a:r>
            <a:r>
              <a:rPr lang="en-IN" dirty="0"/>
              <a:t> A healthcare startup developed a model to predict rare disease occurrences using patient data.</a:t>
            </a:r>
          </a:p>
          <a:p>
            <a:r>
              <a:rPr lang="en-IN" b="1" dirty="0"/>
              <a:t>Error:</a:t>
            </a:r>
            <a:r>
              <a:rPr lang="en-IN" dirty="0"/>
              <a:t> The dataset was highly imbalanced, with very few positive cases of the disease. The model ended up being biased towards the majority class (negative cases), leading to poor detection of the disease.</a:t>
            </a:r>
          </a:p>
          <a:p>
            <a:r>
              <a:rPr lang="en-IN" b="1" dirty="0"/>
              <a:t>Solution:</a:t>
            </a:r>
            <a:r>
              <a:rPr lang="en-IN" dirty="0"/>
              <a:t> Techniques like oversampling the minority class, </a:t>
            </a:r>
            <a:r>
              <a:rPr lang="en-IN" dirty="0" err="1"/>
              <a:t>undersampling</a:t>
            </a:r>
            <a:r>
              <a:rPr lang="en-IN" dirty="0"/>
              <a:t> the majority class, and using class-weighted loss functions helped balance the model's predictions.</a:t>
            </a:r>
            <a:endParaRPr lang="en-US" dirty="0"/>
          </a:p>
        </p:txBody>
      </p:sp>
    </p:spTree>
    <p:extLst>
      <p:ext uri="{BB962C8B-B14F-4D97-AF65-F5344CB8AC3E}">
        <p14:creationId xmlns:p14="http://schemas.microsoft.com/office/powerpoint/2010/main" val="615594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789B-489F-C806-FB5D-1CB9288111A5}"/>
              </a:ext>
            </a:extLst>
          </p:cNvPr>
          <p:cNvSpPr>
            <a:spLocks noGrp="1"/>
          </p:cNvSpPr>
          <p:nvPr>
            <p:ph type="title"/>
          </p:nvPr>
        </p:nvSpPr>
        <p:spPr/>
        <p:txBody>
          <a:bodyPr/>
          <a:lstStyle/>
          <a:p>
            <a:r>
              <a:rPr lang="en-IN" dirty="0"/>
              <a:t>Mismatched Architecture for the Problem</a:t>
            </a:r>
            <a:endParaRPr lang="en-US" dirty="0"/>
          </a:p>
        </p:txBody>
      </p:sp>
      <p:sp>
        <p:nvSpPr>
          <p:cNvPr id="3" name="Content Placeholder 2">
            <a:extLst>
              <a:ext uri="{FF2B5EF4-FFF2-40B4-BE49-F238E27FC236}">
                <a16:creationId xmlns:a16="http://schemas.microsoft.com/office/drawing/2014/main" id="{29276F98-990F-06E1-46CA-1E53738FE968}"/>
              </a:ext>
            </a:extLst>
          </p:cNvPr>
          <p:cNvSpPr>
            <a:spLocks noGrp="1"/>
          </p:cNvSpPr>
          <p:nvPr>
            <p:ph idx="1"/>
          </p:nvPr>
        </p:nvSpPr>
        <p:spPr/>
        <p:txBody>
          <a:bodyPr/>
          <a:lstStyle/>
          <a:p>
            <a:r>
              <a:rPr lang="en-IN" b="1" dirty="0"/>
              <a:t>Scenario:</a:t>
            </a:r>
            <a:r>
              <a:rPr lang="en-IN" dirty="0"/>
              <a:t> A tech company tried to use a shallow feedforward network to classify images into different categories for an automated tagging system.</a:t>
            </a:r>
          </a:p>
          <a:p>
            <a:r>
              <a:rPr lang="en-IN" b="1" dirty="0"/>
              <a:t>Error:</a:t>
            </a:r>
            <a:r>
              <a:rPr lang="en-IN" dirty="0"/>
              <a:t> The shallow network failed to capture the complex features in the images, leading to poor accuracy.</a:t>
            </a:r>
          </a:p>
          <a:p>
            <a:r>
              <a:rPr lang="en-IN" b="1" dirty="0"/>
              <a:t>Solution:</a:t>
            </a:r>
            <a:r>
              <a:rPr lang="en-IN" dirty="0"/>
              <a:t> Switching to a deeper Convolutional Neural Network (CNN) architecture, better suited for image data, dramatically improved the classification performance.</a:t>
            </a:r>
            <a:endParaRPr lang="en-US" dirty="0"/>
          </a:p>
        </p:txBody>
      </p:sp>
    </p:spTree>
    <p:extLst>
      <p:ext uri="{BB962C8B-B14F-4D97-AF65-F5344CB8AC3E}">
        <p14:creationId xmlns:p14="http://schemas.microsoft.com/office/powerpoint/2010/main" val="2584181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4CABA-8F7C-C899-9550-71F2ADFEBE21}"/>
              </a:ext>
            </a:extLst>
          </p:cNvPr>
          <p:cNvSpPr>
            <a:spLocks noGrp="1"/>
          </p:cNvSpPr>
          <p:nvPr>
            <p:ph type="title"/>
          </p:nvPr>
        </p:nvSpPr>
        <p:spPr/>
        <p:txBody>
          <a:bodyPr/>
          <a:lstStyle/>
          <a:p>
            <a:r>
              <a:rPr lang="en-IN" dirty="0"/>
              <a:t>Lack of Batch Normalization</a:t>
            </a:r>
            <a:endParaRPr lang="en-US" dirty="0"/>
          </a:p>
        </p:txBody>
      </p:sp>
      <p:sp>
        <p:nvSpPr>
          <p:cNvPr id="3" name="Content Placeholder 2">
            <a:extLst>
              <a:ext uri="{FF2B5EF4-FFF2-40B4-BE49-F238E27FC236}">
                <a16:creationId xmlns:a16="http://schemas.microsoft.com/office/drawing/2014/main" id="{2F3FD58A-1B74-F66B-378B-E7CD22305B71}"/>
              </a:ext>
            </a:extLst>
          </p:cNvPr>
          <p:cNvSpPr>
            <a:spLocks noGrp="1"/>
          </p:cNvSpPr>
          <p:nvPr>
            <p:ph idx="1"/>
          </p:nvPr>
        </p:nvSpPr>
        <p:spPr/>
        <p:txBody>
          <a:bodyPr/>
          <a:lstStyle/>
          <a:p>
            <a:r>
              <a:rPr lang="en-IN" b="1" dirty="0"/>
              <a:t>Scenario:</a:t>
            </a:r>
            <a:r>
              <a:rPr lang="en-IN" dirty="0"/>
              <a:t> In a project for predicting customer churn, a neural network was used to </a:t>
            </a:r>
            <a:r>
              <a:rPr lang="en-IN" dirty="0" err="1"/>
              <a:t>analyze</a:t>
            </a:r>
            <a:r>
              <a:rPr lang="en-IN" dirty="0"/>
              <a:t> customer </a:t>
            </a:r>
            <a:r>
              <a:rPr lang="en-IN" dirty="0" err="1"/>
              <a:t>behavior</a:t>
            </a:r>
            <a:r>
              <a:rPr lang="en-IN" dirty="0"/>
              <a:t> data.</a:t>
            </a:r>
          </a:p>
          <a:p>
            <a:r>
              <a:rPr lang="en-IN" b="1" dirty="0"/>
              <a:t>Error:</a:t>
            </a:r>
            <a:r>
              <a:rPr lang="en-IN" dirty="0"/>
              <a:t> The model training was slow and unstable because of the wide variations in input distributions across different layers.</a:t>
            </a:r>
          </a:p>
          <a:p>
            <a:r>
              <a:rPr lang="en-IN" b="1" dirty="0"/>
              <a:t>Solution:</a:t>
            </a:r>
            <a:r>
              <a:rPr lang="en-IN" dirty="0"/>
              <a:t> Implementing batch normalization helped stabilize the learning process, leading to faster convergence and better model performance.</a:t>
            </a:r>
            <a:endParaRPr lang="en-US" dirty="0"/>
          </a:p>
        </p:txBody>
      </p:sp>
    </p:spTree>
    <p:extLst>
      <p:ext uri="{BB962C8B-B14F-4D97-AF65-F5344CB8AC3E}">
        <p14:creationId xmlns:p14="http://schemas.microsoft.com/office/powerpoint/2010/main" val="105744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978A-D100-3DA1-9EE3-08FFF08C0948}"/>
              </a:ext>
            </a:extLst>
          </p:cNvPr>
          <p:cNvSpPr>
            <a:spLocks noGrp="1"/>
          </p:cNvSpPr>
          <p:nvPr>
            <p:ph type="title"/>
          </p:nvPr>
        </p:nvSpPr>
        <p:spPr/>
        <p:txBody>
          <a:bodyPr/>
          <a:lstStyle/>
          <a:p>
            <a:r>
              <a:rPr lang="en-IN" dirty="0"/>
              <a:t>Not Monitoring Gradient Norms</a:t>
            </a:r>
            <a:endParaRPr lang="en-US" dirty="0"/>
          </a:p>
        </p:txBody>
      </p:sp>
      <p:sp>
        <p:nvSpPr>
          <p:cNvPr id="3" name="Content Placeholder 2">
            <a:extLst>
              <a:ext uri="{FF2B5EF4-FFF2-40B4-BE49-F238E27FC236}">
                <a16:creationId xmlns:a16="http://schemas.microsoft.com/office/drawing/2014/main" id="{3051FD1C-E20E-E27F-A6E0-DC0E48754B7E}"/>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logistics company used a neural network to optimize routing and scheduling.</a:t>
            </a:r>
          </a:p>
          <a:p>
            <a:pPr>
              <a:buFont typeface="Arial" panose="020B0604020202020204" pitchFamily="34" charset="0"/>
              <a:buChar char="•"/>
            </a:pPr>
            <a:r>
              <a:rPr lang="en-IN" b="1" dirty="0"/>
              <a:t>Error:</a:t>
            </a:r>
            <a:r>
              <a:rPr lang="en-IN" dirty="0"/>
              <a:t> The model's performance degraded over time, and the company could not figure out why. It turned out that the gradients were becoming too large, causing numerical instability.</a:t>
            </a:r>
          </a:p>
          <a:p>
            <a:pPr>
              <a:buFont typeface="Arial" panose="020B0604020202020204" pitchFamily="34" charset="0"/>
              <a:buChar char="•"/>
            </a:pPr>
            <a:r>
              <a:rPr lang="en-IN" b="1" dirty="0"/>
              <a:t>Solution:</a:t>
            </a:r>
            <a:r>
              <a:rPr lang="en-IN" dirty="0"/>
              <a:t> By monitoring gradient norms and implementing gradient clipping, they were able to prevent this issue and maintain stable training.</a:t>
            </a:r>
          </a:p>
          <a:p>
            <a:endParaRPr lang="en-US" dirty="0"/>
          </a:p>
        </p:txBody>
      </p:sp>
    </p:spTree>
    <p:extLst>
      <p:ext uri="{BB962C8B-B14F-4D97-AF65-F5344CB8AC3E}">
        <p14:creationId xmlns:p14="http://schemas.microsoft.com/office/powerpoint/2010/main" val="2832696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0780-19F9-5E90-EC15-22598AAC686D}"/>
              </a:ext>
            </a:extLst>
          </p:cNvPr>
          <p:cNvSpPr>
            <a:spLocks noGrp="1"/>
          </p:cNvSpPr>
          <p:nvPr>
            <p:ph type="title"/>
          </p:nvPr>
        </p:nvSpPr>
        <p:spPr/>
        <p:txBody>
          <a:bodyPr/>
          <a:lstStyle/>
          <a:p>
            <a:r>
              <a:rPr lang="en-IN" dirty="0"/>
              <a:t>Ignoring Feature Importance</a:t>
            </a:r>
            <a:endParaRPr lang="en-US" dirty="0"/>
          </a:p>
        </p:txBody>
      </p:sp>
      <p:sp>
        <p:nvSpPr>
          <p:cNvPr id="3" name="Content Placeholder 2">
            <a:extLst>
              <a:ext uri="{FF2B5EF4-FFF2-40B4-BE49-F238E27FC236}">
                <a16:creationId xmlns:a16="http://schemas.microsoft.com/office/drawing/2014/main" id="{EDC353AE-C5B8-1A84-B500-46150CE26B99}"/>
              </a:ext>
            </a:extLst>
          </p:cNvPr>
          <p:cNvSpPr>
            <a:spLocks noGrp="1"/>
          </p:cNvSpPr>
          <p:nvPr>
            <p:ph idx="1"/>
          </p:nvPr>
        </p:nvSpPr>
        <p:spPr/>
        <p:txBody>
          <a:bodyPr/>
          <a:lstStyle/>
          <a:p>
            <a:r>
              <a:rPr lang="en-IN" b="1" dirty="0"/>
              <a:t>Scenario:</a:t>
            </a:r>
            <a:r>
              <a:rPr lang="en-IN" dirty="0"/>
              <a:t> A financial firm used a neural network to detect fraudulent transactions.</a:t>
            </a:r>
          </a:p>
          <a:p>
            <a:r>
              <a:rPr lang="en-IN" b="1" dirty="0"/>
              <a:t>Error:</a:t>
            </a:r>
            <a:r>
              <a:rPr lang="en-IN" dirty="0"/>
              <a:t> The model was fed with all available features without considering their importance. Some irrelevant or redundant features caused noise in the learning process.</a:t>
            </a:r>
          </a:p>
          <a:p>
            <a:r>
              <a:rPr lang="en-IN" b="1" dirty="0"/>
              <a:t>Solution:</a:t>
            </a:r>
            <a:r>
              <a:rPr lang="en-IN" dirty="0"/>
              <a:t> Using feature selection techniques or training with a smaller subset of more relevant features improved the model's performance in fraud detection.</a:t>
            </a:r>
            <a:endParaRPr lang="en-US" dirty="0"/>
          </a:p>
        </p:txBody>
      </p:sp>
    </p:spTree>
    <p:extLst>
      <p:ext uri="{BB962C8B-B14F-4D97-AF65-F5344CB8AC3E}">
        <p14:creationId xmlns:p14="http://schemas.microsoft.com/office/powerpoint/2010/main" val="1510764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B63B-A5B3-58EF-0692-6E9569D29707}"/>
              </a:ext>
            </a:extLst>
          </p:cNvPr>
          <p:cNvSpPr>
            <a:spLocks noGrp="1"/>
          </p:cNvSpPr>
          <p:nvPr>
            <p:ph type="title"/>
          </p:nvPr>
        </p:nvSpPr>
        <p:spPr/>
        <p:txBody>
          <a:bodyPr/>
          <a:lstStyle/>
          <a:p>
            <a:r>
              <a:rPr lang="en-IN" dirty="0"/>
              <a:t>Improper Handling of Categorical Data</a:t>
            </a:r>
            <a:endParaRPr lang="en-US" dirty="0"/>
          </a:p>
        </p:txBody>
      </p:sp>
      <p:sp>
        <p:nvSpPr>
          <p:cNvPr id="3" name="Content Placeholder 2">
            <a:extLst>
              <a:ext uri="{FF2B5EF4-FFF2-40B4-BE49-F238E27FC236}">
                <a16:creationId xmlns:a16="http://schemas.microsoft.com/office/drawing/2014/main" id="{4E802F0F-4D22-7A73-B967-2B9120B650EE}"/>
              </a:ext>
            </a:extLst>
          </p:cNvPr>
          <p:cNvSpPr>
            <a:spLocks noGrp="1"/>
          </p:cNvSpPr>
          <p:nvPr>
            <p:ph idx="1"/>
          </p:nvPr>
        </p:nvSpPr>
        <p:spPr/>
        <p:txBody>
          <a:bodyPr/>
          <a:lstStyle/>
          <a:p>
            <a:r>
              <a:rPr lang="en-IN" b="1" dirty="0"/>
              <a:t>Scenario:</a:t>
            </a:r>
            <a:r>
              <a:rPr lang="en-IN" dirty="0"/>
              <a:t> A telecom company was using a neural network to predict customer churn based on various categorical features like geographic location, contract type, etc.</a:t>
            </a:r>
          </a:p>
          <a:p>
            <a:r>
              <a:rPr lang="en-IN" b="1" dirty="0"/>
              <a:t>Error:</a:t>
            </a:r>
            <a:r>
              <a:rPr lang="en-IN" dirty="0"/>
              <a:t> The categorical data was improperly handled by directly feeding them as numerical labels, which introduced unintended ordinal relationships.</a:t>
            </a:r>
          </a:p>
          <a:p>
            <a:r>
              <a:rPr lang="en-IN" b="1" dirty="0"/>
              <a:t>Solution:</a:t>
            </a:r>
            <a:r>
              <a:rPr lang="en-IN" dirty="0"/>
              <a:t> Properly encoding the categorical variables using one-hot encoding or embeddings (if the categories were high cardinality) led to improved model performance and more accurate predictions.</a:t>
            </a:r>
            <a:endParaRPr lang="en-US" dirty="0"/>
          </a:p>
        </p:txBody>
      </p:sp>
    </p:spTree>
    <p:extLst>
      <p:ext uri="{BB962C8B-B14F-4D97-AF65-F5344CB8AC3E}">
        <p14:creationId xmlns:p14="http://schemas.microsoft.com/office/powerpoint/2010/main" val="272264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8913-6C6C-2153-9BB4-E482A6931E79}"/>
              </a:ext>
            </a:extLst>
          </p:cNvPr>
          <p:cNvSpPr>
            <a:spLocks noGrp="1"/>
          </p:cNvSpPr>
          <p:nvPr>
            <p:ph type="title"/>
          </p:nvPr>
        </p:nvSpPr>
        <p:spPr/>
        <p:txBody>
          <a:bodyPr/>
          <a:lstStyle/>
          <a:p>
            <a:r>
              <a:rPr lang="en-IN" dirty="0"/>
              <a:t>Inadequate Data Augmentation</a:t>
            </a:r>
            <a:endParaRPr lang="en-US" dirty="0"/>
          </a:p>
        </p:txBody>
      </p:sp>
      <p:sp>
        <p:nvSpPr>
          <p:cNvPr id="3" name="Content Placeholder 2">
            <a:extLst>
              <a:ext uri="{FF2B5EF4-FFF2-40B4-BE49-F238E27FC236}">
                <a16:creationId xmlns:a16="http://schemas.microsoft.com/office/drawing/2014/main" id="{F192E2C9-ADEB-98F2-8324-7EEF390E85EB}"/>
              </a:ext>
            </a:extLst>
          </p:cNvPr>
          <p:cNvSpPr>
            <a:spLocks noGrp="1"/>
          </p:cNvSpPr>
          <p:nvPr>
            <p:ph idx="1"/>
          </p:nvPr>
        </p:nvSpPr>
        <p:spPr/>
        <p:txBody>
          <a:bodyPr/>
          <a:lstStyle/>
          <a:p>
            <a:r>
              <a:rPr lang="en-IN" b="1" dirty="0"/>
              <a:t>Scenario:</a:t>
            </a:r>
            <a:r>
              <a:rPr lang="en-IN" dirty="0"/>
              <a:t> An autonomous vehicle company used a neural network to classify road signs from images captured by cameras.</a:t>
            </a:r>
          </a:p>
          <a:p>
            <a:r>
              <a:rPr lang="en-IN" b="1" dirty="0"/>
              <a:t>Error:</a:t>
            </a:r>
            <a:r>
              <a:rPr lang="en-IN" dirty="0"/>
              <a:t> The model performed well in the lab but poorly in real-world scenarios because the training data did not adequately represent the variability of road signs (e.g., lighting conditions, angles, partial occlusions).</a:t>
            </a:r>
          </a:p>
          <a:p>
            <a:r>
              <a:rPr lang="en-IN" b="1" dirty="0"/>
              <a:t>Solution:</a:t>
            </a:r>
            <a:r>
              <a:rPr lang="en-IN" dirty="0"/>
              <a:t> Implementing data augmentation techniques like rotation, scaling, brightness adjustment, and adding noise improved the model’s robustness and performance in real-world conditions.</a:t>
            </a:r>
            <a:endParaRPr lang="en-US" dirty="0"/>
          </a:p>
        </p:txBody>
      </p:sp>
    </p:spTree>
    <p:extLst>
      <p:ext uri="{BB962C8B-B14F-4D97-AF65-F5344CB8AC3E}">
        <p14:creationId xmlns:p14="http://schemas.microsoft.com/office/powerpoint/2010/main" val="3760362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1C44-D888-8D1D-5119-32CF79DB4E1A}"/>
              </a:ext>
            </a:extLst>
          </p:cNvPr>
          <p:cNvSpPr>
            <a:spLocks noGrp="1"/>
          </p:cNvSpPr>
          <p:nvPr>
            <p:ph type="title"/>
          </p:nvPr>
        </p:nvSpPr>
        <p:spPr/>
        <p:txBody>
          <a:bodyPr/>
          <a:lstStyle/>
          <a:p>
            <a:r>
              <a:rPr lang="en-IN" dirty="0"/>
              <a:t>Improper Batch Size Selection</a:t>
            </a:r>
            <a:endParaRPr lang="en-US" dirty="0"/>
          </a:p>
        </p:txBody>
      </p:sp>
      <p:sp>
        <p:nvSpPr>
          <p:cNvPr id="3" name="Content Placeholder 2">
            <a:extLst>
              <a:ext uri="{FF2B5EF4-FFF2-40B4-BE49-F238E27FC236}">
                <a16:creationId xmlns:a16="http://schemas.microsoft.com/office/drawing/2014/main" id="{30CA483E-71ED-49A7-A999-CE95D6C69659}"/>
              </a:ext>
            </a:extLst>
          </p:cNvPr>
          <p:cNvSpPr>
            <a:spLocks noGrp="1"/>
          </p:cNvSpPr>
          <p:nvPr>
            <p:ph idx="1"/>
          </p:nvPr>
        </p:nvSpPr>
        <p:spPr/>
        <p:txBody>
          <a:bodyPr/>
          <a:lstStyle/>
          <a:p>
            <a:r>
              <a:rPr lang="en-IN" b="1" dirty="0"/>
              <a:t>Scenario:</a:t>
            </a:r>
            <a:r>
              <a:rPr lang="en-IN" dirty="0"/>
              <a:t> A gaming company used a neural network to optimize in-game character </a:t>
            </a:r>
            <a:r>
              <a:rPr lang="en-IN" dirty="0" err="1"/>
              <a:t>behavior</a:t>
            </a:r>
            <a:r>
              <a:rPr lang="en-IN" dirty="0"/>
              <a:t> based on player actions.</a:t>
            </a:r>
          </a:p>
          <a:p>
            <a:r>
              <a:rPr lang="en-IN" b="1" dirty="0"/>
              <a:t>Error:</a:t>
            </a:r>
            <a:r>
              <a:rPr lang="en-IN" dirty="0"/>
              <a:t> They initially used a very large batch size during training, which caused the model to converge to sharp minima in the loss landscape, leading to poor generalization.</a:t>
            </a:r>
          </a:p>
          <a:p>
            <a:r>
              <a:rPr lang="en-IN" b="1" dirty="0"/>
              <a:t>Solution:</a:t>
            </a:r>
            <a:r>
              <a:rPr lang="en-IN" dirty="0"/>
              <a:t> Reducing the batch size allowed the model to explore a smoother loss landscape and improved generalization to unseen game scenarios.</a:t>
            </a:r>
            <a:endParaRPr lang="en-US" dirty="0"/>
          </a:p>
        </p:txBody>
      </p:sp>
    </p:spTree>
    <p:extLst>
      <p:ext uri="{BB962C8B-B14F-4D97-AF65-F5344CB8AC3E}">
        <p14:creationId xmlns:p14="http://schemas.microsoft.com/office/powerpoint/2010/main" val="2050774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673A-E484-8858-3DAE-D020076A0CC8}"/>
              </a:ext>
            </a:extLst>
          </p:cNvPr>
          <p:cNvSpPr>
            <a:spLocks noGrp="1"/>
          </p:cNvSpPr>
          <p:nvPr>
            <p:ph type="title"/>
          </p:nvPr>
        </p:nvSpPr>
        <p:spPr/>
        <p:txBody>
          <a:bodyPr/>
          <a:lstStyle/>
          <a:p>
            <a:r>
              <a:rPr lang="en-IN" b="1" dirty="0"/>
              <a:t>Ignoring Overfitting in Early Stages</a:t>
            </a:r>
            <a:endParaRPr lang="en-US" dirty="0"/>
          </a:p>
        </p:txBody>
      </p:sp>
      <p:sp>
        <p:nvSpPr>
          <p:cNvPr id="3" name="Content Placeholder 2">
            <a:extLst>
              <a:ext uri="{FF2B5EF4-FFF2-40B4-BE49-F238E27FC236}">
                <a16:creationId xmlns:a16="http://schemas.microsoft.com/office/drawing/2014/main" id="{A8A9F66E-AA2B-B1AF-CAE0-69445BC40B22}"/>
              </a:ext>
            </a:extLst>
          </p:cNvPr>
          <p:cNvSpPr>
            <a:spLocks noGrp="1"/>
          </p:cNvSpPr>
          <p:nvPr>
            <p:ph idx="1"/>
          </p:nvPr>
        </p:nvSpPr>
        <p:spPr/>
        <p:txBody>
          <a:bodyPr/>
          <a:lstStyle/>
          <a:p>
            <a:r>
              <a:rPr lang="en-IN" b="1" dirty="0"/>
              <a:t>Scenario:</a:t>
            </a:r>
            <a:r>
              <a:rPr lang="en-IN" dirty="0"/>
              <a:t> An e-commerce platform used a feedforward neural network to forecast demand for products.</a:t>
            </a:r>
          </a:p>
          <a:p>
            <a:r>
              <a:rPr lang="en-IN" b="1" dirty="0"/>
              <a:t>Error:</a:t>
            </a:r>
            <a:r>
              <a:rPr lang="en-IN" dirty="0"/>
              <a:t> The model achieved near-perfect performance on training data within a few epochs, but it performed poorly on validation data. This overfitting was not caught early, leading to wasted training time and resources.</a:t>
            </a:r>
          </a:p>
          <a:p>
            <a:r>
              <a:rPr lang="en-IN" b="1" dirty="0"/>
              <a:t>Solution:</a:t>
            </a:r>
            <a:r>
              <a:rPr lang="en-IN" dirty="0"/>
              <a:t> Implementing early stopping, where training is halted when validation performance stops improving, prevented overfitting and led to better generalization.</a:t>
            </a:r>
            <a:endParaRPr lang="en-US" dirty="0"/>
          </a:p>
        </p:txBody>
      </p:sp>
    </p:spTree>
    <p:extLst>
      <p:ext uri="{BB962C8B-B14F-4D97-AF65-F5344CB8AC3E}">
        <p14:creationId xmlns:p14="http://schemas.microsoft.com/office/powerpoint/2010/main" val="567081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9A8F-C0FA-0498-7469-5F633F86D9A4}"/>
              </a:ext>
            </a:extLst>
          </p:cNvPr>
          <p:cNvSpPr>
            <a:spLocks noGrp="1"/>
          </p:cNvSpPr>
          <p:nvPr>
            <p:ph type="title"/>
          </p:nvPr>
        </p:nvSpPr>
        <p:spPr/>
        <p:txBody>
          <a:bodyPr>
            <a:normAutofit/>
          </a:bodyPr>
          <a:lstStyle/>
          <a:p>
            <a:r>
              <a:rPr lang="en-IN" b="1" dirty="0"/>
              <a:t>Mismatch Between Input Dimensions and Network Architecture</a:t>
            </a:r>
            <a:endParaRPr lang="en-US" dirty="0"/>
          </a:p>
        </p:txBody>
      </p:sp>
      <p:sp>
        <p:nvSpPr>
          <p:cNvPr id="3" name="Content Placeholder 2">
            <a:extLst>
              <a:ext uri="{FF2B5EF4-FFF2-40B4-BE49-F238E27FC236}">
                <a16:creationId xmlns:a16="http://schemas.microsoft.com/office/drawing/2014/main" id="{CA9A8C39-B05E-5332-B516-031175E31580}"/>
              </a:ext>
            </a:extLst>
          </p:cNvPr>
          <p:cNvSpPr>
            <a:spLocks noGrp="1"/>
          </p:cNvSpPr>
          <p:nvPr>
            <p:ph idx="1"/>
          </p:nvPr>
        </p:nvSpPr>
        <p:spPr/>
        <p:txBody>
          <a:bodyPr>
            <a:normAutofit/>
          </a:bodyPr>
          <a:lstStyle/>
          <a:p>
            <a:pPr>
              <a:buFont typeface="Arial" panose="020B0604020202020204" pitchFamily="34" charset="0"/>
              <a:buChar char="•"/>
            </a:pPr>
            <a:r>
              <a:rPr lang="en-IN" b="1" dirty="0"/>
              <a:t>Scenario:</a:t>
            </a:r>
            <a:r>
              <a:rPr lang="en-IN" dirty="0"/>
              <a:t> A healthcare company was building a neural network to classify different types of medical conditions based on patient data.</a:t>
            </a:r>
          </a:p>
          <a:p>
            <a:pPr>
              <a:buFont typeface="Arial" panose="020B0604020202020204" pitchFamily="34" charset="0"/>
              <a:buChar char="•"/>
            </a:pPr>
            <a:r>
              <a:rPr lang="en-IN" b="1" dirty="0"/>
              <a:t>Error:</a:t>
            </a:r>
            <a:r>
              <a:rPr lang="en-IN" dirty="0"/>
              <a:t> They designed the input layer with fewer neurons than the number of input features, causing a dimensionality mismatch that led to errors during the forward pass.</a:t>
            </a:r>
          </a:p>
          <a:p>
            <a:pPr>
              <a:buFont typeface="Arial" panose="020B0604020202020204" pitchFamily="34" charset="0"/>
              <a:buChar char="•"/>
            </a:pPr>
            <a:r>
              <a:rPr lang="en-IN" b="1" dirty="0"/>
              <a:t>Solution:</a:t>
            </a:r>
            <a:r>
              <a:rPr lang="en-IN" dirty="0"/>
              <a:t> Correctly matching the input layer dimensions with the number of input features or reducing dimensionality using techniques like PCA before feeding the data into the network resolved this issue.</a:t>
            </a:r>
          </a:p>
          <a:p>
            <a:endParaRPr lang="en-US" dirty="0"/>
          </a:p>
        </p:txBody>
      </p:sp>
    </p:spTree>
    <p:extLst>
      <p:ext uri="{BB962C8B-B14F-4D97-AF65-F5344CB8AC3E}">
        <p14:creationId xmlns:p14="http://schemas.microsoft.com/office/powerpoint/2010/main" val="3457798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48EF-2AC3-6E27-50A3-F63056711A0C}"/>
              </a:ext>
            </a:extLst>
          </p:cNvPr>
          <p:cNvSpPr>
            <a:spLocks noGrp="1"/>
          </p:cNvSpPr>
          <p:nvPr>
            <p:ph type="title"/>
          </p:nvPr>
        </p:nvSpPr>
        <p:spPr/>
        <p:txBody>
          <a:bodyPr/>
          <a:lstStyle/>
          <a:p>
            <a:r>
              <a:rPr lang="en-IN" dirty="0"/>
              <a:t>Lack of Data Shuffling</a:t>
            </a:r>
            <a:endParaRPr lang="en-US" dirty="0"/>
          </a:p>
        </p:txBody>
      </p:sp>
      <p:sp>
        <p:nvSpPr>
          <p:cNvPr id="3" name="Content Placeholder 2">
            <a:extLst>
              <a:ext uri="{FF2B5EF4-FFF2-40B4-BE49-F238E27FC236}">
                <a16:creationId xmlns:a16="http://schemas.microsoft.com/office/drawing/2014/main" id="{0C574172-9E34-B374-0323-F2D9AF5B8705}"/>
              </a:ext>
            </a:extLst>
          </p:cNvPr>
          <p:cNvSpPr>
            <a:spLocks noGrp="1"/>
          </p:cNvSpPr>
          <p:nvPr>
            <p:ph idx="1"/>
          </p:nvPr>
        </p:nvSpPr>
        <p:spPr/>
        <p:txBody>
          <a:bodyPr/>
          <a:lstStyle/>
          <a:p>
            <a:r>
              <a:rPr lang="en-IN" b="1" dirty="0"/>
              <a:t>Scenario:</a:t>
            </a:r>
            <a:r>
              <a:rPr lang="en-IN" dirty="0"/>
              <a:t> A manufacturing company used a neural network to predict equipment failures based on historical sensor data.</a:t>
            </a:r>
          </a:p>
          <a:p>
            <a:r>
              <a:rPr lang="en-IN" b="1" dirty="0"/>
              <a:t>Error:</a:t>
            </a:r>
            <a:r>
              <a:rPr lang="en-IN" dirty="0"/>
              <a:t> The data was fed into the model in a sequential order without shuffling, which led to the model learning temporal patterns that were not representative of the overall data distribution.</a:t>
            </a:r>
          </a:p>
          <a:p>
            <a:r>
              <a:rPr lang="en-IN" b="1" dirty="0"/>
              <a:t>Solution:</a:t>
            </a:r>
            <a:r>
              <a:rPr lang="en-IN" dirty="0"/>
              <a:t> Shuffling the data before each epoch of training ensured that the model learned from a more representative distribution, improving its ability to generalize to new equipment data.</a:t>
            </a:r>
            <a:endParaRPr lang="en-US" dirty="0"/>
          </a:p>
        </p:txBody>
      </p:sp>
    </p:spTree>
    <p:extLst>
      <p:ext uri="{BB962C8B-B14F-4D97-AF65-F5344CB8AC3E}">
        <p14:creationId xmlns:p14="http://schemas.microsoft.com/office/powerpoint/2010/main" val="1434559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1886-9CF5-ADB8-966D-E8961BF6FB9A}"/>
              </a:ext>
            </a:extLst>
          </p:cNvPr>
          <p:cNvSpPr>
            <a:spLocks noGrp="1"/>
          </p:cNvSpPr>
          <p:nvPr>
            <p:ph type="title"/>
          </p:nvPr>
        </p:nvSpPr>
        <p:spPr/>
        <p:txBody>
          <a:bodyPr/>
          <a:lstStyle/>
          <a:p>
            <a:r>
              <a:rPr lang="en-IN" dirty="0"/>
              <a:t>Failure to Validate with Cross-Validation</a:t>
            </a:r>
            <a:endParaRPr lang="en-US" dirty="0"/>
          </a:p>
        </p:txBody>
      </p:sp>
      <p:sp>
        <p:nvSpPr>
          <p:cNvPr id="3" name="Content Placeholder 2">
            <a:extLst>
              <a:ext uri="{FF2B5EF4-FFF2-40B4-BE49-F238E27FC236}">
                <a16:creationId xmlns:a16="http://schemas.microsoft.com/office/drawing/2014/main" id="{8BA2EDAB-648D-2B73-C499-0824332F42FD}"/>
              </a:ext>
            </a:extLst>
          </p:cNvPr>
          <p:cNvSpPr>
            <a:spLocks noGrp="1"/>
          </p:cNvSpPr>
          <p:nvPr>
            <p:ph idx="1"/>
          </p:nvPr>
        </p:nvSpPr>
        <p:spPr/>
        <p:txBody>
          <a:bodyPr/>
          <a:lstStyle/>
          <a:p>
            <a:pPr>
              <a:buFont typeface="Arial" panose="020B0604020202020204" pitchFamily="34" charset="0"/>
              <a:buChar char="•"/>
            </a:pPr>
            <a:r>
              <a:rPr lang="en-IN" b="1" dirty="0"/>
              <a:t>Scenario:</a:t>
            </a:r>
            <a:r>
              <a:rPr lang="en-IN" dirty="0"/>
              <a:t> A marketing firm used a neural network to segment customers based on purchasing </a:t>
            </a:r>
            <a:r>
              <a:rPr lang="en-IN" dirty="0" err="1"/>
              <a:t>behavior</a:t>
            </a:r>
            <a:r>
              <a:rPr lang="en-IN" dirty="0"/>
              <a:t>.</a:t>
            </a:r>
          </a:p>
          <a:p>
            <a:pPr>
              <a:buFont typeface="Arial" panose="020B0604020202020204" pitchFamily="34" charset="0"/>
              <a:buChar char="•"/>
            </a:pPr>
            <a:r>
              <a:rPr lang="en-IN" b="1" dirty="0"/>
              <a:t>Error:</a:t>
            </a:r>
            <a:r>
              <a:rPr lang="en-IN" dirty="0"/>
              <a:t> They validated the model’s performance using a single train-test split, leading to overfitting to a specific data split and an overestimation of the model’s generalizability.</a:t>
            </a:r>
          </a:p>
          <a:p>
            <a:pPr>
              <a:buFont typeface="Arial" panose="020B0604020202020204" pitchFamily="34" charset="0"/>
              <a:buChar char="•"/>
            </a:pPr>
            <a:r>
              <a:rPr lang="en-IN" b="1" dirty="0"/>
              <a:t>Solution:</a:t>
            </a:r>
            <a:r>
              <a:rPr lang="en-IN" dirty="0"/>
              <a:t> Implementing k-fold cross-validation provided a more robust estimate of the model’s performance and ensured better generalization across different customer segments.</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D7A6D2F-4810-DB0C-8982-70A55FDEC006}"/>
                  </a:ext>
                </a:extLst>
              </p14:cNvPr>
              <p14:cNvContentPartPr/>
              <p14:nvPr/>
            </p14:nvContentPartPr>
            <p14:xfrm>
              <a:off x="4015628" y="2255290"/>
              <a:ext cx="1604880" cy="125280"/>
            </p14:xfrm>
          </p:contentPart>
        </mc:Choice>
        <mc:Fallback xmlns="">
          <p:pic>
            <p:nvPicPr>
              <p:cNvPr id="4" name="Ink 3">
                <a:extLst>
                  <a:ext uri="{FF2B5EF4-FFF2-40B4-BE49-F238E27FC236}">
                    <a16:creationId xmlns:a16="http://schemas.microsoft.com/office/drawing/2014/main" id="{FD7A6D2F-4810-DB0C-8982-70A55FDEC006}"/>
                  </a:ext>
                </a:extLst>
              </p:cNvPr>
              <p:cNvPicPr/>
              <p:nvPr/>
            </p:nvPicPr>
            <p:blipFill>
              <a:blip r:embed="rId3"/>
              <a:stretch>
                <a:fillRect/>
              </a:stretch>
            </p:blipFill>
            <p:spPr>
              <a:xfrm>
                <a:off x="4006628" y="2246650"/>
                <a:ext cx="16225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7ABFDD1-6E58-6B09-FF8D-6B8E6851363C}"/>
                  </a:ext>
                </a:extLst>
              </p14:cNvPr>
              <p14:cNvContentPartPr/>
              <p14:nvPr/>
            </p14:nvContentPartPr>
            <p14:xfrm>
              <a:off x="5079428" y="2585050"/>
              <a:ext cx="1047960" cy="11880"/>
            </p14:xfrm>
          </p:contentPart>
        </mc:Choice>
        <mc:Fallback xmlns="">
          <p:pic>
            <p:nvPicPr>
              <p:cNvPr id="5" name="Ink 4">
                <a:extLst>
                  <a:ext uri="{FF2B5EF4-FFF2-40B4-BE49-F238E27FC236}">
                    <a16:creationId xmlns:a16="http://schemas.microsoft.com/office/drawing/2014/main" id="{17ABFDD1-6E58-6B09-FF8D-6B8E6851363C}"/>
                  </a:ext>
                </a:extLst>
              </p:cNvPr>
              <p:cNvPicPr/>
              <p:nvPr/>
            </p:nvPicPr>
            <p:blipFill>
              <a:blip r:embed="rId5"/>
              <a:stretch>
                <a:fillRect/>
              </a:stretch>
            </p:blipFill>
            <p:spPr>
              <a:xfrm>
                <a:off x="5070788" y="2576410"/>
                <a:ext cx="1065600" cy="29520"/>
              </a:xfrm>
              <a:prstGeom prst="rect">
                <a:avLst/>
              </a:prstGeom>
            </p:spPr>
          </p:pic>
        </mc:Fallback>
      </mc:AlternateContent>
    </p:spTree>
    <p:extLst>
      <p:ext uri="{BB962C8B-B14F-4D97-AF65-F5344CB8AC3E}">
        <p14:creationId xmlns:p14="http://schemas.microsoft.com/office/powerpoint/2010/main" val="4023802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D472-D231-FA72-EFE6-284E69144844}"/>
              </a:ext>
            </a:extLst>
          </p:cNvPr>
          <p:cNvSpPr>
            <a:spLocks noGrp="1"/>
          </p:cNvSpPr>
          <p:nvPr>
            <p:ph type="title"/>
          </p:nvPr>
        </p:nvSpPr>
        <p:spPr/>
        <p:txBody>
          <a:bodyPr/>
          <a:lstStyle/>
          <a:p>
            <a:r>
              <a:rPr lang="en-IN" dirty="0"/>
              <a:t>Not Addressing Data Leakage</a:t>
            </a:r>
            <a:endParaRPr lang="en-US" dirty="0"/>
          </a:p>
        </p:txBody>
      </p:sp>
      <p:sp>
        <p:nvSpPr>
          <p:cNvPr id="3" name="Content Placeholder 2">
            <a:extLst>
              <a:ext uri="{FF2B5EF4-FFF2-40B4-BE49-F238E27FC236}">
                <a16:creationId xmlns:a16="http://schemas.microsoft.com/office/drawing/2014/main" id="{8B1E6EDB-8A69-F089-8B96-763469A89D35}"/>
              </a:ext>
            </a:extLst>
          </p:cNvPr>
          <p:cNvSpPr>
            <a:spLocks noGrp="1"/>
          </p:cNvSpPr>
          <p:nvPr>
            <p:ph idx="1"/>
          </p:nvPr>
        </p:nvSpPr>
        <p:spPr/>
        <p:txBody>
          <a:bodyPr/>
          <a:lstStyle/>
          <a:p>
            <a:r>
              <a:rPr lang="en-IN" b="1" dirty="0"/>
              <a:t>Scenario:</a:t>
            </a:r>
            <a:r>
              <a:rPr lang="en-IN" dirty="0"/>
              <a:t> An insurance company developed a neural network model to predict customer claims based on historical data.</a:t>
            </a:r>
          </a:p>
          <a:p>
            <a:r>
              <a:rPr lang="en-IN" b="1" dirty="0"/>
              <a:t>Error:</a:t>
            </a:r>
            <a:r>
              <a:rPr lang="en-IN" dirty="0"/>
              <a:t> Some of the features used in the model were derived from future data, leading to data leakage. This caused the model to perform well during training but fail in production.</a:t>
            </a:r>
          </a:p>
          <a:p>
            <a:r>
              <a:rPr lang="en-IN" b="1" dirty="0"/>
              <a:t>Solution:</a:t>
            </a:r>
            <a:r>
              <a:rPr lang="en-IN" dirty="0"/>
              <a:t> Ensuring that only past data is used for prediction and that no future information is inadvertently included in the training data resolved the data leakage issue.</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B6B3F55-8B08-F1FE-EC64-FC62EEEA801C}"/>
                  </a:ext>
                </a:extLst>
              </p14:cNvPr>
              <p14:cNvContentPartPr/>
              <p14:nvPr/>
            </p14:nvContentPartPr>
            <p14:xfrm>
              <a:off x="3088988" y="2281930"/>
              <a:ext cx="2164320" cy="139320"/>
            </p14:xfrm>
          </p:contentPart>
        </mc:Choice>
        <mc:Fallback xmlns="">
          <p:pic>
            <p:nvPicPr>
              <p:cNvPr id="4" name="Ink 3">
                <a:extLst>
                  <a:ext uri="{FF2B5EF4-FFF2-40B4-BE49-F238E27FC236}">
                    <a16:creationId xmlns:a16="http://schemas.microsoft.com/office/drawing/2014/main" id="{EB6B3F55-8B08-F1FE-EC64-FC62EEEA801C}"/>
                  </a:ext>
                </a:extLst>
              </p:cNvPr>
              <p:cNvPicPr/>
              <p:nvPr/>
            </p:nvPicPr>
            <p:blipFill>
              <a:blip r:embed="rId3"/>
              <a:stretch>
                <a:fillRect/>
              </a:stretch>
            </p:blipFill>
            <p:spPr>
              <a:xfrm>
                <a:off x="3079988" y="2272930"/>
                <a:ext cx="21819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28AACBF-DD16-03EF-D1A8-E5238DA4A46B}"/>
                  </a:ext>
                </a:extLst>
              </p14:cNvPr>
              <p14:cNvContentPartPr/>
              <p14:nvPr/>
            </p14:nvContentPartPr>
            <p14:xfrm>
              <a:off x="4386068" y="2670370"/>
              <a:ext cx="2844720" cy="360"/>
            </p14:xfrm>
          </p:contentPart>
        </mc:Choice>
        <mc:Fallback xmlns="">
          <p:pic>
            <p:nvPicPr>
              <p:cNvPr id="5" name="Ink 4">
                <a:extLst>
                  <a:ext uri="{FF2B5EF4-FFF2-40B4-BE49-F238E27FC236}">
                    <a16:creationId xmlns:a16="http://schemas.microsoft.com/office/drawing/2014/main" id="{128AACBF-DD16-03EF-D1A8-E5238DA4A46B}"/>
                  </a:ext>
                </a:extLst>
              </p:cNvPr>
              <p:cNvPicPr/>
              <p:nvPr/>
            </p:nvPicPr>
            <p:blipFill>
              <a:blip r:embed="rId5"/>
              <a:stretch>
                <a:fillRect/>
              </a:stretch>
            </p:blipFill>
            <p:spPr>
              <a:xfrm>
                <a:off x="4377428" y="2661370"/>
                <a:ext cx="2862360" cy="18000"/>
              </a:xfrm>
              <a:prstGeom prst="rect">
                <a:avLst/>
              </a:prstGeom>
            </p:spPr>
          </p:pic>
        </mc:Fallback>
      </mc:AlternateContent>
    </p:spTree>
    <p:extLst>
      <p:ext uri="{BB962C8B-B14F-4D97-AF65-F5344CB8AC3E}">
        <p14:creationId xmlns:p14="http://schemas.microsoft.com/office/powerpoint/2010/main" val="407754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639</TotalTime>
  <Words>2758</Words>
  <Application>Microsoft Macintosh PowerPoint</Application>
  <PresentationFormat>Widescreen</PresentationFormat>
  <Paragraphs>137</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Components of the Perceptron</vt:lpstr>
      <vt:lpstr>How the Perceptron Works</vt:lpstr>
      <vt:lpstr>Learning in the Perceptron</vt:lpstr>
      <vt:lpstr>Summary</vt:lpstr>
      <vt:lpstr>Feedforward Algorithm</vt:lpstr>
      <vt:lpstr>PowerPoint Presentation</vt:lpstr>
      <vt:lpstr>PowerPoint Presentation</vt:lpstr>
      <vt:lpstr>PowerPoint Presentation</vt:lpstr>
      <vt:lpstr>FeedForward in Action</vt:lpstr>
      <vt:lpstr>Intuition Behind Weights and Biases</vt:lpstr>
      <vt:lpstr>Activation Function</vt:lpstr>
      <vt:lpstr>Vanishing/Exploding Gradients</vt:lpstr>
      <vt:lpstr>Incorrect Weight Initialization</vt:lpstr>
      <vt:lpstr>Improper Input Scaling</vt:lpstr>
      <vt:lpstr>Incorrect Learning Rate</vt:lpstr>
      <vt:lpstr>Overfitting Due to Lack of Regularization</vt:lpstr>
      <vt:lpstr>Ignoring Data Imbalance</vt:lpstr>
      <vt:lpstr>Mismatched Architecture for the Problem</vt:lpstr>
      <vt:lpstr>Lack of Batch Normalization</vt:lpstr>
      <vt:lpstr>Not Monitoring Gradient Norms</vt:lpstr>
      <vt:lpstr>Ignoring Feature Importance</vt:lpstr>
      <vt:lpstr>Improper Handling of Categorical Data</vt:lpstr>
      <vt:lpstr>Inadequate Data Augmentation</vt:lpstr>
      <vt:lpstr>Improper Batch Size Selection</vt:lpstr>
      <vt:lpstr>Ignoring Overfitting in Early Stages</vt:lpstr>
      <vt:lpstr>Mismatch Between Input Dimensions and Network Architecture</vt:lpstr>
      <vt:lpstr>Lack of Data Shuffling</vt:lpstr>
      <vt:lpstr>Failure to Validate with Cross-Validation</vt:lpstr>
      <vt:lpstr>Not Addressing Data Leakage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Deven Kalra</cp:lastModifiedBy>
  <cp:revision>5</cp:revision>
  <dcterms:created xsi:type="dcterms:W3CDTF">2024-08-30T21:47:54Z</dcterms:created>
  <dcterms:modified xsi:type="dcterms:W3CDTF">2026-02-25T16:12:35Z</dcterms:modified>
</cp:coreProperties>
</file>