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5" r:id="rId49"/>
    <p:sldId id="307" r:id="rId50"/>
    <p:sldId id="308" r:id="rId51"/>
    <p:sldId id="303" r:id="rId52"/>
    <p:sldId id="304" r:id="rId53"/>
    <p:sldId id="306"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2"/>
    <p:restoredTop sz="94700"/>
  </p:normalViewPr>
  <p:slideViewPr>
    <p:cSldViewPr snapToGrid="0">
      <p:cViewPr varScale="1">
        <p:scale>
          <a:sx n="141" d="100"/>
          <a:sy n="141" d="100"/>
        </p:scale>
        <p:origin x="5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5025-FFC9-01FD-9F4B-1EF6A658BB0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B96795A-C91C-6249-E86F-20BEE2BC3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1106D3D-4F45-F2EA-8545-3F5036EC8C12}"/>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0AEB27AC-6971-C12C-0FBE-F66A55F12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B66F9-CD66-A0FB-EFEF-86C81D84544E}"/>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2544120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0275-83E8-0F43-ABD7-7648697A36A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0CA53BE-3A03-D544-5D17-EFB798C443B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ABA519C-F52B-5791-BC6E-71670E4A3C76}"/>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3D47B322-96EC-240A-7CE9-F2ABEDCA5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89E28-F0CB-651D-4794-0265B0943BDB}"/>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306706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3A28-F6C4-20D3-3C4A-1EF5002D985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3A188ED-CFDB-71D9-C68B-323001691E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E5D648E-6AB5-EDBB-CE83-08404A4D6E2C}"/>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4C9C6025-7061-43AF-1B20-A439218BD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37BE00-F849-54E9-317D-EB0AF2651488}"/>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3853321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07B0-A1DC-10C1-60BD-620ED26ADC0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0403A1-E4BC-B2B0-7331-98A6DFE3A9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1F3C464-0995-9927-A921-5EF3B317741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732BBAB-D3BC-9DF1-A587-605AAC4AA786}"/>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6" name="Footer Placeholder 5">
            <a:extLst>
              <a:ext uri="{FF2B5EF4-FFF2-40B4-BE49-F238E27FC236}">
                <a16:creationId xmlns:a16="http://schemas.microsoft.com/office/drawing/2014/main" id="{364F00D7-1B98-6BE6-6A52-CDA4781C0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40038-70FE-8EAA-6BBE-08FE2CC53B9A}"/>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133728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FCFE-0348-936A-AFF9-5A2AD2F974C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84FE124-5A47-F26A-CFD0-278544E4A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AB62756-232F-6AFE-7A78-B246817BE97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51A27F4-080B-593F-6E1A-0354E2F977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9B577C7-9655-3B32-4E32-070A17490F3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B81CEB6-1F5C-A45E-A57A-56F858035D3D}"/>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8" name="Footer Placeholder 7">
            <a:extLst>
              <a:ext uri="{FF2B5EF4-FFF2-40B4-BE49-F238E27FC236}">
                <a16:creationId xmlns:a16="http://schemas.microsoft.com/office/drawing/2014/main" id="{3828F0EF-8217-9388-D1BD-A225156F37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F54AD-4D6B-1A40-F39C-BAFC676C94B4}"/>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3385927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C2A2-277C-646F-43C3-475CE122FDC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FEACCEF-2E93-D51C-AEB9-45F586014BFB}"/>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4" name="Footer Placeholder 3">
            <a:extLst>
              <a:ext uri="{FF2B5EF4-FFF2-40B4-BE49-F238E27FC236}">
                <a16:creationId xmlns:a16="http://schemas.microsoft.com/office/drawing/2014/main" id="{A5E3CEA1-6D8A-E30B-EE48-5851561562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D9C4C1-71A0-9137-BDE0-9ACD0FF310C3}"/>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417462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EB41FA-523F-62D9-E8C6-71C20272A4EE}"/>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3" name="Footer Placeholder 2">
            <a:extLst>
              <a:ext uri="{FF2B5EF4-FFF2-40B4-BE49-F238E27FC236}">
                <a16:creationId xmlns:a16="http://schemas.microsoft.com/office/drawing/2014/main" id="{8077CB3C-54B1-847F-CEE0-07B781676E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8E2A46-707E-5428-5097-FB6792A35D8A}"/>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13876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5CDD-EC19-2720-5D81-48C1CD1D5C9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05F5227-12A9-F645-C4D0-784EF9FB2D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B90EE78-FA1E-5521-A99B-A5CCA697D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E0BAFC3-B5EE-BF43-52D1-C905982B249E}"/>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6" name="Footer Placeholder 5">
            <a:extLst>
              <a:ext uri="{FF2B5EF4-FFF2-40B4-BE49-F238E27FC236}">
                <a16:creationId xmlns:a16="http://schemas.microsoft.com/office/drawing/2014/main" id="{FC02EF4D-C405-274C-DDA4-CCCBAB9C2A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0A800-79AF-4E88-4A91-1263E4678790}"/>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105535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2900-E6DD-97A7-73F4-57C83F528F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2C769D2-AFCD-B19B-11DB-AB2AF558CF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EA1228-E028-4F00-62A3-D105DC2B2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3BE391-5A0F-81BF-14EC-EBFF618BDB5B}"/>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6" name="Footer Placeholder 5">
            <a:extLst>
              <a:ext uri="{FF2B5EF4-FFF2-40B4-BE49-F238E27FC236}">
                <a16:creationId xmlns:a16="http://schemas.microsoft.com/office/drawing/2014/main" id="{42E5F773-44DE-86AC-3193-CD37A8D48B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C1D4BD-36FD-5C2A-3337-9EDA8D1D2505}"/>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3402159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DC7C-FD17-7347-DECB-261C0F50447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F0879E5-4F15-B89D-2782-82317FC24C8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4E7C8BA-1473-4B0C-AA32-27D755ADEFDC}"/>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4A5BF5DA-7E6B-D24B-0026-BA1AF571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CBD5D-BDD4-B235-F8B6-F29F405B0957}"/>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2585813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7C1EA3-8917-3BE1-B08B-1BACDE963F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E7F79B-0837-363A-BFFB-E5B303AEF7E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B79A6A-CA3B-291D-7CE6-4CB1DB7A1047}"/>
              </a:ext>
            </a:extLst>
          </p:cNvPr>
          <p:cNvSpPr>
            <a:spLocks noGrp="1"/>
          </p:cNvSpPr>
          <p:nvPr>
            <p:ph type="dt" sz="half" idx="10"/>
          </p:nvPr>
        </p:nvSpPr>
        <p:spPr/>
        <p:txBody>
          <a:body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5B11F120-8CB2-18FF-B011-5E2A5BDED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45DC7-BCDB-7B8A-6F46-6EDA396C192A}"/>
              </a:ext>
            </a:extLst>
          </p:cNvPr>
          <p:cNvSpPr>
            <a:spLocks noGrp="1"/>
          </p:cNvSpPr>
          <p:nvPr>
            <p:ph type="sldNum" sz="quarter" idx="12"/>
          </p:nvPr>
        </p:nvSpPr>
        <p:spPr/>
        <p:txBody>
          <a:bodyPr/>
          <a:lstStyle/>
          <a:p>
            <a:fld id="{E00C118F-82BD-3B48-8779-1AE3CE9F54D8}" type="slidenum">
              <a:rPr lang="en-US" smtClean="0"/>
              <a:t>‹#›</a:t>
            </a:fld>
            <a:endParaRPr lang="en-US"/>
          </a:p>
        </p:txBody>
      </p:sp>
    </p:spTree>
    <p:extLst>
      <p:ext uri="{BB962C8B-B14F-4D97-AF65-F5344CB8AC3E}">
        <p14:creationId xmlns:p14="http://schemas.microsoft.com/office/powerpoint/2010/main" val="205641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DDDF57-6B27-2BE6-56BF-C308CC9E9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30C485-8254-D4A5-6467-4C33AFEBD8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E57619-A739-F365-DB4C-642B564448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2EF4D-7D24-E540-95F8-96F007A0B588}" type="datetimeFigureOut">
              <a:rPr lang="en-US" smtClean="0"/>
              <a:t>11/10/24</a:t>
            </a:fld>
            <a:endParaRPr lang="en-US"/>
          </a:p>
        </p:txBody>
      </p:sp>
      <p:sp>
        <p:nvSpPr>
          <p:cNvPr id="5" name="Footer Placeholder 4">
            <a:extLst>
              <a:ext uri="{FF2B5EF4-FFF2-40B4-BE49-F238E27FC236}">
                <a16:creationId xmlns:a16="http://schemas.microsoft.com/office/drawing/2014/main" id="{75FFC7A7-E070-7C31-B436-154447196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5AEF21-F9C4-7FA1-582E-96767E87E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C118F-82BD-3B48-8779-1AE3CE9F54D8}" type="slidenum">
              <a:rPr lang="en-US" smtClean="0"/>
              <a:t>‹#›</a:t>
            </a:fld>
            <a:endParaRPr lang="en-US"/>
          </a:p>
        </p:txBody>
      </p:sp>
    </p:spTree>
    <p:extLst>
      <p:ext uri="{BB962C8B-B14F-4D97-AF65-F5344CB8AC3E}">
        <p14:creationId xmlns:p14="http://schemas.microsoft.com/office/powerpoint/2010/main" val="2398134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7360-4507-D501-2569-AC522014271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82506A9-C8E9-4D1E-5260-8DC090E90B9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168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A5BE-68AD-77B3-FB26-DB750D2B3265}"/>
              </a:ext>
            </a:extLst>
          </p:cNvPr>
          <p:cNvSpPr>
            <a:spLocks noGrp="1"/>
          </p:cNvSpPr>
          <p:nvPr>
            <p:ph type="title"/>
          </p:nvPr>
        </p:nvSpPr>
        <p:spPr/>
        <p:txBody>
          <a:bodyPr/>
          <a:lstStyle/>
          <a:p>
            <a:r>
              <a:rPr lang="en-IN" b="1" i="0" dirty="0">
                <a:effectLst/>
                <a:latin typeface="Söhne"/>
              </a:rPr>
              <a:t>Learning Rate</a:t>
            </a:r>
            <a:endParaRPr lang="en-US" dirty="0"/>
          </a:p>
        </p:txBody>
      </p:sp>
      <p:sp>
        <p:nvSpPr>
          <p:cNvPr id="3" name="Content Placeholder 2">
            <a:extLst>
              <a:ext uri="{FF2B5EF4-FFF2-40B4-BE49-F238E27FC236}">
                <a16:creationId xmlns:a16="http://schemas.microsoft.com/office/drawing/2014/main" id="{197B69AA-F182-FFAC-2ED2-8C0415A1EB84}"/>
              </a:ext>
            </a:extLst>
          </p:cNvPr>
          <p:cNvSpPr>
            <a:spLocks noGrp="1"/>
          </p:cNvSpPr>
          <p:nvPr>
            <p:ph idx="1"/>
          </p:nvPr>
        </p:nvSpPr>
        <p:spPr/>
        <p:txBody>
          <a:bodyPr/>
          <a:lstStyle/>
          <a:p>
            <a:pPr algn="l"/>
            <a:r>
              <a:rPr lang="en-IN" b="0" i="0" dirty="0">
                <a:effectLst/>
                <a:latin typeface="Söhne"/>
              </a:rPr>
              <a:t>The learning rate determines the step size taken during optimization. When updating the weights of the network based on the calculated gradients, the learning rate defines how much of that gradient should be applied. Mathematically, the weight update rule in gradient descent is: </a:t>
            </a:r>
            <a:r>
              <a:rPr lang="en-IN" b="0" i="1" dirty="0" err="1">
                <a:effectLst/>
                <a:latin typeface="KaTeX_Math"/>
              </a:rPr>
              <a:t>w</a:t>
            </a:r>
            <a:r>
              <a:rPr lang="en-IN" b="0" i="1" baseline="-25000" dirty="0" err="1">
                <a:effectLst/>
                <a:latin typeface="KaTeX_Math"/>
              </a:rPr>
              <a:t>new</a:t>
            </a:r>
            <a:r>
              <a:rPr lang="en-IN" b="0" i="0" dirty="0">
                <a:effectLst/>
                <a:latin typeface="KaTeX_Main"/>
              </a:rPr>
              <a:t>​=</a:t>
            </a:r>
            <a:r>
              <a:rPr lang="en-IN" b="0" i="1" dirty="0" err="1">
                <a:effectLst/>
                <a:latin typeface="KaTeX_Math"/>
              </a:rPr>
              <a:t>w</a:t>
            </a:r>
            <a:r>
              <a:rPr lang="en-IN" b="0" i="1" baseline="-25000" dirty="0" err="1">
                <a:effectLst/>
                <a:latin typeface="KaTeX_Math"/>
              </a:rPr>
              <a:t>old</a:t>
            </a:r>
            <a:r>
              <a:rPr lang="en-IN" b="0" i="0" dirty="0">
                <a:effectLst/>
                <a:latin typeface="KaTeX_Main"/>
              </a:rPr>
              <a:t>​−learning rate × gradient</a:t>
            </a:r>
            <a:endParaRPr lang="en-IN" b="0" i="0" dirty="0">
              <a:effectLst/>
              <a:latin typeface="Söhne"/>
            </a:endParaRPr>
          </a:p>
          <a:p>
            <a:endParaRPr lang="en-US" dirty="0"/>
          </a:p>
        </p:txBody>
      </p:sp>
    </p:spTree>
    <p:extLst>
      <p:ext uri="{BB962C8B-B14F-4D97-AF65-F5344CB8AC3E}">
        <p14:creationId xmlns:p14="http://schemas.microsoft.com/office/powerpoint/2010/main" val="354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2503F-C663-4389-B1CB-E43582BF9668}"/>
              </a:ext>
            </a:extLst>
          </p:cNvPr>
          <p:cNvSpPr>
            <a:spLocks noGrp="1"/>
          </p:cNvSpPr>
          <p:nvPr>
            <p:ph type="title"/>
          </p:nvPr>
        </p:nvSpPr>
        <p:spPr/>
        <p:txBody>
          <a:bodyPr/>
          <a:lstStyle/>
          <a:p>
            <a:r>
              <a:rPr lang="en-IN" b="1" i="0" dirty="0">
                <a:effectLst/>
                <a:latin typeface="Söhne"/>
              </a:rPr>
              <a:t>Importance of Learning Rate</a:t>
            </a:r>
            <a:endParaRPr lang="en-US" dirty="0"/>
          </a:p>
        </p:txBody>
      </p:sp>
      <p:sp>
        <p:nvSpPr>
          <p:cNvPr id="3" name="Content Placeholder 2">
            <a:extLst>
              <a:ext uri="{FF2B5EF4-FFF2-40B4-BE49-F238E27FC236}">
                <a16:creationId xmlns:a16="http://schemas.microsoft.com/office/drawing/2014/main" id="{A3F16ED6-C3D3-0479-9BBE-8018250D3106}"/>
              </a:ext>
            </a:extLst>
          </p:cNvPr>
          <p:cNvSpPr>
            <a:spLocks noGrp="1"/>
          </p:cNvSpPr>
          <p:nvPr>
            <p:ph idx="1"/>
          </p:nvPr>
        </p:nvSpPr>
        <p:spPr/>
        <p:txBody>
          <a:bodyPr>
            <a:normAutofit lnSpcReduction="10000"/>
          </a:bodyPr>
          <a:lstStyle/>
          <a:p>
            <a:pPr algn="l">
              <a:buFont typeface="+mj-lt"/>
              <a:buAutoNum type="arabicPeriod"/>
            </a:pPr>
            <a:r>
              <a:rPr lang="en-IN" b="1" i="0" dirty="0">
                <a:effectLst/>
                <a:latin typeface="Söhne"/>
              </a:rPr>
              <a:t>Convergence</a:t>
            </a:r>
            <a:r>
              <a:rPr lang="en-IN" b="0" i="0" dirty="0">
                <a:effectLst/>
                <a:latin typeface="Söhne"/>
              </a:rPr>
              <a:t>:</a:t>
            </a:r>
          </a:p>
          <a:p>
            <a:pPr marL="742950" lvl="1" indent="-285750" algn="l">
              <a:buFont typeface="+mj-lt"/>
              <a:buAutoNum type="arabicPeriod"/>
            </a:pPr>
            <a:r>
              <a:rPr lang="en-IN" b="1" i="0" dirty="0">
                <a:effectLst/>
                <a:latin typeface="Söhne"/>
              </a:rPr>
              <a:t>Too High</a:t>
            </a:r>
            <a:r>
              <a:rPr lang="en-IN" b="0" i="0" dirty="0">
                <a:effectLst/>
                <a:latin typeface="Söhne"/>
              </a:rPr>
              <a:t>: If the learning rate is too high, the model might overshoot the optimal solution, leading to divergence. The loss might oscillate or even explode.</a:t>
            </a:r>
          </a:p>
          <a:p>
            <a:pPr marL="742950" lvl="1" indent="-285750" algn="l">
              <a:buFont typeface="+mj-lt"/>
              <a:buAutoNum type="arabicPeriod"/>
            </a:pPr>
            <a:r>
              <a:rPr lang="en-IN" b="1" i="0" dirty="0">
                <a:effectLst/>
                <a:latin typeface="Söhne"/>
              </a:rPr>
              <a:t>Too Low</a:t>
            </a:r>
            <a:r>
              <a:rPr lang="en-IN" b="0" i="0" dirty="0">
                <a:effectLst/>
                <a:latin typeface="Söhne"/>
              </a:rPr>
              <a:t>: If the learning rate is too low, the model will take tiny steps, leading to slow convergence. It might get stuck in local minima or plateaus.</a:t>
            </a:r>
          </a:p>
          <a:p>
            <a:pPr algn="l">
              <a:buFont typeface="+mj-lt"/>
              <a:buAutoNum type="arabicPeriod"/>
            </a:pPr>
            <a:r>
              <a:rPr lang="en-IN" b="1" i="0" dirty="0">
                <a:effectLst/>
                <a:latin typeface="Söhne"/>
              </a:rPr>
              <a:t>Overfitting vs. Underfitting</a:t>
            </a:r>
            <a:r>
              <a:rPr lang="en-IN" b="0" i="0" dirty="0">
                <a:effectLst/>
                <a:latin typeface="Söhne"/>
              </a:rPr>
              <a:t>:</a:t>
            </a:r>
          </a:p>
          <a:p>
            <a:pPr marL="742950" lvl="1" indent="-285750" algn="l">
              <a:buFont typeface="+mj-lt"/>
              <a:buAutoNum type="arabicPeriod"/>
            </a:pPr>
            <a:r>
              <a:rPr lang="en-IN" b="0" i="0" dirty="0">
                <a:effectLst/>
                <a:latin typeface="Söhne"/>
              </a:rPr>
              <a:t>A very small learning rate might cause the model to converge to a sub-optimal solution and underfit the data.</a:t>
            </a:r>
          </a:p>
          <a:p>
            <a:pPr marL="742950" lvl="1" indent="-285750" algn="l">
              <a:buFont typeface="+mj-lt"/>
              <a:buAutoNum type="arabicPeriod"/>
            </a:pPr>
            <a:r>
              <a:rPr lang="en-IN" b="0" i="0" dirty="0">
                <a:effectLst/>
                <a:latin typeface="Söhne"/>
              </a:rPr>
              <a:t>A moderately high learning rate can act as a form of implicit regularization, preventing overfitting. However, if it's too high, the model won't learn effectively.</a:t>
            </a:r>
          </a:p>
        </p:txBody>
      </p:sp>
    </p:spTree>
    <p:extLst>
      <p:ext uri="{BB962C8B-B14F-4D97-AF65-F5344CB8AC3E}">
        <p14:creationId xmlns:p14="http://schemas.microsoft.com/office/powerpoint/2010/main" val="49234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1CA1-A0D2-ED6D-63C1-562ED9F59EA9}"/>
              </a:ext>
            </a:extLst>
          </p:cNvPr>
          <p:cNvSpPr>
            <a:spLocks noGrp="1"/>
          </p:cNvSpPr>
          <p:nvPr>
            <p:ph type="title"/>
          </p:nvPr>
        </p:nvSpPr>
        <p:spPr/>
        <p:txBody>
          <a:bodyPr/>
          <a:lstStyle/>
          <a:p>
            <a:r>
              <a:rPr lang="en-IN" dirty="0">
                <a:latin typeface="Söhne"/>
              </a:rPr>
              <a:t>E</a:t>
            </a:r>
            <a:r>
              <a:rPr lang="en-IN" b="0" i="0" dirty="0">
                <a:effectLst/>
                <a:latin typeface="Söhne"/>
              </a:rPr>
              <a:t>ffect of different learning rates</a:t>
            </a:r>
            <a:endParaRPr lang="en-US" dirty="0"/>
          </a:p>
        </p:txBody>
      </p:sp>
      <p:sp>
        <p:nvSpPr>
          <p:cNvPr id="3" name="Content Placeholder 2">
            <a:extLst>
              <a:ext uri="{FF2B5EF4-FFF2-40B4-BE49-F238E27FC236}">
                <a16:creationId xmlns:a16="http://schemas.microsoft.com/office/drawing/2014/main" id="{DC41DBD3-81D0-2C9E-EB87-1BE0FCA5F170}"/>
              </a:ext>
            </a:extLst>
          </p:cNvPr>
          <p:cNvSpPr>
            <a:spLocks noGrp="1"/>
          </p:cNvSpPr>
          <p:nvPr>
            <p:ph idx="1"/>
          </p:nvPr>
        </p:nvSpPr>
        <p:spPr/>
        <p:txBody>
          <a:bodyPr>
            <a:normAutofit fontScale="92500" lnSpcReduction="20000"/>
          </a:bodyPr>
          <a:lstStyle/>
          <a:p>
            <a:pPr algn="l">
              <a:buFont typeface="+mj-lt"/>
              <a:buAutoNum type="arabicPeriod"/>
            </a:pPr>
            <a:r>
              <a:rPr lang="en-IN" b="1" i="0" dirty="0">
                <a:effectLst/>
                <a:latin typeface="Söhne"/>
              </a:rPr>
              <a:t>Low Learning Rate</a:t>
            </a:r>
            <a:r>
              <a:rPr lang="en-IN" b="0" i="0" dirty="0">
                <a:effectLst/>
                <a:latin typeface="Söhne"/>
              </a:rPr>
              <a:t>:</a:t>
            </a:r>
          </a:p>
          <a:p>
            <a:pPr marL="742950" lvl="1" indent="-285750" algn="l">
              <a:buFont typeface="+mj-lt"/>
              <a:buAutoNum type="arabicPeriod"/>
            </a:pPr>
            <a:r>
              <a:rPr lang="en-IN" b="0" i="0" dirty="0">
                <a:effectLst/>
                <a:latin typeface="Söhne"/>
              </a:rPr>
              <a:t>Imagine you're at the top of a hill and trying to get to the bottom by taking baby steps. It will take a long time, and if there's a flat area (plateau) or a small dip (local minimum) before the real bottom, you might stop there thinking you've reached the bottom.</a:t>
            </a:r>
          </a:p>
          <a:p>
            <a:pPr algn="l">
              <a:buFont typeface="+mj-lt"/>
              <a:buAutoNum type="arabicPeriod"/>
            </a:pPr>
            <a:r>
              <a:rPr lang="en-IN" b="1" i="0" dirty="0">
                <a:effectLst/>
                <a:latin typeface="Söhne"/>
              </a:rPr>
              <a:t>High Learning Rate</a:t>
            </a:r>
            <a:r>
              <a:rPr lang="en-IN" b="0" i="0" dirty="0">
                <a:effectLst/>
                <a:latin typeface="Söhne"/>
              </a:rPr>
              <a:t>:</a:t>
            </a:r>
          </a:p>
          <a:p>
            <a:pPr marL="742950" lvl="1" indent="-285750" algn="l">
              <a:buFont typeface="+mj-lt"/>
              <a:buAutoNum type="arabicPeriod"/>
            </a:pPr>
            <a:r>
              <a:rPr lang="en-IN" b="0" i="0" dirty="0">
                <a:effectLst/>
                <a:latin typeface="Söhne"/>
              </a:rPr>
              <a:t>Now, imagine taking huge leaps to get to the bottom of the hill. You might jump right over the bottom and end up on the other side. You might keep leaping back and forth, never settling at the bottom. In the worst case, you might even leap farther and farther away, getting completely lost.</a:t>
            </a:r>
          </a:p>
          <a:p>
            <a:pPr algn="l">
              <a:buFont typeface="+mj-lt"/>
              <a:buAutoNum type="arabicPeriod"/>
            </a:pPr>
            <a:r>
              <a:rPr lang="en-IN" b="1" i="0" dirty="0">
                <a:effectLst/>
                <a:latin typeface="Söhne"/>
              </a:rPr>
              <a:t>Optimal Learning Rate</a:t>
            </a:r>
            <a:r>
              <a:rPr lang="en-IN" b="0" i="0" dirty="0">
                <a:effectLst/>
                <a:latin typeface="Söhne"/>
              </a:rPr>
              <a:t>:</a:t>
            </a:r>
          </a:p>
          <a:p>
            <a:pPr marL="742950" lvl="1" indent="-285750" algn="l">
              <a:buFont typeface="+mj-lt"/>
              <a:buAutoNum type="arabicPeriod"/>
            </a:pPr>
            <a:r>
              <a:rPr lang="en-IN" b="0" i="0" dirty="0">
                <a:effectLst/>
                <a:latin typeface="Söhne"/>
              </a:rPr>
              <a:t>This is like taking firm, confident strides down the hill. You move quickly but not so fast that you miss the bottom. If you encounter small dips or flat areas, your momentum carries you through.</a:t>
            </a:r>
          </a:p>
          <a:p>
            <a:endParaRPr lang="en-US" dirty="0"/>
          </a:p>
        </p:txBody>
      </p:sp>
    </p:spTree>
    <p:extLst>
      <p:ext uri="{BB962C8B-B14F-4D97-AF65-F5344CB8AC3E}">
        <p14:creationId xmlns:p14="http://schemas.microsoft.com/office/powerpoint/2010/main" val="3938265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D1AB-9727-A555-C891-8B319D272B18}"/>
              </a:ext>
            </a:extLst>
          </p:cNvPr>
          <p:cNvSpPr>
            <a:spLocks noGrp="1"/>
          </p:cNvSpPr>
          <p:nvPr>
            <p:ph type="title"/>
          </p:nvPr>
        </p:nvSpPr>
        <p:spPr/>
        <p:txBody>
          <a:bodyPr/>
          <a:lstStyle/>
          <a:p>
            <a:r>
              <a:rPr lang="en-IN" b="1" i="0" dirty="0">
                <a:effectLst/>
                <a:latin typeface="Söhne"/>
              </a:rPr>
              <a:t>Tips</a:t>
            </a:r>
            <a:endParaRPr lang="en-US" dirty="0"/>
          </a:p>
        </p:txBody>
      </p:sp>
      <p:sp>
        <p:nvSpPr>
          <p:cNvPr id="3" name="Content Placeholder 2">
            <a:extLst>
              <a:ext uri="{FF2B5EF4-FFF2-40B4-BE49-F238E27FC236}">
                <a16:creationId xmlns:a16="http://schemas.microsoft.com/office/drawing/2014/main" id="{7957409F-7971-1523-7A32-098D1DFCFB36}"/>
              </a:ext>
            </a:extLst>
          </p:cNvPr>
          <p:cNvSpPr>
            <a:spLocks noGrp="1"/>
          </p:cNvSpPr>
          <p:nvPr>
            <p:ph idx="1"/>
          </p:nvPr>
        </p:nvSpPr>
        <p:spPr/>
        <p:txBody>
          <a:bodyPr>
            <a:normAutofit fontScale="85000" lnSpcReduction="10000"/>
          </a:bodyPr>
          <a:lstStyle/>
          <a:p>
            <a:pPr algn="l">
              <a:buFont typeface="+mj-lt"/>
              <a:buAutoNum type="arabicPeriod"/>
            </a:pPr>
            <a:r>
              <a:rPr lang="en-IN" b="1" i="0" dirty="0">
                <a:effectLst/>
                <a:latin typeface="Söhne"/>
              </a:rPr>
              <a:t>Learning Rate Annealing/Scheduling</a:t>
            </a:r>
            <a:r>
              <a:rPr lang="en-IN" b="0" i="0" dirty="0">
                <a:effectLst/>
                <a:latin typeface="Söhne"/>
              </a:rPr>
              <a:t>: Start with a higher learning rate and reduce it during training. This allows the model to make large updates initially and finer updates later. Common strategies include step decay, exponential decay, and one-cycle learning.</a:t>
            </a:r>
          </a:p>
          <a:p>
            <a:pPr algn="l">
              <a:buFont typeface="+mj-lt"/>
              <a:buAutoNum type="arabicPeriod"/>
            </a:pPr>
            <a:r>
              <a:rPr lang="en-IN" b="1" i="0" dirty="0">
                <a:effectLst/>
                <a:latin typeface="Söhne"/>
              </a:rPr>
              <a:t>Learning Rate Finder</a:t>
            </a:r>
            <a:r>
              <a:rPr lang="en-IN" b="0" i="0" dirty="0">
                <a:effectLst/>
                <a:latin typeface="Söhne"/>
              </a:rPr>
              <a:t>: Gradually increase the learning rate from a very small value and plot the loss. The optimal learning rate is typically just before the loss starts to increase and well before it shoots up.</a:t>
            </a:r>
          </a:p>
          <a:p>
            <a:pPr algn="l">
              <a:buFont typeface="+mj-lt"/>
              <a:buAutoNum type="arabicPeriod"/>
            </a:pPr>
            <a:r>
              <a:rPr lang="en-IN" b="1" i="0" dirty="0">
                <a:effectLst/>
                <a:latin typeface="Söhne"/>
              </a:rPr>
              <a:t>Warm-up</a:t>
            </a:r>
            <a:r>
              <a:rPr lang="en-IN" b="0" i="0" dirty="0">
                <a:effectLst/>
                <a:latin typeface="Söhne"/>
              </a:rPr>
              <a:t>: Start with a small learning rate and gradually increase it in the early stages of training. This can help in stabilizing the optimizer before using a larger learning rate.</a:t>
            </a:r>
          </a:p>
          <a:p>
            <a:pPr algn="l">
              <a:buFont typeface="+mj-lt"/>
              <a:buAutoNum type="arabicPeriod"/>
            </a:pPr>
            <a:r>
              <a:rPr lang="en-IN" b="1" i="0" dirty="0">
                <a:effectLst/>
                <a:latin typeface="Söhne"/>
              </a:rPr>
              <a:t>Adaptive Learning Rate Methods</a:t>
            </a:r>
            <a:r>
              <a:rPr lang="en-IN" b="0" i="0" dirty="0">
                <a:effectLst/>
                <a:latin typeface="Söhne"/>
              </a:rPr>
              <a:t>: Optimizers like Adam, RMSprop, and </a:t>
            </a:r>
            <a:r>
              <a:rPr lang="en-IN" b="0" i="0" dirty="0" err="1">
                <a:effectLst/>
                <a:latin typeface="Söhne"/>
              </a:rPr>
              <a:t>Adagrad</a:t>
            </a:r>
            <a:r>
              <a:rPr lang="en-IN" b="0" i="0" dirty="0">
                <a:effectLst/>
                <a:latin typeface="Söhne"/>
              </a:rPr>
              <a:t> automatically adjust the learning rate during training, which can sometimes (but not always) reduce the sensitivity to the initial learning rate setting.</a:t>
            </a:r>
          </a:p>
          <a:p>
            <a:endParaRPr lang="en-US" dirty="0"/>
          </a:p>
        </p:txBody>
      </p:sp>
    </p:spTree>
    <p:extLst>
      <p:ext uri="{BB962C8B-B14F-4D97-AF65-F5344CB8AC3E}">
        <p14:creationId xmlns:p14="http://schemas.microsoft.com/office/powerpoint/2010/main" val="71646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D12A-BA1A-DA83-6314-6AEAE2A83BEF}"/>
              </a:ext>
            </a:extLst>
          </p:cNvPr>
          <p:cNvSpPr>
            <a:spLocks noGrp="1"/>
          </p:cNvSpPr>
          <p:nvPr>
            <p:ph type="title"/>
          </p:nvPr>
        </p:nvSpPr>
        <p:spPr/>
        <p:txBody>
          <a:bodyPr/>
          <a:lstStyle/>
          <a:p>
            <a:r>
              <a:rPr lang="en-IN" b="1" i="0" dirty="0">
                <a:effectLst/>
                <a:latin typeface="Söhne"/>
              </a:rPr>
              <a:t>Batch Size</a:t>
            </a:r>
            <a:endParaRPr lang="en-US" dirty="0"/>
          </a:p>
        </p:txBody>
      </p:sp>
      <p:sp>
        <p:nvSpPr>
          <p:cNvPr id="3" name="Content Placeholder 2">
            <a:extLst>
              <a:ext uri="{FF2B5EF4-FFF2-40B4-BE49-F238E27FC236}">
                <a16:creationId xmlns:a16="http://schemas.microsoft.com/office/drawing/2014/main" id="{5C0F3D6E-9D83-2BCB-4E38-41CDA293BF93}"/>
              </a:ext>
            </a:extLst>
          </p:cNvPr>
          <p:cNvSpPr>
            <a:spLocks noGrp="1"/>
          </p:cNvSpPr>
          <p:nvPr>
            <p:ph idx="1"/>
          </p:nvPr>
        </p:nvSpPr>
        <p:spPr/>
        <p:txBody>
          <a:bodyPr/>
          <a:lstStyle/>
          <a:p>
            <a:r>
              <a:rPr lang="en-IN" b="0" i="0" dirty="0">
                <a:effectLst/>
                <a:latin typeface="Söhne"/>
              </a:rPr>
              <a:t>In deep learning, it's often impractical to compute the loss for the entire dataset to make a single weight update due to computational constraints. Instead, the dataset is divided into smaller chunks or batches, and weights are updated after each batch. The batch size determines how many samples are used for each weight update.</a:t>
            </a:r>
            <a:endParaRPr lang="en-US" dirty="0"/>
          </a:p>
        </p:txBody>
      </p:sp>
    </p:spTree>
    <p:extLst>
      <p:ext uri="{BB962C8B-B14F-4D97-AF65-F5344CB8AC3E}">
        <p14:creationId xmlns:p14="http://schemas.microsoft.com/office/powerpoint/2010/main" val="3943932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9242-F10D-C1ED-4783-DAF245F29B8B}"/>
              </a:ext>
            </a:extLst>
          </p:cNvPr>
          <p:cNvSpPr>
            <a:spLocks noGrp="1"/>
          </p:cNvSpPr>
          <p:nvPr>
            <p:ph type="title"/>
          </p:nvPr>
        </p:nvSpPr>
        <p:spPr/>
        <p:txBody>
          <a:bodyPr/>
          <a:lstStyle/>
          <a:p>
            <a:r>
              <a:rPr lang="en-IN" b="1" i="0" dirty="0">
                <a:effectLst/>
                <a:latin typeface="Söhne"/>
              </a:rPr>
              <a:t>Implications of Batch Size</a:t>
            </a:r>
            <a:endParaRPr lang="en-US" dirty="0"/>
          </a:p>
        </p:txBody>
      </p:sp>
      <p:sp>
        <p:nvSpPr>
          <p:cNvPr id="3" name="Content Placeholder 2">
            <a:extLst>
              <a:ext uri="{FF2B5EF4-FFF2-40B4-BE49-F238E27FC236}">
                <a16:creationId xmlns:a16="http://schemas.microsoft.com/office/drawing/2014/main" id="{79F023B6-AB98-2EA5-F156-AE6EDD654974}"/>
              </a:ext>
            </a:extLst>
          </p:cNvPr>
          <p:cNvSpPr>
            <a:spLocks noGrp="1"/>
          </p:cNvSpPr>
          <p:nvPr>
            <p:ph idx="1"/>
          </p:nvPr>
        </p:nvSpPr>
        <p:spPr/>
        <p:txBody>
          <a:bodyPr>
            <a:normAutofit fontScale="85000" lnSpcReduction="20000"/>
          </a:bodyPr>
          <a:lstStyle/>
          <a:p>
            <a:pPr algn="l">
              <a:buFont typeface="+mj-lt"/>
              <a:buAutoNum type="arabicPeriod"/>
            </a:pPr>
            <a:r>
              <a:rPr lang="en-IN" b="1" i="0" dirty="0">
                <a:effectLst/>
                <a:latin typeface="Söhne"/>
              </a:rPr>
              <a:t>Computational Efficiency</a:t>
            </a:r>
            <a:r>
              <a:rPr lang="en-IN" b="0" i="0" dirty="0">
                <a:effectLst/>
                <a:latin typeface="Söhne"/>
              </a:rPr>
              <a:t>:</a:t>
            </a:r>
          </a:p>
          <a:p>
            <a:pPr marL="742950" lvl="1" indent="-285750" algn="l">
              <a:buFont typeface="+mj-lt"/>
              <a:buAutoNum type="arabicPeriod"/>
            </a:pPr>
            <a:r>
              <a:rPr lang="en-IN" b="0" i="0" dirty="0">
                <a:effectLst/>
                <a:latin typeface="Söhne"/>
              </a:rPr>
              <a:t>Larger batches exploit parallelism in modern computing hardware, such as GPUs, leading to faster per-sample computation.</a:t>
            </a:r>
          </a:p>
          <a:p>
            <a:pPr marL="742950" lvl="1" indent="-285750" algn="l">
              <a:buFont typeface="+mj-lt"/>
              <a:buAutoNum type="arabicPeriod"/>
            </a:pPr>
            <a:r>
              <a:rPr lang="en-IN" b="0" i="0" dirty="0">
                <a:effectLst/>
                <a:latin typeface="Söhne"/>
              </a:rPr>
              <a:t>However, beyond a certain point, memory limitations might be reached, preventing the use of very large batch sizes.</a:t>
            </a:r>
          </a:p>
          <a:p>
            <a:pPr algn="l">
              <a:buFont typeface="+mj-lt"/>
              <a:buAutoNum type="arabicPeriod"/>
            </a:pPr>
            <a:r>
              <a:rPr lang="en-IN" b="1" i="0" dirty="0">
                <a:effectLst/>
                <a:latin typeface="Söhne"/>
              </a:rPr>
              <a:t>Generalization</a:t>
            </a:r>
            <a:r>
              <a:rPr lang="en-IN" b="0" i="0" dirty="0">
                <a:effectLst/>
                <a:latin typeface="Söhne"/>
              </a:rPr>
              <a:t>:</a:t>
            </a:r>
          </a:p>
          <a:p>
            <a:pPr marL="742950" lvl="1" indent="-285750" algn="l">
              <a:buFont typeface="+mj-lt"/>
              <a:buAutoNum type="arabicPeriod"/>
            </a:pPr>
            <a:r>
              <a:rPr lang="en-IN" b="0" i="0" dirty="0">
                <a:effectLst/>
                <a:latin typeface="Söhne"/>
              </a:rPr>
              <a:t>Smaller batches introduce noise into the optimization, acting as a form of implicit regularization, often leading to better generalization.</a:t>
            </a:r>
          </a:p>
          <a:p>
            <a:pPr marL="742950" lvl="1" indent="-285750" algn="l">
              <a:buFont typeface="+mj-lt"/>
              <a:buAutoNum type="arabicPeriod"/>
            </a:pPr>
            <a:r>
              <a:rPr lang="en-IN" b="0" i="0" dirty="0">
                <a:effectLst/>
                <a:latin typeface="Söhne"/>
              </a:rPr>
              <a:t>Larger batches provide a more accurate estimate of the gradient, but sometimes they can converge to sharp minimizers that generalize poorly.</a:t>
            </a:r>
          </a:p>
          <a:p>
            <a:pPr algn="l">
              <a:buFont typeface="+mj-lt"/>
              <a:buAutoNum type="arabicPeriod"/>
            </a:pPr>
            <a:r>
              <a:rPr lang="en-IN" b="1" i="0" dirty="0">
                <a:effectLst/>
                <a:latin typeface="Söhne"/>
              </a:rPr>
              <a:t>Convergence</a:t>
            </a:r>
            <a:r>
              <a:rPr lang="en-IN" b="0" i="0" dirty="0">
                <a:effectLst/>
                <a:latin typeface="Söhne"/>
              </a:rPr>
              <a:t>:</a:t>
            </a:r>
          </a:p>
          <a:p>
            <a:pPr marL="742950" lvl="1" indent="-285750" algn="l">
              <a:buFont typeface="+mj-lt"/>
              <a:buAutoNum type="arabicPeriod"/>
            </a:pPr>
            <a:r>
              <a:rPr lang="en-IN" b="0" i="0" dirty="0">
                <a:effectLst/>
                <a:latin typeface="Söhne"/>
              </a:rPr>
              <a:t>Small batches can be noisy, leading to oscillations in the training trajectory. This noise can sometimes help escape local minima but might also hinder convergence.</a:t>
            </a:r>
          </a:p>
          <a:p>
            <a:pPr marL="742950" lvl="1" indent="-285750" algn="l">
              <a:buFont typeface="+mj-lt"/>
              <a:buAutoNum type="arabicPeriod"/>
            </a:pPr>
            <a:r>
              <a:rPr lang="en-IN" b="0" i="0" dirty="0">
                <a:effectLst/>
                <a:latin typeface="Söhne"/>
              </a:rPr>
              <a:t>Larger batches tend to converge to flatter regions of the loss landscape, which can be beneficial for generalization.</a:t>
            </a:r>
          </a:p>
        </p:txBody>
      </p:sp>
    </p:spTree>
    <p:extLst>
      <p:ext uri="{BB962C8B-B14F-4D97-AF65-F5344CB8AC3E}">
        <p14:creationId xmlns:p14="http://schemas.microsoft.com/office/powerpoint/2010/main" val="4075559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5A19-46BE-1121-F9C0-84C74567451F}"/>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6C5E6D17-673A-BB7C-7C1F-A906E466425E}"/>
              </a:ext>
            </a:extLst>
          </p:cNvPr>
          <p:cNvSpPr>
            <a:spLocks noGrp="1"/>
          </p:cNvSpPr>
          <p:nvPr>
            <p:ph idx="1"/>
          </p:nvPr>
        </p:nvSpPr>
        <p:spPr/>
        <p:txBody>
          <a:bodyPr>
            <a:normAutofit fontScale="85000" lnSpcReduction="10000"/>
          </a:bodyPr>
          <a:lstStyle/>
          <a:p>
            <a:pPr algn="l">
              <a:buFont typeface="+mj-lt"/>
              <a:buAutoNum type="arabicPeriod"/>
            </a:pPr>
            <a:r>
              <a:rPr lang="en-IN" b="1" i="0" dirty="0">
                <a:effectLst/>
                <a:latin typeface="Söhne"/>
              </a:rPr>
              <a:t>Very Small Batch Size (e.g., 1, also known as online or stochastic gradient descent)</a:t>
            </a:r>
            <a:r>
              <a:rPr lang="en-IN" b="0" i="0" dirty="0">
                <a:effectLst/>
                <a:latin typeface="Söhne"/>
              </a:rPr>
              <a:t>:</a:t>
            </a:r>
          </a:p>
          <a:p>
            <a:pPr marL="742950" lvl="1" indent="-285750" algn="l">
              <a:buFont typeface="+mj-lt"/>
              <a:buAutoNum type="arabicPeriod"/>
            </a:pPr>
            <a:r>
              <a:rPr lang="en-IN" b="1" i="0" dirty="0">
                <a:effectLst/>
                <a:latin typeface="Söhne"/>
              </a:rPr>
              <a:t>Pros</a:t>
            </a:r>
            <a:r>
              <a:rPr lang="en-IN" b="0" i="0" dirty="0">
                <a:effectLst/>
                <a:latin typeface="Söhne"/>
              </a:rPr>
              <a:t>: Every sample can lead to a weight update, which can be computationally inefficient but might quickly adapt to the data.</a:t>
            </a:r>
          </a:p>
          <a:p>
            <a:pPr marL="742950" lvl="1" indent="-285750" algn="l">
              <a:buFont typeface="+mj-lt"/>
              <a:buAutoNum type="arabicPeriod"/>
            </a:pPr>
            <a:r>
              <a:rPr lang="en-IN" b="1" i="0" dirty="0">
                <a:effectLst/>
                <a:latin typeface="Söhne"/>
              </a:rPr>
              <a:t>Cons</a:t>
            </a:r>
            <a:r>
              <a:rPr lang="en-IN" b="0" i="0" dirty="0">
                <a:effectLst/>
                <a:latin typeface="Söhne"/>
              </a:rPr>
              <a:t>: Very noisy updates can lead to a lack of convergence or getting stuck in local minima.</a:t>
            </a:r>
          </a:p>
          <a:p>
            <a:pPr algn="l">
              <a:buFont typeface="+mj-lt"/>
              <a:buAutoNum type="arabicPeriod"/>
            </a:pPr>
            <a:r>
              <a:rPr lang="en-IN" b="1" i="0" dirty="0">
                <a:effectLst/>
                <a:latin typeface="Söhne"/>
              </a:rPr>
              <a:t>Moderate Batch Size (e.g., 32, 64, 128)</a:t>
            </a:r>
            <a:r>
              <a:rPr lang="en-IN" b="0" i="0" dirty="0">
                <a:effectLst/>
                <a:latin typeface="Söhne"/>
              </a:rPr>
              <a:t>:</a:t>
            </a:r>
          </a:p>
          <a:p>
            <a:pPr marL="742950" lvl="1" indent="-285750" algn="l">
              <a:buFont typeface="+mj-lt"/>
              <a:buAutoNum type="arabicPeriod"/>
            </a:pPr>
            <a:r>
              <a:rPr lang="en-IN" b="1" i="0" dirty="0">
                <a:effectLst/>
                <a:latin typeface="Söhne"/>
              </a:rPr>
              <a:t>Pros</a:t>
            </a:r>
            <a:r>
              <a:rPr lang="en-IN" b="0" i="0" dirty="0">
                <a:effectLst/>
                <a:latin typeface="Söhne"/>
              </a:rPr>
              <a:t>: Balances the benefits of computational efficiency and the regularization effect of smaller batches.</a:t>
            </a:r>
          </a:p>
          <a:p>
            <a:pPr marL="742950" lvl="1" indent="-285750" algn="l">
              <a:buFont typeface="+mj-lt"/>
              <a:buAutoNum type="arabicPeriod"/>
            </a:pPr>
            <a:r>
              <a:rPr lang="en-IN" b="1" i="0" dirty="0">
                <a:effectLst/>
                <a:latin typeface="Söhne"/>
              </a:rPr>
              <a:t>Cons</a:t>
            </a:r>
            <a:r>
              <a:rPr lang="en-IN" b="0" i="0" dirty="0">
                <a:effectLst/>
                <a:latin typeface="Söhne"/>
              </a:rPr>
              <a:t>: May still be noisy, but typically a good starting point for many tasks.</a:t>
            </a:r>
          </a:p>
          <a:p>
            <a:pPr algn="l">
              <a:buFont typeface="+mj-lt"/>
              <a:buAutoNum type="arabicPeriod"/>
            </a:pPr>
            <a:r>
              <a:rPr lang="en-IN" b="1" i="0" dirty="0">
                <a:effectLst/>
                <a:latin typeface="Söhne"/>
              </a:rPr>
              <a:t>Large Batch Size (e.g., 512, 1024, or larger)</a:t>
            </a:r>
            <a:r>
              <a:rPr lang="en-IN" b="0" i="0" dirty="0">
                <a:effectLst/>
                <a:latin typeface="Söhne"/>
              </a:rPr>
              <a:t>:</a:t>
            </a:r>
          </a:p>
          <a:p>
            <a:pPr marL="742950" lvl="1" indent="-285750" algn="l">
              <a:buFont typeface="+mj-lt"/>
              <a:buAutoNum type="arabicPeriod"/>
            </a:pPr>
            <a:r>
              <a:rPr lang="en-IN" b="1" i="0" dirty="0">
                <a:effectLst/>
                <a:latin typeface="Söhne"/>
              </a:rPr>
              <a:t>Pros</a:t>
            </a:r>
            <a:r>
              <a:rPr lang="en-IN" b="0" i="0" dirty="0">
                <a:effectLst/>
                <a:latin typeface="Söhne"/>
              </a:rPr>
              <a:t>: Can be more computationally efficient per sample due to better hardware utilization. Provides a more accurate estimate of the gradient, leading to smoother convergence.</a:t>
            </a:r>
          </a:p>
          <a:p>
            <a:pPr marL="742950" lvl="1" indent="-285750" algn="l">
              <a:buFont typeface="+mj-lt"/>
              <a:buAutoNum type="arabicPeriod"/>
            </a:pPr>
            <a:r>
              <a:rPr lang="en-IN" b="1" i="0" dirty="0">
                <a:effectLst/>
                <a:latin typeface="Söhne"/>
              </a:rPr>
              <a:t>Cons</a:t>
            </a:r>
            <a:r>
              <a:rPr lang="en-IN" b="0" i="0" dirty="0">
                <a:effectLst/>
                <a:latin typeface="Söhne"/>
              </a:rPr>
              <a:t>: May converge to sharp minimizers, leading to poorer generalization. Requires more memory, which might be a limitation on some hardware.</a:t>
            </a:r>
          </a:p>
          <a:p>
            <a:pPr marL="0" indent="0">
              <a:buNone/>
            </a:pPr>
            <a:endParaRPr lang="en-US" dirty="0"/>
          </a:p>
        </p:txBody>
      </p:sp>
    </p:spTree>
    <p:extLst>
      <p:ext uri="{BB962C8B-B14F-4D97-AF65-F5344CB8AC3E}">
        <p14:creationId xmlns:p14="http://schemas.microsoft.com/office/powerpoint/2010/main" val="238998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F0C4-47CB-F641-6E8F-6690805350A6}"/>
              </a:ext>
            </a:extLst>
          </p:cNvPr>
          <p:cNvSpPr>
            <a:spLocks noGrp="1"/>
          </p:cNvSpPr>
          <p:nvPr>
            <p:ph type="title"/>
          </p:nvPr>
        </p:nvSpPr>
        <p:spPr/>
        <p:txBody>
          <a:bodyPr/>
          <a:lstStyle/>
          <a:p>
            <a:r>
              <a:rPr lang="en-IN" b="1" i="0" dirty="0">
                <a:effectLst/>
                <a:latin typeface="Söhne"/>
              </a:rPr>
              <a:t>Tips</a:t>
            </a:r>
            <a:endParaRPr lang="en-US" dirty="0"/>
          </a:p>
        </p:txBody>
      </p:sp>
      <p:sp>
        <p:nvSpPr>
          <p:cNvPr id="3" name="Content Placeholder 2">
            <a:extLst>
              <a:ext uri="{FF2B5EF4-FFF2-40B4-BE49-F238E27FC236}">
                <a16:creationId xmlns:a16="http://schemas.microsoft.com/office/drawing/2014/main" id="{3FCDFD5E-29D5-1960-1BFC-3024CACC7E19}"/>
              </a:ext>
            </a:extLst>
          </p:cNvPr>
          <p:cNvSpPr>
            <a:spLocks noGrp="1"/>
          </p:cNvSpPr>
          <p:nvPr>
            <p:ph idx="1"/>
          </p:nvPr>
        </p:nvSpPr>
        <p:spPr/>
        <p:txBody>
          <a:bodyPr>
            <a:normAutofit fontScale="85000" lnSpcReduction="20000"/>
          </a:bodyPr>
          <a:lstStyle/>
          <a:p>
            <a:pPr algn="l">
              <a:buFont typeface="+mj-lt"/>
              <a:buAutoNum type="arabicPeriod"/>
            </a:pPr>
            <a:r>
              <a:rPr lang="en-IN" b="1" i="0" dirty="0">
                <a:effectLst/>
                <a:latin typeface="Söhne"/>
              </a:rPr>
              <a:t>Memory Limitations</a:t>
            </a:r>
            <a:r>
              <a:rPr lang="en-IN" b="0" i="0" dirty="0">
                <a:effectLst/>
                <a:latin typeface="Söhne"/>
              </a:rPr>
              <a:t>: Start with the largest batch size that fits into memory, then reduce, if necessary, based on model performance.</a:t>
            </a:r>
          </a:p>
          <a:p>
            <a:pPr algn="l">
              <a:buFont typeface="+mj-lt"/>
              <a:buAutoNum type="arabicPeriod"/>
            </a:pPr>
            <a:r>
              <a:rPr lang="en-IN" b="1" i="0" dirty="0">
                <a:effectLst/>
                <a:latin typeface="Söhne"/>
              </a:rPr>
              <a:t>Learning Rate Scaling</a:t>
            </a:r>
            <a:r>
              <a:rPr lang="en-IN" b="0" i="0" dirty="0">
                <a:effectLst/>
                <a:latin typeface="Söhne"/>
              </a:rPr>
              <a:t>: When changing the batch size, it's common to scale the learning rate proportionally. For example, doubling the batch size might mean the learning rate should also be doubled.</a:t>
            </a:r>
          </a:p>
          <a:p>
            <a:pPr algn="l">
              <a:buFont typeface="+mj-lt"/>
              <a:buAutoNum type="arabicPeriod"/>
            </a:pPr>
            <a:r>
              <a:rPr lang="en-IN" b="1" i="0" dirty="0">
                <a:effectLst/>
                <a:latin typeface="Söhne"/>
              </a:rPr>
              <a:t>Batch Normalization</a:t>
            </a:r>
            <a:r>
              <a:rPr lang="en-IN" b="0" i="0" dirty="0">
                <a:effectLst/>
                <a:latin typeface="Söhne"/>
              </a:rPr>
              <a:t>: The performance of batch normalization is sensitive to batch size. Very small batches might not work well with batch normalization.</a:t>
            </a:r>
          </a:p>
          <a:p>
            <a:pPr algn="l">
              <a:buFont typeface="+mj-lt"/>
              <a:buAutoNum type="arabicPeriod"/>
            </a:pPr>
            <a:r>
              <a:rPr lang="en-IN" b="1" i="0" dirty="0">
                <a:effectLst/>
                <a:latin typeface="Söhne"/>
              </a:rPr>
              <a:t>Warm-up</a:t>
            </a:r>
            <a:r>
              <a:rPr lang="en-IN" b="0" i="0" dirty="0">
                <a:effectLst/>
                <a:latin typeface="Söhne"/>
              </a:rPr>
              <a:t>: If using large batches, consider using learning rate warm-up, where the learning rate is increased gradually at the start of training. This can help with stability.</a:t>
            </a:r>
          </a:p>
          <a:p>
            <a:pPr algn="l">
              <a:buFont typeface="+mj-lt"/>
              <a:buAutoNum type="arabicPeriod"/>
            </a:pPr>
            <a:r>
              <a:rPr lang="en-IN" b="1" i="0" dirty="0">
                <a:effectLst/>
                <a:latin typeface="Söhne"/>
              </a:rPr>
              <a:t>Gradient Accumulation</a:t>
            </a:r>
            <a:r>
              <a:rPr lang="en-IN" b="0" i="0" dirty="0">
                <a:effectLst/>
                <a:latin typeface="Söhne"/>
              </a:rPr>
              <a:t>: If memory is a constraint, and you want to benefit from larger "effective" batch sizes, you can accumulate gradients over several forward and backward passes and then update the weights.</a:t>
            </a:r>
          </a:p>
        </p:txBody>
      </p:sp>
    </p:spTree>
    <p:extLst>
      <p:ext uri="{BB962C8B-B14F-4D97-AF65-F5344CB8AC3E}">
        <p14:creationId xmlns:p14="http://schemas.microsoft.com/office/powerpoint/2010/main" val="619149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42170-B20A-568E-1515-E93F20ACA782}"/>
              </a:ext>
            </a:extLst>
          </p:cNvPr>
          <p:cNvSpPr>
            <a:spLocks noGrp="1"/>
          </p:cNvSpPr>
          <p:nvPr>
            <p:ph type="title"/>
          </p:nvPr>
        </p:nvSpPr>
        <p:spPr/>
        <p:txBody>
          <a:bodyPr/>
          <a:lstStyle/>
          <a:p>
            <a:r>
              <a:rPr lang="en-IN" b="1" i="0" dirty="0">
                <a:effectLst/>
                <a:latin typeface="Söhne"/>
              </a:rPr>
              <a:t>Number of Epochs</a:t>
            </a:r>
            <a:endParaRPr lang="en-US" dirty="0"/>
          </a:p>
        </p:txBody>
      </p:sp>
      <p:sp>
        <p:nvSpPr>
          <p:cNvPr id="3" name="Content Placeholder 2">
            <a:extLst>
              <a:ext uri="{FF2B5EF4-FFF2-40B4-BE49-F238E27FC236}">
                <a16:creationId xmlns:a16="http://schemas.microsoft.com/office/drawing/2014/main" id="{7E09D0CF-0C84-8FB5-D9B1-85DBDA7810D4}"/>
              </a:ext>
            </a:extLst>
          </p:cNvPr>
          <p:cNvSpPr>
            <a:spLocks noGrp="1"/>
          </p:cNvSpPr>
          <p:nvPr>
            <p:ph idx="1"/>
          </p:nvPr>
        </p:nvSpPr>
        <p:spPr/>
        <p:txBody>
          <a:bodyPr/>
          <a:lstStyle/>
          <a:p>
            <a:r>
              <a:rPr lang="en-IN" b="0" i="0" dirty="0">
                <a:effectLst/>
                <a:latin typeface="Söhne"/>
              </a:rPr>
              <a:t>An epoch refers to one cycle through the full training dataset. After each epoch, the model's weights are updated, and we typically measure its performance on the validation set</a:t>
            </a:r>
            <a:endParaRPr lang="en-US" dirty="0"/>
          </a:p>
        </p:txBody>
      </p:sp>
    </p:spTree>
    <p:extLst>
      <p:ext uri="{BB962C8B-B14F-4D97-AF65-F5344CB8AC3E}">
        <p14:creationId xmlns:p14="http://schemas.microsoft.com/office/powerpoint/2010/main" val="3105822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EA44-6B9B-C568-3B6A-2B7C3F67348D}"/>
              </a:ext>
            </a:extLst>
          </p:cNvPr>
          <p:cNvSpPr>
            <a:spLocks noGrp="1"/>
          </p:cNvSpPr>
          <p:nvPr>
            <p:ph type="title"/>
          </p:nvPr>
        </p:nvSpPr>
        <p:spPr/>
        <p:txBody>
          <a:bodyPr/>
          <a:lstStyle/>
          <a:p>
            <a:r>
              <a:rPr lang="en-IN" b="1" i="0" dirty="0">
                <a:effectLst/>
                <a:latin typeface="Söhne"/>
              </a:rPr>
              <a:t>Implications of the Number of Epochs</a:t>
            </a:r>
            <a:endParaRPr lang="en-US" dirty="0"/>
          </a:p>
        </p:txBody>
      </p:sp>
      <p:sp>
        <p:nvSpPr>
          <p:cNvPr id="3" name="Content Placeholder 2">
            <a:extLst>
              <a:ext uri="{FF2B5EF4-FFF2-40B4-BE49-F238E27FC236}">
                <a16:creationId xmlns:a16="http://schemas.microsoft.com/office/drawing/2014/main" id="{612B9473-AE8D-B137-8DBF-4F0CE18684A7}"/>
              </a:ext>
            </a:extLst>
          </p:cNvPr>
          <p:cNvSpPr>
            <a:spLocks noGrp="1"/>
          </p:cNvSpPr>
          <p:nvPr>
            <p:ph idx="1"/>
          </p:nvPr>
        </p:nvSpPr>
        <p:spPr/>
        <p:txBody>
          <a:bodyPr>
            <a:normAutofit fontScale="92500"/>
          </a:bodyPr>
          <a:lstStyle/>
          <a:p>
            <a:r>
              <a:rPr lang="en-IN" b="1" i="0" dirty="0">
                <a:effectLst/>
                <a:latin typeface="Söhne"/>
              </a:rPr>
              <a:t>Underfitting</a:t>
            </a:r>
            <a:r>
              <a:rPr lang="en-IN" b="0" i="0" dirty="0">
                <a:effectLst/>
                <a:latin typeface="Söhne"/>
              </a:rPr>
              <a:t>:</a:t>
            </a:r>
          </a:p>
          <a:p>
            <a:pPr lvl="1"/>
            <a:r>
              <a:rPr lang="en-IN" b="1" i="0" dirty="0">
                <a:effectLst/>
                <a:latin typeface="Söhne"/>
              </a:rPr>
              <a:t>Few Epochs</a:t>
            </a:r>
            <a:r>
              <a:rPr lang="en-IN" b="0" i="0" dirty="0">
                <a:effectLst/>
                <a:latin typeface="Söhne"/>
              </a:rPr>
              <a:t>: If we train a model for very few epochs, it might not learn the underlying patterns of the training data adequately. This scenario is called underfitting. The model might have high training and validation errors.</a:t>
            </a:r>
          </a:p>
          <a:p>
            <a:r>
              <a:rPr lang="en-IN" b="1" i="0" dirty="0">
                <a:effectLst/>
                <a:latin typeface="Söhne"/>
              </a:rPr>
              <a:t>Overfitting</a:t>
            </a:r>
            <a:r>
              <a:rPr lang="en-IN" b="0" i="0" dirty="0">
                <a:effectLst/>
                <a:latin typeface="Söhne"/>
              </a:rPr>
              <a:t>:</a:t>
            </a:r>
          </a:p>
          <a:p>
            <a:pPr lvl="1"/>
            <a:r>
              <a:rPr lang="en-IN" b="1" i="0" dirty="0">
                <a:effectLst/>
                <a:latin typeface="Söhne"/>
              </a:rPr>
              <a:t>Many Epochs</a:t>
            </a:r>
            <a:r>
              <a:rPr lang="en-IN" b="0" i="0" dirty="0">
                <a:effectLst/>
                <a:latin typeface="Söhne"/>
              </a:rPr>
              <a:t>: If we train the model for a large number of epochs, there's a risk that the model starts to memorize the training data, especially if the model is complex with a large number of parameters. This scenario is called overfitting. The model will have a low training error but a high validation error.</a:t>
            </a:r>
          </a:p>
          <a:p>
            <a:r>
              <a:rPr lang="en-IN" b="1" i="0" dirty="0">
                <a:effectLst/>
                <a:latin typeface="Söhne"/>
              </a:rPr>
              <a:t>Computational Cost</a:t>
            </a:r>
            <a:r>
              <a:rPr lang="en-IN" b="0" i="0" dirty="0">
                <a:effectLst/>
                <a:latin typeface="Söhne"/>
              </a:rPr>
              <a:t>:</a:t>
            </a:r>
          </a:p>
          <a:p>
            <a:pPr lvl="1"/>
            <a:r>
              <a:rPr lang="en-IN" b="0" i="0" dirty="0">
                <a:effectLst/>
                <a:latin typeface="Söhne"/>
              </a:rPr>
              <a:t>Training for more epochs increases the computational cost. For very deep networks or large datasets, this cost can be significant.</a:t>
            </a:r>
          </a:p>
          <a:p>
            <a:endParaRPr lang="en-US" dirty="0"/>
          </a:p>
        </p:txBody>
      </p:sp>
    </p:spTree>
    <p:extLst>
      <p:ext uri="{BB962C8B-B14F-4D97-AF65-F5344CB8AC3E}">
        <p14:creationId xmlns:p14="http://schemas.microsoft.com/office/powerpoint/2010/main" val="1459305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3FB7-61E5-A641-FB47-09E765C2A67A}"/>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2D20303D-C454-31F6-0E11-E1A841C4E2D9}"/>
              </a:ext>
            </a:extLst>
          </p:cNvPr>
          <p:cNvSpPr>
            <a:spLocks noGrp="1"/>
          </p:cNvSpPr>
          <p:nvPr>
            <p:ph idx="1"/>
          </p:nvPr>
        </p:nvSpPr>
        <p:spPr/>
        <p:txBody>
          <a:bodyPr/>
          <a:lstStyle/>
          <a:p>
            <a:r>
              <a:rPr lang="en-IN" b="1" i="0" dirty="0">
                <a:effectLst/>
                <a:latin typeface="Söhne"/>
              </a:rPr>
              <a:t>Scenario with Few Epochs</a:t>
            </a:r>
            <a:r>
              <a:rPr lang="en-IN" b="0" i="0" dirty="0">
                <a:effectLst/>
                <a:latin typeface="Söhne"/>
              </a:rPr>
              <a:t>:</a:t>
            </a:r>
          </a:p>
          <a:p>
            <a:pPr lvl="1"/>
            <a:r>
              <a:rPr lang="en-IN" b="0" i="0" dirty="0">
                <a:effectLst/>
                <a:latin typeface="Söhne"/>
              </a:rPr>
              <a:t>Imagine you're learning to play a musical instrument. If you practice for only a few days, you're likely to make many mistakes because you haven't practiced enough. This is analogous to training a model for too few epochs, leading to underfitting.</a:t>
            </a:r>
          </a:p>
          <a:p>
            <a:r>
              <a:rPr lang="en-IN" b="1" i="0" dirty="0">
                <a:effectLst/>
                <a:latin typeface="Söhne"/>
              </a:rPr>
              <a:t>Scenario with Many Epochs</a:t>
            </a:r>
            <a:r>
              <a:rPr lang="en-IN" b="0" i="0" dirty="0">
                <a:effectLst/>
                <a:latin typeface="Söhne"/>
              </a:rPr>
              <a:t>:</a:t>
            </a:r>
          </a:p>
          <a:p>
            <a:pPr lvl="1"/>
            <a:r>
              <a:rPr lang="en-IN" b="0" i="0" dirty="0">
                <a:effectLst/>
                <a:latin typeface="Söhne"/>
              </a:rPr>
              <a:t>Continuing the musical instrument analogy, suppose you practice a particular song for years. While you'll become excellent at playing that specific song, you might struggle to adapt to a new song or style, as your practice was too narrow. This is analogous to training a model for many epochs, leading to overfitting on the training data and poor generalization to unseen data.</a:t>
            </a:r>
          </a:p>
          <a:p>
            <a:endParaRPr lang="en-US" dirty="0"/>
          </a:p>
        </p:txBody>
      </p:sp>
    </p:spTree>
    <p:extLst>
      <p:ext uri="{BB962C8B-B14F-4D97-AF65-F5344CB8AC3E}">
        <p14:creationId xmlns:p14="http://schemas.microsoft.com/office/powerpoint/2010/main" val="2107954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0C73-AE86-5B97-2891-4FEBBD1681A0}"/>
              </a:ext>
            </a:extLst>
          </p:cNvPr>
          <p:cNvSpPr>
            <a:spLocks noGrp="1"/>
          </p:cNvSpPr>
          <p:nvPr>
            <p:ph type="title"/>
          </p:nvPr>
        </p:nvSpPr>
        <p:spPr/>
        <p:txBody>
          <a:bodyPr/>
          <a:lstStyle/>
          <a:p>
            <a:r>
              <a:rPr lang="en-IN" b="1" i="0" dirty="0">
                <a:effectLst/>
                <a:latin typeface="Söhne"/>
              </a:rPr>
              <a:t>Tips</a:t>
            </a:r>
            <a:endParaRPr lang="en-US" dirty="0"/>
          </a:p>
        </p:txBody>
      </p:sp>
      <p:sp>
        <p:nvSpPr>
          <p:cNvPr id="3" name="Content Placeholder 2">
            <a:extLst>
              <a:ext uri="{FF2B5EF4-FFF2-40B4-BE49-F238E27FC236}">
                <a16:creationId xmlns:a16="http://schemas.microsoft.com/office/drawing/2014/main" id="{5C8D9C98-375B-236A-C2F7-648340F40824}"/>
              </a:ext>
            </a:extLst>
          </p:cNvPr>
          <p:cNvSpPr>
            <a:spLocks noGrp="1"/>
          </p:cNvSpPr>
          <p:nvPr>
            <p:ph idx="1"/>
          </p:nvPr>
        </p:nvSpPr>
        <p:spPr/>
        <p:txBody>
          <a:bodyPr>
            <a:normAutofit fontScale="85000" lnSpcReduction="10000"/>
          </a:bodyPr>
          <a:lstStyle/>
          <a:p>
            <a:pPr algn="l">
              <a:buFont typeface="+mj-lt"/>
              <a:buAutoNum type="arabicPeriod"/>
            </a:pPr>
            <a:r>
              <a:rPr lang="en-IN" b="1" i="0" dirty="0">
                <a:effectLst/>
                <a:latin typeface="Söhne"/>
              </a:rPr>
              <a:t>Early Stopping</a:t>
            </a:r>
            <a:r>
              <a:rPr lang="en-IN" b="0" i="0" dirty="0">
                <a:effectLst/>
                <a:latin typeface="Söhne"/>
              </a:rPr>
              <a:t>: One common technique to counteract overfitting due to many epochs is "early stopping." Here, you monitor the model's performance on a validation dataset and stop training once the validation performance starts deteriorating, even if the training performance is still improving.</a:t>
            </a:r>
          </a:p>
          <a:p>
            <a:pPr algn="l">
              <a:buFont typeface="+mj-lt"/>
              <a:buAutoNum type="arabicPeriod"/>
            </a:pPr>
            <a:r>
              <a:rPr lang="en-IN" b="1" i="0" dirty="0">
                <a:effectLst/>
                <a:latin typeface="Söhne"/>
              </a:rPr>
              <a:t>Validation Curve</a:t>
            </a:r>
            <a:r>
              <a:rPr lang="en-IN" b="0" i="0" dirty="0">
                <a:effectLst/>
                <a:latin typeface="Söhne"/>
              </a:rPr>
              <a:t>: Plot the training and validation errors as a function of epochs. This curve can provide insights into when the model starts overfitting.</a:t>
            </a:r>
          </a:p>
          <a:p>
            <a:pPr algn="l">
              <a:buFont typeface="+mj-lt"/>
              <a:buAutoNum type="arabicPeriod"/>
            </a:pPr>
            <a:r>
              <a:rPr lang="en-IN" b="1" i="0" dirty="0">
                <a:effectLst/>
                <a:latin typeface="Söhne"/>
              </a:rPr>
              <a:t>Save Checkpoints</a:t>
            </a:r>
            <a:r>
              <a:rPr lang="en-IN" b="0" i="0" dirty="0">
                <a:effectLst/>
                <a:latin typeface="Söhne"/>
              </a:rPr>
              <a:t>: During training, save model checkpoints at regular intervals or after each epoch. This way, if you notice overfitting, you can always revert to a previous state.</a:t>
            </a:r>
          </a:p>
          <a:p>
            <a:pPr algn="l">
              <a:buFont typeface="+mj-lt"/>
              <a:buAutoNum type="arabicPeriod"/>
            </a:pPr>
            <a:r>
              <a:rPr lang="en-IN" b="1" i="0" dirty="0">
                <a:effectLst/>
                <a:latin typeface="Söhne"/>
              </a:rPr>
              <a:t>Regularization Techniques</a:t>
            </a:r>
            <a:r>
              <a:rPr lang="en-IN" b="0" i="0" dirty="0">
                <a:effectLst/>
                <a:latin typeface="Söhne"/>
              </a:rPr>
              <a:t>: If you intend to train for many epochs, consider using regularization techniques like dropout, weight decay, or data augmentation to prevent overfitting.</a:t>
            </a:r>
          </a:p>
        </p:txBody>
      </p:sp>
    </p:spTree>
    <p:extLst>
      <p:ext uri="{BB962C8B-B14F-4D97-AF65-F5344CB8AC3E}">
        <p14:creationId xmlns:p14="http://schemas.microsoft.com/office/powerpoint/2010/main" val="2281978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372A2-6BF7-8254-99EE-3CED8759DD6D}"/>
              </a:ext>
            </a:extLst>
          </p:cNvPr>
          <p:cNvSpPr>
            <a:spLocks noGrp="1"/>
          </p:cNvSpPr>
          <p:nvPr>
            <p:ph type="title"/>
          </p:nvPr>
        </p:nvSpPr>
        <p:spPr/>
        <p:txBody>
          <a:bodyPr/>
          <a:lstStyle/>
          <a:p>
            <a:r>
              <a:rPr lang="en-IN" b="1" i="0" dirty="0">
                <a:effectLst/>
                <a:latin typeface="Söhne"/>
              </a:rPr>
              <a:t>Optimizers</a:t>
            </a:r>
            <a:endParaRPr lang="en-US" dirty="0"/>
          </a:p>
        </p:txBody>
      </p:sp>
      <p:sp>
        <p:nvSpPr>
          <p:cNvPr id="3" name="Content Placeholder 2">
            <a:extLst>
              <a:ext uri="{FF2B5EF4-FFF2-40B4-BE49-F238E27FC236}">
                <a16:creationId xmlns:a16="http://schemas.microsoft.com/office/drawing/2014/main" id="{555D4E46-4BDD-1DF6-9D30-EB3A2A7A9DE1}"/>
              </a:ext>
            </a:extLst>
          </p:cNvPr>
          <p:cNvSpPr>
            <a:spLocks noGrp="1"/>
          </p:cNvSpPr>
          <p:nvPr>
            <p:ph idx="1"/>
          </p:nvPr>
        </p:nvSpPr>
        <p:spPr/>
        <p:txBody>
          <a:bodyPr/>
          <a:lstStyle/>
          <a:p>
            <a:r>
              <a:rPr lang="en-IN" b="0" i="0" dirty="0">
                <a:effectLst/>
                <a:latin typeface="Söhne"/>
              </a:rPr>
              <a:t>Optimizers are algorithms used to adjust and compute network weights. The goal is to minimize (or maximize) the loss function. The choice of optimizer can influence the speed of convergence, the quality of the final model, and even whether the training process converges at all.</a:t>
            </a:r>
            <a:endParaRPr lang="en-US" dirty="0"/>
          </a:p>
        </p:txBody>
      </p:sp>
    </p:spTree>
    <p:extLst>
      <p:ext uri="{BB962C8B-B14F-4D97-AF65-F5344CB8AC3E}">
        <p14:creationId xmlns:p14="http://schemas.microsoft.com/office/powerpoint/2010/main" val="4000221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D6E5-57FE-EE83-8307-DBC719CA5D7B}"/>
              </a:ext>
            </a:extLst>
          </p:cNvPr>
          <p:cNvSpPr>
            <a:spLocks noGrp="1"/>
          </p:cNvSpPr>
          <p:nvPr>
            <p:ph type="title"/>
          </p:nvPr>
        </p:nvSpPr>
        <p:spPr/>
        <p:txBody>
          <a:bodyPr>
            <a:normAutofit/>
          </a:bodyPr>
          <a:lstStyle/>
          <a:p>
            <a:r>
              <a:rPr lang="en-IN" b="1" i="0" dirty="0">
                <a:effectLst/>
                <a:latin typeface="Söhne"/>
              </a:rPr>
              <a:t>Examples and Implications of Different Optimizers</a:t>
            </a:r>
            <a:endParaRPr lang="en-US" dirty="0"/>
          </a:p>
        </p:txBody>
      </p:sp>
      <p:sp>
        <p:nvSpPr>
          <p:cNvPr id="3" name="Content Placeholder 2">
            <a:extLst>
              <a:ext uri="{FF2B5EF4-FFF2-40B4-BE49-F238E27FC236}">
                <a16:creationId xmlns:a16="http://schemas.microsoft.com/office/drawing/2014/main" id="{C810B603-75CF-2F09-6A72-BB838F27D497}"/>
              </a:ext>
            </a:extLst>
          </p:cNvPr>
          <p:cNvSpPr>
            <a:spLocks noGrp="1"/>
          </p:cNvSpPr>
          <p:nvPr>
            <p:ph idx="1"/>
          </p:nvPr>
        </p:nvSpPr>
        <p:spPr/>
        <p:txBody>
          <a:bodyPr>
            <a:normAutofit fontScale="92500" lnSpcReduction="10000"/>
          </a:bodyPr>
          <a:lstStyle/>
          <a:p>
            <a:r>
              <a:rPr lang="en-IN" b="1" i="0" dirty="0">
                <a:effectLst/>
                <a:latin typeface="Söhne"/>
              </a:rPr>
              <a:t>Stochastic Gradient Descent (SGD)</a:t>
            </a:r>
            <a:r>
              <a:rPr lang="en-IN" b="0" i="0" dirty="0">
                <a:effectLst/>
                <a:latin typeface="Söhne"/>
              </a:rPr>
              <a:t>:</a:t>
            </a:r>
          </a:p>
          <a:p>
            <a:pPr lvl="1"/>
            <a:r>
              <a:rPr lang="en-IN" b="1" i="0" dirty="0">
                <a:effectLst/>
                <a:latin typeface="Söhne"/>
              </a:rPr>
              <a:t>Description</a:t>
            </a:r>
            <a:r>
              <a:rPr lang="en-IN" b="0" i="0" dirty="0">
                <a:effectLst/>
                <a:latin typeface="Söhne"/>
              </a:rPr>
              <a:t>: Uses the gradient of the loss with respect to parameters to update them in the opposite direction.</a:t>
            </a:r>
          </a:p>
          <a:p>
            <a:pPr lvl="1"/>
            <a:r>
              <a:rPr lang="en-IN" b="1" i="0" dirty="0">
                <a:effectLst/>
                <a:latin typeface="Söhne"/>
              </a:rPr>
              <a:t>Implications</a:t>
            </a:r>
            <a:r>
              <a:rPr lang="en-IN" b="0" i="0" dirty="0">
                <a:effectLst/>
                <a:latin typeface="Söhne"/>
              </a:rPr>
              <a:t>: It can be slow and sensitive to the learning rate. It may also get stuck in local minima or saddle points.</a:t>
            </a:r>
          </a:p>
          <a:p>
            <a:pPr lvl="1"/>
            <a:r>
              <a:rPr lang="en-IN" b="1" i="0" dirty="0">
                <a:effectLst/>
                <a:latin typeface="Söhne"/>
              </a:rPr>
              <a:t>Variants</a:t>
            </a:r>
            <a:r>
              <a:rPr lang="en-IN" b="0" i="0" dirty="0">
                <a:effectLst/>
                <a:latin typeface="Söhne"/>
              </a:rPr>
              <a:t>: Momentum and </a:t>
            </a:r>
            <a:r>
              <a:rPr lang="en-IN" b="0" i="0" dirty="0" err="1">
                <a:effectLst/>
                <a:latin typeface="Söhne"/>
              </a:rPr>
              <a:t>Nesterov</a:t>
            </a:r>
            <a:r>
              <a:rPr lang="en-IN" b="0" i="0" dirty="0">
                <a:effectLst/>
                <a:latin typeface="Söhne"/>
              </a:rPr>
              <a:t> accelerated gradient are commonly used variants that help in faster convergence by considering past gradients.</a:t>
            </a:r>
          </a:p>
          <a:p>
            <a:r>
              <a:rPr lang="en-IN" b="1" i="0" dirty="0" err="1">
                <a:effectLst/>
                <a:latin typeface="Söhne"/>
              </a:rPr>
              <a:t>Adagrad</a:t>
            </a:r>
            <a:r>
              <a:rPr lang="en-IN" b="0" i="0" dirty="0">
                <a:effectLst/>
                <a:latin typeface="Söhne"/>
              </a:rPr>
              <a:t>:</a:t>
            </a:r>
          </a:p>
          <a:p>
            <a:pPr lvl="1"/>
            <a:r>
              <a:rPr lang="en-IN" b="1" i="0" dirty="0">
                <a:effectLst/>
                <a:latin typeface="Söhne"/>
              </a:rPr>
              <a:t>Description</a:t>
            </a:r>
            <a:r>
              <a:rPr lang="en-IN" b="0" i="0" dirty="0">
                <a:effectLst/>
                <a:latin typeface="Söhne"/>
              </a:rPr>
              <a:t>: Adapts the learning rates of all model parameters by scaling them inversely proportional to the square root of the sum of all their historical squared values.</a:t>
            </a:r>
          </a:p>
          <a:p>
            <a:pPr lvl="1"/>
            <a:r>
              <a:rPr lang="en-IN" b="1" i="0" dirty="0">
                <a:effectLst/>
                <a:latin typeface="Söhne"/>
              </a:rPr>
              <a:t>Implications</a:t>
            </a:r>
            <a:r>
              <a:rPr lang="en-IN" b="0" i="0" dirty="0">
                <a:effectLst/>
                <a:latin typeface="Söhne"/>
              </a:rPr>
              <a:t>: Can be beneficial for sparse data but may be unsuitable for deep learning due to an aggressive, monotonically decreasing learning rate.</a:t>
            </a:r>
          </a:p>
          <a:p>
            <a:endParaRPr lang="en-US" dirty="0"/>
          </a:p>
        </p:txBody>
      </p:sp>
    </p:spTree>
    <p:extLst>
      <p:ext uri="{BB962C8B-B14F-4D97-AF65-F5344CB8AC3E}">
        <p14:creationId xmlns:p14="http://schemas.microsoft.com/office/powerpoint/2010/main" val="3484368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9AB8-574E-9808-BE14-06918A4B1F33}"/>
              </a:ext>
            </a:extLst>
          </p:cNvPr>
          <p:cNvSpPr>
            <a:spLocks noGrp="1"/>
          </p:cNvSpPr>
          <p:nvPr>
            <p:ph type="title"/>
          </p:nvPr>
        </p:nvSpPr>
        <p:spPr/>
        <p:txBody>
          <a:bodyPr/>
          <a:lstStyle/>
          <a:p>
            <a:r>
              <a:rPr lang="en-IN" b="1" i="0" dirty="0">
                <a:effectLst/>
                <a:latin typeface="Söhne"/>
              </a:rPr>
              <a:t>Examples and Implications of Different Optimizers</a:t>
            </a:r>
            <a:endParaRPr lang="en-US" dirty="0"/>
          </a:p>
        </p:txBody>
      </p:sp>
      <p:sp>
        <p:nvSpPr>
          <p:cNvPr id="3" name="Content Placeholder 2">
            <a:extLst>
              <a:ext uri="{FF2B5EF4-FFF2-40B4-BE49-F238E27FC236}">
                <a16:creationId xmlns:a16="http://schemas.microsoft.com/office/drawing/2014/main" id="{0C05D8EC-F479-D10A-2C14-CA21A7FA9BB7}"/>
              </a:ext>
            </a:extLst>
          </p:cNvPr>
          <p:cNvSpPr>
            <a:spLocks noGrp="1"/>
          </p:cNvSpPr>
          <p:nvPr>
            <p:ph idx="1"/>
          </p:nvPr>
        </p:nvSpPr>
        <p:spPr/>
        <p:txBody>
          <a:bodyPr/>
          <a:lstStyle/>
          <a:p>
            <a:r>
              <a:rPr lang="en-IN" b="1" i="0" dirty="0">
                <a:effectLst/>
                <a:latin typeface="Söhne"/>
              </a:rPr>
              <a:t>RMSprop</a:t>
            </a:r>
            <a:r>
              <a:rPr lang="en-IN" b="0" i="0" dirty="0">
                <a:effectLst/>
                <a:latin typeface="Söhne"/>
              </a:rPr>
              <a:t>:</a:t>
            </a:r>
          </a:p>
          <a:p>
            <a:pPr lvl="1"/>
            <a:r>
              <a:rPr lang="en-IN" b="1" i="0" dirty="0">
                <a:effectLst/>
                <a:latin typeface="Söhne"/>
              </a:rPr>
              <a:t>Description</a:t>
            </a:r>
            <a:r>
              <a:rPr lang="en-IN" b="0" i="0" dirty="0">
                <a:effectLst/>
                <a:latin typeface="Söhne"/>
              </a:rPr>
              <a:t>: Modifies </a:t>
            </a:r>
            <a:r>
              <a:rPr lang="en-IN" b="0" i="0" dirty="0" err="1">
                <a:effectLst/>
                <a:latin typeface="Söhne"/>
              </a:rPr>
              <a:t>Adagrad</a:t>
            </a:r>
            <a:r>
              <a:rPr lang="en-IN" b="0" i="0" dirty="0">
                <a:effectLst/>
                <a:latin typeface="Söhne"/>
              </a:rPr>
              <a:t> to use a moving average of squared gradients to adjust the learning rate, preventing its rapid decrease.</a:t>
            </a:r>
          </a:p>
          <a:p>
            <a:pPr lvl="1"/>
            <a:r>
              <a:rPr lang="en-IN" b="1" i="0" dirty="0">
                <a:effectLst/>
                <a:latin typeface="Söhne"/>
              </a:rPr>
              <a:t>Implications</a:t>
            </a:r>
            <a:r>
              <a:rPr lang="en-IN" b="0" i="0" dirty="0">
                <a:effectLst/>
                <a:latin typeface="Söhne"/>
              </a:rPr>
              <a:t>: Often performs better than </a:t>
            </a:r>
            <a:r>
              <a:rPr lang="en-IN" b="0" i="0" dirty="0" err="1">
                <a:effectLst/>
                <a:latin typeface="Söhne"/>
              </a:rPr>
              <a:t>Adagrad</a:t>
            </a:r>
            <a:r>
              <a:rPr lang="en-IN" b="0" i="0" dirty="0">
                <a:effectLst/>
                <a:latin typeface="Söhne"/>
              </a:rPr>
              <a:t> for non-sparse, deep learning tasks.</a:t>
            </a:r>
          </a:p>
          <a:p>
            <a:r>
              <a:rPr lang="en-IN" b="1" i="0" dirty="0">
                <a:effectLst/>
                <a:latin typeface="Söhne"/>
              </a:rPr>
              <a:t>Adam (Adaptive Moment Estimation)</a:t>
            </a:r>
            <a:r>
              <a:rPr lang="en-IN" b="0" i="0" dirty="0">
                <a:effectLst/>
                <a:latin typeface="Söhne"/>
              </a:rPr>
              <a:t>:</a:t>
            </a:r>
          </a:p>
          <a:p>
            <a:pPr lvl="1"/>
            <a:r>
              <a:rPr lang="en-IN" b="1" i="0" dirty="0">
                <a:effectLst/>
                <a:latin typeface="Söhne"/>
              </a:rPr>
              <a:t>Description</a:t>
            </a:r>
            <a:r>
              <a:rPr lang="en-IN" b="0" i="0" dirty="0">
                <a:effectLst/>
                <a:latin typeface="Söhne"/>
              </a:rPr>
              <a:t>: </a:t>
            </a:r>
            <a:r>
              <a:rPr lang="en-IN" b="1" i="0" dirty="0">
                <a:effectLst/>
                <a:latin typeface="Söhne"/>
              </a:rPr>
              <a:t>Combines the ideas of momentum and RMSprop</a:t>
            </a:r>
            <a:r>
              <a:rPr lang="en-IN" b="0" i="0" dirty="0">
                <a:effectLst/>
                <a:latin typeface="Söhne"/>
              </a:rPr>
              <a:t>. It computes adaptive learning rates for each parameter using moving averages of both the gradients and squared gradients.</a:t>
            </a:r>
          </a:p>
          <a:p>
            <a:pPr lvl="1"/>
            <a:r>
              <a:rPr lang="en-IN" b="1" i="0" dirty="0">
                <a:effectLst/>
                <a:latin typeface="Söhne"/>
              </a:rPr>
              <a:t>Implications</a:t>
            </a:r>
            <a:r>
              <a:rPr lang="en-IN" b="0" i="0" dirty="0">
                <a:effectLst/>
                <a:latin typeface="Söhne"/>
              </a:rPr>
              <a:t>: Often works well in practice, converging quickly and achieving good performance on a wide range of tasks.</a:t>
            </a:r>
          </a:p>
          <a:p>
            <a:endParaRPr lang="en-US" dirty="0"/>
          </a:p>
        </p:txBody>
      </p:sp>
    </p:spTree>
    <p:extLst>
      <p:ext uri="{BB962C8B-B14F-4D97-AF65-F5344CB8AC3E}">
        <p14:creationId xmlns:p14="http://schemas.microsoft.com/office/powerpoint/2010/main" val="1178025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280A-D030-D7B2-0735-74F7678CF25E}"/>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254D8B5A-885F-B249-3802-B0E3B2C228B0}"/>
              </a:ext>
            </a:extLst>
          </p:cNvPr>
          <p:cNvSpPr>
            <a:spLocks noGrp="1"/>
          </p:cNvSpPr>
          <p:nvPr>
            <p:ph idx="1"/>
          </p:nvPr>
        </p:nvSpPr>
        <p:spPr/>
        <p:txBody>
          <a:bodyPr>
            <a:normAutofit lnSpcReduction="10000"/>
          </a:bodyPr>
          <a:lstStyle/>
          <a:p>
            <a:pPr algn="l">
              <a:buFont typeface="+mj-lt"/>
              <a:buAutoNum type="arabicPeriod"/>
            </a:pPr>
            <a:r>
              <a:rPr lang="en-IN" b="1" i="0" dirty="0">
                <a:effectLst/>
                <a:latin typeface="Söhne"/>
              </a:rPr>
              <a:t>Scenario with a Complex Loss Landscape</a:t>
            </a:r>
            <a:r>
              <a:rPr lang="en-IN" b="0" i="0" dirty="0">
                <a:effectLst/>
                <a:latin typeface="Söhne"/>
              </a:rPr>
              <a:t>:</a:t>
            </a:r>
          </a:p>
          <a:p>
            <a:pPr marL="742950" lvl="1" indent="-285750" algn="l">
              <a:buFont typeface="+mj-lt"/>
              <a:buAutoNum type="arabicPeriod"/>
            </a:pPr>
            <a:r>
              <a:rPr lang="en-IN" b="0" i="0" dirty="0">
                <a:effectLst/>
                <a:latin typeface="Söhne"/>
              </a:rPr>
              <a:t>If you have a complex loss landscape with many local minima, using </a:t>
            </a:r>
            <a:r>
              <a:rPr lang="en-IN" b="1" i="0" dirty="0">
                <a:effectLst/>
                <a:latin typeface="Söhne"/>
              </a:rPr>
              <a:t>SGD</a:t>
            </a:r>
            <a:r>
              <a:rPr lang="en-IN" b="0" i="0" dirty="0">
                <a:effectLst/>
                <a:latin typeface="Söhne"/>
              </a:rPr>
              <a:t> might get stuck, while </a:t>
            </a:r>
            <a:r>
              <a:rPr lang="en-IN" b="1" i="0" dirty="0">
                <a:effectLst/>
                <a:latin typeface="Söhne"/>
              </a:rPr>
              <a:t>Adam</a:t>
            </a:r>
            <a:r>
              <a:rPr lang="en-IN" b="0" i="0" dirty="0">
                <a:effectLst/>
                <a:latin typeface="Söhne"/>
              </a:rPr>
              <a:t> or </a:t>
            </a:r>
            <a:r>
              <a:rPr lang="en-IN" b="1" i="0" dirty="0">
                <a:effectLst/>
                <a:latin typeface="Söhne"/>
              </a:rPr>
              <a:t>RMSprop</a:t>
            </a:r>
            <a:r>
              <a:rPr lang="en-IN" b="0" i="0" dirty="0">
                <a:effectLst/>
                <a:latin typeface="Söhne"/>
              </a:rPr>
              <a:t> can navigate the landscape more effectively due to their adaptive learning rates.</a:t>
            </a:r>
          </a:p>
          <a:p>
            <a:pPr algn="l">
              <a:buFont typeface="+mj-lt"/>
              <a:buAutoNum type="arabicPeriod"/>
            </a:pPr>
            <a:r>
              <a:rPr lang="en-IN" b="1" i="0" dirty="0">
                <a:effectLst/>
                <a:latin typeface="Söhne"/>
              </a:rPr>
              <a:t>Scenario with Noisy Data</a:t>
            </a:r>
            <a:r>
              <a:rPr lang="en-IN" b="0" i="0" dirty="0">
                <a:effectLst/>
                <a:latin typeface="Söhne"/>
              </a:rPr>
              <a:t>:</a:t>
            </a:r>
          </a:p>
          <a:p>
            <a:pPr marL="742950" lvl="1" indent="-285750" algn="l">
              <a:buFont typeface="+mj-lt"/>
              <a:buAutoNum type="arabicPeriod"/>
            </a:pPr>
            <a:r>
              <a:rPr lang="en-IN" b="0" i="0" dirty="0">
                <a:effectLst/>
                <a:latin typeface="Söhne"/>
              </a:rPr>
              <a:t>If your data is noisy, a basic </a:t>
            </a:r>
            <a:r>
              <a:rPr lang="en-IN" b="1" i="0" dirty="0">
                <a:effectLst/>
                <a:latin typeface="Söhne"/>
              </a:rPr>
              <a:t>SGD</a:t>
            </a:r>
            <a:r>
              <a:rPr lang="en-IN" b="0" i="0" dirty="0">
                <a:effectLst/>
                <a:latin typeface="Söhne"/>
              </a:rPr>
              <a:t> might be influenced too much by the noise. In contrast, optimizers like </a:t>
            </a:r>
            <a:r>
              <a:rPr lang="en-IN" b="1" i="0" dirty="0">
                <a:effectLst/>
                <a:latin typeface="Söhne"/>
              </a:rPr>
              <a:t>RMSprop</a:t>
            </a:r>
            <a:r>
              <a:rPr lang="en-IN" b="0" i="0" dirty="0">
                <a:effectLst/>
                <a:latin typeface="Söhne"/>
              </a:rPr>
              <a:t> or </a:t>
            </a:r>
            <a:r>
              <a:rPr lang="en-IN" b="1" i="0" dirty="0">
                <a:effectLst/>
                <a:latin typeface="Söhne"/>
              </a:rPr>
              <a:t>Adam</a:t>
            </a:r>
            <a:r>
              <a:rPr lang="en-IN" b="0" i="0" dirty="0">
                <a:effectLst/>
                <a:latin typeface="Söhne"/>
              </a:rPr>
              <a:t>, which use moving averages, can dampen the effects of noisy gradients.</a:t>
            </a:r>
          </a:p>
          <a:p>
            <a:pPr algn="l">
              <a:buFont typeface="+mj-lt"/>
              <a:buAutoNum type="arabicPeriod"/>
            </a:pPr>
            <a:r>
              <a:rPr lang="en-IN" b="1" i="0" dirty="0">
                <a:effectLst/>
                <a:latin typeface="Söhne"/>
              </a:rPr>
              <a:t>Scenario with Sparse Data</a:t>
            </a:r>
            <a:r>
              <a:rPr lang="en-IN" b="0" i="0" dirty="0">
                <a:effectLst/>
                <a:latin typeface="Söhne"/>
              </a:rPr>
              <a:t>:</a:t>
            </a:r>
          </a:p>
          <a:p>
            <a:pPr marL="742950" lvl="1" indent="-285750" algn="l">
              <a:buFont typeface="+mj-lt"/>
              <a:buAutoNum type="arabicPeriod"/>
            </a:pPr>
            <a:r>
              <a:rPr lang="en-IN" b="0" i="0" dirty="0">
                <a:effectLst/>
                <a:latin typeface="Söhne"/>
              </a:rPr>
              <a:t>For tasks with sparse data or parameters (like NLP tasks with large vocabularies), </a:t>
            </a:r>
            <a:r>
              <a:rPr lang="en-IN" b="1" i="0" dirty="0" err="1">
                <a:effectLst/>
                <a:latin typeface="Söhne"/>
              </a:rPr>
              <a:t>Adagrad</a:t>
            </a:r>
            <a:r>
              <a:rPr lang="en-IN" b="0" i="0" dirty="0">
                <a:effectLst/>
                <a:latin typeface="Söhne"/>
              </a:rPr>
              <a:t> might be beneficial because it adapts the learning rate for each parameter based on its historical information.</a:t>
            </a:r>
          </a:p>
          <a:p>
            <a:endParaRPr lang="en-US" dirty="0"/>
          </a:p>
        </p:txBody>
      </p:sp>
    </p:spTree>
    <p:extLst>
      <p:ext uri="{BB962C8B-B14F-4D97-AF65-F5344CB8AC3E}">
        <p14:creationId xmlns:p14="http://schemas.microsoft.com/office/powerpoint/2010/main" val="3069582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8E46-7B20-0D39-A7C7-8DA22F6C1FCB}"/>
              </a:ext>
            </a:extLst>
          </p:cNvPr>
          <p:cNvSpPr>
            <a:spLocks noGrp="1"/>
          </p:cNvSpPr>
          <p:nvPr>
            <p:ph type="title"/>
          </p:nvPr>
        </p:nvSpPr>
        <p:spPr/>
        <p:txBody>
          <a:bodyPr/>
          <a:lstStyle/>
          <a:p>
            <a:r>
              <a:rPr lang="en-IN" b="1" i="0" dirty="0">
                <a:effectLst/>
                <a:latin typeface="Söhne"/>
              </a:rPr>
              <a:t>Tips</a:t>
            </a:r>
            <a:endParaRPr lang="en-US" dirty="0"/>
          </a:p>
        </p:txBody>
      </p:sp>
      <p:sp>
        <p:nvSpPr>
          <p:cNvPr id="3" name="Content Placeholder 2">
            <a:extLst>
              <a:ext uri="{FF2B5EF4-FFF2-40B4-BE49-F238E27FC236}">
                <a16:creationId xmlns:a16="http://schemas.microsoft.com/office/drawing/2014/main" id="{1A0EDBD8-0599-3DC5-27A8-905A9058BDE2}"/>
              </a:ext>
            </a:extLst>
          </p:cNvPr>
          <p:cNvSpPr>
            <a:spLocks noGrp="1"/>
          </p:cNvSpPr>
          <p:nvPr>
            <p:ph idx="1"/>
          </p:nvPr>
        </p:nvSpPr>
        <p:spPr/>
        <p:txBody>
          <a:bodyPr/>
          <a:lstStyle/>
          <a:p>
            <a:pPr algn="l">
              <a:buFont typeface="+mj-lt"/>
              <a:buAutoNum type="arabicPeriod"/>
            </a:pPr>
            <a:r>
              <a:rPr lang="en-IN" b="1" i="0" dirty="0">
                <a:effectLst/>
                <a:latin typeface="Söhne"/>
              </a:rPr>
              <a:t>Learning Rate</a:t>
            </a:r>
            <a:r>
              <a:rPr lang="en-IN" b="0" i="0" dirty="0">
                <a:effectLst/>
                <a:latin typeface="Söhne"/>
              </a:rPr>
              <a:t>: Each optimizer has its default learning rate, but it's often beneficial to fine-tune this rate for your specific task.</a:t>
            </a:r>
          </a:p>
          <a:p>
            <a:pPr algn="l">
              <a:buFont typeface="+mj-lt"/>
              <a:buAutoNum type="arabicPeriod"/>
            </a:pPr>
            <a:r>
              <a:rPr lang="en-IN" b="1" i="0" dirty="0">
                <a:effectLst/>
                <a:latin typeface="Söhne"/>
              </a:rPr>
              <a:t>Hyperparameters</a:t>
            </a:r>
            <a:r>
              <a:rPr lang="en-IN" b="0" i="0" dirty="0">
                <a:effectLst/>
                <a:latin typeface="Söhne"/>
              </a:rPr>
              <a:t>: While Adam and RMSprop often work well with their default hyperparameters, it might be beneficial to tweak them based on the specific problem.</a:t>
            </a:r>
          </a:p>
          <a:p>
            <a:pPr algn="l">
              <a:buFont typeface="+mj-lt"/>
              <a:buAutoNum type="arabicPeriod"/>
            </a:pPr>
            <a:r>
              <a:rPr lang="en-IN" b="1" i="0" dirty="0">
                <a:effectLst/>
                <a:latin typeface="Söhne"/>
              </a:rPr>
              <a:t>Experimentation</a:t>
            </a:r>
            <a:r>
              <a:rPr lang="en-IN" b="0" i="0" dirty="0">
                <a:effectLst/>
                <a:latin typeface="Söhne"/>
              </a:rPr>
              <a:t>: There's no one-size-fits-all optimizer. Experiment with different optimizers and their hyperparameters to see which works best for your specific problem</a:t>
            </a:r>
          </a:p>
          <a:p>
            <a:endParaRPr lang="en-US" dirty="0"/>
          </a:p>
        </p:txBody>
      </p:sp>
    </p:spTree>
    <p:extLst>
      <p:ext uri="{BB962C8B-B14F-4D97-AF65-F5344CB8AC3E}">
        <p14:creationId xmlns:p14="http://schemas.microsoft.com/office/powerpoint/2010/main" val="3448514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DC2A-DCBA-15C9-3AB7-0D6F8A926E9E}"/>
              </a:ext>
            </a:extLst>
          </p:cNvPr>
          <p:cNvSpPr>
            <a:spLocks noGrp="1"/>
          </p:cNvSpPr>
          <p:nvPr>
            <p:ph type="title"/>
          </p:nvPr>
        </p:nvSpPr>
        <p:spPr/>
        <p:txBody>
          <a:bodyPr/>
          <a:lstStyle/>
          <a:p>
            <a:r>
              <a:rPr lang="en-IN" b="1" i="0" dirty="0">
                <a:effectLst/>
                <a:latin typeface="Söhne"/>
              </a:rPr>
              <a:t>Weight Initialization</a:t>
            </a:r>
            <a:endParaRPr lang="en-US" dirty="0"/>
          </a:p>
        </p:txBody>
      </p:sp>
      <p:sp>
        <p:nvSpPr>
          <p:cNvPr id="3" name="Content Placeholder 2">
            <a:extLst>
              <a:ext uri="{FF2B5EF4-FFF2-40B4-BE49-F238E27FC236}">
                <a16:creationId xmlns:a16="http://schemas.microsoft.com/office/drawing/2014/main" id="{9C34CF04-0D78-F25C-E70C-9DC589D35A8B}"/>
              </a:ext>
            </a:extLst>
          </p:cNvPr>
          <p:cNvSpPr>
            <a:spLocks noGrp="1"/>
          </p:cNvSpPr>
          <p:nvPr>
            <p:ph idx="1"/>
          </p:nvPr>
        </p:nvSpPr>
        <p:spPr/>
        <p:txBody>
          <a:bodyPr>
            <a:normAutofit lnSpcReduction="10000"/>
          </a:bodyPr>
          <a:lstStyle/>
          <a:p>
            <a:pPr marL="0" indent="0">
              <a:buNone/>
            </a:pPr>
            <a:r>
              <a:rPr lang="en-IN" b="0" i="0" dirty="0">
                <a:effectLst/>
                <a:latin typeface="Söhne"/>
              </a:rPr>
              <a:t>The initial weights of a neural network can dictate whether the network converges, how fast it converges, and the quality of the converged solution. Poor initialization can lead to issues such as:</a:t>
            </a:r>
          </a:p>
          <a:p>
            <a:pPr algn="l">
              <a:buFont typeface="+mj-lt"/>
              <a:buAutoNum type="arabicPeriod"/>
            </a:pPr>
            <a:r>
              <a:rPr lang="en-IN" b="1" i="0" dirty="0">
                <a:effectLst/>
                <a:latin typeface="Söhne"/>
              </a:rPr>
              <a:t>Vanishing Gradients</a:t>
            </a:r>
            <a:r>
              <a:rPr lang="en-IN" b="0" i="0" dirty="0">
                <a:effectLst/>
                <a:latin typeface="Söhne"/>
              </a:rPr>
              <a:t>: If weights are initialized too small, the activations can become too small, leading gradients to vanish in deeper layers. This hinders learning in deep networks.</a:t>
            </a:r>
          </a:p>
          <a:p>
            <a:pPr algn="l">
              <a:buFont typeface="+mj-lt"/>
              <a:buAutoNum type="arabicPeriod"/>
            </a:pPr>
            <a:r>
              <a:rPr lang="en-IN" b="1" i="0" dirty="0">
                <a:effectLst/>
                <a:latin typeface="Söhne"/>
              </a:rPr>
              <a:t>Exploding Gradients</a:t>
            </a:r>
            <a:r>
              <a:rPr lang="en-IN" b="0" i="0" dirty="0">
                <a:effectLst/>
                <a:latin typeface="Söhne"/>
              </a:rPr>
              <a:t>: If weights are initialized too large, the activations can blow up, causing gradients to explode. This can lead to unstable training and large weight updates.</a:t>
            </a:r>
          </a:p>
          <a:p>
            <a:pPr algn="l">
              <a:buFont typeface="+mj-lt"/>
              <a:buAutoNum type="arabicPeriod"/>
            </a:pPr>
            <a:r>
              <a:rPr lang="en-IN" b="1" i="0" dirty="0">
                <a:effectLst/>
                <a:latin typeface="Söhne"/>
              </a:rPr>
              <a:t>Slow Convergence</a:t>
            </a:r>
            <a:r>
              <a:rPr lang="en-IN" b="0" i="0" dirty="0">
                <a:effectLst/>
                <a:latin typeface="Söhne"/>
              </a:rPr>
              <a:t>: Poorly initialized weights can cause the optimization to get stuck or converge very slowly.</a:t>
            </a:r>
          </a:p>
          <a:p>
            <a:endParaRPr lang="en-US" dirty="0"/>
          </a:p>
        </p:txBody>
      </p:sp>
    </p:spTree>
    <p:extLst>
      <p:ext uri="{BB962C8B-B14F-4D97-AF65-F5344CB8AC3E}">
        <p14:creationId xmlns:p14="http://schemas.microsoft.com/office/powerpoint/2010/main" val="424382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DFD13-7FCB-CC39-3FDB-228D139F4700}"/>
              </a:ext>
            </a:extLst>
          </p:cNvPr>
          <p:cNvSpPr>
            <a:spLocks noGrp="1"/>
          </p:cNvSpPr>
          <p:nvPr>
            <p:ph type="title"/>
          </p:nvPr>
        </p:nvSpPr>
        <p:spPr/>
        <p:txBody>
          <a:bodyPr/>
          <a:lstStyle/>
          <a:p>
            <a:r>
              <a:rPr lang="en-IN" b="1" i="0" dirty="0">
                <a:effectLst/>
                <a:latin typeface="Söhne"/>
              </a:rPr>
              <a:t>Popular Weight Initialization Methods</a:t>
            </a:r>
            <a:endParaRPr lang="en-US" dirty="0"/>
          </a:p>
        </p:txBody>
      </p:sp>
      <p:sp>
        <p:nvSpPr>
          <p:cNvPr id="3" name="Content Placeholder 2">
            <a:extLst>
              <a:ext uri="{FF2B5EF4-FFF2-40B4-BE49-F238E27FC236}">
                <a16:creationId xmlns:a16="http://schemas.microsoft.com/office/drawing/2014/main" id="{74095519-8BE3-CA75-3951-2FD183C8D281}"/>
              </a:ext>
            </a:extLst>
          </p:cNvPr>
          <p:cNvSpPr>
            <a:spLocks noGrp="1"/>
          </p:cNvSpPr>
          <p:nvPr>
            <p:ph idx="1"/>
          </p:nvPr>
        </p:nvSpPr>
        <p:spPr/>
        <p:txBody>
          <a:bodyPr/>
          <a:lstStyle/>
          <a:p>
            <a:pPr algn="l">
              <a:buFont typeface="+mj-lt"/>
              <a:buAutoNum type="arabicPeriod"/>
            </a:pPr>
            <a:r>
              <a:rPr lang="en-IN" b="1" i="0" dirty="0">
                <a:effectLst/>
                <a:latin typeface="Söhne"/>
              </a:rPr>
              <a:t>Zero Initialization</a:t>
            </a:r>
            <a:r>
              <a:rPr lang="en-IN" b="0" i="0" dirty="0">
                <a:effectLst/>
                <a:latin typeface="Söhne"/>
              </a:rPr>
              <a:t>:</a:t>
            </a:r>
          </a:p>
          <a:p>
            <a:pPr marL="742950" lvl="1" indent="-285750" algn="l">
              <a:buFont typeface="+mj-lt"/>
              <a:buAutoNum type="arabicPeriod"/>
            </a:pPr>
            <a:r>
              <a:rPr lang="en-IN" b="1" i="0" dirty="0">
                <a:effectLst/>
                <a:latin typeface="Söhne"/>
              </a:rPr>
              <a:t>Description</a:t>
            </a:r>
            <a:r>
              <a:rPr lang="en-IN" b="0" i="0" dirty="0">
                <a:effectLst/>
                <a:latin typeface="Söhne"/>
              </a:rPr>
              <a:t>: All weights are initialized to zero.</a:t>
            </a:r>
          </a:p>
          <a:p>
            <a:pPr marL="742950" lvl="1" indent="-285750" algn="l">
              <a:buFont typeface="+mj-lt"/>
              <a:buAutoNum type="arabicPeriod"/>
            </a:pPr>
            <a:r>
              <a:rPr lang="en-IN" b="1" i="0" dirty="0">
                <a:effectLst/>
                <a:latin typeface="Söhne"/>
              </a:rPr>
              <a:t>Issues</a:t>
            </a:r>
            <a:r>
              <a:rPr lang="en-IN" b="0" i="0" dirty="0">
                <a:effectLst/>
                <a:latin typeface="Söhne"/>
              </a:rPr>
              <a:t>: All neurons in the network become symmetric, meaning they all update in the same way during training. This makes them indistinguishable, effectively making a deep network as useful as a single-layer network.</a:t>
            </a:r>
          </a:p>
          <a:p>
            <a:pPr algn="l">
              <a:buFont typeface="+mj-lt"/>
              <a:buAutoNum type="arabicPeriod"/>
            </a:pPr>
            <a:r>
              <a:rPr lang="en-IN" b="1" i="0" dirty="0">
                <a:effectLst/>
                <a:latin typeface="Söhne"/>
              </a:rPr>
              <a:t>Random Initialization</a:t>
            </a:r>
            <a:r>
              <a:rPr lang="en-IN" b="0" i="0" dirty="0">
                <a:effectLst/>
                <a:latin typeface="Söhne"/>
              </a:rPr>
              <a:t>:</a:t>
            </a:r>
          </a:p>
          <a:p>
            <a:pPr marL="742950" lvl="1" indent="-285750" algn="l">
              <a:buFont typeface="+mj-lt"/>
              <a:buAutoNum type="arabicPeriod"/>
            </a:pPr>
            <a:r>
              <a:rPr lang="en-IN" b="1" i="0" dirty="0">
                <a:effectLst/>
                <a:latin typeface="Söhne"/>
              </a:rPr>
              <a:t>Description</a:t>
            </a:r>
            <a:r>
              <a:rPr lang="en-IN" b="0" i="0" dirty="0">
                <a:effectLst/>
                <a:latin typeface="Söhne"/>
              </a:rPr>
              <a:t>: Weights are initialized with small random values.</a:t>
            </a:r>
          </a:p>
          <a:p>
            <a:pPr marL="742950" lvl="1" indent="-285750" algn="l">
              <a:buFont typeface="+mj-lt"/>
              <a:buAutoNum type="arabicPeriod"/>
            </a:pPr>
            <a:r>
              <a:rPr lang="en-IN" b="1" i="0" dirty="0">
                <a:effectLst/>
                <a:latin typeface="Söhne"/>
              </a:rPr>
              <a:t>Issues</a:t>
            </a:r>
            <a:r>
              <a:rPr lang="en-IN" b="0" i="0" dirty="0">
                <a:effectLst/>
                <a:latin typeface="Söhne"/>
              </a:rPr>
              <a:t>: Can lead to vanishing or exploding gradients in deep networks.</a:t>
            </a:r>
          </a:p>
          <a:p>
            <a:pPr marL="0" indent="0">
              <a:buNone/>
            </a:pPr>
            <a:endParaRPr lang="en-US" dirty="0"/>
          </a:p>
        </p:txBody>
      </p:sp>
    </p:spTree>
    <p:extLst>
      <p:ext uri="{BB962C8B-B14F-4D97-AF65-F5344CB8AC3E}">
        <p14:creationId xmlns:p14="http://schemas.microsoft.com/office/powerpoint/2010/main" val="2598420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00FE3-110C-D2DA-4CAF-EE53921292E8}"/>
              </a:ext>
            </a:extLst>
          </p:cNvPr>
          <p:cNvSpPr>
            <a:spLocks noGrp="1"/>
          </p:cNvSpPr>
          <p:nvPr>
            <p:ph type="title"/>
          </p:nvPr>
        </p:nvSpPr>
        <p:spPr/>
        <p:txBody>
          <a:bodyPr/>
          <a:lstStyle/>
          <a:p>
            <a:r>
              <a:rPr lang="en-IN" b="1" i="0" dirty="0">
                <a:effectLst/>
                <a:latin typeface="Söhne"/>
              </a:rPr>
              <a:t>Popular Weight Initialization Methods</a:t>
            </a:r>
            <a:endParaRPr lang="en-US" dirty="0"/>
          </a:p>
        </p:txBody>
      </p:sp>
      <p:sp>
        <p:nvSpPr>
          <p:cNvPr id="3" name="Content Placeholder 2">
            <a:extLst>
              <a:ext uri="{FF2B5EF4-FFF2-40B4-BE49-F238E27FC236}">
                <a16:creationId xmlns:a16="http://schemas.microsoft.com/office/drawing/2014/main" id="{FA6D38DE-7602-775D-2AD4-1717F3B82995}"/>
              </a:ext>
            </a:extLst>
          </p:cNvPr>
          <p:cNvSpPr>
            <a:spLocks noGrp="1"/>
          </p:cNvSpPr>
          <p:nvPr>
            <p:ph idx="1"/>
          </p:nvPr>
        </p:nvSpPr>
        <p:spPr/>
        <p:txBody>
          <a:bodyPr/>
          <a:lstStyle/>
          <a:p>
            <a:pPr marL="514350" indent="-514350" algn="l">
              <a:buFont typeface="+mj-lt"/>
              <a:buAutoNum type="arabicPeriod" startAt="3"/>
            </a:pPr>
            <a:r>
              <a:rPr lang="en-IN" b="1" i="0" dirty="0">
                <a:effectLst/>
                <a:latin typeface="Söhne"/>
              </a:rPr>
              <a:t>Xavier/</a:t>
            </a:r>
            <a:r>
              <a:rPr lang="en-IN" b="1" i="0" dirty="0" err="1">
                <a:effectLst/>
                <a:latin typeface="Söhne"/>
              </a:rPr>
              <a:t>Glorot</a:t>
            </a:r>
            <a:r>
              <a:rPr lang="en-IN" b="1" i="0" dirty="0">
                <a:effectLst/>
                <a:latin typeface="Söhne"/>
              </a:rPr>
              <a:t> Initialization</a:t>
            </a:r>
            <a:r>
              <a:rPr lang="en-IN" b="0" i="0" dirty="0">
                <a:effectLst/>
                <a:latin typeface="Söhne"/>
              </a:rPr>
              <a:t>:</a:t>
            </a:r>
          </a:p>
          <a:p>
            <a:pPr lvl="1"/>
            <a:r>
              <a:rPr lang="en-IN" b="1" i="0" dirty="0">
                <a:effectLst/>
                <a:latin typeface="Söhne"/>
              </a:rPr>
              <a:t>Description</a:t>
            </a:r>
            <a:r>
              <a:rPr lang="en-IN" b="0" i="0" dirty="0">
                <a:effectLst/>
                <a:latin typeface="Söhne"/>
              </a:rPr>
              <a:t>: Weights are initialized with values drawn from a distribution with zero mean and variance </a:t>
            </a:r>
            <a:r>
              <a:rPr lang="en-IN" b="0" i="0" dirty="0">
                <a:effectLst/>
                <a:latin typeface="KaTeX_Main"/>
              </a:rPr>
              <a:t>2/</a:t>
            </a:r>
            <a:r>
              <a:rPr lang="en-IN" b="0" i="1" dirty="0" err="1">
                <a:effectLst/>
                <a:latin typeface="KaTeX_Math"/>
              </a:rPr>
              <a:t>n</a:t>
            </a:r>
            <a:r>
              <a:rPr lang="en-IN" b="0" i="1" baseline="-25000" dirty="0" err="1">
                <a:effectLst/>
                <a:latin typeface="KaTeX_Math"/>
              </a:rPr>
              <a:t>in</a:t>
            </a:r>
            <a:r>
              <a:rPr lang="en-IN" b="0" i="0" dirty="0">
                <a:effectLst/>
                <a:latin typeface="KaTeX_Main"/>
              </a:rPr>
              <a:t>​+</a:t>
            </a:r>
            <a:r>
              <a:rPr lang="en-IN" b="0" i="1" dirty="0" err="1">
                <a:effectLst/>
                <a:latin typeface="KaTeX_Math"/>
              </a:rPr>
              <a:t>n</a:t>
            </a:r>
            <a:r>
              <a:rPr lang="en-IN" b="0" i="1" baseline="-25000" dirty="0" err="1">
                <a:effectLst/>
                <a:latin typeface="KaTeX_Math"/>
              </a:rPr>
              <a:t>out</a:t>
            </a:r>
            <a:r>
              <a:rPr lang="en-IN" b="0" i="0" dirty="0">
                <a:effectLst/>
                <a:latin typeface="KaTeX_Main"/>
              </a:rPr>
              <a:t>​​</a:t>
            </a:r>
            <a:r>
              <a:rPr lang="en-IN" b="0" i="0" dirty="0">
                <a:effectLst/>
                <a:latin typeface="Söhne"/>
              </a:rPr>
              <a:t>, where </a:t>
            </a:r>
            <a:r>
              <a:rPr lang="en-IN" b="0" i="1" dirty="0" err="1">
                <a:effectLst/>
                <a:latin typeface="KaTeX_Math"/>
              </a:rPr>
              <a:t>n</a:t>
            </a:r>
            <a:r>
              <a:rPr lang="en-IN" b="0" i="1" baseline="-25000" dirty="0" err="1">
                <a:effectLst/>
                <a:latin typeface="KaTeX_Math"/>
              </a:rPr>
              <a:t>in</a:t>
            </a:r>
            <a:r>
              <a:rPr lang="en-IN" b="0" i="0" dirty="0">
                <a:effectLst/>
                <a:latin typeface="KaTeX_Main"/>
              </a:rPr>
              <a:t>​</a:t>
            </a:r>
            <a:r>
              <a:rPr lang="en-IN" b="0" i="0" dirty="0">
                <a:effectLst/>
                <a:latin typeface="Söhne"/>
              </a:rPr>
              <a:t> and </a:t>
            </a:r>
            <a:r>
              <a:rPr lang="en-IN" b="0" i="1" dirty="0" err="1">
                <a:effectLst/>
                <a:latin typeface="KaTeX_Math"/>
              </a:rPr>
              <a:t>n</a:t>
            </a:r>
            <a:r>
              <a:rPr lang="en-IN" b="0" i="1" baseline="-25000" dirty="0" err="1">
                <a:effectLst/>
                <a:latin typeface="KaTeX_Math"/>
              </a:rPr>
              <a:t>out</a:t>
            </a:r>
            <a:r>
              <a:rPr lang="en-IN" b="0" i="0" dirty="0">
                <a:effectLst/>
                <a:latin typeface="KaTeX_Main"/>
              </a:rPr>
              <a:t>​</a:t>
            </a:r>
            <a:r>
              <a:rPr lang="en-IN" b="0" i="0" dirty="0">
                <a:effectLst/>
                <a:latin typeface="Söhne"/>
              </a:rPr>
              <a:t> are the number of input and output units for the layer.</a:t>
            </a:r>
          </a:p>
          <a:p>
            <a:pPr lvl="1"/>
            <a:r>
              <a:rPr lang="en-IN" b="1" i="0" dirty="0">
                <a:effectLst/>
                <a:latin typeface="Söhne"/>
              </a:rPr>
              <a:t>Suitable for</a:t>
            </a:r>
            <a:r>
              <a:rPr lang="en-IN" b="0" i="0" dirty="0">
                <a:effectLst/>
                <a:latin typeface="Söhne"/>
              </a:rPr>
              <a:t>: Sigmoid and hyperbolic tangent (tanh) activation functions.</a:t>
            </a:r>
          </a:p>
          <a:p>
            <a:pPr algn="l">
              <a:buFont typeface="+mj-lt"/>
              <a:buAutoNum type="arabicPeriod" startAt="3"/>
            </a:pPr>
            <a:r>
              <a:rPr lang="en-IN" b="1" i="0" dirty="0">
                <a:effectLst/>
                <a:latin typeface="Söhne"/>
              </a:rPr>
              <a:t>He Initialization</a:t>
            </a:r>
            <a:r>
              <a:rPr lang="en-IN" b="0" i="0" dirty="0">
                <a:effectLst/>
                <a:latin typeface="Söhne"/>
              </a:rPr>
              <a:t>:</a:t>
            </a:r>
          </a:p>
          <a:p>
            <a:pPr lvl="1"/>
            <a:r>
              <a:rPr lang="en-IN" b="1" i="0" dirty="0">
                <a:effectLst/>
                <a:latin typeface="Söhne"/>
              </a:rPr>
              <a:t>Description</a:t>
            </a:r>
            <a:r>
              <a:rPr lang="en-IN" b="0" i="0" dirty="0">
                <a:effectLst/>
                <a:latin typeface="Söhne"/>
              </a:rPr>
              <a:t>: Weights are initialized with values drawn from a distribution with zero mean and variance </a:t>
            </a:r>
            <a:r>
              <a:rPr lang="en-IN" b="0" i="0" dirty="0">
                <a:effectLst/>
                <a:latin typeface="KaTeX_Main"/>
              </a:rPr>
              <a:t>2/</a:t>
            </a:r>
            <a:r>
              <a:rPr lang="en-IN" b="0" i="1" dirty="0" err="1">
                <a:effectLst/>
                <a:latin typeface="KaTeX_Math"/>
              </a:rPr>
              <a:t>n</a:t>
            </a:r>
            <a:r>
              <a:rPr lang="en-IN" b="0" i="1" baseline="-25000" dirty="0" err="1">
                <a:effectLst/>
                <a:latin typeface="KaTeX_Math"/>
              </a:rPr>
              <a:t>in</a:t>
            </a:r>
            <a:r>
              <a:rPr lang="en-IN" b="0" i="0" dirty="0">
                <a:effectLst/>
                <a:latin typeface="KaTeX_Main"/>
              </a:rPr>
              <a:t>​​</a:t>
            </a:r>
            <a:r>
              <a:rPr lang="en-IN" b="0" i="0" dirty="0">
                <a:effectLst/>
                <a:latin typeface="Söhne"/>
              </a:rPr>
              <a:t>.</a:t>
            </a:r>
          </a:p>
          <a:p>
            <a:pPr lvl="1"/>
            <a:r>
              <a:rPr lang="en-IN" b="1" i="0" dirty="0">
                <a:effectLst/>
                <a:latin typeface="Söhne"/>
              </a:rPr>
              <a:t>Suitable for</a:t>
            </a:r>
            <a:r>
              <a:rPr lang="en-IN" b="0" i="0" dirty="0">
                <a:effectLst/>
                <a:latin typeface="Söhne"/>
              </a:rPr>
              <a:t>: </a:t>
            </a:r>
            <a:r>
              <a:rPr lang="en-IN" b="0" i="0" dirty="0" err="1">
                <a:effectLst/>
                <a:latin typeface="Söhne"/>
              </a:rPr>
              <a:t>ReLU</a:t>
            </a:r>
            <a:r>
              <a:rPr lang="en-IN" b="0" i="0" dirty="0">
                <a:effectLst/>
                <a:latin typeface="Söhne"/>
              </a:rPr>
              <a:t> and its variants.</a:t>
            </a:r>
          </a:p>
          <a:p>
            <a:endParaRPr lang="en-US" dirty="0"/>
          </a:p>
        </p:txBody>
      </p:sp>
    </p:spTree>
    <p:extLst>
      <p:ext uri="{BB962C8B-B14F-4D97-AF65-F5344CB8AC3E}">
        <p14:creationId xmlns:p14="http://schemas.microsoft.com/office/powerpoint/2010/main" val="757689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BD60-ADEA-9819-80C5-ED758398309B}"/>
              </a:ext>
            </a:extLst>
          </p:cNvPr>
          <p:cNvSpPr>
            <a:spLocks noGrp="1"/>
          </p:cNvSpPr>
          <p:nvPr>
            <p:ph type="title"/>
          </p:nvPr>
        </p:nvSpPr>
        <p:spPr/>
        <p:txBody>
          <a:bodyPr/>
          <a:lstStyle/>
          <a:p>
            <a:r>
              <a:rPr lang="en-IN" b="1" i="0" dirty="0">
                <a:effectLst/>
                <a:latin typeface="Söhne"/>
              </a:rPr>
              <a:t>Popular Weight Initialization Methods</a:t>
            </a:r>
            <a:endParaRPr lang="en-US" dirty="0"/>
          </a:p>
        </p:txBody>
      </p:sp>
      <p:sp>
        <p:nvSpPr>
          <p:cNvPr id="3" name="Content Placeholder 2">
            <a:extLst>
              <a:ext uri="{FF2B5EF4-FFF2-40B4-BE49-F238E27FC236}">
                <a16:creationId xmlns:a16="http://schemas.microsoft.com/office/drawing/2014/main" id="{5623767E-77D0-2215-B5B3-8FC98147C4C1}"/>
              </a:ext>
            </a:extLst>
          </p:cNvPr>
          <p:cNvSpPr>
            <a:spLocks noGrp="1"/>
          </p:cNvSpPr>
          <p:nvPr>
            <p:ph idx="1"/>
          </p:nvPr>
        </p:nvSpPr>
        <p:spPr/>
        <p:txBody>
          <a:bodyPr/>
          <a:lstStyle/>
          <a:p>
            <a:pPr marL="514350" indent="-514350" algn="l">
              <a:buFont typeface="+mj-lt"/>
              <a:buAutoNum type="arabicPeriod" startAt="5"/>
            </a:pPr>
            <a:r>
              <a:rPr lang="en-IN" b="1" i="0" dirty="0" err="1">
                <a:effectLst/>
                <a:latin typeface="Söhne"/>
              </a:rPr>
              <a:t>LeCun</a:t>
            </a:r>
            <a:r>
              <a:rPr lang="en-IN" b="1" i="0" dirty="0">
                <a:effectLst/>
                <a:latin typeface="Söhne"/>
              </a:rPr>
              <a:t> Initialization</a:t>
            </a:r>
            <a:r>
              <a:rPr lang="en-IN" b="0" i="0" dirty="0">
                <a:effectLst/>
                <a:latin typeface="Söhne"/>
              </a:rPr>
              <a:t>:</a:t>
            </a:r>
          </a:p>
          <a:p>
            <a:pPr lvl="1"/>
            <a:r>
              <a:rPr lang="en-IN" b="1" i="0" dirty="0">
                <a:effectLst/>
                <a:latin typeface="Söhne"/>
              </a:rPr>
              <a:t>Description</a:t>
            </a:r>
            <a:r>
              <a:rPr lang="en-IN" b="0" i="0" dirty="0">
                <a:effectLst/>
                <a:latin typeface="Söhne"/>
              </a:rPr>
              <a:t>: Weights are initialized with values drawn from a distribution with zero mean and variance </a:t>
            </a:r>
            <a:r>
              <a:rPr lang="en-IN" b="0" i="0" dirty="0">
                <a:effectLst/>
                <a:latin typeface="KaTeX_Main"/>
              </a:rPr>
              <a:t>1/</a:t>
            </a:r>
            <a:r>
              <a:rPr lang="en-IN" b="0" i="1" dirty="0" err="1">
                <a:effectLst/>
                <a:latin typeface="KaTeX_Math"/>
              </a:rPr>
              <a:t>n</a:t>
            </a:r>
            <a:r>
              <a:rPr lang="en-IN" b="0" i="1" baseline="-25000" dirty="0" err="1">
                <a:effectLst/>
                <a:latin typeface="KaTeX_Math"/>
              </a:rPr>
              <a:t>in</a:t>
            </a:r>
            <a:r>
              <a:rPr lang="en-IN" b="0" i="0" baseline="-25000" dirty="0">
                <a:effectLst/>
                <a:latin typeface="KaTeX_Main"/>
              </a:rPr>
              <a:t>​</a:t>
            </a:r>
            <a:r>
              <a:rPr lang="en-IN" b="0" i="0" dirty="0">
                <a:effectLst/>
                <a:latin typeface="KaTeX_Main"/>
              </a:rPr>
              <a:t>​</a:t>
            </a:r>
            <a:r>
              <a:rPr lang="en-IN" b="0" i="0" dirty="0">
                <a:effectLst/>
                <a:latin typeface="Söhne"/>
              </a:rPr>
              <a:t>.</a:t>
            </a:r>
          </a:p>
          <a:p>
            <a:pPr lvl="1"/>
            <a:r>
              <a:rPr lang="en-IN" b="1" i="0" dirty="0">
                <a:effectLst/>
                <a:latin typeface="Söhne"/>
              </a:rPr>
              <a:t>Suitable for</a:t>
            </a:r>
            <a:r>
              <a:rPr lang="en-IN" b="0" i="0" dirty="0">
                <a:effectLst/>
                <a:latin typeface="Söhne"/>
              </a:rPr>
              <a:t>: Sigmoid and hyperbolic tangent (tanh) activation functions, especially for layers closer to the input.</a:t>
            </a:r>
          </a:p>
          <a:p>
            <a:endParaRPr lang="en-US" dirty="0"/>
          </a:p>
        </p:txBody>
      </p:sp>
    </p:spTree>
    <p:extLst>
      <p:ext uri="{BB962C8B-B14F-4D97-AF65-F5344CB8AC3E}">
        <p14:creationId xmlns:p14="http://schemas.microsoft.com/office/powerpoint/2010/main" val="2174813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70A5-7632-97BB-372F-244522E8208E}"/>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341AA92F-00B6-8CD9-F729-1DAE18A0B15E}"/>
              </a:ext>
            </a:extLst>
          </p:cNvPr>
          <p:cNvSpPr>
            <a:spLocks noGrp="1"/>
          </p:cNvSpPr>
          <p:nvPr>
            <p:ph idx="1"/>
          </p:nvPr>
        </p:nvSpPr>
        <p:spPr/>
        <p:txBody>
          <a:bodyPr>
            <a:normAutofit fontScale="92500"/>
          </a:bodyPr>
          <a:lstStyle/>
          <a:p>
            <a:pPr algn="l">
              <a:buFont typeface="+mj-lt"/>
              <a:buAutoNum type="arabicPeriod"/>
            </a:pPr>
            <a:r>
              <a:rPr lang="en-IN" b="1" i="0" dirty="0">
                <a:effectLst/>
                <a:latin typeface="Söhne"/>
              </a:rPr>
              <a:t>Deep Network with </a:t>
            </a:r>
            <a:r>
              <a:rPr lang="en-IN" b="1" i="0" dirty="0" err="1">
                <a:effectLst/>
                <a:latin typeface="Söhne"/>
              </a:rPr>
              <a:t>ReLU</a:t>
            </a:r>
            <a:r>
              <a:rPr lang="en-IN" b="1" i="0" dirty="0">
                <a:effectLst/>
                <a:latin typeface="Söhne"/>
              </a:rPr>
              <a:t> Activations</a:t>
            </a:r>
            <a:r>
              <a:rPr lang="en-IN" b="0" i="0" dirty="0">
                <a:effectLst/>
                <a:latin typeface="Söhne"/>
              </a:rPr>
              <a:t>:</a:t>
            </a:r>
          </a:p>
          <a:p>
            <a:pPr lvl="1"/>
            <a:r>
              <a:rPr lang="en-IN" b="0" i="0" dirty="0">
                <a:effectLst/>
                <a:latin typeface="Söhne"/>
              </a:rPr>
              <a:t>If you're using a deep network with </a:t>
            </a:r>
            <a:r>
              <a:rPr lang="en-IN" b="0" i="0" dirty="0" err="1">
                <a:effectLst/>
                <a:latin typeface="Söhne"/>
              </a:rPr>
              <a:t>ReLU</a:t>
            </a:r>
            <a:r>
              <a:rPr lang="en-IN" b="0" i="0" dirty="0">
                <a:effectLst/>
                <a:latin typeface="Söhne"/>
              </a:rPr>
              <a:t> activations and initialize weights too small, the activations might stay close to zero, causing the network to not learn effectively. Using </a:t>
            </a:r>
            <a:r>
              <a:rPr lang="en-IN" b="1" i="0" dirty="0">
                <a:effectLst/>
                <a:latin typeface="Söhne"/>
              </a:rPr>
              <a:t>He Initialization</a:t>
            </a:r>
            <a:r>
              <a:rPr lang="en-IN" b="0" i="0" dirty="0">
                <a:effectLst/>
                <a:latin typeface="Söhne"/>
              </a:rPr>
              <a:t> can help activate the neurons more effectively and facilitate learning.</a:t>
            </a:r>
          </a:p>
          <a:p>
            <a:pPr algn="l">
              <a:buFont typeface="+mj-lt"/>
              <a:buAutoNum type="arabicPeriod"/>
            </a:pPr>
            <a:r>
              <a:rPr lang="en-IN" b="1" i="0" dirty="0">
                <a:effectLst/>
                <a:latin typeface="Söhne"/>
              </a:rPr>
              <a:t>Network with Tanh Activations</a:t>
            </a:r>
            <a:r>
              <a:rPr lang="en-IN" b="0" i="0" dirty="0">
                <a:effectLst/>
                <a:latin typeface="Söhne"/>
              </a:rPr>
              <a:t>:</a:t>
            </a:r>
          </a:p>
          <a:p>
            <a:pPr lvl="1"/>
            <a:r>
              <a:rPr lang="en-IN" b="0" i="0" dirty="0">
                <a:effectLst/>
                <a:latin typeface="Söhne"/>
              </a:rPr>
              <a:t>For a network using tanh activations, </a:t>
            </a:r>
            <a:r>
              <a:rPr lang="en-IN" b="1" i="0" dirty="0">
                <a:effectLst/>
                <a:latin typeface="Söhne"/>
              </a:rPr>
              <a:t>Xavier/</a:t>
            </a:r>
            <a:r>
              <a:rPr lang="en-IN" b="1" i="0" dirty="0" err="1">
                <a:effectLst/>
                <a:latin typeface="Söhne"/>
              </a:rPr>
              <a:t>Glorot</a:t>
            </a:r>
            <a:r>
              <a:rPr lang="en-IN" b="1" i="0" dirty="0">
                <a:effectLst/>
                <a:latin typeface="Söhne"/>
              </a:rPr>
              <a:t> Initialization</a:t>
            </a:r>
            <a:r>
              <a:rPr lang="en-IN" b="0" i="0" dirty="0">
                <a:effectLst/>
                <a:latin typeface="Söhne"/>
              </a:rPr>
              <a:t> can help prevent the activations from saturating at the extremes, thus avoiding vanishing gradients.</a:t>
            </a:r>
          </a:p>
          <a:p>
            <a:pPr algn="l">
              <a:buFont typeface="+mj-lt"/>
              <a:buAutoNum type="arabicPeriod"/>
            </a:pPr>
            <a:r>
              <a:rPr lang="en-IN" b="1" i="0" dirty="0">
                <a:effectLst/>
                <a:latin typeface="Söhne"/>
              </a:rPr>
              <a:t>Network with Sigmoid Activations in Input Layers</a:t>
            </a:r>
            <a:r>
              <a:rPr lang="en-IN" b="0" i="0" dirty="0">
                <a:effectLst/>
                <a:latin typeface="Söhne"/>
              </a:rPr>
              <a:t>:</a:t>
            </a:r>
          </a:p>
          <a:p>
            <a:pPr lvl="1"/>
            <a:r>
              <a:rPr lang="en-IN" b="0" i="0" dirty="0">
                <a:effectLst/>
                <a:latin typeface="Söhne"/>
              </a:rPr>
              <a:t>If you have a network where the initial layers use sigmoid activations, </a:t>
            </a:r>
            <a:r>
              <a:rPr lang="en-IN" b="1" i="0" dirty="0" err="1">
                <a:effectLst/>
                <a:latin typeface="Söhne"/>
              </a:rPr>
              <a:t>LeCun</a:t>
            </a:r>
            <a:r>
              <a:rPr lang="en-IN" b="1" i="0" dirty="0">
                <a:effectLst/>
                <a:latin typeface="Söhne"/>
              </a:rPr>
              <a:t> Initialization</a:t>
            </a:r>
            <a:r>
              <a:rPr lang="en-IN" b="0" i="0" dirty="0">
                <a:effectLst/>
                <a:latin typeface="Söhne"/>
              </a:rPr>
              <a:t> might be beneficial to ensure that the activations in these layers don't squash to the extremes.</a:t>
            </a:r>
          </a:p>
          <a:p>
            <a:endParaRPr lang="en-US" dirty="0"/>
          </a:p>
        </p:txBody>
      </p:sp>
    </p:spTree>
    <p:extLst>
      <p:ext uri="{BB962C8B-B14F-4D97-AF65-F5344CB8AC3E}">
        <p14:creationId xmlns:p14="http://schemas.microsoft.com/office/powerpoint/2010/main" val="3412509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8164C-28A2-4B34-7250-AAAAFE95178A}"/>
              </a:ext>
            </a:extLst>
          </p:cNvPr>
          <p:cNvSpPr>
            <a:spLocks noGrp="1"/>
          </p:cNvSpPr>
          <p:nvPr>
            <p:ph type="title"/>
          </p:nvPr>
        </p:nvSpPr>
        <p:spPr/>
        <p:txBody>
          <a:bodyPr/>
          <a:lstStyle/>
          <a:p>
            <a:r>
              <a:rPr lang="en-IN" b="1" i="0" dirty="0">
                <a:effectLst/>
                <a:latin typeface="Söhne"/>
              </a:rPr>
              <a:t>Activation Functions</a:t>
            </a:r>
            <a:endParaRPr lang="en-US" dirty="0"/>
          </a:p>
        </p:txBody>
      </p:sp>
      <p:sp>
        <p:nvSpPr>
          <p:cNvPr id="3" name="Content Placeholder 2">
            <a:extLst>
              <a:ext uri="{FF2B5EF4-FFF2-40B4-BE49-F238E27FC236}">
                <a16:creationId xmlns:a16="http://schemas.microsoft.com/office/drawing/2014/main" id="{DFF922D1-AA3E-8D96-E20F-207D8EEDECC7}"/>
              </a:ext>
            </a:extLst>
          </p:cNvPr>
          <p:cNvSpPr>
            <a:spLocks noGrp="1"/>
          </p:cNvSpPr>
          <p:nvPr>
            <p:ph idx="1"/>
          </p:nvPr>
        </p:nvSpPr>
        <p:spPr/>
        <p:txBody>
          <a:bodyPr/>
          <a:lstStyle/>
          <a:p>
            <a:pPr algn="l">
              <a:buFont typeface="+mj-lt"/>
              <a:buAutoNum type="arabicPeriod"/>
            </a:pPr>
            <a:r>
              <a:rPr lang="en-IN" b="1" i="0" dirty="0">
                <a:effectLst/>
                <a:latin typeface="Söhne"/>
              </a:rPr>
              <a:t>Introducing Non-linearity</a:t>
            </a:r>
            <a:r>
              <a:rPr lang="en-IN" b="0" i="0" dirty="0">
                <a:effectLst/>
                <a:latin typeface="Söhne"/>
              </a:rPr>
              <a:t>: This allows the network to model complex, non-linear relationships in the data.</a:t>
            </a:r>
          </a:p>
          <a:p>
            <a:pPr algn="l">
              <a:buFont typeface="+mj-lt"/>
              <a:buAutoNum type="arabicPeriod"/>
            </a:pPr>
            <a:r>
              <a:rPr lang="en-IN" b="1" i="0" dirty="0">
                <a:effectLst/>
                <a:latin typeface="Söhne"/>
              </a:rPr>
              <a:t>Gradient Propagation</a:t>
            </a:r>
            <a:r>
              <a:rPr lang="en-IN" b="0" i="0" dirty="0">
                <a:effectLst/>
                <a:latin typeface="Söhne"/>
              </a:rPr>
              <a:t>: Activation functions and their derivatives determine how gradients are propagated backward through the network during training. Some activation functions can lead to vanishing or exploding gradients, affecting training dynamics.</a:t>
            </a:r>
          </a:p>
          <a:p>
            <a:endParaRPr lang="en-US" dirty="0"/>
          </a:p>
        </p:txBody>
      </p:sp>
    </p:spTree>
    <p:extLst>
      <p:ext uri="{BB962C8B-B14F-4D97-AF65-F5344CB8AC3E}">
        <p14:creationId xmlns:p14="http://schemas.microsoft.com/office/powerpoint/2010/main" val="1351857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1718C-F9B9-A757-8BFC-E9C7C795D60C}"/>
              </a:ext>
            </a:extLst>
          </p:cNvPr>
          <p:cNvSpPr>
            <a:spLocks noGrp="1"/>
          </p:cNvSpPr>
          <p:nvPr>
            <p:ph type="title"/>
          </p:nvPr>
        </p:nvSpPr>
        <p:spPr/>
        <p:txBody>
          <a:bodyPr/>
          <a:lstStyle/>
          <a:p>
            <a:r>
              <a:rPr lang="en-IN" b="1" i="0" dirty="0">
                <a:effectLst/>
                <a:latin typeface="Söhne"/>
              </a:rPr>
              <a:t>Common Activation Functions</a:t>
            </a:r>
            <a:endParaRPr lang="en-US" dirty="0"/>
          </a:p>
        </p:txBody>
      </p:sp>
      <p:sp>
        <p:nvSpPr>
          <p:cNvPr id="3" name="Content Placeholder 2">
            <a:extLst>
              <a:ext uri="{FF2B5EF4-FFF2-40B4-BE49-F238E27FC236}">
                <a16:creationId xmlns:a16="http://schemas.microsoft.com/office/drawing/2014/main" id="{784B37F4-06EE-A370-F7C2-F53ADFCCF006}"/>
              </a:ext>
            </a:extLst>
          </p:cNvPr>
          <p:cNvSpPr>
            <a:spLocks noGrp="1"/>
          </p:cNvSpPr>
          <p:nvPr>
            <p:ph idx="1"/>
          </p:nvPr>
        </p:nvSpPr>
        <p:spPr/>
        <p:txBody>
          <a:bodyPr>
            <a:normAutofit lnSpcReduction="10000"/>
          </a:bodyPr>
          <a:lstStyle/>
          <a:p>
            <a:pPr algn="l"/>
            <a:r>
              <a:rPr lang="en-IN" b="1" i="0" dirty="0">
                <a:effectLst/>
                <a:latin typeface="Söhne"/>
              </a:rPr>
              <a:t>Sigmoid</a:t>
            </a:r>
            <a:r>
              <a:rPr lang="en-IN" b="0" i="0" dirty="0">
                <a:effectLst/>
                <a:latin typeface="Söhne"/>
              </a:rPr>
              <a:t>:</a:t>
            </a:r>
          </a:p>
          <a:p>
            <a:pPr lvl="1"/>
            <a:r>
              <a:rPr lang="en-IN" b="1" i="0" dirty="0">
                <a:effectLst/>
                <a:latin typeface="Söhne"/>
              </a:rPr>
              <a:t>Formula</a:t>
            </a:r>
            <a:r>
              <a:rPr lang="en-IN" b="0" i="0" dirty="0">
                <a:effectLst/>
                <a:latin typeface="Söhne"/>
              </a:rPr>
              <a:t>: </a:t>
            </a:r>
            <a:r>
              <a:rPr lang="en-IN" b="0" i="1" dirty="0">
                <a:effectLst/>
                <a:latin typeface="KaTeX_Math"/>
              </a:rPr>
              <a:t>f</a:t>
            </a:r>
            <a:r>
              <a:rPr lang="en-IN" b="0" i="0" dirty="0">
                <a:effectLst/>
                <a:latin typeface="KaTeX_Main"/>
              </a:rPr>
              <a:t>(</a:t>
            </a:r>
            <a:r>
              <a:rPr lang="en-IN" b="0" i="1" dirty="0">
                <a:effectLst/>
                <a:latin typeface="KaTeX_Math"/>
              </a:rPr>
              <a:t>x</a:t>
            </a:r>
            <a:r>
              <a:rPr lang="en-IN" b="0" i="0" dirty="0">
                <a:effectLst/>
                <a:latin typeface="KaTeX_Main"/>
              </a:rPr>
              <a:t>)=1/1+</a:t>
            </a:r>
            <a:r>
              <a:rPr lang="en-IN" b="0" i="1" dirty="0">
                <a:effectLst/>
                <a:latin typeface="KaTeX_Math"/>
              </a:rPr>
              <a:t>e</a:t>
            </a:r>
            <a:r>
              <a:rPr lang="en-IN" b="0" i="0" baseline="30000" dirty="0">
                <a:effectLst/>
                <a:latin typeface="KaTeX_Main"/>
              </a:rPr>
              <a:t>−</a:t>
            </a:r>
            <a:r>
              <a:rPr lang="en-IN" b="0" i="1" baseline="30000" dirty="0">
                <a:effectLst/>
                <a:latin typeface="KaTeX_Math"/>
              </a:rPr>
              <a:t>x</a:t>
            </a:r>
            <a:endParaRPr lang="en-IN" b="0" i="0" dirty="0">
              <a:effectLst/>
              <a:latin typeface="Söhne"/>
            </a:endParaRPr>
          </a:p>
          <a:p>
            <a:pPr lvl="1"/>
            <a:r>
              <a:rPr lang="en-IN" b="1" i="0" dirty="0">
                <a:effectLst/>
                <a:latin typeface="Söhne"/>
              </a:rPr>
              <a:t>Range</a:t>
            </a:r>
            <a:r>
              <a:rPr lang="en-IN" b="0" i="0" dirty="0">
                <a:effectLst/>
                <a:latin typeface="Söhne"/>
              </a:rPr>
              <a:t>: [0, 1]</a:t>
            </a:r>
          </a:p>
          <a:p>
            <a:pPr lvl="1"/>
            <a:r>
              <a:rPr lang="en-IN" b="1" i="0" dirty="0">
                <a:effectLst/>
                <a:latin typeface="Söhne"/>
              </a:rPr>
              <a:t>Issues</a:t>
            </a:r>
            <a:r>
              <a:rPr lang="en-IN" b="0" i="0" dirty="0">
                <a:effectLst/>
                <a:latin typeface="Söhne"/>
              </a:rPr>
              <a:t>: Can lead to vanishing gradients in deep networks because its derivatives are very small for extreme values. Also, it's not zero-</a:t>
            </a:r>
            <a:r>
              <a:rPr lang="en-IN" b="0" i="0" dirty="0" err="1">
                <a:effectLst/>
                <a:latin typeface="Söhne"/>
              </a:rPr>
              <a:t>centered</a:t>
            </a:r>
            <a:r>
              <a:rPr lang="en-IN" b="0" i="0" dirty="0">
                <a:effectLst/>
                <a:latin typeface="Söhne"/>
              </a:rPr>
              <a:t>.</a:t>
            </a:r>
          </a:p>
          <a:p>
            <a:pPr algn="l"/>
            <a:r>
              <a:rPr lang="en-IN" b="1" i="0" dirty="0">
                <a:effectLst/>
                <a:latin typeface="Söhne"/>
              </a:rPr>
              <a:t>Hyperbolic Tangent (tanh)</a:t>
            </a:r>
            <a:r>
              <a:rPr lang="en-IN" b="0" i="0" dirty="0">
                <a:effectLst/>
                <a:latin typeface="Söhne"/>
              </a:rPr>
              <a:t>:</a:t>
            </a:r>
          </a:p>
          <a:p>
            <a:pPr lvl="1"/>
            <a:r>
              <a:rPr lang="en-IN" b="1" i="0" dirty="0">
                <a:effectLst/>
                <a:latin typeface="Söhne"/>
              </a:rPr>
              <a:t>Formula</a:t>
            </a:r>
            <a:r>
              <a:rPr lang="en-IN" b="0" i="0" dirty="0">
                <a:effectLst/>
                <a:latin typeface="Söhne"/>
              </a:rPr>
              <a:t>: </a:t>
            </a:r>
            <a:r>
              <a:rPr lang="en-IN" b="0" i="1" dirty="0">
                <a:effectLst/>
                <a:latin typeface="KaTeX_Math"/>
              </a:rPr>
              <a:t>f</a:t>
            </a:r>
            <a:r>
              <a:rPr lang="en-IN" b="0" i="0" dirty="0">
                <a:effectLst/>
                <a:latin typeface="KaTeX_Main"/>
              </a:rPr>
              <a:t>(</a:t>
            </a:r>
            <a:r>
              <a:rPr lang="en-IN" b="0" i="1" dirty="0">
                <a:effectLst/>
                <a:latin typeface="KaTeX_Math"/>
              </a:rPr>
              <a:t>x</a:t>
            </a:r>
            <a:r>
              <a:rPr lang="en-IN" b="0" i="0" dirty="0">
                <a:effectLst/>
                <a:latin typeface="KaTeX_Main"/>
              </a:rPr>
              <a:t>)=</a:t>
            </a:r>
            <a:r>
              <a:rPr lang="en-IN" b="0" i="1" dirty="0" err="1">
                <a:effectLst/>
                <a:latin typeface="KaTeX_Math"/>
              </a:rPr>
              <a:t>e</a:t>
            </a:r>
            <a:r>
              <a:rPr lang="en-IN" b="0" i="1" baseline="30000" dirty="0" err="1">
                <a:effectLst/>
                <a:latin typeface="KaTeX_Math"/>
              </a:rPr>
              <a:t>x</a:t>
            </a:r>
            <a:r>
              <a:rPr lang="en-IN" b="0" i="0" dirty="0" err="1">
                <a:effectLst/>
                <a:latin typeface="KaTeX_Main"/>
              </a:rPr>
              <a:t>+</a:t>
            </a:r>
            <a:r>
              <a:rPr lang="en-IN" b="0" i="1" dirty="0" err="1">
                <a:effectLst/>
                <a:latin typeface="KaTeX_Math"/>
              </a:rPr>
              <a:t>e</a:t>
            </a:r>
            <a:r>
              <a:rPr lang="en-IN" b="0" i="0" baseline="30000" dirty="0" err="1">
                <a:effectLst/>
                <a:latin typeface="KaTeX_Main"/>
              </a:rPr>
              <a:t>−</a:t>
            </a:r>
            <a:r>
              <a:rPr lang="en-IN" b="0" i="1" baseline="30000" dirty="0" err="1">
                <a:effectLst/>
                <a:latin typeface="KaTeX_Math"/>
              </a:rPr>
              <a:t>x</a:t>
            </a:r>
            <a:r>
              <a:rPr lang="en-IN" b="0" i="1" dirty="0">
                <a:effectLst/>
                <a:latin typeface="KaTeX_Math"/>
              </a:rPr>
              <a:t>/e</a:t>
            </a:r>
            <a:r>
              <a:rPr lang="en-IN" b="0" i="1" baseline="30000" dirty="0">
                <a:effectLst/>
                <a:latin typeface="KaTeX_Math"/>
              </a:rPr>
              <a:t>x</a:t>
            </a:r>
            <a:r>
              <a:rPr lang="en-IN" b="0" i="0" dirty="0">
                <a:effectLst/>
                <a:latin typeface="KaTeX_Main"/>
              </a:rPr>
              <a:t>−</a:t>
            </a:r>
            <a:r>
              <a:rPr lang="en-IN" b="0" i="1" dirty="0">
                <a:effectLst/>
                <a:latin typeface="KaTeX_Math"/>
              </a:rPr>
              <a:t>e</a:t>
            </a:r>
            <a:r>
              <a:rPr lang="en-IN" b="0" i="0" baseline="30000" dirty="0">
                <a:effectLst/>
                <a:latin typeface="KaTeX_Main"/>
              </a:rPr>
              <a:t>−</a:t>
            </a:r>
            <a:r>
              <a:rPr lang="en-IN" b="0" i="1" baseline="30000" dirty="0">
                <a:effectLst/>
                <a:latin typeface="KaTeX_Math"/>
              </a:rPr>
              <a:t>x</a:t>
            </a:r>
            <a:r>
              <a:rPr lang="en-IN" b="0" i="0" baseline="30000" dirty="0">
                <a:effectLst/>
                <a:latin typeface="KaTeX_Main"/>
              </a:rPr>
              <a:t>​</a:t>
            </a:r>
            <a:endParaRPr lang="en-IN" b="0" i="0" baseline="30000" dirty="0">
              <a:effectLst/>
              <a:latin typeface="Söhne"/>
            </a:endParaRPr>
          </a:p>
          <a:p>
            <a:pPr lvl="1"/>
            <a:r>
              <a:rPr lang="en-IN" b="1" i="0" dirty="0">
                <a:effectLst/>
                <a:latin typeface="Söhne"/>
              </a:rPr>
              <a:t>Range</a:t>
            </a:r>
            <a:r>
              <a:rPr lang="en-IN" b="0" i="0" dirty="0">
                <a:effectLst/>
                <a:latin typeface="Söhne"/>
              </a:rPr>
              <a:t>: [-1, 1]</a:t>
            </a:r>
          </a:p>
          <a:p>
            <a:pPr lvl="1"/>
            <a:r>
              <a:rPr lang="en-IN" b="1" i="0" dirty="0">
                <a:effectLst/>
                <a:latin typeface="Söhne"/>
              </a:rPr>
              <a:t>Advantages</a:t>
            </a:r>
            <a:r>
              <a:rPr lang="en-IN" b="0" i="0" dirty="0">
                <a:effectLst/>
                <a:latin typeface="Söhne"/>
              </a:rPr>
              <a:t>: Zero-</a:t>
            </a:r>
            <a:r>
              <a:rPr lang="en-IN" b="0" i="0" dirty="0" err="1">
                <a:effectLst/>
                <a:latin typeface="Söhne"/>
              </a:rPr>
              <a:t>centered</a:t>
            </a:r>
            <a:r>
              <a:rPr lang="en-IN" b="0" i="0" dirty="0">
                <a:effectLst/>
                <a:latin typeface="Söhne"/>
              </a:rPr>
              <a:t>, making it better than sigmoid for deeper networks.</a:t>
            </a:r>
          </a:p>
          <a:p>
            <a:pPr lvl="1"/>
            <a:r>
              <a:rPr lang="en-IN" b="1" i="0" dirty="0">
                <a:effectLst/>
                <a:latin typeface="Söhne"/>
              </a:rPr>
              <a:t>Issues</a:t>
            </a:r>
            <a:r>
              <a:rPr lang="en-IN" b="0" i="0" dirty="0">
                <a:effectLst/>
                <a:latin typeface="Söhne"/>
              </a:rPr>
              <a:t>: Can still lead to vanishing gradients in very deep networks.</a:t>
            </a:r>
          </a:p>
          <a:p>
            <a:pPr lvl="2"/>
            <a:endParaRPr lang="en-IN" b="0" i="0" dirty="0">
              <a:effectLst/>
              <a:latin typeface="Söhne"/>
            </a:endParaRPr>
          </a:p>
          <a:p>
            <a:endParaRPr lang="en-US" dirty="0"/>
          </a:p>
        </p:txBody>
      </p:sp>
    </p:spTree>
    <p:extLst>
      <p:ext uri="{BB962C8B-B14F-4D97-AF65-F5344CB8AC3E}">
        <p14:creationId xmlns:p14="http://schemas.microsoft.com/office/powerpoint/2010/main" val="2964451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2426C-15DF-D33A-7235-21C76F50E35F}"/>
              </a:ext>
            </a:extLst>
          </p:cNvPr>
          <p:cNvSpPr>
            <a:spLocks noGrp="1"/>
          </p:cNvSpPr>
          <p:nvPr>
            <p:ph type="title"/>
          </p:nvPr>
        </p:nvSpPr>
        <p:spPr/>
        <p:txBody>
          <a:bodyPr/>
          <a:lstStyle/>
          <a:p>
            <a:r>
              <a:rPr lang="en-IN" b="1" i="0" dirty="0">
                <a:effectLst/>
                <a:latin typeface="Söhne"/>
              </a:rPr>
              <a:t>Common Activation Functions</a:t>
            </a:r>
            <a:endParaRPr lang="en-US" dirty="0"/>
          </a:p>
        </p:txBody>
      </p:sp>
      <p:sp>
        <p:nvSpPr>
          <p:cNvPr id="3" name="Content Placeholder 2">
            <a:extLst>
              <a:ext uri="{FF2B5EF4-FFF2-40B4-BE49-F238E27FC236}">
                <a16:creationId xmlns:a16="http://schemas.microsoft.com/office/drawing/2014/main" id="{C114B484-7DC1-A2AF-620D-30BEBE858B00}"/>
              </a:ext>
            </a:extLst>
          </p:cNvPr>
          <p:cNvSpPr>
            <a:spLocks noGrp="1"/>
          </p:cNvSpPr>
          <p:nvPr>
            <p:ph idx="1"/>
          </p:nvPr>
        </p:nvSpPr>
        <p:spPr/>
        <p:txBody>
          <a:bodyPr/>
          <a:lstStyle/>
          <a:p>
            <a:pPr algn="l"/>
            <a:r>
              <a:rPr lang="en-IN" b="1" i="0" dirty="0" err="1">
                <a:effectLst/>
                <a:latin typeface="Söhne"/>
              </a:rPr>
              <a:t>ReLU</a:t>
            </a:r>
            <a:r>
              <a:rPr lang="en-IN" b="1" i="0" dirty="0">
                <a:effectLst/>
                <a:latin typeface="Söhne"/>
              </a:rPr>
              <a:t> (Rectified Linear Unit)</a:t>
            </a:r>
            <a:r>
              <a:rPr lang="en-IN" b="0" i="0" dirty="0">
                <a:effectLst/>
                <a:latin typeface="Söhne"/>
              </a:rPr>
              <a:t>:</a:t>
            </a:r>
          </a:p>
          <a:p>
            <a:pPr lvl="1"/>
            <a:r>
              <a:rPr lang="en-IN" b="1" i="0" dirty="0">
                <a:effectLst/>
                <a:latin typeface="Söhne"/>
              </a:rPr>
              <a:t>Formula</a:t>
            </a:r>
            <a:r>
              <a:rPr lang="en-IN" b="0" i="0" dirty="0">
                <a:effectLst/>
                <a:latin typeface="Söhne"/>
              </a:rPr>
              <a:t>: </a:t>
            </a:r>
            <a:r>
              <a:rPr lang="en-IN" b="0" i="1" dirty="0">
                <a:effectLst/>
                <a:latin typeface="KaTeX_Math"/>
              </a:rPr>
              <a:t>f</a:t>
            </a:r>
            <a:r>
              <a:rPr lang="en-IN" b="0" i="0" dirty="0">
                <a:effectLst/>
                <a:latin typeface="KaTeX_Main"/>
              </a:rPr>
              <a:t>(</a:t>
            </a:r>
            <a:r>
              <a:rPr lang="en-IN" b="0" i="1" dirty="0">
                <a:effectLst/>
                <a:latin typeface="KaTeX_Math"/>
              </a:rPr>
              <a:t>x</a:t>
            </a:r>
            <a:r>
              <a:rPr lang="en-IN" b="0" i="0" dirty="0">
                <a:effectLst/>
                <a:latin typeface="KaTeX_Main"/>
              </a:rPr>
              <a:t>)=</a:t>
            </a:r>
            <a:r>
              <a:rPr lang="en-IN" b="0" i="1" dirty="0">
                <a:effectLst/>
                <a:latin typeface="KaTeX_Math"/>
              </a:rPr>
              <a:t>max</a:t>
            </a:r>
            <a:r>
              <a:rPr lang="en-IN" b="0" i="0" dirty="0">
                <a:effectLst/>
                <a:latin typeface="KaTeX_Main"/>
              </a:rPr>
              <a:t>(0,</a:t>
            </a:r>
            <a:r>
              <a:rPr lang="en-IN" b="0" i="1" dirty="0">
                <a:effectLst/>
                <a:latin typeface="KaTeX_Math"/>
              </a:rPr>
              <a:t>x</a:t>
            </a:r>
            <a:r>
              <a:rPr lang="en-IN" b="0" i="0" dirty="0">
                <a:effectLst/>
                <a:latin typeface="KaTeX_Main"/>
              </a:rPr>
              <a:t>)</a:t>
            </a:r>
            <a:endParaRPr lang="en-IN" b="0" i="0" dirty="0">
              <a:effectLst/>
              <a:latin typeface="Söhne"/>
            </a:endParaRPr>
          </a:p>
          <a:p>
            <a:pPr lvl="1"/>
            <a:r>
              <a:rPr lang="en-IN" b="1" i="0" dirty="0">
                <a:effectLst/>
                <a:latin typeface="Söhne"/>
              </a:rPr>
              <a:t>Range</a:t>
            </a:r>
            <a:r>
              <a:rPr lang="en-IN" b="0" i="0" dirty="0">
                <a:effectLst/>
                <a:latin typeface="Söhne"/>
              </a:rPr>
              <a:t>: [0, ∞]</a:t>
            </a:r>
          </a:p>
          <a:p>
            <a:pPr lvl="1"/>
            <a:r>
              <a:rPr lang="en-IN" b="1" i="0" dirty="0">
                <a:effectLst/>
                <a:latin typeface="Söhne"/>
              </a:rPr>
              <a:t>Advantages</a:t>
            </a:r>
            <a:r>
              <a:rPr lang="en-IN" b="0" i="0" dirty="0">
                <a:effectLst/>
                <a:latin typeface="Söhne"/>
              </a:rPr>
              <a:t>: Helps mitigate the vanishing gradient problem and is computationally efficient.</a:t>
            </a:r>
          </a:p>
          <a:p>
            <a:pPr lvl="1"/>
            <a:r>
              <a:rPr lang="en-IN" b="1" i="0" dirty="0">
                <a:effectLst/>
                <a:latin typeface="Söhne"/>
              </a:rPr>
              <a:t>Issues</a:t>
            </a:r>
            <a:r>
              <a:rPr lang="en-IN" b="0" i="0" dirty="0">
                <a:effectLst/>
                <a:latin typeface="Söhne"/>
              </a:rPr>
              <a:t>: Neurons can "die" during training, meaning they always output 0. This can happen if a large gradient flows through a </a:t>
            </a:r>
            <a:r>
              <a:rPr lang="en-IN" b="0" i="0" dirty="0" err="1">
                <a:effectLst/>
                <a:latin typeface="Söhne"/>
              </a:rPr>
              <a:t>ReLU</a:t>
            </a:r>
            <a:r>
              <a:rPr lang="en-IN" b="0" i="0" dirty="0">
                <a:effectLst/>
                <a:latin typeface="Söhne"/>
              </a:rPr>
              <a:t> neuron, updating the weights in such a way that the neuron will always output 0.</a:t>
            </a:r>
          </a:p>
          <a:p>
            <a:endParaRPr lang="en-US" dirty="0"/>
          </a:p>
        </p:txBody>
      </p:sp>
    </p:spTree>
    <p:extLst>
      <p:ext uri="{BB962C8B-B14F-4D97-AF65-F5344CB8AC3E}">
        <p14:creationId xmlns:p14="http://schemas.microsoft.com/office/powerpoint/2010/main" val="3213855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BD996-C705-6283-11B4-A0DD7D30335C}"/>
              </a:ext>
            </a:extLst>
          </p:cNvPr>
          <p:cNvSpPr>
            <a:spLocks noGrp="1"/>
          </p:cNvSpPr>
          <p:nvPr>
            <p:ph type="title"/>
          </p:nvPr>
        </p:nvSpPr>
        <p:spPr/>
        <p:txBody>
          <a:bodyPr/>
          <a:lstStyle/>
          <a:p>
            <a:r>
              <a:rPr lang="en-IN" b="1" i="0" dirty="0">
                <a:effectLst/>
                <a:latin typeface="Söhne"/>
              </a:rPr>
              <a:t>Common Activation Functions</a:t>
            </a:r>
            <a:endParaRPr lang="en-US" dirty="0"/>
          </a:p>
        </p:txBody>
      </p:sp>
      <p:sp>
        <p:nvSpPr>
          <p:cNvPr id="3" name="Content Placeholder 2">
            <a:extLst>
              <a:ext uri="{FF2B5EF4-FFF2-40B4-BE49-F238E27FC236}">
                <a16:creationId xmlns:a16="http://schemas.microsoft.com/office/drawing/2014/main" id="{1E7A80A1-BA14-D195-BFFB-033FDCBCC21B}"/>
              </a:ext>
            </a:extLst>
          </p:cNvPr>
          <p:cNvSpPr>
            <a:spLocks noGrp="1"/>
          </p:cNvSpPr>
          <p:nvPr>
            <p:ph idx="1"/>
          </p:nvPr>
        </p:nvSpPr>
        <p:spPr/>
        <p:txBody>
          <a:bodyPr>
            <a:normAutofit lnSpcReduction="10000"/>
          </a:bodyPr>
          <a:lstStyle/>
          <a:p>
            <a:r>
              <a:rPr lang="en-IN" b="1" i="0" dirty="0">
                <a:effectLst/>
                <a:latin typeface="Söhne"/>
              </a:rPr>
              <a:t>Leaky </a:t>
            </a:r>
            <a:r>
              <a:rPr lang="en-IN" b="1" i="0" dirty="0" err="1">
                <a:effectLst/>
                <a:latin typeface="Söhne"/>
              </a:rPr>
              <a:t>ReLU</a:t>
            </a:r>
            <a:r>
              <a:rPr lang="en-IN" b="0" i="0" dirty="0">
                <a:effectLst/>
                <a:latin typeface="Söhne"/>
              </a:rPr>
              <a:t>:</a:t>
            </a:r>
          </a:p>
          <a:p>
            <a:pPr lvl="1"/>
            <a:r>
              <a:rPr lang="en-IN" b="1" i="0" dirty="0">
                <a:effectLst/>
                <a:latin typeface="Söhne"/>
              </a:rPr>
              <a:t>Formula</a:t>
            </a:r>
            <a:r>
              <a:rPr lang="en-IN" b="0" i="0" dirty="0">
                <a:effectLst/>
                <a:latin typeface="Söhne"/>
              </a:rPr>
              <a:t>: </a:t>
            </a:r>
            <a:r>
              <a:rPr lang="en-IN" b="0" i="0" dirty="0">
                <a:effectLst/>
                <a:latin typeface="KaTeX_Main"/>
              </a:rPr>
              <a:t>(</a:t>
            </a:r>
            <a:r>
              <a:rPr lang="en-IN" b="0" i="1" dirty="0">
                <a:effectLst/>
                <a:latin typeface="KaTeX_Math"/>
              </a:rPr>
              <a:t>x</a:t>
            </a:r>
            <a:r>
              <a:rPr lang="en-IN" b="0" i="0" dirty="0">
                <a:effectLst/>
                <a:latin typeface="KaTeX_Main"/>
              </a:rPr>
              <a:t>)=</a:t>
            </a:r>
            <a:r>
              <a:rPr lang="en-IN" b="0" i="1" dirty="0">
                <a:effectLst/>
                <a:latin typeface="KaTeX_Math"/>
              </a:rPr>
              <a:t>x</a:t>
            </a:r>
            <a:r>
              <a:rPr lang="en-IN" b="0" i="0" dirty="0">
                <a:effectLst/>
                <a:latin typeface="Söhne"/>
              </a:rPr>
              <a:t> if </a:t>
            </a:r>
            <a:r>
              <a:rPr lang="en-IN" b="0" i="1" dirty="0">
                <a:effectLst/>
                <a:latin typeface="KaTeX_Math"/>
              </a:rPr>
              <a:t>x</a:t>
            </a:r>
            <a:r>
              <a:rPr lang="en-IN" b="0" i="0" dirty="0">
                <a:effectLst/>
                <a:latin typeface="KaTeX_Main"/>
              </a:rPr>
              <a:t>&gt;0</a:t>
            </a:r>
            <a:r>
              <a:rPr lang="en-IN" b="0" i="0" dirty="0">
                <a:effectLst/>
                <a:latin typeface="Söhne"/>
              </a:rPr>
              <a:t> else </a:t>
            </a:r>
            <a:r>
              <a:rPr lang="el-GR" b="0" i="1" dirty="0">
                <a:effectLst/>
                <a:latin typeface="KaTeX_Math"/>
              </a:rPr>
              <a:t>α</a:t>
            </a:r>
            <a:r>
              <a:rPr lang="en-IN" b="0" i="1" dirty="0">
                <a:effectLst/>
                <a:latin typeface="KaTeX_Math"/>
              </a:rPr>
              <a:t>x</a:t>
            </a:r>
            <a:r>
              <a:rPr lang="en-IN" b="0" i="0" dirty="0">
                <a:effectLst/>
                <a:latin typeface="Söhne"/>
              </a:rPr>
              <a:t> (where </a:t>
            </a:r>
            <a:r>
              <a:rPr lang="el-GR" b="0" i="1" dirty="0">
                <a:effectLst/>
                <a:latin typeface="KaTeX_Math"/>
              </a:rPr>
              <a:t>α</a:t>
            </a:r>
            <a:r>
              <a:rPr lang="el-GR" b="0" i="0" dirty="0">
                <a:effectLst/>
                <a:latin typeface="Söhne"/>
              </a:rPr>
              <a:t> </a:t>
            </a:r>
            <a:r>
              <a:rPr lang="en-IN" b="0" i="0" dirty="0">
                <a:effectLst/>
                <a:latin typeface="Söhne"/>
              </a:rPr>
              <a:t>is a small constant)</a:t>
            </a:r>
          </a:p>
          <a:p>
            <a:pPr lvl="1"/>
            <a:r>
              <a:rPr lang="en-IN" b="1" i="0" dirty="0">
                <a:effectLst/>
                <a:latin typeface="Söhne"/>
              </a:rPr>
              <a:t>Advantages</a:t>
            </a:r>
            <a:r>
              <a:rPr lang="en-IN" b="0" i="0" dirty="0">
                <a:effectLst/>
                <a:latin typeface="Söhne"/>
              </a:rPr>
              <a:t>: Addresses the dying </a:t>
            </a:r>
            <a:r>
              <a:rPr lang="en-IN" b="0" i="0" dirty="0" err="1">
                <a:effectLst/>
                <a:latin typeface="Söhne"/>
              </a:rPr>
              <a:t>ReLU</a:t>
            </a:r>
            <a:r>
              <a:rPr lang="en-IN" b="0" i="0" dirty="0">
                <a:effectLst/>
                <a:latin typeface="Söhne"/>
              </a:rPr>
              <a:t> problem by allowing small negative values when </a:t>
            </a:r>
            <a:r>
              <a:rPr lang="en-IN" b="0" i="1" dirty="0">
                <a:effectLst/>
                <a:latin typeface="KaTeX_Math"/>
              </a:rPr>
              <a:t>x</a:t>
            </a:r>
            <a:r>
              <a:rPr lang="en-IN" b="0" i="0" dirty="0">
                <a:effectLst/>
                <a:latin typeface="KaTeX_Main"/>
              </a:rPr>
              <a:t>&lt;0</a:t>
            </a:r>
            <a:r>
              <a:rPr lang="en-IN" b="0" i="0" dirty="0">
                <a:effectLst/>
                <a:latin typeface="Söhne"/>
              </a:rPr>
              <a:t>.</a:t>
            </a:r>
          </a:p>
          <a:p>
            <a:r>
              <a:rPr lang="en-IN" b="1" i="0" dirty="0">
                <a:effectLst/>
                <a:latin typeface="Söhne"/>
              </a:rPr>
              <a:t>Swish</a:t>
            </a:r>
            <a:r>
              <a:rPr lang="en-IN" b="0" i="0" dirty="0">
                <a:effectLst/>
                <a:latin typeface="Söhne"/>
              </a:rPr>
              <a:t>:</a:t>
            </a:r>
          </a:p>
          <a:p>
            <a:pPr lvl="1"/>
            <a:r>
              <a:rPr lang="en-IN" b="1" i="0" dirty="0">
                <a:effectLst/>
                <a:latin typeface="Söhne"/>
              </a:rPr>
              <a:t>Formula</a:t>
            </a:r>
            <a:r>
              <a:rPr lang="en-IN" b="0" i="0" dirty="0">
                <a:effectLst/>
                <a:latin typeface="Söhne"/>
              </a:rPr>
              <a:t>:</a:t>
            </a:r>
            <a:r>
              <a:rPr lang="en-IN" dirty="0">
                <a:latin typeface="KaTeX_Main"/>
              </a:rPr>
              <a:t> </a:t>
            </a:r>
            <a:r>
              <a:rPr lang="en-IN" b="0" i="1" dirty="0">
                <a:effectLst/>
                <a:latin typeface="KaTeX_Math"/>
              </a:rPr>
              <a:t>f</a:t>
            </a:r>
            <a:r>
              <a:rPr lang="en-IN" b="0" i="0" dirty="0">
                <a:effectLst/>
                <a:latin typeface="KaTeX_Main"/>
              </a:rPr>
              <a:t>(</a:t>
            </a:r>
            <a:r>
              <a:rPr lang="en-IN" b="0" i="1" dirty="0">
                <a:effectLst/>
                <a:latin typeface="KaTeX_Math"/>
              </a:rPr>
              <a:t>x</a:t>
            </a:r>
            <a:r>
              <a:rPr lang="en-IN" b="0" i="0" dirty="0">
                <a:effectLst/>
                <a:latin typeface="KaTeX_Main"/>
              </a:rPr>
              <a:t>)=</a:t>
            </a:r>
            <a:r>
              <a:rPr lang="en-IN" b="0" i="1" dirty="0" err="1">
                <a:effectLst/>
                <a:latin typeface="KaTeX_Math"/>
              </a:rPr>
              <a:t>x</a:t>
            </a:r>
            <a:r>
              <a:rPr lang="en-IN" b="0" i="0" dirty="0" err="1">
                <a:effectLst/>
                <a:latin typeface="KaTeX_Main"/>
              </a:rPr>
              <a:t>⋅</a:t>
            </a:r>
            <a:r>
              <a:rPr lang="en-IN" b="0" i="1" dirty="0" err="1">
                <a:effectLst/>
                <a:latin typeface="KaTeX_Math"/>
              </a:rPr>
              <a:t>sigmoid</a:t>
            </a:r>
            <a:r>
              <a:rPr lang="en-IN" b="0" i="0" dirty="0">
                <a:effectLst/>
                <a:latin typeface="KaTeX_Main"/>
              </a:rPr>
              <a:t>(</a:t>
            </a:r>
            <a:r>
              <a:rPr lang="en-IN" b="0" i="1" dirty="0">
                <a:effectLst/>
                <a:latin typeface="KaTeX_Math"/>
              </a:rPr>
              <a:t>x</a:t>
            </a:r>
            <a:r>
              <a:rPr lang="en-IN" b="0" i="0" dirty="0">
                <a:effectLst/>
                <a:latin typeface="KaTeX_Main"/>
              </a:rPr>
              <a:t>)</a:t>
            </a:r>
            <a:endParaRPr lang="en-IN" b="0" i="0" dirty="0">
              <a:effectLst/>
              <a:latin typeface="Söhne"/>
            </a:endParaRPr>
          </a:p>
          <a:p>
            <a:pPr lvl="1"/>
            <a:r>
              <a:rPr lang="en-IN" b="1" i="0" dirty="0">
                <a:effectLst/>
                <a:latin typeface="Söhne"/>
              </a:rPr>
              <a:t>Advantages</a:t>
            </a:r>
            <a:r>
              <a:rPr lang="en-IN" b="0" i="0" dirty="0">
                <a:effectLst/>
                <a:latin typeface="Söhne"/>
              </a:rPr>
              <a:t>: Smooth, non-monotonic function that has shown to outperform </a:t>
            </a:r>
            <a:r>
              <a:rPr lang="en-IN" b="0" i="0" dirty="0" err="1">
                <a:effectLst/>
                <a:latin typeface="Söhne"/>
              </a:rPr>
              <a:t>ReLU</a:t>
            </a:r>
            <a:r>
              <a:rPr lang="en-IN" b="0" i="0" dirty="0">
                <a:effectLst/>
                <a:latin typeface="Söhne"/>
              </a:rPr>
              <a:t> in some cases.</a:t>
            </a:r>
          </a:p>
          <a:p>
            <a:pPr algn="l"/>
            <a:r>
              <a:rPr lang="en-IN" b="1" i="0" dirty="0" err="1">
                <a:effectLst/>
                <a:latin typeface="Söhne"/>
              </a:rPr>
              <a:t>Softmax</a:t>
            </a:r>
            <a:r>
              <a:rPr lang="en-IN" b="0" i="0" dirty="0">
                <a:effectLst/>
                <a:latin typeface="Söhne"/>
              </a:rPr>
              <a:t>:</a:t>
            </a:r>
          </a:p>
          <a:p>
            <a:pPr lvl="1"/>
            <a:r>
              <a:rPr lang="en-IN" b="0" i="0" dirty="0">
                <a:effectLst/>
                <a:latin typeface="Söhne"/>
              </a:rPr>
              <a:t>Often used in the output layer for multi-class classification problems. It provides a probability distribution over multiple classes.</a:t>
            </a:r>
          </a:p>
          <a:p>
            <a:pPr lvl="1"/>
            <a:endParaRPr lang="en-IN" b="0" i="0" dirty="0">
              <a:effectLst/>
              <a:latin typeface="Söhne"/>
            </a:endParaRPr>
          </a:p>
          <a:p>
            <a:endParaRPr lang="en-US" dirty="0"/>
          </a:p>
        </p:txBody>
      </p:sp>
    </p:spTree>
    <p:extLst>
      <p:ext uri="{BB962C8B-B14F-4D97-AF65-F5344CB8AC3E}">
        <p14:creationId xmlns:p14="http://schemas.microsoft.com/office/powerpoint/2010/main" val="1690668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1FC4-2AC9-A138-7D5F-A53C0BF96ECD}"/>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7E5F37B4-307B-E814-3AA3-996836C42C82}"/>
              </a:ext>
            </a:extLst>
          </p:cNvPr>
          <p:cNvSpPr>
            <a:spLocks noGrp="1"/>
          </p:cNvSpPr>
          <p:nvPr>
            <p:ph idx="1"/>
          </p:nvPr>
        </p:nvSpPr>
        <p:spPr/>
        <p:txBody>
          <a:bodyPr>
            <a:normAutofit fontScale="92500" lnSpcReduction="10000"/>
          </a:bodyPr>
          <a:lstStyle/>
          <a:p>
            <a:pPr algn="l">
              <a:buFont typeface="+mj-lt"/>
              <a:buAutoNum type="arabicPeriod"/>
            </a:pPr>
            <a:r>
              <a:rPr lang="en-IN" b="1" i="0" dirty="0">
                <a:effectLst/>
                <a:latin typeface="Söhne"/>
              </a:rPr>
              <a:t>Deep CNN for Image Classification</a:t>
            </a:r>
            <a:r>
              <a:rPr lang="en-IN" b="0" i="0" dirty="0">
                <a:effectLst/>
                <a:latin typeface="Söhne"/>
              </a:rPr>
              <a:t>:</a:t>
            </a:r>
          </a:p>
          <a:p>
            <a:pPr marL="742950" lvl="1" indent="-285750" algn="l">
              <a:buFont typeface="+mj-lt"/>
              <a:buAutoNum type="arabicPeriod"/>
            </a:pPr>
            <a:r>
              <a:rPr lang="en-IN" b="0" i="0" dirty="0">
                <a:effectLst/>
                <a:latin typeface="Söhne"/>
              </a:rPr>
              <a:t>Using </a:t>
            </a:r>
            <a:r>
              <a:rPr lang="en-IN" b="1" i="0" dirty="0">
                <a:effectLst/>
                <a:latin typeface="Söhne"/>
              </a:rPr>
              <a:t>sigmoid</a:t>
            </a:r>
            <a:r>
              <a:rPr lang="en-IN" b="0" i="0" dirty="0">
                <a:effectLst/>
                <a:latin typeface="Söhne"/>
              </a:rPr>
              <a:t> activations might lead to slow convergence or the model getting stuck due to vanishing gradients. Switching to </a:t>
            </a:r>
            <a:r>
              <a:rPr lang="en-IN" b="1" i="0" dirty="0" err="1">
                <a:effectLst/>
                <a:latin typeface="Söhne"/>
              </a:rPr>
              <a:t>ReLU</a:t>
            </a:r>
            <a:r>
              <a:rPr lang="en-IN" b="0" i="0" dirty="0">
                <a:effectLst/>
                <a:latin typeface="Söhne"/>
              </a:rPr>
              <a:t> activations can speed up training and improve performance. However, if many neurons "die" during training, considering </a:t>
            </a:r>
            <a:r>
              <a:rPr lang="en-IN" b="1" i="0" dirty="0">
                <a:effectLst/>
                <a:latin typeface="Söhne"/>
              </a:rPr>
              <a:t>Leaky </a:t>
            </a:r>
            <a:r>
              <a:rPr lang="en-IN" b="1" i="0" dirty="0" err="1">
                <a:effectLst/>
                <a:latin typeface="Söhne"/>
              </a:rPr>
              <a:t>ReLU</a:t>
            </a:r>
            <a:r>
              <a:rPr lang="en-IN" b="0" i="0" dirty="0">
                <a:effectLst/>
                <a:latin typeface="Söhne"/>
              </a:rPr>
              <a:t> might be beneficial.</a:t>
            </a:r>
          </a:p>
          <a:p>
            <a:pPr algn="l">
              <a:buFont typeface="+mj-lt"/>
              <a:buAutoNum type="arabicPeriod"/>
            </a:pPr>
            <a:r>
              <a:rPr lang="en-IN" b="1" i="0" dirty="0">
                <a:effectLst/>
                <a:latin typeface="Söhne"/>
              </a:rPr>
              <a:t>Network Training Divergence</a:t>
            </a:r>
            <a:r>
              <a:rPr lang="en-IN" b="0" i="0" dirty="0">
                <a:effectLst/>
                <a:latin typeface="Söhne"/>
              </a:rPr>
              <a:t>:</a:t>
            </a:r>
          </a:p>
          <a:p>
            <a:pPr marL="742950" lvl="1" indent="-285750" algn="l">
              <a:buFont typeface="+mj-lt"/>
              <a:buAutoNum type="arabicPeriod"/>
            </a:pPr>
            <a:r>
              <a:rPr lang="en-IN" b="0" i="0" dirty="0">
                <a:effectLst/>
                <a:latin typeface="Söhne"/>
              </a:rPr>
              <a:t>If the network's training loss quickly becomes </a:t>
            </a:r>
            <a:r>
              <a:rPr lang="en-IN" b="0" i="0" dirty="0" err="1">
                <a:effectLst/>
                <a:latin typeface="Söhne"/>
              </a:rPr>
              <a:t>NaN</a:t>
            </a:r>
            <a:r>
              <a:rPr lang="en-IN" b="0" i="0" dirty="0">
                <a:effectLst/>
                <a:latin typeface="Söhne"/>
              </a:rPr>
              <a:t> or infinity, it might be due to exploding gradients. This can sometimes occur with </a:t>
            </a:r>
            <a:r>
              <a:rPr lang="en-IN" b="1" i="0" dirty="0" err="1">
                <a:effectLst/>
                <a:latin typeface="Söhne"/>
              </a:rPr>
              <a:t>ReLU</a:t>
            </a:r>
            <a:r>
              <a:rPr lang="en-IN" b="0" i="0" dirty="0">
                <a:effectLst/>
                <a:latin typeface="Söhne"/>
              </a:rPr>
              <a:t> if large activations propagate through the network. Using </a:t>
            </a:r>
            <a:r>
              <a:rPr lang="en-IN" b="1" i="0" dirty="0">
                <a:effectLst/>
                <a:latin typeface="Söhne"/>
              </a:rPr>
              <a:t>tanh</a:t>
            </a:r>
            <a:r>
              <a:rPr lang="en-IN" b="0" i="0" dirty="0">
                <a:effectLst/>
                <a:latin typeface="Söhne"/>
              </a:rPr>
              <a:t> or </a:t>
            </a:r>
            <a:r>
              <a:rPr lang="en-IN" b="1" i="0" dirty="0">
                <a:effectLst/>
                <a:latin typeface="Söhne"/>
              </a:rPr>
              <a:t>Leaky </a:t>
            </a:r>
            <a:r>
              <a:rPr lang="en-IN" b="1" i="0" dirty="0" err="1">
                <a:effectLst/>
                <a:latin typeface="Söhne"/>
              </a:rPr>
              <a:t>ReLU</a:t>
            </a:r>
            <a:r>
              <a:rPr lang="en-IN" b="0" i="0" dirty="0">
                <a:effectLst/>
                <a:latin typeface="Söhne"/>
              </a:rPr>
              <a:t> can help mitigate this.</a:t>
            </a:r>
          </a:p>
          <a:p>
            <a:pPr algn="l">
              <a:buFont typeface="+mj-lt"/>
              <a:buAutoNum type="arabicPeriod"/>
            </a:pPr>
            <a:r>
              <a:rPr lang="en-IN" b="1" i="0" dirty="0">
                <a:effectLst/>
                <a:latin typeface="Söhne"/>
              </a:rPr>
              <a:t>Binary vs. Multi-class Classification</a:t>
            </a:r>
            <a:r>
              <a:rPr lang="en-IN" b="0" i="0" dirty="0">
                <a:effectLst/>
                <a:latin typeface="Söhne"/>
              </a:rPr>
              <a:t>:</a:t>
            </a:r>
          </a:p>
          <a:p>
            <a:pPr marL="742950" lvl="1" indent="-285750" algn="l">
              <a:buFont typeface="+mj-lt"/>
              <a:buAutoNum type="arabicPeriod"/>
            </a:pPr>
            <a:r>
              <a:rPr lang="en-IN" b="0" i="0" dirty="0">
                <a:effectLst/>
                <a:latin typeface="Söhne"/>
              </a:rPr>
              <a:t>For binary classification, a single neuron with a </a:t>
            </a:r>
            <a:r>
              <a:rPr lang="en-IN" b="1" i="0" dirty="0">
                <a:effectLst/>
                <a:latin typeface="Söhne"/>
              </a:rPr>
              <a:t>sigmoid</a:t>
            </a:r>
            <a:r>
              <a:rPr lang="en-IN" b="0" i="0" dirty="0">
                <a:effectLst/>
                <a:latin typeface="Söhne"/>
              </a:rPr>
              <a:t> activation can be used in the output layer. For multi-class classification, multiple neurons with </a:t>
            </a:r>
            <a:r>
              <a:rPr lang="en-IN" b="1" i="0" dirty="0" err="1">
                <a:effectLst/>
                <a:latin typeface="Söhne"/>
              </a:rPr>
              <a:t>softmax</a:t>
            </a:r>
            <a:r>
              <a:rPr lang="en-IN" b="0" i="0" dirty="0">
                <a:effectLst/>
                <a:latin typeface="Söhne"/>
              </a:rPr>
              <a:t> activation would be appropriate.</a:t>
            </a:r>
          </a:p>
          <a:p>
            <a:endParaRPr lang="en-US" dirty="0"/>
          </a:p>
        </p:txBody>
      </p:sp>
    </p:spTree>
    <p:extLst>
      <p:ext uri="{BB962C8B-B14F-4D97-AF65-F5344CB8AC3E}">
        <p14:creationId xmlns:p14="http://schemas.microsoft.com/office/powerpoint/2010/main" val="3586266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F408-9DC3-1FD8-5397-C2D7A78EE8DF}"/>
              </a:ext>
            </a:extLst>
          </p:cNvPr>
          <p:cNvSpPr>
            <a:spLocks noGrp="1"/>
          </p:cNvSpPr>
          <p:nvPr>
            <p:ph type="title"/>
          </p:nvPr>
        </p:nvSpPr>
        <p:spPr/>
        <p:txBody>
          <a:bodyPr/>
          <a:lstStyle/>
          <a:p>
            <a:r>
              <a:rPr lang="en-IN" b="1" i="0" dirty="0">
                <a:effectLst/>
                <a:latin typeface="Söhne"/>
              </a:rPr>
              <a:t>Network Architecture</a:t>
            </a:r>
            <a:endParaRPr lang="en-US" dirty="0"/>
          </a:p>
        </p:txBody>
      </p:sp>
      <p:sp>
        <p:nvSpPr>
          <p:cNvPr id="3" name="Content Placeholder 2">
            <a:extLst>
              <a:ext uri="{FF2B5EF4-FFF2-40B4-BE49-F238E27FC236}">
                <a16:creationId xmlns:a16="http://schemas.microsoft.com/office/drawing/2014/main" id="{AB198DE6-1B8A-6030-CBF9-31C9F5520BCC}"/>
              </a:ext>
            </a:extLst>
          </p:cNvPr>
          <p:cNvSpPr>
            <a:spLocks noGrp="1"/>
          </p:cNvSpPr>
          <p:nvPr>
            <p:ph idx="1"/>
          </p:nvPr>
        </p:nvSpPr>
        <p:spPr/>
        <p:txBody>
          <a:bodyPr/>
          <a:lstStyle/>
          <a:p>
            <a:pPr algn="l">
              <a:buFont typeface="+mj-lt"/>
              <a:buAutoNum type="arabicPeriod"/>
            </a:pPr>
            <a:r>
              <a:rPr lang="en-IN" b="1" i="0" dirty="0">
                <a:effectLst/>
                <a:latin typeface="Söhne"/>
              </a:rPr>
              <a:t>Capacity</a:t>
            </a:r>
            <a:r>
              <a:rPr lang="en-IN" b="0" i="0" dirty="0">
                <a:effectLst/>
                <a:latin typeface="Söhne"/>
              </a:rPr>
              <a:t>: The architecture defines the number of parameters and thus the model's capacity. A more complex architecture can represent more intricate functions but may also be prone to overfitting.</a:t>
            </a:r>
          </a:p>
          <a:p>
            <a:pPr algn="l">
              <a:buFont typeface="+mj-lt"/>
              <a:buAutoNum type="arabicPeriod"/>
            </a:pPr>
            <a:r>
              <a:rPr lang="en-IN" b="1" i="0" dirty="0">
                <a:effectLst/>
                <a:latin typeface="Söhne"/>
              </a:rPr>
              <a:t>Feature Extraction</a:t>
            </a:r>
            <a:r>
              <a:rPr lang="en-IN" b="0" i="0" dirty="0">
                <a:effectLst/>
                <a:latin typeface="Söhne"/>
              </a:rPr>
              <a:t>: In CNNs, the early layers often capture low-level features (like edges), while deeper layers capture high-level features (like patterns or objects). The architecture determines this hierarchical feature extraction.</a:t>
            </a:r>
          </a:p>
          <a:p>
            <a:pPr algn="l">
              <a:buFont typeface="+mj-lt"/>
              <a:buAutoNum type="arabicPeriod"/>
            </a:pPr>
            <a:r>
              <a:rPr lang="en-IN" b="1" i="0" dirty="0">
                <a:effectLst/>
                <a:latin typeface="Söhne"/>
              </a:rPr>
              <a:t>Computational Efficiency</a:t>
            </a:r>
            <a:r>
              <a:rPr lang="en-IN" b="0" i="0" dirty="0">
                <a:effectLst/>
                <a:latin typeface="Söhne"/>
              </a:rPr>
              <a:t>: The architecture affects the computational cost during both training and inference. A deeper or wider network requires more computations.</a:t>
            </a:r>
          </a:p>
          <a:p>
            <a:endParaRPr lang="en-US" dirty="0"/>
          </a:p>
        </p:txBody>
      </p:sp>
    </p:spTree>
    <p:extLst>
      <p:ext uri="{BB962C8B-B14F-4D97-AF65-F5344CB8AC3E}">
        <p14:creationId xmlns:p14="http://schemas.microsoft.com/office/powerpoint/2010/main" val="4239723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149F3-30BA-1396-CD3F-6C202BAB1BAB}"/>
              </a:ext>
            </a:extLst>
          </p:cNvPr>
          <p:cNvSpPr>
            <a:spLocks noGrp="1"/>
          </p:cNvSpPr>
          <p:nvPr>
            <p:ph type="title"/>
          </p:nvPr>
        </p:nvSpPr>
        <p:spPr/>
        <p:txBody>
          <a:bodyPr/>
          <a:lstStyle/>
          <a:p>
            <a:r>
              <a:rPr lang="en-IN" b="1" i="0" dirty="0">
                <a:effectLst/>
                <a:latin typeface="Söhne"/>
              </a:rPr>
              <a:t>Key Components in CNN Architecture</a:t>
            </a:r>
            <a:endParaRPr lang="en-US" dirty="0"/>
          </a:p>
        </p:txBody>
      </p:sp>
      <p:sp>
        <p:nvSpPr>
          <p:cNvPr id="3" name="Content Placeholder 2">
            <a:extLst>
              <a:ext uri="{FF2B5EF4-FFF2-40B4-BE49-F238E27FC236}">
                <a16:creationId xmlns:a16="http://schemas.microsoft.com/office/drawing/2014/main" id="{4D682A5D-0527-EB88-EF87-FDD7C0E7E5BD}"/>
              </a:ext>
            </a:extLst>
          </p:cNvPr>
          <p:cNvSpPr>
            <a:spLocks noGrp="1"/>
          </p:cNvSpPr>
          <p:nvPr>
            <p:ph idx="1"/>
          </p:nvPr>
        </p:nvSpPr>
        <p:spPr/>
        <p:txBody>
          <a:bodyPr>
            <a:normAutofit fontScale="92500" lnSpcReduction="20000"/>
          </a:bodyPr>
          <a:lstStyle/>
          <a:p>
            <a:pPr algn="l">
              <a:buFont typeface="+mj-lt"/>
              <a:buAutoNum type="arabicPeriod"/>
            </a:pPr>
            <a:r>
              <a:rPr lang="en-IN" b="1" i="0" dirty="0">
                <a:effectLst/>
                <a:latin typeface="Söhne"/>
              </a:rPr>
              <a:t>Convolutional Layers</a:t>
            </a:r>
            <a:r>
              <a:rPr lang="en-IN" b="0" i="0" dirty="0">
                <a:effectLst/>
                <a:latin typeface="Söhne"/>
              </a:rPr>
              <a:t>: These layers apply convolution operations to the input, capturing spatial features.</a:t>
            </a:r>
          </a:p>
          <a:p>
            <a:pPr algn="l">
              <a:buFont typeface="+mj-lt"/>
              <a:buAutoNum type="arabicPeriod"/>
            </a:pPr>
            <a:r>
              <a:rPr lang="en-IN" b="1" i="0" dirty="0">
                <a:effectLst/>
                <a:latin typeface="Söhne"/>
              </a:rPr>
              <a:t>Pooling Layers</a:t>
            </a:r>
            <a:r>
              <a:rPr lang="en-IN" b="0" i="0" dirty="0">
                <a:effectLst/>
                <a:latin typeface="Söhne"/>
              </a:rPr>
              <a:t>: Often placed after convolutional layers, they reduce the spatial dimensions, helping in reducing computation and making the model more invariant to small translations.</a:t>
            </a:r>
          </a:p>
          <a:p>
            <a:pPr algn="l">
              <a:buFont typeface="+mj-lt"/>
              <a:buAutoNum type="arabicPeriod"/>
            </a:pPr>
            <a:r>
              <a:rPr lang="en-IN" b="1" i="0" dirty="0">
                <a:effectLst/>
                <a:latin typeface="Söhne"/>
              </a:rPr>
              <a:t>Fully Connected (Dense) Layers</a:t>
            </a:r>
            <a:r>
              <a:rPr lang="en-IN" b="0" i="0" dirty="0">
                <a:effectLst/>
                <a:latin typeface="Söhne"/>
              </a:rPr>
              <a:t>: Typically found at the end of the network, they perform classification based on the features extracted by previous layers.</a:t>
            </a:r>
          </a:p>
          <a:p>
            <a:pPr algn="l">
              <a:buFont typeface="+mj-lt"/>
              <a:buAutoNum type="arabicPeriod"/>
            </a:pPr>
            <a:r>
              <a:rPr lang="en-IN" b="1" i="0" dirty="0">
                <a:effectLst/>
                <a:latin typeface="Söhne"/>
              </a:rPr>
              <a:t>Dropout Layers</a:t>
            </a:r>
            <a:r>
              <a:rPr lang="en-IN" b="0" i="0" dirty="0">
                <a:effectLst/>
                <a:latin typeface="Söhne"/>
              </a:rPr>
              <a:t>: Introduced to prevent overfitting by randomly setting a fraction of input units to 0 during training.</a:t>
            </a:r>
          </a:p>
          <a:p>
            <a:pPr algn="l">
              <a:buFont typeface="+mj-lt"/>
              <a:buAutoNum type="arabicPeriod"/>
            </a:pPr>
            <a:r>
              <a:rPr lang="en-IN" b="1" i="0" dirty="0">
                <a:effectLst/>
                <a:latin typeface="Söhne"/>
              </a:rPr>
              <a:t>Batch Normalization Layers</a:t>
            </a:r>
            <a:r>
              <a:rPr lang="en-IN" b="0" i="0" dirty="0">
                <a:effectLst/>
                <a:latin typeface="Söhne"/>
              </a:rPr>
              <a:t>: Improve training speed and model generalization by normalizing the activations of a given input volume before passing it to the next layer.</a:t>
            </a:r>
          </a:p>
          <a:p>
            <a:endParaRPr lang="en-US" dirty="0"/>
          </a:p>
        </p:txBody>
      </p:sp>
    </p:spTree>
    <p:extLst>
      <p:ext uri="{BB962C8B-B14F-4D97-AF65-F5344CB8AC3E}">
        <p14:creationId xmlns:p14="http://schemas.microsoft.com/office/powerpoint/2010/main" val="1481437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AE5A7-B55F-F71C-1EF4-B99617FF0E97}"/>
              </a:ext>
            </a:extLst>
          </p:cNvPr>
          <p:cNvSpPr>
            <a:spLocks noGrp="1"/>
          </p:cNvSpPr>
          <p:nvPr>
            <p:ph type="title"/>
          </p:nvPr>
        </p:nvSpPr>
        <p:spPr/>
        <p:txBody>
          <a:bodyPr>
            <a:normAutofit/>
          </a:bodyPr>
          <a:lstStyle/>
          <a:p>
            <a:r>
              <a:rPr lang="en-IN" b="1" i="0" dirty="0">
                <a:effectLst/>
                <a:latin typeface="Söhne"/>
              </a:rPr>
              <a:t>Examples and Implications of Different Architectures</a:t>
            </a:r>
            <a:endParaRPr lang="en-US" dirty="0"/>
          </a:p>
        </p:txBody>
      </p:sp>
      <p:sp>
        <p:nvSpPr>
          <p:cNvPr id="3" name="Content Placeholder 2">
            <a:extLst>
              <a:ext uri="{FF2B5EF4-FFF2-40B4-BE49-F238E27FC236}">
                <a16:creationId xmlns:a16="http://schemas.microsoft.com/office/drawing/2014/main" id="{78574D6C-9DC9-3E49-9708-DFA652FCD6CB}"/>
              </a:ext>
            </a:extLst>
          </p:cNvPr>
          <p:cNvSpPr>
            <a:spLocks noGrp="1"/>
          </p:cNvSpPr>
          <p:nvPr>
            <p:ph idx="1"/>
          </p:nvPr>
        </p:nvSpPr>
        <p:spPr/>
        <p:txBody>
          <a:bodyPr>
            <a:normAutofit fontScale="92500"/>
          </a:bodyPr>
          <a:lstStyle/>
          <a:p>
            <a:pPr algn="l">
              <a:buFont typeface="+mj-lt"/>
              <a:buAutoNum type="arabicPeriod"/>
            </a:pPr>
            <a:r>
              <a:rPr lang="en-IN" b="1" i="0" dirty="0">
                <a:effectLst/>
                <a:latin typeface="Söhne"/>
              </a:rPr>
              <a:t>Shallow vs. Deep Networks</a:t>
            </a:r>
            <a:r>
              <a:rPr lang="en-IN" b="0" i="0" dirty="0">
                <a:effectLst/>
                <a:latin typeface="Söhne"/>
              </a:rPr>
              <a:t>:</a:t>
            </a:r>
          </a:p>
          <a:p>
            <a:pPr lvl="1"/>
            <a:r>
              <a:rPr lang="en-IN" b="1" i="0" dirty="0">
                <a:effectLst/>
                <a:latin typeface="Söhne"/>
              </a:rPr>
              <a:t>Shallow Networks</a:t>
            </a:r>
            <a:r>
              <a:rPr lang="en-IN" b="0" i="0" dirty="0">
                <a:effectLst/>
                <a:latin typeface="Söhne"/>
              </a:rPr>
              <a:t>: Might not capture complex features, especially for intricate tasks like detailed image recognition.</a:t>
            </a:r>
          </a:p>
          <a:p>
            <a:pPr lvl="1"/>
            <a:r>
              <a:rPr lang="en-IN" b="1" i="0" dirty="0">
                <a:effectLst/>
                <a:latin typeface="Söhne"/>
              </a:rPr>
              <a:t>Deep Networks</a:t>
            </a:r>
            <a:r>
              <a:rPr lang="en-IN" b="0" i="0" dirty="0">
                <a:effectLst/>
                <a:latin typeface="Söhne"/>
              </a:rPr>
              <a:t>: Can capture intricate patterns and hierarchies but may require more data and are computationally more expensive. Risk of overfitting if not enough data.</a:t>
            </a:r>
          </a:p>
          <a:p>
            <a:pPr algn="l">
              <a:buFont typeface="+mj-lt"/>
              <a:buAutoNum type="arabicPeriod"/>
            </a:pPr>
            <a:r>
              <a:rPr lang="en-IN" b="1" i="0" dirty="0">
                <a:effectLst/>
                <a:latin typeface="Söhne"/>
              </a:rPr>
              <a:t>Small vs. Large Filters in Convolutional Layers</a:t>
            </a:r>
            <a:r>
              <a:rPr lang="en-IN" b="0" i="0" dirty="0">
                <a:effectLst/>
                <a:latin typeface="Söhne"/>
              </a:rPr>
              <a:t>:</a:t>
            </a:r>
          </a:p>
          <a:p>
            <a:pPr lvl="1"/>
            <a:r>
              <a:rPr lang="en-IN" b="1" i="0" dirty="0">
                <a:effectLst/>
                <a:latin typeface="Söhne"/>
              </a:rPr>
              <a:t>Small Filters (e.g., 3x3)</a:t>
            </a:r>
            <a:r>
              <a:rPr lang="en-IN" b="0" i="0" dirty="0">
                <a:effectLst/>
                <a:latin typeface="Söhne"/>
              </a:rPr>
              <a:t>: Capture fine-grained patterns and are computationally efficient. Many state-of-the-art architectures, like VGG and </a:t>
            </a:r>
            <a:r>
              <a:rPr lang="en-IN" b="0" i="0" dirty="0" err="1">
                <a:effectLst/>
                <a:latin typeface="Söhne"/>
              </a:rPr>
              <a:t>ResNet</a:t>
            </a:r>
            <a:r>
              <a:rPr lang="en-IN" b="0" i="0" dirty="0">
                <a:effectLst/>
                <a:latin typeface="Söhne"/>
              </a:rPr>
              <a:t>, use 3x3 filters almost exclusively.</a:t>
            </a:r>
          </a:p>
          <a:p>
            <a:pPr lvl="1"/>
            <a:r>
              <a:rPr lang="en-IN" b="1" i="0" dirty="0">
                <a:effectLst/>
                <a:latin typeface="Söhne"/>
              </a:rPr>
              <a:t>Large Filters (e.g., 7x7 or 11x11)</a:t>
            </a:r>
            <a:r>
              <a:rPr lang="en-IN" b="0" i="0" dirty="0">
                <a:effectLst/>
                <a:latin typeface="Söhne"/>
              </a:rPr>
              <a:t>: Capture larger patterns and can reduce spatial dimensions quickly. However, they might miss out on finer details and are computationally more intensive.</a:t>
            </a:r>
          </a:p>
          <a:p>
            <a:endParaRPr lang="en-US" dirty="0"/>
          </a:p>
        </p:txBody>
      </p:sp>
    </p:spTree>
    <p:extLst>
      <p:ext uri="{BB962C8B-B14F-4D97-AF65-F5344CB8AC3E}">
        <p14:creationId xmlns:p14="http://schemas.microsoft.com/office/powerpoint/2010/main" val="955704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3322A-FE6B-1DEB-AD38-A26C745B8E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D4838C-7EF9-69C3-CB9F-9398E93B2854}"/>
              </a:ext>
            </a:extLst>
          </p:cNvPr>
          <p:cNvSpPr>
            <a:spLocks noGrp="1"/>
          </p:cNvSpPr>
          <p:nvPr>
            <p:ph idx="1"/>
          </p:nvPr>
        </p:nvSpPr>
        <p:spPr/>
        <p:txBody>
          <a:bodyPr/>
          <a:lstStyle/>
          <a:p>
            <a:pPr marL="514350" indent="-514350" algn="l">
              <a:buFont typeface="+mj-lt"/>
              <a:buAutoNum type="arabicPeriod" startAt="3"/>
            </a:pPr>
            <a:r>
              <a:rPr lang="en-IN" b="1" i="0" dirty="0">
                <a:effectLst/>
                <a:latin typeface="Söhne"/>
              </a:rPr>
              <a:t>Stride Size</a:t>
            </a:r>
            <a:r>
              <a:rPr lang="en-IN" b="0" i="0" dirty="0">
                <a:effectLst/>
                <a:latin typeface="Söhne"/>
              </a:rPr>
              <a:t>:</a:t>
            </a:r>
          </a:p>
          <a:p>
            <a:pPr lvl="1"/>
            <a:r>
              <a:rPr lang="en-IN" b="0" i="0" dirty="0">
                <a:effectLst/>
                <a:latin typeface="Söhne"/>
              </a:rPr>
              <a:t>A larger stride in convolutional layers can reduce spatial dimensions more aggressively. It speeds up computation but may lose some spatial information.</a:t>
            </a:r>
          </a:p>
          <a:p>
            <a:pPr algn="l">
              <a:buFont typeface="+mj-lt"/>
              <a:buAutoNum type="arabicPeriod" startAt="3"/>
            </a:pPr>
            <a:r>
              <a:rPr lang="en-IN" b="1" i="0" dirty="0">
                <a:effectLst/>
                <a:latin typeface="Söhne"/>
              </a:rPr>
              <a:t>Network Width</a:t>
            </a:r>
            <a:r>
              <a:rPr lang="en-IN" b="0" i="0" dirty="0">
                <a:effectLst/>
                <a:latin typeface="Söhne"/>
              </a:rPr>
              <a:t>:</a:t>
            </a:r>
          </a:p>
          <a:p>
            <a:pPr lvl="1"/>
            <a:r>
              <a:rPr lang="en-IN" b="0" i="0" dirty="0">
                <a:effectLst/>
                <a:latin typeface="Söhne"/>
              </a:rPr>
              <a:t>Wider networks (i.e., more neurons per layer or more filters in convolutional layers) increase the capacity but also the risk of overfitting and computational cost.</a:t>
            </a:r>
          </a:p>
          <a:p>
            <a:endParaRPr lang="en-US" dirty="0"/>
          </a:p>
        </p:txBody>
      </p:sp>
    </p:spTree>
    <p:extLst>
      <p:ext uri="{BB962C8B-B14F-4D97-AF65-F5344CB8AC3E}">
        <p14:creationId xmlns:p14="http://schemas.microsoft.com/office/powerpoint/2010/main" val="1712211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CDEF-944A-E364-27B4-A24BC5CB4935}"/>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7F29364D-0909-B47D-0EF0-67071ECC6FCC}"/>
              </a:ext>
            </a:extLst>
          </p:cNvPr>
          <p:cNvSpPr>
            <a:spLocks noGrp="1"/>
          </p:cNvSpPr>
          <p:nvPr>
            <p:ph idx="1"/>
          </p:nvPr>
        </p:nvSpPr>
        <p:spPr/>
        <p:txBody>
          <a:bodyPr/>
          <a:lstStyle/>
          <a:p>
            <a:pPr algn="l">
              <a:buFont typeface="+mj-lt"/>
              <a:buAutoNum type="arabicPeriod"/>
            </a:pPr>
            <a:r>
              <a:rPr lang="en-IN" b="1" i="0" dirty="0">
                <a:effectLst/>
                <a:latin typeface="Söhne"/>
              </a:rPr>
              <a:t>Image Classification Task with Small Images (e.g., CIFAR-10)</a:t>
            </a:r>
            <a:r>
              <a:rPr lang="en-IN" b="0" i="0" dirty="0">
                <a:effectLst/>
                <a:latin typeface="Söhne"/>
              </a:rPr>
              <a:t>:</a:t>
            </a:r>
          </a:p>
          <a:p>
            <a:pPr marL="742950" lvl="1" indent="-285750" algn="l">
              <a:buFont typeface="+mj-lt"/>
              <a:buAutoNum type="arabicPeriod"/>
            </a:pPr>
            <a:r>
              <a:rPr lang="en-IN" b="0" i="0" dirty="0">
                <a:effectLst/>
                <a:latin typeface="Söhne"/>
              </a:rPr>
              <a:t>A shallower architecture might be sufficient due to the low resolution and complexity of images.</a:t>
            </a:r>
          </a:p>
          <a:p>
            <a:pPr algn="l">
              <a:buFont typeface="+mj-lt"/>
              <a:buAutoNum type="arabicPeriod"/>
            </a:pPr>
            <a:r>
              <a:rPr lang="en-IN" b="1" i="0" dirty="0">
                <a:effectLst/>
                <a:latin typeface="Söhne"/>
              </a:rPr>
              <a:t>High-resolution Image Recognition (e.g., ImageNet)</a:t>
            </a:r>
            <a:r>
              <a:rPr lang="en-IN" b="0" i="0" dirty="0">
                <a:effectLst/>
                <a:latin typeface="Söhne"/>
              </a:rPr>
              <a:t>:</a:t>
            </a:r>
          </a:p>
          <a:p>
            <a:pPr marL="742950" lvl="1" indent="-285750" algn="l">
              <a:buFont typeface="+mj-lt"/>
              <a:buAutoNum type="arabicPeriod"/>
            </a:pPr>
            <a:r>
              <a:rPr lang="en-IN" b="0" i="0" dirty="0">
                <a:effectLst/>
                <a:latin typeface="Söhne"/>
              </a:rPr>
              <a:t>Deeper architectures like </a:t>
            </a:r>
            <a:r>
              <a:rPr lang="en-IN" b="0" i="0" dirty="0" err="1">
                <a:effectLst/>
                <a:latin typeface="Söhne"/>
              </a:rPr>
              <a:t>ResNet</a:t>
            </a:r>
            <a:r>
              <a:rPr lang="en-IN" b="0" i="0" dirty="0">
                <a:effectLst/>
                <a:latin typeface="Söhne"/>
              </a:rPr>
              <a:t>, Inception, or </a:t>
            </a:r>
            <a:r>
              <a:rPr lang="en-IN" b="0" i="0" dirty="0" err="1">
                <a:effectLst/>
                <a:latin typeface="Söhne"/>
              </a:rPr>
              <a:t>EfficientNet</a:t>
            </a:r>
            <a:r>
              <a:rPr lang="en-IN" b="0" i="0" dirty="0">
                <a:effectLst/>
                <a:latin typeface="Söhne"/>
              </a:rPr>
              <a:t>, which can capture intricate details and hierarchies, would be more suitable.</a:t>
            </a:r>
          </a:p>
          <a:p>
            <a:pPr algn="l">
              <a:buFont typeface="+mj-lt"/>
              <a:buAutoNum type="arabicPeriod"/>
            </a:pPr>
            <a:r>
              <a:rPr lang="en-IN" b="1" i="0" dirty="0">
                <a:effectLst/>
                <a:latin typeface="Söhne"/>
              </a:rPr>
              <a:t>Transfer Learning</a:t>
            </a:r>
            <a:r>
              <a:rPr lang="en-IN" b="0" i="0" dirty="0">
                <a:effectLst/>
                <a:latin typeface="Söhne"/>
              </a:rPr>
              <a:t>:</a:t>
            </a:r>
          </a:p>
          <a:p>
            <a:pPr marL="742950" lvl="1" indent="-285750" algn="l">
              <a:buFont typeface="+mj-lt"/>
              <a:buAutoNum type="arabicPeriod"/>
            </a:pPr>
            <a:r>
              <a:rPr lang="en-IN" b="0" i="0" dirty="0">
                <a:effectLst/>
                <a:latin typeface="Söhne"/>
              </a:rPr>
              <a:t>If you have limited data, you can use a pre-trained model (like VGG16 trained on ImageNet) and fine-tune it for your task. The pre-trained model already has learned features that can be beneficial for your specific task.</a:t>
            </a:r>
          </a:p>
          <a:p>
            <a:endParaRPr lang="en-US" dirty="0"/>
          </a:p>
        </p:txBody>
      </p:sp>
    </p:spTree>
    <p:extLst>
      <p:ext uri="{BB962C8B-B14F-4D97-AF65-F5344CB8AC3E}">
        <p14:creationId xmlns:p14="http://schemas.microsoft.com/office/powerpoint/2010/main" val="238439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5C84-7846-FCFF-3D6A-FB66DD2E3299}"/>
              </a:ext>
            </a:extLst>
          </p:cNvPr>
          <p:cNvSpPr>
            <a:spLocks noGrp="1"/>
          </p:cNvSpPr>
          <p:nvPr>
            <p:ph type="title"/>
          </p:nvPr>
        </p:nvSpPr>
        <p:spPr/>
        <p:txBody>
          <a:bodyPr/>
          <a:lstStyle/>
          <a:p>
            <a:r>
              <a:rPr lang="en-IN" b="1" i="0" dirty="0">
                <a:effectLst/>
                <a:latin typeface="Söhne"/>
              </a:rPr>
              <a:t>Dropout</a:t>
            </a:r>
            <a:endParaRPr lang="en-US" dirty="0"/>
          </a:p>
        </p:txBody>
      </p:sp>
      <p:sp>
        <p:nvSpPr>
          <p:cNvPr id="3" name="Content Placeholder 2">
            <a:extLst>
              <a:ext uri="{FF2B5EF4-FFF2-40B4-BE49-F238E27FC236}">
                <a16:creationId xmlns:a16="http://schemas.microsoft.com/office/drawing/2014/main" id="{4ECF837A-8CD7-B9A0-A2C5-568AF923BD1B}"/>
              </a:ext>
            </a:extLst>
          </p:cNvPr>
          <p:cNvSpPr>
            <a:spLocks noGrp="1"/>
          </p:cNvSpPr>
          <p:nvPr>
            <p:ph idx="1"/>
          </p:nvPr>
        </p:nvSpPr>
        <p:spPr/>
        <p:txBody>
          <a:bodyPr/>
          <a:lstStyle/>
          <a:p>
            <a:r>
              <a:rPr lang="en-IN" b="0" i="0" dirty="0">
                <a:effectLst/>
                <a:latin typeface="Söhne"/>
              </a:rPr>
              <a:t>Dropout involves randomly "dropping out" or setting to zero a fraction of the neurons in a layer during training. This means that during each training iteration, each neuron has a probability </a:t>
            </a:r>
            <a:r>
              <a:rPr lang="en-IN" b="0" i="0" dirty="0">
                <a:effectLst/>
                <a:latin typeface="KaTeX_Main"/>
              </a:rPr>
              <a:t>�</a:t>
            </a:r>
            <a:r>
              <a:rPr lang="en-IN" b="0" i="1" dirty="0">
                <a:effectLst/>
                <a:latin typeface="KaTeX_Math"/>
              </a:rPr>
              <a:t>p</a:t>
            </a:r>
            <a:r>
              <a:rPr lang="en-IN" b="0" i="0" dirty="0">
                <a:effectLst/>
                <a:latin typeface="Söhne"/>
              </a:rPr>
              <a:t> of being temporarily removed or "turned off." This helps to ensure that no single neuron becomes overly specialized or reliant on its </a:t>
            </a:r>
            <a:r>
              <a:rPr lang="en-IN" b="0" i="0" dirty="0" err="1">
                <a:effectLst/>
                <a:latin typeface="Söhne"/>
              </a:rPr>
              <a:t>neighboring</a:t>
            </a:r>
            <a:r>
              <a:rPr lang="en-IN" b="0" i="0" dirty="0">
                <a:effectLst/>
                <a:latin typeface="Söhne"/>
              </a:rPr>
              <a:t> neurons, promoting a more robust and generalized model.</a:t>
            </a:r>
            <a:endParaRPr lang="en-US" dirty="0"/>
          </a:p>
        </p:txBody>
      </p:sp>
    </p:spTree>
    <p:extLst>
      <p:ext uri="{BB962C8B-B14F-4D97-AF65-F5344CB8AC3E}">
        <p14:creationId xmlns:p14="http://schemas.microsoft.com/office/powerpoint/2010/main" val="511534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64F53-1DE8-6226-64FE-406B720F8ABF}"/>
              </a:ext>
            </a:extLst>
          </p:cNvPr>
          <p:cNvSpPr>
            <a:spLocks noGrp="1"/>
          </p:cNvSpPr>
          <p:nvPr>
            <p:ph type="title"/>
          </p:nvPr>
        </p:nvSpPr>
        <p:spPr/>
        <p:txBody>
          <a:bodyPr/>
          <a:lstStyle/>
          <a:p>
            <a:r>
              <a:rPr lang="en-IN" b="1" i="0" dirty="0">
                <a:effectLst/>
                <a:latin typeface="Söhne"/>
              </a:rPr>
              <a:t>Importance of Dropout</a:t>
            </a:r>
            <a:endParaRPr lang="en-US" dirty="0"/>
          </a:p>
        </p:txBody>
      </p:sp>
      <p:sp>
        <p:nvSpPr>
          <p:cNvPr id="3" name="Content Placeholder 2">
            <a:extLst>
              <a:ext uri="{FF2B5EF4-FFF2-40B4-BE49-F238E27FC236}">
                <a16:creationId xmlns:a16="http://schemas.microsoft.com/office/drawing/2014/main" id="{F0C3E3F9-CDBB-F415-1859-6B289EF5D0CE}"/>
              </a:ext>
            </a:extLst>
          </p:cNvPr>
          <p:cNvSpPr>
            <a:spLocks noGrp="1"/>
          </p:cNvSpPr>
          <p:nvPr>
            <p:ph idx="1"/>
          </p:nvPr>
        </p:nvSpPr>
        <p:spPr/>
        <p:txBody>
          <a:bodyPr>
            <a:normAutofit lnSpcReduction="10000"/>
          </a:bodyPr>
          <a:lstStyle/>
          <a:p>
            <a:pPr algn="l">
              <a:buFont typeface="+mj-lt"/>
              <a:buAutoNum type="arabicPeriod"/>
            </a:pPr>
            <a:r>
              <a:rPr lang="en-IN" b="1" i="0" dirty="0">
                <a:effectLst/>
                <a:latin typeface="Söhne"/>
              </a:rPr>
              <a:t>Prevent Overfitting</a:t>
            </a:r>
            <a:r>
              <a:rPr lang="en-IN" b="0" i="0" dirty="0">
                <a:effectLst/>
                <a:latin typeface="Söhne"/>
              </a:rPr>
              <a:t>:</a:t>
            </a:r>
          </a:p>
          <a:p>
            <a:pPr lvl="1"/>
            <a:r>
              <a:rPr lang="en-IN" b="0" i="0" dirty="0">
                <a:effectLst/>
                <a:latin typeface="Söhne"/>
              </a:rPr>
              <a:t>Dropout prevents complex co-adaptations of neurons, ensuring that they are more independent. This reduces overfitting, especially in large networks or when the amount of training data is limited.</a:t>
            </a:r>
          </a:p>
          <a:p>
            <a:pPr algn="l">
              <a:buFont typeface="+mj-lt"/>
              <a:buAutoNum type="arabicPeriod"/>
            </a:pPr>
            <a:r>
              <a:rPr lang="en-IN" b="1" i="0" dirty="0">
                <a:effectLst/>
                <a:latin typeface="Söhne"/>
              </a:rPr>
              <a:t>Model </a:t>
            </a:r>
            <a:r>
              <a:rPr lang="en-IN" b="1" i="0" dirty="0" err="1">
                <a:effectLst/>
                <a:latin typeface="Söhne"/>
              </a:rPr>
              <a:t>Ensembling</a:t>
            </a:r>
            <a:r>
              <a:rPr lang="en-IN" b="0" i="0" dirty="0">
                <a:effectLst/>
                <a:latin typeface="Söhne"/>
              </a:rPr>
              <a:t>:</a:t>
            </a:r>
          </a:p>
          <a:p>
            <a:pPr lvl="1"/>
            <a:r>
              <a:rPr lang="en-IN" b="0" i="0" dirty="0">
                <a:effectLst/>
                <a:latin typeface="Söhne"/>
              </a:rPr>
              <a:t>Dropout can be thought of as training a pseudo-ensemble of neural networks. During inference (or testing), all neurons are used, which is like averaging the predictions of all these networks, leading to a more stable and generalized prediction.</a:t>
            </a:r>
          </a:p>
          <a:p>
            <a:pPr algn="l">
              <a:buFont typeface="+mj-lt"/>
              <a:buAutoNum type="arabicPeriod"/>
            </a:pPr>
            <a:r>
              <a:rPr lang="en-IN" b="1" i="0" dirty="0">
                <a:effectLst/>
                <a:latin typeface="Söhne"/>
              </a:rPr>
              <a:t>Regularization</a:t>
            </a:r>
            <a:r>
              <a:rPr lang="en-IN" b="0" i="0" dirty="0">
                <a:effectLst/>
                <a:latin typeface="Söhne"/>
              </a:rPr>
              <a:t>:</a:t>
            </a:r>
          </a:p>
          <a:p>
            <a:pPr lvl="1"/>
            <a:r>
              <a:rPr lang="en-IN" b="0" i="0" dirty="0">
                <a:effectLst/>
                <a:latin typeface="Söhne"/>
              </a:rPr>
              <a:t>By adding noise into the training process, dropout acts as a form of regularization, making the model more robust.</a:t>
            </a:r>
          </a:p>
          <a:p>
            <a:endParaRPr lang="en-US" dirty="0"/>
          </a:p>
        </p:txBody>
      </p:sp>
    </p:spTree>
    <p:extLst>
      <p:ext uri="{BB962C8B-B14F-4D97-AF65-F5344CB8AC3E}">
        <p14:creationId xmlns:p14="http://schemas.microsoft.com/office/powerpoint/2010/main" val="3281046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E293-597D-5503-3034-007EBAC58949}"/>
              </a:ext>
            </a:extLst>
          </p:cNvPr>
          <p:cNvSpPr>
            <a:spLocks noGrp="1"/>
          </p:cNvSpPr>
          <p:nvPr>
            <p:ph type="title"/>
          </p:nvPr>
        </p:nvSpPr>
        <p:spPr/>
        <p:txBody>
          <a:bodyPr/>
          <a:lstStyle/>
          <a:p>
            <a:r>
              <a:rPr lang="en-IN" b="1" i="0" dirty="0">
                <a:effectLst/>
                <a:latin typeface="Söhne"/>
              </a:rPr>
              <a:t>Tuning the Dropout Rate</a:t>
            </a:r>
            <a:endParaRPr lang="en-US" dirty="0"/>
          </a:p>
        </p:txBody>
      </p:sp>
      <p:sp>
        <p:nvSpPr>
          <p:cNvPr id="3" name="Content Placeholder 2">
            <a:extLst>
              <a:ext uri="{FF2B5EF4-FFF2-40B4-BE49-F238E27FC236}">
                <a16:creationId xmlns:a16="http://schemas.microsoft.com/office/drawing/2014/main" id="{B0602743-A67A-FF6E-7C9D-DBA62D426ECC}"/>
              </a:ext>
            </a:extLst>
          </p:cNvPr>
          <p:cNvSpPr>
            <a:spLocks noGrp="1"/>
          </p:cNvSpPr>
          <p:nvPr>
            <p:ph idx="1"/>
          </p:nvPr>
        </p:nvSpPr>
        <p:spPr/>
        <p:txBody>
          <a:bodyPr/>
          <a:lstStyle/>
          <a:p>
            <a:pPr algn="l">
              <a:buFont typeface="+mj-lt"/>
              <a:buAutoNum type="arabicPeriod"/>
            </a:pPr>
            <a:r>
              <a:rPr lang="en-IN" b="1" i="0" dirty="0">
                <a:effectLst/>
                <a:latin typeface="Söhne"/>
              </a:rPr>
              <a:t>Low Dropout Rate (e.g., 0.1 or 0.2)</a:t>
            </a:r>
            <a:r>
              <a:rPr lang="en-IN" b="0" i="0" dirty="0">
                <a:effectLst/>
                <a:latin typeface="Söhne"/>
              </a:rPr>
              <a:t>:</a:t>
            </a:r>
          </a:p>
          <a:p>
            <a:pPr lvl="1"/>
            <a:r>
              <a:rPr lang="en-IN" b="0" i="0" dirty="0">
                <a:effectLst/>
                <a:latin typeface="Söhne"/>
              </a:rPr>
              <a:t>Only a small fraction of neurons are dropped out. This provides mild regularization which might be beneficial if the model is slightly overfitting.</a:t>
            </a:r>
          </a:p>
          <a:p>
            <a:pPr algn="l">
              <a:buFont typeface="+mj-lt"/>
              <a:buAutoNum type="arabicPeriod"/>
            </a:pPr>
            <a:r>
              <a:rPr lang="en-IN" b="1" i="0" dirty="0">
                <a:effectLst/>
                <a:latin typeface="Söhne"/>
              </a:rPr>
              <a:t>High Dropout Rate (e.g., 0.5 or 0.6)</a:t>
            </a:r>
            <a:r>
              <a:rPr lang="en-IN" b="0" i="0" dirty="0">
                <a:effectLst/>
                <a:latin typeface="Söhne"/>
              </a:rPr>
              <a:t>:</a:t>
            </a:r>
          </a:p>
          <a:p>
            <a:pPr lvl="1"/>
            <a:r>
              <a:rPr lang="en-IN" b="0" i="0" dirty="0">
                <a:effectLst/>
                <a:latin typeface="Söhne"/>
              </a:rPr>
              <a:t>A significant fraction of neurons are turned off during training. This introduces strong regularization and is often used in very large networks or when the risk of overfitting is high.</a:t>
            </a:r>
          </a:p>
          <a:p>
            <a:pPr algn="l">
              <a:buFont typeface="+mj-lt"/>
              <a:buAutoNum type="arabicPeriod"/>
            </a:pPr>
            <a:r>
              <a:rPr lang="en-IN" b="1" i="0" dirty="0">
                <a:effectLst/>
                <a:latin typeface="Söhne"/>
              </a:rPr>
              <a:t>Too High Dropout Rate (e.g., 0.8 or 0.9)</a:t>
            </a:r>
            <a:r>
              <a:rPr lang="en-IN" b="0" i="0" dirty="0">
                <a:effectLst/>
                <a:latin typeface="Söhne"/>
              </a:rPr>
              <a:t>:</a:t>
            </a:r>
          </a:p>
          <a:p>
            <a:pPr lvl="1"/>
            <a:r>
              <a:rPr lang="en-IN" b="0" i="0" dirty="0">
                <a:effectLst/>
                <a:latin typeface="Söhne"/>
              </a:rPr>
              <a:t>Turning off too many neurons might hinder the network's ability to train effectively, leading to underfitting.</a:t>
            </a:r>
          </a:p>
          <a:p>
            <a:endParaRPr lang="en-US" dirty="0"/>
          </a:p>
        </p:txBody>
      </p:sp>
    </p:spTree>
    <p:extLst>
      <p:ext uri="{BB962C8B-B14F-4D97-AF65-F5344CB8AC3E}">
        <p14:creationId xmlns:p14="http://schemas.microsoft.com/office/powerpoint/2010/main" val="4093816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DE414-20D6-86DF-6BAB-72C64051FD3D}"/>
              </a:ext>
            </a:extLst>
          </p:cNvPr>
          <p:cNvSpPr>
            <a:spLocks noGrp="1"/>
          </p:cNvSpPr>
          <p:nvPr>
            <p:ph type="title"/>
          </p:nvPr>
        </p:nvSpPr>
        <p:spPr/>
        <p:txBody>
          <a:bodyPr/>
          <a:lstStyle/>
          <a:p>
            <a:r>
              <a:rPr lang="en-IN" b="1" i="0" dirty="0">
                <a:effectLst/>
                <a:latin typeface="Söhne"/>
              </a:rPr>
              <a:t>Examples</a:t>
            </a:r>
            <a:endParaRPr lang="en-US" dirty="0"/>
          </a:p>
        </p:txBody>
      </p:sp>
      <p:sp>
        <p:nvSpPr>
          <p:cNvPr id="3" name="Content Placeholder 2">
            <a:extLst>
              <a:ext uri="{FF2B5EF4-FFF2-40B4-BE49-F238E27FC236}">
                <a16:creationId xmlns:a16="http://schemas.microsoft.com/office/drawing/2014/main" id="{031D44A2-A9BE-0606-30D6-6AB6D2AAB7E3}"/>
              </a:ext>
            </a:extLst>
          </p:cNvPr>
          <p:cNvSpPr>
            <a:spLocks noGrp="1"/>
          </p:cNvSpPr>
          <p:nvPr>
            <p:ph idx="1"/>
          </p:nvPr>
        </p:nvSpPr>
        <p:spPr/>
        <p:txBody>
          <a:bodyPr>
            <a:normAutofit lnSpcReduction="10000"/>
          </a:bodyPr>
          <a:lstStyle/>
          <a:p>
            <a:pPr algn="l">
              <a:buFont typeface="+mj-lt"/>
              <a:buAutoNum type="arabicPeriod"/>
            </a:pPr>
            <a:r>
              <a:rPr lang="en-IN" b="1" i="0" dirty="0">
                <a:effectLst/>
                <a:latin typeface="Söhne"/>
              </a:rPr>
              <a:t>Small Dataset with a Large Network</a:t>
            </a:r>
            <a:r>
              <a:rPr lang="en-IN" b="0" i="0" dirty="0">
                <a:effectLst/>
                <a:latin typeface="Söhne"/>
              </a:rPr>
              <a:t>:</a:t>
            </a:r>
          </a:p>
          <a:p>
            <a:pPr lvl="1"/>
            <a:r>
              <a:rPr lang="en-IN" b="0" i="0" dirty="0">
                <a:effectLst/>
                <a:latin typeface="Söhne"/>
              </a:rPr>
              <a:t>If you have a small dataset but a large network architecture, the risk of overfitting is high. Introducing a moderate to high dropout rate can help regularize the network and prevent it from memorizing the training data.</a:t>
            </a:r>
          </a:p>
          <a:p>
            <a:pPr algn="l">
              <a:buFont typeface="+mj-lt"/>
              <a:buAutoNum type="arabicPeriod"/>
            </a:pPr>
            <a:r>
              <a:rPr lang="en-IN" b="1" i="0" dirty="0">
                <a:effectLst/>
                <a:latin typeface="Söhne"/>
              </a:rPr>
              <a:t>Sufficiently Large Dataset</a:t>
            </a:r>
            <a:r>
              <a:rPr lang="en-IN" b="0" i="0" dirty="0">
                <a:effectLst/>
                <a:latin typeface="Söhne"/>
              </a:rPr>
              <a:t>:</a:t>
            </a:r>
          </a:p>
          <a:p>
            <a:pPr lvl="1"/>
            <a:r>
              <a:rPr lang="en-IN" b="0" i="0" dirty="0">
                <a:effectLst/>
                <a:latin typeface="Söhne"/>
              </a:rPr>
              <a:t>With a large dataset and appropriate network size, the model might not overfit easily. In such cases, a lower dropout rate or even no dropout might work well.</a:t>
            </a:r>
          </a:p>
          <a:p>
            <a:pPr algn="l">
              <a:buFont typeface="+mj-lt"/>
              <a:buAutoNum type="arabicPeriod"/>
            </a:pPr>
            <a:r>
              <a:rPr lang="en-IN" b="1" i="0" dirty="0">
                <a:effectLst/>
                <a:latin typeface="Söhne"/>
              </a:rPr>
              <a:t>Deep Networks</a:t>
            </a:r>
            <a:r>
              <a:rPr lang="en-IN" b="0" i="0" dirty="0">
                <a:effectLst/>
                <a:latin typeface="Söhne"/>
              </a:rPr>
              <a:t>:</a:t>
            </a:r>
          </a:p>
          <a:p>
            <a:pPr lvl="1"/>
            <a:r>
              <a:rPr lang="en-IN" b="0" i="0" dirty="0">
                <a:effectLst/>
                <a:latin typeface="Söhne"/>
              </a:rPr>
              <a:t>In very deep networks, using dropout in the initial layers might not be as effective as using it in the deeper or fully connected layers, where the model has already extracted complex features and is more prone to overfitting.</a:t>
            </a:r>
          </a:p>
          <a:p>
            <a:endParaRPr lang="en-US" dirty="0"/>
          </a:p>
        </p:txBody>
      </p:sp>
    </p:spTree>
    <p:extLst>
      <p:ext uri="{BB962C8B-B14F-4D97-AF65-F5344CB8AC3E}">
        <p14:creationId xmlns:p14="http://schemas.microsoft.com/office/powerpoint/2010/main" val="1557215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9B3F-6896-69E3-623C-039597F1EF8A}"/>
              </a:ext>
            </a:extLst>
          </p:cNvPr>
          <p:cNvSpPr>
            <a:spLocks noGrp="1"/>
          </p:cNvSpPr>
          <p:nvPr>
            <p:ph type="title"/>
          </p:nvPr>
        </p:nvSpPr>
        <p:spPr/>
        <p:txBody>
          <a:bodyPr/>
          <a:lstStyle/>
          <a:p>
            <a:r>
              <a:rPr lang="en-IN" b="1" i="0" dirty="0">
                <a:effectLst/>
                <a:latin typeface="Söhne"/>
              </a:rPr>
              <a:t>Tips</a:t>
            </a:r>
            <a:endParaRPr lang="en-US" dirty="0"/>
          </a:p>
        </p:txBody>
      </p:sp>
      <p:sp>
        <p:nvSpPr>
          <p:cNvPr id="3" name="Content Placeholder 2">
            <a:extLst>
              <a:ext uri="{FF2B5EF4-FFF2-40B4-BE49-F238E27FC236}">
                <a16:creationId xmlns:a16="http://schemas.microsoft.com/office/drawing/2014/main" id="{3F90E176-9166-B5D7-4C04-386F8AC53991}"/>
              </a:ext>
            </a:extLst>
          </p:cNvPr>
          <p:cNvSpPr>
            <a:spLocks noGrp="1"/>
          </p:cNvSpPr>
          <p:nvPr>
            <p:ph idx="1"/>
          </p:nvPr>
        </p:nvSpPr>
        <p:spPr/>
        <p:txBody>
          <a:bodyPr/>
          <a:lstStyle/>
          <a:p>
            <a:pPr algn="l">
              <a:buFont typeface="+mj-lt"/>
              <a:buAutoNum type="arabicPeriod"/>
            </a:pPr>
            <a:r>
              <a:rPr lang="en-IN" b="1" i="0" dirty="0">
                <a:effectLst/>
                <a:latin typeface="Söhne"/>
              </a:rPr>
              <a:t>Position in the Network</a:t>
            </a:r>
            <a:r>
              <a:rPr lang="en-IN" b="0" i="0" dirty="0">
                <a:effectLst/>
                <a:latin typeface="Söhne"/>
              </a:rPr>
              <a:t>: Dropout is often used in the fully connected layers of CNNs, but it can also be applied to convolutional layers. However, it's less common to use dropout in the early layers of the network.</a:t>
            </a:r>
          </a:p>
          <a:p>
            <a:pPr algn="l">
              <a:buFont typeface="+mj-lt"/>
              <a:buAutoNum type="arabicPeriod"/>
            </a:pPr>
            <a:r>
              <a:rPr lang="en-IN" b="1" i="0" dirty="0">
                <a:effectLst/>
                <a:latin typeface="Söhne"/>
              </a:rPr>
              <a:t>Tuning</a:t>
            </a:r>
            <a:r>
              <a:rPr lang="en-IN" b="0" i="0" dirty="0">
                <a:effectLst/>
                <a:latin typeface="Söhne"/>
              </a:rPr>
              <a:t>: Start with a common dropout rate (like 0.5) and adjust based on validation performance. If the model overfits, increase the dropout rate. If it underfits, decrease the dropout rate.</a:t>
            </a:r>
          </a:p>
          <a:p>
            <a:pPr algn="l">
              <a:buFont typeface="+mj-lt"/>
              <a:buAutoNum type="arabicPeriod"/>
            </a:pPr>
            <a:r>
              <a:rPr lang="en-IN" b="1" i="0" dirty="0">
                <a:effectLst/>
                <a:latin typeface="Söhne"/>
              </a:rPr>
              <a:t>Inference</a:t>
            </a:r>
            <a:r>
              <a:rPr lang="en-IN" b="0" i="0" dirty="0">
                <a:effectLst/>
                <a:latin typeface="Söhne"/>
              </a:rPr>
              <a:t>: During inference (or testing), dropout is turned off, and the weights are typically scaled by the dropout rate to account for the increased number of active neurons</a:t>
            </a:r>
          </a:p>
          <a:p>
            <a:endParaRPr lang="en-US" dirty="0"/>
          </a:p>
        </p:txBody>
      </p:sp>
    </p:spTree>
    <p:extLst>
      <p:ext uri="{BB962C8B-B14F-4D97-AF65-F5344CB8AC3E}">
        <p14:creationId xmlns:p14="http://schemas.microsoft.com/office/powerpoint/2010/main" val="42063003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C648D-F401-46D6-AD15-4831D7E49CDF}"/>
              </a:ext>
            </a:extLst>
          </p:cNvPr>
          <p:cNvSpPr>
            <a:spLocks noGrp="1"/>
          </p:cNvSpPr>
          <p:nvPr>
            <p:ph type="title"/>
          </p:nvPr>
        </p:nvSpPr>
        <p:spPr/>
        <p:txBody>
          <a:bodyPr/>
          <a:lstStyle/>
          <a:p>
            <a:r>
              <a:rPr lang="en-IN" b="1" i="0" dirty="0">
                <a:effectLst/>
                <a:latin typeface="Söhne"/>
              </a:rPr>
              <a:t>Batch Normalization</a:t>
            </a:r>
            <a:endParaRPr lang="en-US" dirty="0"/>
          </a:p>
        </p:txBody>
      </p:sp>
      <p:sp>
        <p:nvSpPr>
          <p:cNvPr id="3" name="Content Placeholder 2">
            <a:extLst>
              <a:ext uri="{FF2B5EF4-FFF2-40B4-BE49-F238E27FC236}">
                <a16:creationId xmlns:a16="http://schemas.microsoft.com/office/drawing/2014/main" id="{138CFF16-07A2-2B2A-419B-7CAB8890AC28}"/>
              </a:ext>
            </a:extLst>
          </p:cNvPr>
          <p:cNvSpPr>
            <a:spLocks noGrp="1"/>
          </p:cNvSpPr>
          <p:nvPr>
            <p:ph idx="1"/>
          </p:nvPr>
        </p:nvSpPr>
        <p:spPr/>
        <p:txBody>
          <a:bodyPr/>
          <a:lstStyle/>
          <a:p>
            <a:r>
              <a:rPr lang="en-IN" b="0" i="0" dirty="0">
                <a:effectLst/>
                <a:latin typeface="Söhne"/>
              </a:rPr>
              <a:t>Batch Normalization is a technique designed to automatically standardize the inputs to a layer in a deep learning model. It helps in stabilizing and accelerating the training of deep networks.</a:t>
            </a:r>
            <a:endParaRPr lang="en-US" dirty="0"/>
          </a:p>
        </p:txBody>
      </p:sp>
    </p:spTree>
    <p:extLst>
      <p:ext uri="{BB962C8B-B14F-4D97-AF65-F5344CB8AC3E}">
        <p14:creationId xmlns:p14="http://schemas.microsoft.com/office/powerpoint/2010/main" val="2576986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9FA74-F9A4-5DB2-3258-70AA1836F6DC}"/>
              </a:ext>
            </a:extLst>
          </p:cNvPr>
          <p:cNvSpPr>
            <a:spLocks noGrp="1"/>
          </p:cNvSpPr>
          <p:nvPr>
            <p:ph type="title"/>
          </p:nvPr>
        </p:nvSpPr>
        <p:spPr/>
        <p:txBody>
          <a:bodyPr/>
          <a:lstStyle/>
          <a:p>
            <a:r>
              <a:rPr lang="en-IN" b="1" i="0" dirty="0">
                <a:effectLst/>
                <a:latin typeface="Söhne"/>
              </a:rPr>
              <a:t>Why is it Needed</a:t>
            </a:r>
            <a:endParaRPr lang="en-US" dirty="0"/>
          </a:p>
        </p:txBody>
      </p:sp>
      <p:sp>
        <p:nvSpPr>
          <p:cNvPr id="3" name="Content Placeholder 2">
            <a:extLst>
              <a:ext uri="{FF2B5EF4-FFF2-40B4-BE49-F238E27FC236}">
                <a16:creationId xmlns:a16="http://schemas.microsoft.com/office/drawing/2014/main" id="{47F8793D-EA7D-4214-6F27-BD64986D7C87}"/>
              </a:ext>
            </a:extLst>
          </p:cNvPr>
          <p:cNvSpPr>
            <a:spLocks noGrp="1"/>
          </p:cNvSpPr>
          <p:nvPr>
            <p:ph idx="1"/>
          </p:nvPr>
        </p:nvSpPr>
        <p:spPr/>
        <p:txBody>
          <a:bodyPr/>
          <a:lstStyle/>
          <a:p>
            <a:r>
              <a:rPr lang="en-IN" b="0" i="0" dirty="0">
                <a:effectLst/>
                <a:latin typeface="Söhne"/>
              </a:rPr>
              <a:t>Deep neural networks are sensitive to the initialization of their weights and to the scale and distribution of input features. If the input data or the activations in the hidden layers have too large or too small values, or if they're not </a:t>
            </a:r>
            <a:r>
              <a:rPr lang="en-IN" b="0" i="0" dirty="0" err="1">
                <a:effectLst/>
                <a:latin typeface="Söhne"/>
              </a:rPr>
              <a:t>centered</a:t>
            </a:r>
            <a:r>
              <a:rPr lang="en-IN" b="0" i="0" dirty="0">
                <a:effectLst/>
                <a:latin typeface="Söhne"/>
              </a:rPr>
              <a:t> around zero, it can hinder the training process. This is because large input values can lead to large gradients during backpropagation, causing the weights to update in large steps, which can lead to oscillations or divergences in training. On the other hand, very small values can lead to tiny gradients, causing the network to train very slowly (known as the vanishing gradient problem).</a:t>
            </a:r>
            <a:endParaRPr lang="en-US" dirty="0"/>
          </a:p>
        </p:txBody>
      </p:sp>
    </p:spTree>
    <p:extLst>
      <p:ext uri="{BB962C8B-B14F-4D97-AF65-F5344CB8AC3E}">
        <p14:creationId xmlns:p14="http://schemas.microsoft.com/office/powerpoint/2010/main" val="678649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1FA1-E84F-EE4D-7891-025697C96DB3}"/>
              </a:ext>
            </a:extLst>
          </p:cNvPr>
          <p:cNvSpPr>
            <a:spLocks noGrp="1"/>
          </p:cNvSpPr>
          <p:nvPr>
            <p:ph type="title"/>
          </p:nvPr>
        </p:nvSpPr>
        <p:spPr/>
        <p:txBody>
          <a:bodyPr/>
          <a:lstStyle/>
          <a:p>
            <a:r>
              <a:rPr lang="en-IN" b="1" i="0" dirty="0">
                <a:effectLst/>
                <a:latin typeface="Söhne"/>
              </a:rPr>
              <a:t>How Does </a:t>
            </a:r>
            <a:r>
              <a:rPr lang="en-IN" b="1" i="0" dirty="0" err="1">
                <a:effectLst/>
                <a:latin typeface="Söhne"/>
              </a:rPr>
              <a:t>BatchNorm</a:t>
            </a:r>
            <a:r>
              <a:rPr lang="en-IN" b="1" i="0" dirty="0">
                <a:effectLst/>
                <a:latin typeface="Söhne"/>
              </a:rPr>
              <a:t> Work?</a:t>
            </a:r>
            <a:endParaRPr lang="en-US" dirty="0"/>
          </a:p>
        </p:txBody>
      </p:sp>
      <p:sp>
        <p:nvSpPr>
          <p:cNvPr id="3" name="Content Placeholder 2">
            <a:extLst>
              <a:ext uri="{FF2B5EF4-FFF2-40B4-BE49-F238E27FC236}">
                <a16:creationId xmlns:a16="http://schemas.microsoft.com/office/drawing/2014/main" id="{A2FA8BF1-EC3C-FC51-A87A-CA4AD6E74636}"/>
              </a:ext>
            </a:extLst>
          </p:cNvPr>
          <p:cNvSpPr>
            <a:spLocks noGrp="1"/>
          </p:cNvSpPr>
          <p:nvPr>
            <p:ph idx="1"/>
          </p:nvPr>
        </p:nvSpPr>
        <p:spPr/>
        <p:txBody>
          <a:bodyPr>
            <a:normAutofit lnSpcReduction="10000"/>
          </a:bodyPr>
          <a:lstStyle/>
          <a:p>
            <a:pPr marL="0" indent="0" algn="l">
              <a:buNone/>
            </a:pPr>
            <a:r>
              <a:rPr lang="en-IN" b="0" i="0" dirty="0">
                <a:effectLst/>
                <a:latin typeface="Söhne"/>
              </a:rPr>
              <a:t>At a high level, during training, Batch Normalization standardizes the output of a previous activation layer by subtracting the batch mean and dividing by the batch standard deviation. Then, it scales and shifts the result using two new parameters (usually referred to as gamma and beta) that will be learned during training.</a:t>
            </a:r>
          </a:p>
          <a:p>
            <a:pPr marL="0" indent="0" algn="l">
              <a:buNone/>
            </a:pPr>
            <a:r>
              <a:rPr lang="en-IN" b="0" i="0" dirty="0">
                <a:effectLst/>
                <a:latin typeface="Söhne"/>
              </a:rPr>
              <a:t>Mathematically, given a mini-batch </a:t>
            </a:r>
            <a:r>
              <a:rPr lang="en-IN" b="0" i="1" dirty="0">
                <a:effectLst/>
                <a:latin typeface="KaTeX_Math"/>
              </a:rPr>
              <a:t>B</a:t>
            </a:r>
            <a:r>
              <a:rPr lang="en-IN" b="0" i="0" dirty="0">
                <a:effectLst/>
                <a:latin typeface="Söhne"/>
              </a:rPr>
              <a:t> of activations:</a:t>
            </a:r>
          </a:p>
          <a:p>
            <a:pPr algn="l">
              <a:buFont typeface="+mj-lt"/>
              <a:buAutoNum type="arabicPeriod"/>
            </a:pPr>
            <a:r>
              <a:rPr lang="en-IN" b="0" i="0" dirty="0">
                <a:effectLst/>
                <a:latin typeface="Söhne"/>
              </a:rPr>
              <a:t>Compute the mean </a:t>
            </a:r>
            <a:r>
              <a:rPr lang="el-GR" b="0" i="1" dirty="0">
                <a:effectLst/>
                <a:latin typeface="KaTeX_Math"/>
              </a:rPr>
              <a:t>μ</a:t>
            </a:r>
            <a:r>
              <a:rPr lang="en-IN" b="0" i="1" baseline="-25000" dirty="0">
                <a:effectLst/>
                <a:latin typeface="KaTeX_Math"/>
              </a:rPr>
              <a:t>B</a:t>
            </a:r>
            <a:r>
              <a:rPr lang="en-IN" b="0" i="0" dirty="0">
                <a:effectLst/>
                <a:latin typeface="KaTeX_Main"/>
              </a:rPr>
              <a:t>​</a:t>
            </a:r>
            <a:r>
              <a:rPr lang="en-IN" b="0" i="0" dirty="0">
                <a:effectLst/>
                <a:latin typeface="Söhne"/>
              </a:rPr>
              <a:t> and variance </a:t>
            </a:r>
            <a:r>
              <a:rPr lang="el-GR" b="0" i="1" dirty="0">
                <a:effectLst/>
                <a:latin typeface="KaTeX_Math"/>
              </a:rPr>
              <a:t>σ</a:t>
            </a:r>
            <a:r>
              <a:rPr lang="en-US" b="0" i="1" baseline="30000" dirty="0">
                <a:effectLst/>
                <a:latin typeface="KaTeX_Math"/>
              </a:rPr>
              <a:t>2</a:t>
            </a:r>
            <a:r>
              <a:rPr lang="en-IN" b="0" i="1" baseline="-25000" dirty="0">
                <a:effectLst/>
                <a:latin typeface="KaTeX_Math"/>
              </a:rPr>
              <a:t>B</a:t>
            </a:r>
            <a:r>
              <a:rPr lang="en-IN" b="0" i="0" dirty="0">
                <a:effectLst/>
                <a:latin typeface="Söhne"/>
              </a:rPr>
              <a:t> for the mini-batch.</a:t>
            </a:r>
          </a:p>
          <a:p>
            <a:pPr algn="l">
              <a:buFont typeface="+mj-lt"/>
              <a:buAutoNum type="arabicPeriod"/>
            </a:pPr>
            <a:r>
              <a:rPr lang="en-IN" b="0" i="0" dirty="0">
                <a:effectLst/>
                <a:latin typeface="Söhne"/>
              </a:rPr>
              <a:t>Normalize the activations using: </a:t>
            </a:r>
            <a:r>
              <a:rPr lang="en-IN" b="0" i="1" dirty="0" err="1">
                <a:effectLst/>
                <a:latin typeface="KaTeX_Math"/>
              </a:rPr>
              <a:t>x</a:t>
            </a:r>
            <a:r>
              <a:rPr lang="en-IN" b="0" i="0" dirty="0" err="1">
                <a:effectLst/>
                <a:latin typeface="KaTeX_Main"/>
              </a:rPr>
              <a:t>^</a:t>
            </a:r>
            <a:r>
              <a:rPr lang="en-IN" b="0" i="1" baseline="-25000" dirty="0" err="1">
                <a:effectLst/>
                <a:latin typeface="KaTeX_Math"/>
              </a:rPr>
              <a:t>i</a:t>
            </a:r>
            <a:r>
              <a:rPr lang="en-IN" b="0" i="0" dirty="0">
                <a:effectLst/>
                <a:latin typeface="KaTeX_Main"/>
              </a:rPr>
              <a:t>​=</a:t>
            </a:r>
            <a:r>
              <a:rPr lang="en-IN" b="0" i="1" dirty="0">
                <a:effectLst/>
                <a:latin typeface="KaTeX_Math"/>
              </a:rPr>
              <a:t>xi</a:t>
            </a:r>
            <a:r>
              <a:rPr lang="en-IN" b="0" i="0" dirty="0">
                <a:effectLst/>
                <a:latin typeface="KaTeX_Main"/>
              </a:rPr>
              <a:t>​−</a:t>
            </a:r>
            <a:r>
              <a:rPr lang="el-GR" b="0" i="1" dirty="0">
                <a:effectLst/>
                <a:latin typeface="KaTeX_Math"/>
              </a:rPr>
              <a:t>μ</a:t>
            </a:r>
            <a:r>
              <a:rPr lang="en-IN" b="0" i="1" dirty="0">
                <a:effectLst/>
                <a:latin typeface="KaTeX_Math"/>
              </a:rPr>
              <a:t>B</a:t>
            </a:r>
            <a:r>
              <a:rPr lang="en-IN" b="0" i="0" dirty="0">
                <a:effectLst/>
                <a:latin typeface="KaTeX_Main"/>
              </a:rPr>
              <a:t>​​/sqrt(</a:t>
            </a:r>
            <a:r>
              <a:rPr lang="el-GR" b="0" i="1" dirty="0">
                <a:effectLst/>
                <a:latin typeface="KaTeX_Math"/>
              </a:rPr>
              <a:t>σ</a:t>
            </a:r>
            <a:r>
              <a:rPr lang="en-US" b="0" i="1" baseline="30000" dirty="0">
                <a:effectLst/>
                <a:latin typeface="KaTeX_Math"/>
              </a:rPr>
              <a:t>2</a:t>
            </a:r>
            <a:r>
              <a:rPr lang="en-IN" b="0" i="1" baseline="-25000" dirty="0">
                <a:effectLst/>
                <a:latin typeface="KaTeX_Math"/>
              </a:rPr>
              <a:t>B</a:t>
            </a:r>
            <a:r>
              <a:rPr lang="en-IN" b="0" i="0" dirty="0">
                <a:effectLst/>
                <a:latin typeface="Söhne"/>
              </a:rPr>
              <a:t> </a:t>
            </a:r>
            <a:r>
              <a:rPr lang="en-IN" b="0" i="0" dirty="0">
                <a:effectLst/>
                <a:latin typeface="KaTeX_Main"/>
              </a:rPr>
              <a:t>+</a:t>
            </a:r>
            <a:r>
              <a:rPr lang="el-GR" b="0" i="1" dirty="0">
                <a:effectLst/>
                <a:latin typeface="KaTeX_Math"/>
              </a:rPr>
              <a:t>ϵ</a:t>
            </a:r>
            <a:r>
              <a:rPr lang="el-GR" b="0" i="0" dirty="0">
                <a:effectLst/>
                <a:latin typeface="KaTeX_Main"/>
              </a:rPr>
              <a:t>​</a:t>
            </a:r>
            <a:r>
              <a:rPr lang="en-US" b="0" i="0" dirty="0">
                <a:effectLst/>
                <a:latin typeface="KaTeX_Main"/>
              </a:rPr>
              <a:t>)</a:t>
            </a:r>
            <a:r>
              <a:rPr lang="en-IN" b="0" i="0" dirty="0">
                <a:effectLst/>
                <a:latin typeface="Söhne"/>
              </a:rPr>
              <a:t> where </a:t>
            </a:r>
            <a:r>
              <a:rPr lang="el-GR" b="0" i="1" dirty="0">
                <a:effectLst/>
                <a:latin typeface="KaTeX_Math"/>
              </a:rPr>
              <a:t>ϵ</a:t>
            </a:r>
            <a:r>
              <a:rPr lang="el-GR" b="0" i="0" dirty="0">
                <a:effectLst/>
                <a:latin typeface="Söhne"/>
              </a:rPr>
              <a:t> </a:t>
            </a:r>
            <a:r>
              <a:rPr lang="en-IN" b="0" i="0" dirty="0">
                <a:effectLst/>
                <a:latin typeface="Söhne"/>
              </a:rPr>
              <a:t>is a small constant added for numerical stability.</a:t>
            </a:r>
          </a:p>
          <a:p>
            <a:pPr algn="l">
              <a:buFont typeface="+mj-lt"/>
              <a:buAutoNum type="arabicPeriod"/>
            </a:pPr>
            <a:r>
              <a:rPr lang="en-IN" b="0" i="0" dirty="0">
                <a:effectLst/>
                <a:latin typeface="Söhne"/>
              </a:rPr>
              <a:t>Scale and shift: </a:t>
            </a:r>
            <a:r>
              <a:rPr lang="en-IN" b="0" i="1" dirty="0" err="1">
                <a:effectLst/>
                <a:latin typeface="KaTeX_Math"/>
              </a:rPr>
              <a:t>y</a:t>
            </a:r>
            <a:r>
              <a:rPr lang="en-IN" b="0" i="1" baseline="-25000" dirty="0" err="1">
                <a:effectLst/>
                <a:latin typeface="KaTeX_Math"/>
              </a:rPr>
              <a:t>i</a:t>
            </a:r>
            <a:r>
              <a:rPr lang="en-IN" b="0" i="0" dirty="0">
                <a:effectLst/>
                <a:latin typeface="KaTeX_Main"/>
              </a:rPr>
              <a:t>​=</a:t>
            </a:r>
            <a:r>
              <a:rPr lang="el-GR" b="0" i="1" dirty="0">
                <a:effectLst/>
                <a:latin typeface="KaTeX_Math"/>
              </a:rPr>
              <a:t>γ</a:t>
            </a:r>
            <a:r>
              <a:rPr lang="en-IN" b="0" i="1" dirty="0" err="1">
                <a:effectLst/>
                <a:latin typeface="KaTeX_Math"/>
              </a:rPr>
              <a:t>x</a:t>
            </a:r>
            <a:r>
              <a:rPr lang="en-IN" b="0" i="0" dirty="0" err="1">
                <a:effectLst/>
                <a:latin typeface="KaTeX_Main"/>
              </a:rPr>
              <a:t>^</a:t>
            </a:r>
            <a:r>
              <a:rPr lang="en-IN" b="0" i="1" baseline="-25000" dirty="0" err="1">
                <a:effectLst/>
                <a:latin typeface="KaTeX_Math"/>
              </a:rPr>
              <a:t>i</a:t>
            </a:r>
            <a:r>
              <a:rPr lang="en-IN" b="0" i="0" dirty="0">
                <a:effectLst/>
                <a:latin typeface="KaTeX_Main"/>
              </a:rPr>
              <a:t>​+</a:t>
            </a:r>
            <a:r>
              <a:rPr lang="el-GR" b="0" i="1" dirty="0">
                <a:effectLst/>
                <a:latin typeface="KaTeX_Math"/>
              </a:rPr>
              <a:t>β</a:t>
            </a:r>
            <a:r>
              <a:rPr lang="el-GR" b="0" i="0" dirty="0">
                <a:effectLst/>
                <a:latin typeface="Söhne"/>
              </a:rPr>
              <a:t> </a:t>
            </a:r>
            <a:r>
              <a:rPr lang="en-IN" b="0" i="0" dirty="0">
                <a:effectLst/>
                <a:latin typeface="Söhne"/>
              </a:rPr>
              <a:t>where </a:t>
            </a:r>
            <a:r>
              <a:rPr lang="el-GR" b="0" i="1" dirty="0">
                <a:effectLst/>
                <a:latin typeface="KaTeX_Math"/>
              </a:rPr>
              <a:t>γ</a:t>
            </a:r>
            <a:r>
              <a:rPr lang="el-GR" b="0" i="0" dirty="0">
                <a:effectLst/>
                <a:latin typeface="Söhne"/>
              </a:rPr>
              <a:t> </a:t>
            </a:r>
            <a:r>
              <a:rPr lang="en-IN" b="0" i="0" dirty="0">
                <a:effectLst/>
                <a:latin typeface="Söhne"/>
              </a:rPr>
              <a:t>and </a:t>
            </a:r>
            <a:r>
              <a:rPr lang="el-GR" b="0" i="1" dirty="0">
                <a:effectLst/>
                <a:latin typeface="KaTeX_Math"/>
              </a:rPr>
              <a:t>β</a:t>
            </a:r>
            <a:r>
              <a:rPr lang="el-GR" b="0" i="0" dirty="0">
                <a:effectLst/>
                <a:latin typeface="Söhne"/>
              </a:rPr>
              <a:t> </a:t>
            </a:r>
            <a:r>
              <a:rPr lang="en-IN" b="0" i="0" dirty="0">
                <a:effectLst/>
                <a:latin typeface="Söhne"/>
              </a:rPr>
              <a:t>are learnable parameters.</a:t>
            </a:r>
          </a:p>
          <a:p>
            <a:endParaRPr lang="en-US" dirty="0"/>
          </a:p>
        </p:txBody>
      </p:sp>
    </p:spTree>
    <p:extLst>
      <p:ext uri="{BB962C8B-B14F-4D97-AF65-F5344CB8AC3E}">
        <p14:creationId xmlns:p14="http://schemas.microsoft.com/office/powerpoint/2010/main" val="3534453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B2F85-F3F5-0168-CC5A-4DD67C3FAA63}"/>
              </a:ext>
            </a:extLst>
          </p:cNvPr>
          <p:cNvSpPr>
            <a:spLocks noGrp="1"/>
          </p:cNvSpPr>
          <p:nvPr>
            <p:ph type="title"/>
          </p:nvPr>
        </p:nvSpPr>
        <p:spPr/>
        <p:txBody>
          <a:bodyPr/>
          <a:lstStyle/>
          <a:p>
            <a:r>
              <a:rPr lang="en-IN" b="1" i="0" dirty="0">
                <a:effectLst/>
                <a:latin typeface="Söhne"/>
              </a:rPr>
              <a:t>Example</a:t>
            </a:r>
            <a:endParaRPr lang="en-US" dirty="0"/>
          </a:p>
        </p:txBody>
      </p:sp>
      <p:sp>
        <p:nvSpPr>
          <p:cNvPr id="3" name="Content Placeholder 2">
            <a:extLst>
              <a:ext uri="{FF2B5EF4-FFF2-40B4-BE49-F238E27FC236}">
                <a16:creationId xmlns:a16="http://schemas.microsoft.com/office/drawing/2014/main" id="{D0125F51-0BE2-E7F6-F6ED-74B47FF05984}"/>
              </a:ext>
            </a:extLst>
          </p:cNvPr>
          <p:cNvSpPr>
            <a:spLocks noGrp="1"/>
          </p:cNvSpPr>
          <p:nvPr>
            <p:ph idx="1"/>
          </p:nvPr>
        </p:nvSpPr>
        <p:spPr/>
        <p:txBody>
          <a:bodyPr>
            <a:normAutofit fontScale="85000" lnSpcReduction="20000"/>
          </a:bodyPr>
          <a:lstStyle/>
          <a:p>
            <a:r>
              <a:rPr lang="en-IN" b="0" i="0" dirty="0">
                <a:effectLst/>
                <a:latin typeface="Söhne"/>
              </a:rPr>
              <a:t>Imagine you have a mini-batch of data going into a layer, and the activations of the previous layer for this mini-batch are: </a:t>
            </a:r>
            <a:r>
              <a:rPr lang="en-IN" b="0" i="0" dirty="0">
                <a:effectLst/>
                <a:latin typeface="KaTeX_Main"/>
              </a:rPr>
              <a:t>[1,2,3,4,5][1,2,3,4,5]</a:t>
            </a:r>
          </a:p>
          <a:p>
            <a:r>
              <a:rPr lang="en-IN" b="1" i="0" dirty="0">
                <a:effectLst/>
                <a:latin typeface="Söhne"/>
              </a:rPr>
              <a:t>Compute Mean and Variance</a:t>
            </a:r>
            <a:r>
              <a:rPr lang="en-IN" b="0" i="0" dirty="0">
                <a:effectLst/>
                <a:latin typeface="Söhne"/>
              </a:rPr>
              <a:t>: Mean </a:t>
            </a:r>
            <a:r>
              <a:rPr lang="el-GR" b="0" i="1" dirty="0">
                <a:effectLst/>
                <a:latin typeface="KaTeX_Math"/>
              </a:rPr>
              <a:t>μ</a:t>
            </a:r>
            <a:r>
              <a:rPr lang="en-IN" b="0" i="1" baseline="-25000" dirty="0">
                <a:effectLst/>
                <a:latin typeface="KaTeX_Math"/>
              </a:rPr>
              <a:t>B</a:t>
            </a:r>
            <a:r>
              <a:rPr lang="en-IN" b="0" i="0" dirty="0">
                <a:effectLst/>
                <a:latin typeface="KaTeX_Main"/>
              </a:rPr>
              <a:t>​=3</a:t>
            </a:r>
            <a:r>
              <a:rPr lang="en-IN" b="0" i="0" dirty="0">
                <a:effectLst/>
                <a:latin typeface="Söhne"/>
              </a:rPr>
              <a:t> Variance </a:t>
            </a:r>
            <a:r>
              <a:rPr lang="el-GR" b="0" i="1" dirty="0">
                <a:effectLst/>
                <a:latin typeface="KaTeX_Math"/>
              </a:rPr>
              <a:t>σ</a:t>
            </a:r>
            <a:r>
              <a:rPr lang="en-US" b="0" i="1" baseline="30000" dirty="0">
                <a:effectLst/>
                <a:latin typeface="KaTeX_Math"/>
              </a:rPr>
              <a:t>2</a:t>
            </a:r>
            <a:r>
              <a:rPr lang="en-IN" b="0" i="1" baseline="-25000" dirty="0">
                <a:effectLst/>
                <a:latin typeface="KaTeX_Math"/>
              </a:rPr>
              <a:t>B </a:t>
            </a:r>
            <a:r>
              <a:rPr lang="en-IN" b="0" i="0" dirty="0">
                <a:effectLst/>
                <a:latin typeface="KaTeX_Main"/>
              </a:rPr>
              <a:t>=2.5</a:t>
            </a:r>
            <a:endParaRPr lang="en-IN" b="0" i="0" dirty="0">
              <a:effectLst/>
              <a:latin typeface="Söhne"/>
            </a:endParaRPr>
          </a:p>
          <a:p>
            <a:r>
              <a:rPr lang="en-IN" b="1" i="0" dirty="0">
                <a:effectLst/>
                <a:latin typeface="Söhne"/>
              </a:rPr>
              <a:t>Normalize</a:t>
            </a:r>
            <a:r>
              <a:rPr lang="en-IN" b="0" i="0" dirty="0">
                <a:effectLst/>
                <a:latin typeface="Söhne"/>
              </a:rPr>
              <a:t>: Using the formula above, the normalized activations become: </a:t>
            </a:r>
            <a:r>
              <a:rPr lang="en-IN" b="0" i="0" dirty="0">
                <a:effectLst/>
                <a:latin typeface="KaTeX_Main"/>
              </a:rPr>
              <a:t>[−1.3416,−0.6708,0,0.6708,1.3416][−1.3416,−0.6708,0,0.6708,1.3416]</a:t>
            </a:r>
            <a:endParaRPr lang="en-IN" b="0" i="0" dirty="0">
              <a:effectLst/>
              <a:latin typeface="Söhne"/>
            </a:endParaRPr>
          </a:p>
          <a:p>
            <a:r>
              <a:rPr lang="en-IN" b="1" i="0" dirty="0">
                <a:effectLst/>
                <a:latin typeface="Söhne"/>
              </a:rPr>
              <a:t>Scale and Shift</a:t>
            </a:r>
            <a:r>
              <a:rPr lang="en-IN" b="0" i="0" dirty="0">
                <a:effectLst/>
                <a:latin typeface="Söhne"/>
              </a:rPr>
              <a:t>: Let's assume </a:t>
            </a:r>
            <a:r>
              <a:rPr lang="el-GR" b="0" i="1" dirty="0">
                <a:effectLst/>
                <a:latin typeface="KaTeX_Math"/>
              </a:rPr>
              <a:t>γ</a:t>
            </a:r>
            <a:r>
              <a:rPr lang="el-GR" b="0" i="0" dirty="0">
                <a:effectLst/>
                <a:latin typeface="KaTeX_Main"/>
              </a:rPr>
              <a:t>=2</a:t>
            </a:r>
            <a:r>
              <a:rPr lang="el-GR" b="0" i="0" dirty="0">
                <a:effectLst/>
                <a:latin typeface="Söhne"/>
              </a:rPr>
              <a:t> </a:t>
            </a:r>
            <a:r>
              <a:rPr lang="en-IN" b="0" i="0" dirty="0">
                <a:effectLst/>
                <a:latin typeface="Söhne"/>
              </a:rPr>
              <a:t>and </a:t>
            </a:r>
            <a:r>
              <a:rPr lang="el-GR" b="0" i="1" dirty="0">
                <a:effectLst/>
                <a:latin typeface="KaTeX_Math"/>
              </a:rPr>
              <a:t>β</a:t>
            </a:r>
            <a:r>
              <a:rPr lang="el-GR" b="0" i="0" dirty="0">
                <a:effectLst/>
                <a:latin typeface="KaTeX_Main"/>
              </a:rPr>
              <a:t>=3</a:t>
            </a:r>
            <a:r>
              <a:rPr lang="el-GR" b="0" i="0" dirty="0">
                <a:effectLst/>
                <a:latin typeface="Söhne"/>
              </a:rPr>
              <a:t> (</a:t>
            </a:r>
            <a:r>
              <a:rPr lang="en-IN" b="0" i="0" dirty="0">
                <a:effectLst/>
                <a:latin typeface="Söhne"/>
              </a:rPr>
              <a:t>in practice, these are learned from data). Using the scale and shift formula, the final values become: </a:t>
            </a:r>
            <a:r>
              <a:rPr lang="en-IN" b="0" i="0" dirty="0">
                <a:effectLst/>
                <a:latin typeface="KaTeX_Main"/>
              </a:rPr>
              <a:t>[0.3168,1.6584,3,4.3416,5.6832][0.3168,1.6584,3,4.3416,5.6832]</a:t>
            </a:r>
            <a:endParaRPr lang="en-IN" b="0" i="0" dirty="0">
              <a:effectLst/>
              <a:latin typeface="Söhne"/>
            </a:endParaRPr>
          </a:p>
          <a:p>
            <a:pPr marL="0" indent="0">
              <a:buNone/>
            </a:pPr>
            <a:endParaRPr lang="en-IN" dirty="0"/>
          </a:p>
          <a:p>
            <a:pPr marL="0" indent="0">
              <a:buNone/>
            </a:pPr>
            <a:r>
              <a:rPr lang="en-IN" b="0" i="0" dirty="0">
                <a:effectLst/>
                <a:latin typeface="Söhne"/>
              </a:rPr>
              <a:t>During inference (i.e., when the model is being evaluated or deployed for predictions), the batch mean and variance are replaced by estimates of the entire training dataset's mean and variance, which are computed during training.</a:t>
            </a:r>
            <a:br>
              <a:rPr lang="en-IN" dirty="0"/>
            </a:br>
            <a:endParaRPr lang="en-US" dirty="0"/>
          </a:p>
        </p:txBody>
      </p:sp>
    </p:spTree>
    <p:extLst>
      <p:ext uri="{BB962C8B-B14F-4D97-AF65-F5344CB8AC3E}">
        <p14:creationId xmlns:p14="http://schemas.microsoft.com/office/powerpoint/2010/main" val="4281245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AF166-0B70-3B34-5CE0-833E988F4CBA}"/>
              </a:ext>
            </a:extLst>
          </p:cNvPr>
          <p:cNvSpPr>
            <a:spLocks noGrp="1"/>
          </p:cNvSpPr>
          <p:nvPr>
            <p:ph type="title"/>
          </p:nvPr>
        </p:nvSpPr>
        <p:spPr/>
        <p:txBody>
          <a:bodyPr/>
          <a:lstStyle/>
          <a:p>
            <a:r>
              <a:rPr lang="en-IN" b="1" i="0" dirty="0">
                <a:effectLst/>
                <a:latin typeface="Söhne"/>
              </a:rPr>
              <a:t>Benefits</a:t>
            </a:r>
            <a:endParaRPr lang="en-US" dirty="0"/>
          </a:p>
        </p:txBody>
      </p:sp>
      <p:sp>
        <p:nvSpPr>
          <p:cNvPr id="3" name="Content Placeholder 2">
            <a:extLst>
              <a:ext uri="{FF2B5EF4-FFF2-40B4-BE49-F238E27FC236}">
                <a16:creationId xmlns:a16="http://schemas.microsoft.com/office/drawing/2014/main" id="{2AB9C927-A9BD-93A4-8C73-6D1AD6336BAE}"/>
              </a:ext>
            </a:extLst>
          </p:cNvPr>
          <p:cNvSpPr>
            <a:spLocks noGrp="1"/>
          </p:cNvSpPr>
          <p:nvPr>
            <p:ph idx="1"/>
          </p:nvPr>
        </p:nvSpPr>
        <p:spPr/>
        <p:txBody>
          <a:bodyPr/>
          <a:lstStyle/>
          <a:p>
            <a:pPr algn="l">
              <a:buFont typeface="+mj-lt"/>
              <a:buAutoNum type="arabicPeriod"/>
            </a:pPr>
            <a:r>
              <a:rPr lang="en-IN" b="1" i="0" dirty="0">
                <a:effectLst/>
                <a:latin typeface="Söhne"/>
              </a:rPr>
              <a:t>Faster Convergence</a:t>
            </a:r>
            <a:r>
              <a:rPr lang="en-IN" b="0" i="0" dirty="0">
                <a:effectLst/>
                <a:latin typeface="Söhne"/>
              </a:rPr>
              <a:t>: Normalizing activations can help the optimizer converge faster.</a:t>
            </a:r>
          </a:p>
          <a:p>
            <a:pPr algn="l">
              <a:buFont typeface="+mj-lt"/>
              <a:buAutoNum type="arabicPeriod"/>
            </a:pPr>
            <a:r>
              <a:rPr lang="en-IN" b="1" i="0" dirty="0">
                <a:effectLst/>
                <a:latin typeface="Söhne"/>
              </a:rPr>
              <a:t>Allows Higher Learning Rates</a:t>
            </a:r>
            <a:r>
              <a:rPr lang="en-IN" b="0" i="0" dirty="0">
                <a:effectLst/>
                <a:latin typeface="Söhne"/>
              </a:rPr>
              <a:t>: Since it prevents activations from reaching extremely high or low values, it allows the use of higher learning rates without the risk of divergence.</a:t>
            </a:r>
          </a:p>
          <a:p>
            <a:pPr algn="l">
              <a:buFont typeface="+mj-lt"/>
              <a:buAutoNum type="arabicPeriod"/>
            </a:pPr>
            <a:r>
              <a:rPr lang="en-IN" b="1" i="0" dirty="0">
                <a:effectLst/>
                <a:latin typeface="Söhne"/>
              </a:rPr>
              <a:t>Reduces Sensitivity to Initialization</a:t>
            </a:r>
            <a:r>
              <a:rPr lang="en-IN" b="0" i="0" dirty="0">
                <a:effectLst/>
                <a:latin typeface="Söhne"/>
              </a:rPr>
              <a:t>: With </a:t>
            </a:r>
            <a:r>
              <a:rPr lang="en-IN" b="0" i="0" dirty="0" err="1">
                <a:effectLst/>
                <a:latin typeface="Söhne"/>
              </a:rPr>
              <a:t>BatchNorm</a:t>
            </a:r>
            <a:r>
              <a:rPr lang="en-IN" b="0" i="0" dirty="0">
                <a:effectLst/>
                <a:latin typeface="Söhne"/>
              </a:rPr>
              <a:t>, you don't need to be as careful about choosing initial weights.</a:t>
            </a:r>
          </a:p>
          <a:p>
            <a:pPr algn="l">
              <a:buFont typeface="+mj-lt"/>
              <a:buAutoNum type="arabicPeriod"/>
            </a:pPr>
            <a:r>
              <a:rPr lang="en-IN" b="1" i="0" dirty="0">
                <a:effectLst/>
                <a:latin typeface="Söhne"/>
              </a:rPr>
              <a:t>Acts as a </a:t>
            </a:r>
            <a:r>
              <a:rPr lang="en-IN" b="1" i="0" dirty="0" err="1">
                <a:effectLst/>
                <a:latin typeface="Söhne"/>
              </a:rPr>
              <a:t>Regularizer</a:t>
            </a:r>
            <a:r>
              <a:rPr lang="en-IN" b="0" i="0" dirty="0">
                <a:effectLst/>
                <a:latin typeface="Söhne"/>
              </a:rPr>
              <a:t>: It introduces a slight noise during training, providing a mild regularizing effect, which can reduce the need for other regularization techniques like dropout.</a:t>
            </a:r>
          </a:p>
          <a:p>
            <a:endParaRPr lang="en-US" dirty="0"/>
          </a:p>
        </p:txBody>
      </p:sp>
    </p:spTree>
    <p:extLst>
      <p:ext uri="{BB962C8B-B14F-4D97-AF65-F5344CB8AC3E}">
        <p14:creationId xmlns:p14="http://schemas.microsoft.com/office/powerpoint/2010/main" val="13461255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558B-F344-199E-3A5F-68E53E9BE675}"/>
              </a:ext>
            </a:extLst>
          </p:cNvPr>
          <p:cNvSpPr>
            <a:spLocks noGrp="1"/>
          </p:cNvSpPr>
          <p:nvPr>
            <p:ph type="title"/>
          </p:nvPr>
        </p:nvSpPr>
        <p:spPr/>
        <p:txBody>
          <a:bodyPr/>
          <a:lstStyle/>
          <a:p>
            <a:r>
              <a:rPr lang="en-IN" b="1" i="0" dirty="0">
                <a:effectLst/>
                <a:latin typeface="Söhne"/>
              </a:rPr>
              <a:t>Weight Decay (L2 Regularization)</a:t>
            </a:r>
            <a:endParaRPr lang="en-US" dirty="0"/>
          </a:p>
        </p:txBody>
      </p:sp>
      <p:sp>
        <p:nvSpPr>
          <p:cNvPr id="3" name="Content Placeholder 2">
            <a:extLst>
              <a:ext uri="{FF2B5EF4-FFF2-40B4-BE49-F238E27FC236}">
                <a16:creationId xmlns:a16="http://schemas.microsoft.com/office/drawing/2014/main" id="{AEB0CC71-ACC4-D01A-E322-A5F6976D90EC}"/>
              </a:ext>
            </a:extLst>
          </p:cNvPr>
          <p:cNvSpPr>
            <a:spLocks noGrp="1"/>
          </p:cNvSpPr>
          <p:nvPr>
            <p:ph idx="1"/>
          </p:nvPr>
        </p:nvSpPr>
        <p:spPr/>
        <p:txBody>
          <a:bodyPr/>
          <a:lstStyle/>
          <a:p>
            <a:r>
              <a:rPr lang="en-IN" dirty="0">
                <a:effectLst/>
              </a:rPr>
              <a:t>Weight decay is one of the most commonly used forms of regularization in neural networks. It's essentially a penalty on the magnitude of the weights in the model. The idea is to prevent the weights from becoming too large, which can lead to overfitting.</a:t>
            </a:r>
          </a:p>
          <a:p>
            <a:endParaRPr lang="en-US" dirty="0"/>
          </a:p>
        </p:txBody>
      </p:sp>
    </p:spTree>
    <p:extLst>
      <p:ext uri="{BB962C8B-B14F-4D97-AF65-F5344CB8AC3E}">
        <p14:creationId xmlns:p14="http://schemas.microsoft.com/office/powerpoint/2010/main" val="1983148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D4E4-AD2D-EBC7-6C0D-34CEA32DE7FA}"/>
              </a:ext>
            </a:extLst>
          </p:cNvPr>
          <p:cNvSpPr>
            <a:spLocks noGrp="1"/>
          </p:cNvSpPr>
          <p:nvPr>
            <p:ph type="title"/>
          </p:nvPr>
        </p:nvSpPr>
        <p:spPr/>
        <p:txBody>
          <a:bodyPr/>
          <a:lstStyle/>
          <a:p>
            <a:r>
              <a:rPr lang="en-IN" b="1" i="0" dirty="0">
                <a:effectLst/>
                <a:latin typeface="Söhne"/>
              </a:rPr>
              <a:t>Weight Decay (L2 Regularization)</a:t>
            </a:r>
            <a:endParaRPr lang="en-US" dirty="0"/>
          </a:p>
        </p:txBody>
      </p:sp>
      <p:sp>
        <p:nvSpPr>
          <p:cNvPr id="3" name="Content Placeholder 2">
            <a:extLst>
              <a:ext uri="{FF2B5EF4-FFF2-40B4-BE49-F238E27FC236}">
                <a16:creationId xmlns:a16="http://schemas.microsoft.com/office/drawing/2014/main" id="{80FA49CF-C3FF-78D7-8612-E03EB5ADBB28}"/>
              </a:ext>
            </a:extLst>
          </p:cNvPr>
          <p:cNvSpPr>
            <a:spLocks noGrp="1"/>
          </p:cNvSpPr>
          <p:nvPr>
            <p:ph idx="1"/>
          </p:nvPr>
        </p:nvSpPr>
        <p:spPr/>
        <p:txBody>
          <a:bodyPr>
            <a:normAutofit fontScale="92500" lnSpcReduction="20000"/>
          </a:bodyPr>
          <a:lstStyle/>
          <a:p>
            <a:pPr marL="0" indent="0">
              <a:buNone/>
            </a:pPr>
            <a:r>
              <a:rPr lang="en-IN" dirty="0">
                <a:effectLst/>
              </a:rPr>
              <a:t>Mathematically, weight decay involves adding a term to the loss function that is proportional to the sum of the squared values of the weights. This term encourages the model to keep the weights small. The loss function with weight decay is given by: </a:t>
            </a:r>
            <a:r>
              <a:rPr lang="en-IN" i="1" dirty="0">
                <a:effectLst/>
                <a:latin typeface="KaTeX_Math"/>
              </a:rPr>
              <a:t>L</a:t>
            </a:r>
            <a:r>
              <a:rPr lang="en-IN" dirty="0">
                <a:effectLst/>
                <a:latin typeface="KaTeX_Main"/>
              </a:rPr>
              <a:t>=</a:t>
            </a:r>
            <a:r>
              <a:rPr lang="en-IN" i="1" dirty="0">
                <a:effectLst/>
                <a:latin typeface="KaTeX_Math"/>
              </a:rPr>
              <a:t>L</a:t>
            </a:r>
            <a:r>
              <a:rPr lang="en-IN" baseline="-25000" dirty="0">
                <a:effectLst/>
                <a:latin typeface="KaTeX_Main"/>
              </a:rPr>
              <a:t>0</a:t>
            </a:r>
            <a:r>
              <a:rPr lang="en-IN" dirty="0">
                <a:effectLst/>
                <a:latin typeface="KaTeX_Main"/>
              </a:rPr>
              <a:t>​+</a:t>
            </a:r>
            <a:r>
              <a:rPr lang="el-GR" i="1" dirty="0">
                <a:effectLst/>
                <a:latin typeface="KaTeX_Math"/>
              </a:rPr>
              <a:t>λ</a:t>
            </a:r>
            <a:r>
              <a:rPr lang="el-GR" dirty="0">
                <a:effectLst/>
                <a:latin typeface="KaTeX_Size1"/>
              </a:rPr>
              <a:t>∑</a:t>
            </a:r>
            <a:r>
              <a:rPr lang="en-IN" i="1" baseline="-25000" dirty="0" err="1">
                <a:effectLst/>
                <a:latin typeface="KaTeX_Math"/>
              </a:rPr>
              <a:t>i</a:t>
            </a:r>
            <a:r>
              <a:rPr lang="en-IN" dirty="0">
                <a:effectLst/>
                <a:latin typeface="KaTeX_Main"/>
              </a:rPr>
              <a:t>​</a:t>
            </a:r>
            <a:r>
              <a:rPr lang="en-IN" i="1" dirty="0">
                <a:effectLst/>
                <a:latin typeface="KaTeX_Math"/>
              </a:rPr>
              <a:t>w</a:t>
            </a:r>
            <a:r>
              <a:rPr lang="en-IN" i="1" baseline="30000" dirty="0">
                <a:effectLst/>
                <a:latin typeface="KaTeX_Math"/>
              </a:rPr>
              <a:t>2</a:t>
            </a:r>
            <a:r>
              <a:rPr lang="en-IN" i="1" baseline="-25000" dirty="0">
                <a:latin typeface="KaTeX_Math"/>
              </a:rPr>
              <a:t>i</a:t>
            </a:r>
            <a:r>
              <a:rPr lang="en-IN" b="0" i="0" dirty="0">
                <a:effectLst/>
                <a:latin typeface="KaTeX_Main"/>
              </a:rPr>
              <a:t>​</a:t>
            </a:r>
            <a:br>
              <a:rPr lang="en-IN" b="0" i="0" dirty="0">
                <a:effectLst/>
                <a:latin typeface="KaTeX_Main"/>
              </a:rPr>
            </a:br>
            <a:endParaRPr lang="en-IN" dirty="0">
              <a:effectLst/>
            </a:endParaRPr>
          </a:p>
          <a:p>
            <a:pPr marL="0" indent="0" algn="l">
              <a:buNone/>
            </a:pPr>
            <a:r>
              <a:rPr lang="en-IN" b="0" i="0" dirty="0">
                <a:effectLst/>
                <a:latin typeface="Söhne"/>
              </a:rPr>
              <a:t>Where:</a:t>
            </a:r>
          </a:p>
          <a:p>
            <a:pPr algn="l">
              <a:buFont typeface="Arial" panose="020B0604020202020204" pitchFamily="34" charset="0"/>
              <a:buChar char="•"/>
            </a:pPr>
            <a:r>
              <a:rPr lang="en-IN" b="0" i="1" dirty="0">
                <a:effectLst/>
                <a:latin typeface="KaTeX_Math"/>
              </a:rPr>
              <a:t>L</a:t>
            </a:r>
            <a:r>
              <a:rPr lang="en-IN" b="0" i="0" dirty="0">
                <a:effectLst/>
                <a:latin typeface="Söhne"/>
              </a:rPr>
              <a:t> is the total loss.</a:t>
            </a:r>
          </a:p>
          <a:p>
            <a:pPr algn="l">
              <a:buFont typeface="Arial" panose="020B0604020202020204" pitchFamily="34" charset="0"/>
              <a:buChar char="•"/>
            </a:pPr>
            <a:r>
              <a:rPr lang="en-IN" b="0" i="1" dirty="0">
                <a:effectLst/>
                <a:latin typeface="KaTeX_Math"/>
              </a:rPr>
              <a:t>L</a:t>
            </a:r>
            <a:r>
              <a:rPr lang="en-IN" b="0" i="0" baseline="-25000" dirty="0">
                <a:effectLst/>
                <a:latin typeface="KaTeX_Main"/>
              </a:rPr>
              <a:t>0</a:t>
            </a:r>
            <a:r>
              <a:rPr lang="en-IN" b="0" i="0" dirty="0">
                <a:effectLst/>
                <a:latin typeface="KaTeX_Main"/>
              </a:rPr>
              <a:t>​</a:t>
            </a:r>
            <a:r>
              <a:rPr lang="en-IN" b="0" i="0" dirty="0">
                <a:effectLst/>
                <a:latin typeface="Söhne"/>
              </a:rPr>
              <a:t> is the original loss without regularization (e.g., mean squared error for regression, cross-entropy for classification).</a:t>
            </a:r>
          </a:p>
          <a:p>
            <a:pPr algn="l">
              <a:buFont typeface="Arial" panose="020B0604020202020204" pitchFamily="34" charset="0"/>
              <a:buChar char="•"/>
            </a:pPr>
            <a:r>
              <a:rPr lang="el-GR" b="0" i="1" dirty="0">
                <a:effectLst/>
                <a:latin typeface="KaTeX_Math"/>
              </a:rPr>
              <a:t>λ</a:t>
            </a:r>
            <a:r>
              <a:rPr lang="el-GR" b="0" i="0" dirty="0">
                <a:effectLst/>
                <a:latin typeface="Söhne"/>
              </a:rPr>
              <a:t> </a:t>
            </a:r>
            <a:r>
              <a:rPr lang="en-IN" b="0" i="0" dirty="0">
                <a:effectLst/>
                <a:latin typeface="Söhne"/>
              </a:rPr>
              <a:t>is the weight decay coefficient or regularization strength. A larger value of </a:t>
            </a:r>
            <a:r>
              <a:rPr lang="el-GR" b="0" i="1" dirty="0">
                <a:effectLst/>
                <a:latin typeface="KaTeX_Math"/>
              </a:rPr>
              <a:t>λ</a:t>
            </a:r>
            <a:r>
              <a:rPr lang="el-GR" b="0" i="0" dirty="0">
                <a:effectLst/>
                <a:latin typeface="Söhne"/>
              </a:rPr>
              <a:t> </a:t>
            </a:r>
            <a:r>
              <a:rPr lang="en-IN" b="0" i="0" dirty="0">
                <a:effectLst/>
                <a:latin typeface="Söhne"/>
              </a:rPr>
              <a:t>applies more penalty to the weights.</a:t>
            </a:r>
          </a:p>
          <a:p>
            <a:pPr algn="l">
              <a:buFont typeface="Arial" panose="020B0604020202020204" pitchFamily="34" charset="0"/>
              <a:buChar char="•"/>
            </a:pPr>
            <a:r>
              <a:rPr lang="en-IN" b="0" i="1" dirty="0" err="1">
                <a:effectLst/>
                <a:latin typeface="KaTeX_Math"/>
              </a:rPr>
              <a:t>w</a:t>
            </a:r>
            <a:r>
              <a:rPr lang="en-IN" b="0" i="1" baseline="-25000" dirty="0" err="1">
                <a:effectLst/>
                <a:latin typeface="KaTeX_Math"/>
              </a:rPr>
              <a:t>i</a:t>
            </a:r>
            <a:r>
              <a:rPr lang="en-IN" b="0" i="0" dirty="0">
                <a:effectLst/>
                <a:latin typeface="KaTeX_Main"/>
              </a:rPr>
              <a:t>​</a:t>
            </a:r>
            <a:r>
              <a:rPr lang="en-IN" b="0" i="0" dirty="0">
                <a:effectLst/>
                <a:latin typeface="Söhne"/>
              </a:rPr>
              <a:t> represents each weight in the model.</a:t>
            </a:r>
          </a:p>
          <a:p>
            <a:endParaRPr lang="en-US" dirty="0"/>
          </a:p>
        </p:txBody>
      </p:sp>
    </p:spTree>
    <p:extLst>
      <p:ext uri="{BB962C8B-B14F-4D97-AF65-F5344CB8AC3E}">
        <p14:creationId xmlns:p14="http://schemas.microsoft.com/office/powerpoint/2010/main" val="3578536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368FA-36F7-AA66-A022-9DCA041E6C68}"/>
              </a:ext>
            </a:extLst>
          </p:cNvPr>
          <p:cNvSpPr>
            <a:spLocks noGrp="1"/>
          </p:cNvSpPr>
          <p:nvPr>
            <p:ph type="title"/>
          </p:nvPr>
        </p:nvSpPr>
        <p:spPr/>
        <p:txBody>
          <a:bodyPr/>
          <a:lstStyle/>
          <a:p>
            <a:r>
              <a:rPr lang="en-IN" b="1" i="0" dirty="0">
                <a:effectLst/>
                <a:latin typeface="Söhne"/>
              </a:rPr>
              <a:t>Benefits of Weight Decay</a:t>
            </a:r>
            <a:endParaRPr lang="en-US" dirty="0"/>
          </a:p>
        </p:txBody>
      </p:sp>
      <p:sp>
        <p:nvSpPr>
          <p:cNvPr id="3" name="Content Placeholder 2">
            <a:extLst>
              <a:ext uri="{FF2B5EF4-FFF2-40B4-BE49-F238E27FC236}">
                <a16:creationId xmlns:a16="http://schemas.microsoft.com/office/drawing/2014/main" id="{0F7C4917-2D56-4A62-D697-6017568D7A04}"/>
              </a:ext>
            </a:extLst>
          </p:cNvPr>
          <p:cNvSpPr>
            <a:spLocks noGrp="1"/>
          </p:cNvSpPr>
          <p:nvPr>
            <p:ph idx="1"/>
          </p:nvPr>
        </p:nvSpPr>
        <p:spPr/>
        <p:txBody>
          <a:bodyPr/>
          <a:lstStyle/>
          <a:p>
            <a:pPr algn="l">
              <a:buFont typeface="+mj-lt"/>
              <a:buAutoNum type="arabicPeriod"/>
            </a:pPr>
            <a:r>
              <a:rPr lang="en-IN" b="1" i="0" dirty="0">
                <a:effectLst/>
                <a:latin typeface="Söhne"/>
              </a:rPr>
              <a:t>Prevents Overfitting</a:t>
            </a:r>
            <a:r>
              <a:rPr lang="en-IN" b="0" i="0" dirty="0">
                <a:effectLst/>
                <a:latin typeface="Söhne"/>
              </a:rPr>
              <a:t>: By penalizing large weights, weight decay can prevent the model from fitting noise in the training data.</a:t>
            </a:r>
          </a:p>
          <a:p>
            <a:pPr algn="l">
              <a:buFont typeface="+mj-lt"/>
              <a:buAutoNum type="arabicPeriod"/>
            </a:pPr>
            <a:r>
              <a:rPr lang="en-IN" b="1" i="0" dirty="0">
                <a:effectLst/>
                <a:latin typeface="Söhne"/>
              </a:rPr>
              <a:t>Stabilizes Training</a:t>
            </a:r>
            <a:r>
              <a:rPr lang="en-IN" b="0" i="0" dirty="0">
                <a:effectLst/>
                <a:latin typeface="Söhne"/>
              </a:rPr>
              <a:t>: Weight decay can also stabilize the training process by preventing weights from growing very large and leading to exploding gradients</a:t>
            </a:r>
          </a:p>
          <a:p>
            <a:endParaRPr lang="en-US" dirty="0"/>
          </a:p>
        </p:txBody>
      </p:sp>
    </p:spTree>
    <p:extLst>
      <p:ext uri="{BB962C8B-B14F-4D97-AF65-F5344CB8AC3E}">
        <p14:creationId xmlns:p14="http://schemas.microsoft.com/office/powerpoint/2010/main" val="2861486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E664-523D-B2C3-5263-D91CE8A62D5C}"/>
              </a:ext>
            </a:extLst>
          </p:cNvPr>
          <p:cNvSpPr>
            <a:spLocks noGrp="1"/>
          </p:cNvSpPr>
          <p:nvPr>
            <p:ph type="title"/>
          </p:nvPr>
        </p:nvSpPr>
        <p:spPr/>
        <p:txBody>
          <a:bodyPr/>
          <a:lstStyle/>
          <a:p>
            <a:r>
              <a:rPr lang="en-IN" b="1" i="0" dirty="0">
                <a:effectLst/>
                <a:latin typeface="Söhne"/>
              </a:rPr>
              <a:t>How to Use</a:t>
            </a:r>
            <a:endParaRPr lang="en-US" dirty="0"/>
          </a:p>
        </p:txBody>
      </p:sp>
      <p:sp>
        <p:nvSpPr>
          <p:cNvPr id="3" name="Content Placeholder 2">
            <a:extLst>
              <a:ext uri="{FF2B5EF4-FFF2-40B4-BE49-F238E27FC236}">
                <a16:creationId xmlns:a16="http://schemas.microsoft.com/office/drawing/2014/main" id="{0B909B6E-36CE-A59E-2183-C426A5446E07}"/>
              </a:ext>
            </a:extLst>
          </p:cNvPr>
          <p:cNvSpPr>
            <a:spLocks noGrp="1"/>
          </p:cNvSpPr>
          <p:nvPr>
            <p:ph idx="1"/>
          </p:nvPr>
        </p:nvSpPr>
        <p:spPr/>
        <p:txBody>
          <a:bodyPr/>
          <a:lstStyle/>
          <a:p>
            <a:pPr marL="0" indent="0">
              <a:buNone/>
            </a:pPr>
            <a:r>
              <a:rPr lang="en-IN" b="0" i="0" dirty="0">
                <a:effectLst/>
                <a:latin typeface="Söhne Mono"/>
              </a:rPr>
              <a:t>layers.Conv2D(32, </a:t>
            </a:r>
            <a:r>
              <a:rPr lang="en-IN" b="0" i="0" dirty="0" err="1">
                <a:effectLst/>
                <a:latin typeface="Söhne Mono"/>
              </a:rPr>
              <a:t>kernel_size</a:t>
            </a:r>
            <a:r>
              <a:rPr lang="en-IN" b="0" i="0" dirty="0">
                <a:effectLst/>
                <a:latin typeface="Söhne Mono"/>
              </a:rPr>
              <a:t>=(3, 3), activation="</a:t>
            </a:r>
            <a:r>
              <a:rPr lang="en-IN" b="0" i="0" dirty="0" err="1">
                <a:effectLst/>
                <a:latin typeface="Söhne Mono"/>
              </a:rPr>
              <a:t>relu</a:t>
            </a:r>
            <a:r>
              <a:rPr lang="en-IN" b="0" i="0" dirty="0">
                <a:effectLst/>
                <a:latin typeface="Söhne Mono"/>
              </a:rPr>
              <a:t>", </a:t>
            </a:r>
            <a:r>
              <a:rPr lang="en-IN" b="0" i="0" dirty="0" err="1">
                <a:effectLst/>
                <a:latin typeface="Söhne Mono"/>
              </a:rPr>
              <a:t>kernel_regularizer</a:t>
            </a:r>
            <a:r>
              <a:rPr lang="en-IN" b="0" i="0" dirty="0">
                <a:effectLst/>
                <a:latin typeface="Söhne Mono"/>
              </a:rPr>
              <a:t>=regularizers.l2(0.01))</a:t>
            </a:r>
            <a:endParaRPr lang="en-US" dirty="0"/>
          </a:p>
        </p:txBody>
      </p:sp>
    </p:spTree>
    <p:extLst>
      <p:ext uri="{BB962C8B-B14F-4D97-AF65-F5344CB8AC3E}">
        <p14:creationId xmlns:p14="http://schemas.microsoft.com/office/powerpoint/2010/main" val="2644507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6EF2-FEDB-48CA-A1AE-EAE1312CE54E}"/>
              </a:ext>
            </a:extLst>
          </p:cNvPr>
          <p:cNvSpPr>
            <a:spLocks noGrp="1"/>
          </p:cNvSpPr>
          <p:nvPr>
            <p:ph type="title"/>
          </p:nvPr>
        </p:nvSpPr>
        <p:spPr/>
        <p:txBody>
          <a:bodyPr/>
          <a:lstStyle/>
          <a:p>
            <a:pPr algn="l"/>
            <a:r>
              <a:rPr lang="en-IN" b="1" i="0" dirty="0">
                <a:effectLst/>
                <a:latin typeface="Söhne"/>
              </a:rPr>
              <a:t>Loss Functions</a:t>
            </a:r>
          </a:p>
        </p:txBody>
      </p:sp>
      <p:sp>
        <p:nvSpPr>
          <p:cNvPr id="3" name="Content Placeholder 2">
            <a:extLst>
              <a:ext uri="{FF2B5EF4-FFF2-40B4-BE49-F238E27FC236}">
                <a16:creationId xmlns:a16="http://schemas.microsoft.com/office/drawing/2014/main" id="{5C8BCCA8-99EF-30A4-B836-618950C208CA}"/>
              </a:ext>
            </a:extLst>
          </p:cNvPr>
          <p:cNvSpPr>
            <a:spLocks noGrp="1"/>
          </p:cNvSpPr>
          <p:nvPr>
            <p:ph idx="1"/>
          </p:nvPr>
        </p:nvSpPr>
        <p:spPr/>
        <p:txBody>
          <a:bodyPr/>
          <a:lstStyle/>
          <a:p>
            <a:r>
              <a:rPr lang="en-IN" dirty="0"/>
              <a:t>A </a:t>
            </a:r>
            <a:r>
              <a:rPr lang="en-IN" b="1" dirty="0"/>
              <a:t>loss function</a:t>
            </a:r>
            <a:r>
              <a:rPr lang="en-IN" dirty="0"/>
              <a:t>, also known as a </a:t>
            </a:r>
            <a:r>
              <a:rPr lang="en-IN" b="1" dirty="0"/>
              <a:t>cost function</a:t>
            </a:r>
            <a:r>
              <a:rPr lang="en-IN" dirty="0"/>
              <a:t> or </a:t>
            </a:r>
            <a:r>
              <a:rPr lang="en-IN" b="1" dirty="0"/>
              <a:t>objective function</a:t>
            </a:r>
            <a:r>
              <a:rPr lang="en-IN" dirty="0"/>
              <a:t>, is a mathematical function that quantifies the difference between the predicted output of a neural network and the actual target values. It measures how well the neural network is performing in terms of predicting the expected outcomes. The loss function maps a set of model parameters (weights and biases) to a scalar value representing the "cost" associated with those parameters.</a:t>
            </a:r>
            <a:endParaRPr lang="en-US" dirty="0"/>
          </a:p>
        </p:txBody>
      </p:sp>
    </p:spTree>
    <p:extLst>
      <p:ext uri="{BB962C8B-B14F-4D97-AF65-F5344CB8AC3E}">
        <p14:creationId xmlns:p14="http://schemas.microsoft.com/office/powerpoint/2010/main" val="27502632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6AEC9-B6F9-0CEB-25BB-5AF11656DDD4}"/>
              </a:ext>
            </a:extLst>
          </p:cNvPr>
          <p:cNvSpPr>
            <a:spLocks noGrp="1"/>
          </p:cNvSpPr>
          <p:nvPr>
            <p:ph type="title"/>
          </p:nvPr>
        </p:nvSpPr>
        <p:spPr/>
        <p:txBody>
          <a:bodyPr/>
          <a:lstStyle/>
          <a:p>
            <a:r>
              <a:rPr lang="en-IN" b="1" i="0" dirty="0">
                <a:effectLst/>
                <a:latin typeface="Söhne"/>
              </a:rPr>
              <a:t>Why are Loss Functions useful?</a:t>
            </a:r>
            <a:endParaRPr lang="en-US" dirty="0"/>
          </a:p>
        </p:txBody>
      </p:sp>
      <p:sp>
        <p:nvSpPr>
          <p:cNvPr id="3" name="Content Placeholder 2">
            <a:extLst>
              <a:ext uri="{FF2B5EF4-FFF2-40B4-BE49-F238E27FC236}">
                <a16:creationId xmlns:a16="http://schemas.microsoft.com/office/drawing/2014/main" id="{A10CAD4B-7F1B-2E9A-04FE-7833C79BF174}"/>
              </a:ext>
            </a:extLst>
          </p:cNvPr>
          <p:cNvSpPr>
            <a:spLocks noGrp="1"/>
          </p:cNvSpPr>
          <p:nvPr>
            <p:ph idx="1"/>
          </p:nvPr>
        </p:nvSpPr>
        <p:spPr/>
        <p:txBody>
          <a:bodyPr>
            <a:normAutofit fontScale="92500" lnSpcReduction="10000"/>
          </a:bodyPr>
          <a:lstStyle/>
          <a:p>
            <a:pPr marL="0" indent="0">
              <a:buNone/>
            </a:pPr>
            <a:r>
              <a:rPr lang="en-IN" dirty="0"/>
              <a:t>Loss functions are fundamental to the training process of neural networks because they:</a:t>
            </a:r>
          </a:p>
          <a:p>
            <a:pPr>
              <a:buFont typeface="Arial" panose="020B0604020202020204" pitchFamily="34" charset="0"/>
              <a:buChar char="•"/>
            </a:pPr>
            <a:r>
              <a:rPr lang="en-IN" b="1" dirty="0"/>
              <a:t>Guide the Optimization Process:</a:t>
            </a:r>
            <a:r>
              <a:rPr lang="en-IN" dirty="0"/>
              <a:t> The primary goal during training is to find the set of parameters that minimize the loss function. Optimization algorithms (like Gradient Descent) use the gradients of the loss function with respect to the model parameters to update them iteratively.</a:t>
            </a:r>
          </a:p>
          <a:p>
            <a:pPr>
              <a:buFont typeface="Arial" panose="020B0604020202020204" pitchFamily="34" charset="0"/>
              <a:buChar char="•"/>
            </a:pPr>
            <a:r>
              <a:rPr lang="en-IN" b="1" dirty="0"/>
              <a:t>Quantify Model Performance:</a:t>
            </a:r>
            <a:r>
              <a:rPr lang="en-IN" dirty="0"/>
              <a:t> They provide a numerical value that represents how well the model is performing, which is essential for evaluating and improving the model during training.</a:t>
            </a:r>
          </a:p>
          <a:p>
            <a:pPr>
              <a:buFont typeface="Arial" panose="020B0604020202020204" pitchFamily="34" charset="0"/>
              <a:buChar char="•"/>
            </a:pPr>
            <a:r>
              <a:rPr lang="en-IN" b="1" dirty="0"/>
              <a:t>Drive Learning:</a:t>
            </a:r>
            <a:r>
              <a:rPr lang="en-IN" dirty="0"/>
              <a:t> By minimizing the loss function, the network learns patterns in the data that reduce the prediction errors.</a:t>
            </a:r>
          </a:p>
          <a:p>
            <a:endParaRPr lang="en-US" dirty="0"/>
          </a:p>
        </p:txBody>
      </p:sp>
    </p:spTree>
    <p:extLst>
      <p:ext uri="{BB962C8B-B14F-4D97-AF65-F5344CB8AC3E}">
        <p14:creationId xmlns:p14="http://schemas.microsoft.com/office/powerpoint/2010/main" val="3604974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8FDCC-B488-9AF7-F381-01AA6CE1B6AF}"/>
              </a:ext>
            </a:extLst>
          </p:cNvPr>
          <p:cNvSpPr>
            <a:spLocks noGrp="1"/>
          </p:cNvSpPr>
          <p:nvPr>
            <p:ph type="title"/>
          </p:nvPr>
        </p:nvSpPr>
        <p:spPr/>
        <p:txBody>
          <a:bodyPr/>
          <a:lstStyle/>
          <a:p>
            <a:r>
              <a:rPr lang="en-IN" b="1" i="0" dirty="0">
                <a:effectLst/>
                <a:latin typeface="Söhne"/>
              </a:rPr>
              <a:t>Importance of Loss Functions</a:t>
            </a:r>
            <a:endParaRPr lang="en-US" dirty="0"/>
          </a:p>
        </p:txBody>
      </p:sp>
      <p:sp>
        <p:nvSpPr>
          <p:cNvPr id="3" name="Content Placeholder 2">
            <a:extLst>
              <a:ext uri="{FF2B5EF4-FFF2-40B4-BE49-F238E27FC236}">
                <a16:creationId xmlns:a16="http://schemas.microsoft.com/office/drawing/2014/main" id="{62730167-31FB-33BC-559C-A35271D3C265}"/>
              </a:ext>
            </a:extLst>
          </p:cNvPr>
          <p:cNvSpPr>
            <a:spLocks noGrp="1"/>
          </p:cNvSpPr>
          <p:nvPr>
            <p:ph idx="1"/>
          </p:nvPr>
        </p:nvSpPr>
        <p:spPr/>
        <p:txBody>
          <a:bodyPr>
            <a:normAutofit lnSpcReduction="10000"/>
          </a:bodyPr>
          <a:lstStyle/>
          <a:p>
            <a:pPr marL="0" indent="0">
              <a:buNone/>
            </a:pPr>
            <a:r>
              <a:rPr lang="en-IN" dirty="0"/>
              <a:t>The choice of loss function is critical because:</a:t>
            </a:r>
          </a:p>
          <a:p>
            <a:pPr>
              <a:buFont typeface="Arial" panose="020B0604020202020204" pitchFamily="34" charset="0"/>
              <a:buChar char="•"/>
            </a:pPr>
            <a:r>
              <a:rPr lang="en-IN" b="1" dirty="0"/>
              <a:t>Alignment with the Problem Objective:</a:t>
            </a:r>
            <a:r>
              <a:rPr lang="en-IN" dirty="0"/>
              <a:t> The loss function should reflect the specific goals of the task (e.g., classification, regression, ranking).</a:t>
            </a:r>
          </a:p>
          <a:p>
            <a:pPr>
              <a:buFont typeface="Arial" panose="020B0604020202020204" pitchFamily="34" charset="0"/>
              <a:buChar char="•"/>
            </a:pPr>
            <a:r>
              <a:rPr lang="en-IN" b="1" dirty="0"/>
              <a:t>Impact on Convergence:</a:t>
            </a:r>
            <a:r>
              <a:rPr lang="en-IN" dirty="0"/>
              <a:t> Some loss functions lead to smoother gradients and better convergence properties.</a:t>
            </a:r>
          </a:p>
          <a:p>
            <a:pPr>
              <a:buFont typeface="Arial" panose="020B0604020202020204" pitchFamily="34" charset="0"/>
              <a:buChar char="•"/>
            </a:pPr>
            <a:r>
              <a:rPr lang="en-IN" b="1" dirty="0"/>
              <a:t>Sensitivity to Outliers:</a:t>
            </a:r>
            <a:r>
              <a:rPr lang="en-IN" dirty="0"/>
              <a:t> Certain loss functions are more robust to outliers in the data.</a:t>
            </a:r>
          </a:p>
          <a:p>
            <a:pPr>
              <a:buFont typeface="Arial" panose="020B0604020202020204" pitchFamily="34" charset="0"/>
              <a:buChar char="•"/>
            </a:pPr>
            <a:r>
              <a:rPr lang="en-IN" b="1" dirty="0"/>
              <a:t>Differentiability:</a:t>
            </a:r>
            <a:r>
              <a:rPr lang="en-IN" dirty="0"/>
              <a:t> For optimization algorithms that rely on gradients, the loss function must be differentiable.</a:t>
            </a:r>
          </a:p>
          <a:p>
            <a:endParaRPr lang="en-US" dirty="0"/>
          </a:p>
        </p:txBody>
      </p:sp>
    </p:spTree>
    <p:extLst>
      <p:ext uri="{BB962C8B-B14F-4D97-AF65-F5344CB8AC3E}">
        <p14:creationId xmlns:p14="http://schemas.microsoft.com/office/powerpoint/2010/main" val="36256309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9977-5E46-93B8-AD16-724A796B7ADB}"/>
              </a:ext>
            </a:extLst>
          </p:cNvPr>
          <p:cNvSpPr>
            <a:spLocks noGrp="1"/>
          </p:cNvSpPr>
          <p:nvPr>
            <p:ph type="title"/>
          </p:nvPr>
        </p:nvSpPr>
        <p:spPr/>
        <p:txBody>
          <a:bodyPr/>
          <a:lstStyle/>
          <a:p>
            <a:pPr marL="0" indent="0" algn="l">
              <a:buNone/>
            </a:pPr>
            <a:r>
              <a:rPr lang="en-IN" b="1" i="0" dirty="0">
                <a:effectLst/>
                <a:latin typeface="Söhne"/>
              </a:rPr>
              <a:t>Mean Squared Error (MSE) Loss:</a:t>
            </a:r>
          </a:p>
        </p:txBody>
      </p:sp>
      <p:sp>
        <p:nvSpPr>
          <p:cNvPr id="3" name="Content Placeholder 2">
            <a:extLst>
              <a:ext uri="{FF2B5EF4-FFF2-40B4-BE49-F238E27FC236}">
                <a16:creationId xmlns:a16="http://schemas.microsoft.com/office/drawing/2014/main" id="{956877C1-52BA-E904-B3BF-3DF4A82019C5}"/>
              </a:ext>
            </a:extLst>
          </p:cNvPr>
          <p:cNvSpPr>
            <a:spLocks noGrp="1"/>
          </p:cNvSpPr>
          <p:nvPr>
            <p:ph idx="1"/>
          </p:nvPr>
        </p:nvSpPr>
        <p:spPr/>
        <p:txBody>
          <a:bodyPr/>
          <a:lstStyle/>
          <a:p>
            <a:r>
              <a:rPr lang="en-IN" b="1" i="0" dirty="0">
                <a:effectLst/>
                <a:latin typeface="Söhne"/>
              </a:rPr>
              <a:t>Usage</a:t>
            </a:r>
            <a:r>
              <a:rPr lang="en-IN" b="0" i="0" dirty="0">
                <a:effectLst/>
                <a:latin typeface="Söhne"/>
              </a:rPr>
              <a:t>: Regression tasks.</a:t>
            </a:r>
          </a:p>
          <a:p>
            <a:r>
              <a:rPr lang="en-IN" b="1" i="0" dirty="0">
                <a:effectLst/>
                <a:latin typeface="Söhne"/>
              </a:rPr>
              <a:t>Formula</a:t>
            </a:r>
            <a:r>
              <a:rPr lang="en-IN" b="0" i="0" dirty="0">
                <a:effectLst/>
                <a:latin typeface="Söhne"/>
              </a:rPr>
              <a:t>: </a:t>
            </a:r>
          </a:p>
          <a:p>
            <a:r>
              <a:rPr lang="en-IN" b="1" i="0" dirty="0">
                <a:effectLst/>
                <a:latin typeface="Söhne"/>
              </a:rPr>
              <a:t>Explanation</a:t>
            </a:r>
            <a:r>
              <a:rPr lang="en-IN" b="0" i="0" dirty="0">
                <a:effectLst/>
                <a:latin typeface="Söhne"/>
              </a:rPr>
              <a:t>: It calculates the average of the squared differences between the predicted values (</a:t>
            </a:r>
            <a:r>
              <a:rPr lang="en-IN" b="0" i="0" dirty="0">
                <a:effectLst/>
                <a:latin typeface="KaTeX_Main"/>
              </a:rPr>
              <a:t>�^</a:t>
            </a:r>
            <a:r>
              <a:rPr lang="en-IN" b="0" i="1" dirty="0">
                <a:effectLst/>
                <a:latin typeface="KaTeX_Math"/>
              </a:rPr>
              <a:t>y</a:t>
            </a:r>
            <a:r>
              <a:rPr lang="en-IN" b="0" i="0" dirty="0">
                <a:effectLst/>
                <a:latin typeface="KaTeX_Main"/>
              </a:rPr>
              <a:t>^​</a:t>
            </a:r>
            <a:r>
              <a:rPr lang="en-IN" b="0" i="0" dirty="0">
                <a:effectLst/>
                <a:latin typeface="Söhne"/>
              </a:rPr>
              <a:t>) and the actual values (y). The goal is to minimize this average squared error.</a:t>
            </a:r>
          </a:p>
          <a:p>
            <a:r>
              <a:rPr lang="en-IN" b="1" i="0" dirty="0">
                <a:effectLst/>
                <a:latin typeface="Söhne"/>
              </a:rPr>
              <a:t>Example</a:t>
            </a:r>
            <a:r>
              <a:rPr lang="en-IN" b="0" i="0" dirty="0">
                <a:effectLst/>
                <a:latin typeface="Söhne"/>
              </a:rPr>
              <a:t>: Predicting house prices based on images of houses. The difference between the predicted and actual price for each house is squared and then averaged over all houses.</a:t>
            </a:r>
          </a:p>
          <a:p>
            <a:endParaRPr lang="en-US" dirty="0"/>
          </a:p>
        </p:txBody>
      </p:sp>
      <p:pic>
        <p:nvPicPr>
          <p:cNvPr id="5" name="Picture 4" descr="A symbol with a star and a mathematical equation&#10;&#10;Description automatically generated">
            <a:extLst>
              <a:ext uri="{FF2B5EF4-FFF2-40B4-BE49-F238E27FC236}">
                <a16:creationId xmlns:a16="http://schemas.microsoft.com/office/drawing/2014/main" id="{C1EBDB14-20A4-2885-AD2F-365D921967B1}"/>
              </a:ext>
            </a:extLst>
          </p:cNvPr>
          <p:cNvPicPr>
            <a:picLocks noChangeAspect="1"/>
          </p:cNvPicPr>
          <p:nvPr/>
        </p:nvPicPr>
        <p:blipFill>
          <a:blip r:embed="rId2"/>
          <a:stretch>
            <a:fillRect/>
          </a:stretch>
        </p:blipFill>
        <p:spPr>
          <a:xfrm>
            <a:off x="2643511" y="2360094"/>
            <a:ext cx="3242282" cy="447883"/>
          </a:xfrm>
          <a:prstGeom prst="rect">
            <a:avLst/>
          </a:prstGeom>
        </p:spPr>
      </p:pic>
    </p:spTree>
    <p:extLst>
      <p:ext uri="{BB962C8B-B14F-4D97-AF65-F5344CB8AC3E}">
        <p14:creationId xmlns:p14="http://schemas.microsoft.com/office/powerpoint/2010/main" val="40152035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3FE5A-BD72-C290-705B-882E9029E574}"/>
              </a:ext>
            </a:extLst>
          </p:cNvPr>
          <p:cNvSpPr>
            <a:spLocks noGrp="1"/>
          </p:cNvSpPr>
          <p:nvPr>
            <p:ph type="title"/>
          </p:nvPr>
        </p:nvSpPr>
        <p:spPr/>
        <p:txBody>
          <a:bodyPr/>
          <a:lstStyle/>
          <a:p>
            <a:r>
              <a:rPr lang="en-IN" b="1" i="0" dirty="0">
                <a:effectLst/>
                <a:latin typeface="Söhne"/>
              </a:rPr>
              <a:t>Cross-Entropy Loss (Log Loss)</a:t>
            </a:r>
            <a:endParaRPr lang="en-US" dirty="0"/>
          </a:p>
        </p:txBody>
      </p:sp>
      <p:sp>
        <p:nvSpPr>
          <p:cNvPr id="3" name="Content Placeholder 2">
            <a:extLst>
              <a:ext uri="{FF2B5EF4-FFF2-40B4-BE49-F238E27FC236}">
                <a16:creationId xmlns:a16="http://schemas.microsoft.com/office/drawing/2014/main" id="{68D04A8C-47AF-357B-306D-5749D8B0D23A}"/>
              </a:ext>
            </a:extLst>
          </p:cNvPr>
          <p:cNvSpPr>
            <a:spLocks noGrp="1"/>
          </p:cNvSpPr>
          <p:nvPr>
            <p:ph idx="1"/>
          </p:nvPr>
        </p:nvSpPr>
        <p:spPr/>
        <p:txBody>
          <a:bodyPr>
            <a:normAutofit/>
          </a:bodyPr>
          <a:lstStyle/>
          <a:p>
            <a:r>
              <a:rPr lang="en-IN" b="1" i="0" dirty="0">
                <a:solidFill>
                  <a:srgbClr val="374151"/>
                </a:solidFill>
                <a:effectLst/>
                <a:latin typeface="Söhne"/>
              </a:rPr>
              <a:t>Usage</a:t>
            </a:r>
            <a:r>
              <a:rPr lang="en-IN" b="0" i="0" dirty="0">
                <a:solidFill>
                  <a:srgbClr val="374151"/>
                </a:solidFill>
                <a:effectLst/>
                <a:latin typeface="Söhne"/>
              </a:rPr>
              <a:t>: Binary and multi-class classification tasks.</a:t>
            </a:r>
          </a:p>
          <a:p>
            <a:pPr algn="l">
              <a:buFont typeface="Arial" panose="020B0604020202020204" pitchFamily="34" charset="0"/>
              <a:buChar char="•"/>
            </a:pPr>
            <a:r>
              <a:rPr lang="en-IN" b="1" i="0" dirty="0">
                <a:solidFill>
                  <a:srgbClr val="374151"/>
                </a:solidFill>
                <a:effectLst/>
                <a:latin typeface="Söhne"/>
              </a:rPr>
              <a:t>Formula</a:t>
            </a:r>
            <a:r>
              <a:rPr lang="en-IN" b="0" i="0" dirty="0">
                <a:solidFill>
                  <a:srgbClr val="374151"/>
                </a:solidFill>
                <a:effectLst/>
                <a:latin typeface="Söhne"/>
              </a:rPr>
              <a:t> (Binary Classification):</a:t>
            </a:r>
          </a:p>
          <a:p>
            <a:pPr algn="l">
              <a:buFont typeface="Arial" panose="020B0604020202020204" pitchFamily="34" charset="0"/>
              <a:buChar char="•"/>
            </a:pPr>
            <a:r>
              <a:rPr lang="en-IN" b="1" i="0" dirty="0">
                <a:solidFill>
                  <a:srgbClr val="374151"/>
                </a:solidFill>
                <a:effectLst/>
                <a:latin typeface="Söhne"/>
              </a:rPr>
              <a:t>Explanation</a:t>
            </a:r>
            <a:r>
              <a:rPr lang="en-IN" b="0" i="0" dirty="0">
                <a:solidFill>
                  <a:srgbClr val="374151"/>
                </a:solidFill>
                <a:effectLst/>
                <a:latin typeface="Söhne"/>
              </a:rPr>
              <a:t>: Measures the dissimilarity between the true label distribution and the predicted probabilities. It penalizes wrong confident predictions heavily.</a:t>
            </a:r>
          </a:p>
          <a:p>
            <a:pPr algn="l">
              <a:buFont typeface="Arial" panose="020B0604020202020204" pitchFamily="34" charset="0"/>
              <a:buChar char="•"/>
            </a:pPr>
            <a:r>
              <a:rPr lang="en-IN" b="1" i="0" dirty="0">
                <a:solidFill>
                  <a:srgbClr val="374151"/>
                </a:solidFill>
                <a:effectLst/>
                <a:latin typeface="Söhne"/>
              </a:rPr>
              <a:t>Example</a:t>
            </a:r>
            <a:r>
              <a:rPr lang="en-IN" b="0" i="0" dirty="0">
                <a:solidFill>
                  <a:srgbClr val="374151"/>
                </a:solidFill>
                <a:effectLst/>
                <a:latin typeface="Söhne"/>
              </a:rPr>
              <a:t>: Classifying images of cats and dogs. For each image, the model predicts the probability of it being a cat. The loss measures how close these probabilities are to the actual labels (1 for cat, 0 for dog).</a:t>
            </a:r>
          </a:p>
          <a:p>
            <a:endParaRPr lang="en-US" dirty="0"/>
          </a:p>
        </p:txBody>
      </p:sp>
      <p:pic>
        <p:nvPicPr>
          <p:cNvPr id="5" name="Picture 4">
            <a:extLst>
              <a:ext uri="{FF2B5EF4-FFF2-40B4-BE49-F238E27FC236}">
                <a16:creationId xmlns:a16="http://schemas.microsoft.com/office/drawing/2014/main" id="{31B6511B-DC11-839F-5CD1-8BF164EE019D}"/>
              </a:ext>
            </a:extLst>
          </p:cNvPr>
          <p:cNvPicPr>
            <a:picLocks noChangeAspect="1"/>
          </p:cNvPicPr>
          <p:nvPr/>
        </p:nvPicPr>
        <p:blipFill>
          <a:blip r:embed="rId2"/>
          <a:stretch>
            <a:fillRect/>
          </a:stretch>
        </p:blipFill>
        <p:spPr>
          <a:xfrm>
            <a:off x="5708135" y="2319992"/>
            <a:ext cx="6273800" cy="558800"/>
          </a:xfrm>
          <a:prstGeom prst="rect">
            <a:avLst/>
          </a:prstGeom>
        </p:spPr>
      </p:pic>
    </p:spTree>
    <p:extLst>
      <p:ext uri="{BB962C8B-B14F-4D97-AF65-F5344CB8AC3E}">
        <p14:creationId xmlns:p14="http://schemas.microsoft.com/office/powerpoint/2010/main" val="41479706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D0010-A0BA-B06D-857C-90252F28F1CD}"/>
              </a:ext>
            </a:extLst>
          </p:cNvPr>
          <p:cNvSpPr>
            <a:spLocks noGrp="1"/>
          </p:cNvSpPr>
          <p:nvPr>
            <p:ph type="title"/>
          </p:nvPr>
        </p:nvSpPr>
        <p:spPr/>
        <p:txBody>
          <a:bodyPr/>
          <a:lstStyle/>
          <a:p>
            <a:r>
              <a:rPr lang="en-IN" b="1" i="0" dirty="0">
                <a:effectLst/>
                <a:latin typeface="Söhne"/>
              </a:rPr>
              <a:t>Categorical Cross-Entropy Loss</a:t>
            </a:r>
            <a:endParaRPr lang="en-US" dirty="0"/>
          </a:p>
        </p:txBody>
      </p:sp>
      <p:sp>
        <p:nvSpPr>
          <p:cNvPr id="3" name="Content Placeholder 2">
            <a:extLst>
              <a:ext uri="{FF2B5EF4-FFF2-40B4-BE49-F238E27FC236}">
                <a16:creationId xmlns:a16="http://schemas.microsoft.com/office/drawing/2014/main" id="{47162CA8-4469-7608-6B9F-049A71412ACD}"/>
              </a:ext>
            </a:extLst>
          </p:cNvPr>
          <p:cNvSpPr>
            <a:spLocks noGrp="1"/>
          </p:cNvSpPr>
          <p:nvPr>
            <p:ph idx="1"/>
          </p:nvPr>
        </p:nvSpPr>
        <p:spPr/>
        <p:txBody>
          <a:bodyPr/>
          <a:lstStyle/>
          <a:p>
            <a:pPr algn="l">
              <a:buFont typeface="Arial" panose="020B0604020202020204" pitchFamily="34" charset="0"/>
              <a:buChar char="•"/>
            </a:pPr>
            <a:r>
              <a:rPr lang="en-IN" b="1" i="0" dirty="0">
                <a:solidFill>
                  <a:srgbClr val="374151"/>
                </a:solidFill>
                <a:effectLst/>
                <a:latin typeface="Söhne"/>
              </a:rPr>
              <a:t>Usage</a:t>
            </a:r>
            <a:r>
              <a:rPr lang="en-IN" b="0" i="0" dirty="0">
                <a:solidFill>
                  <a:srgbClr val="374151"/>
                </a:solidFill>
                <a:effectLst/>
                <a:latin typeface="Söhne"/>
              </a:rPr>
              <a:t>: Multi-class classification tasks.</a:t>
            </a:r>
          </a:p>
          <a:p>
            <a:pPr algn="l">
              <a:buFont typeface="Arial" panose="020B0604020202020204" pitchFamily="34" charset="0"/>
              <a:buChar char="•"/>
            </a:pPr>
            <a:r>
              <a:rPr lang="en-IN" b="1" i="0" dirty="0">
                <a:solidFill>
                  <a:srgbClr val="374151"/>
                </a:solidFill>
                <a:effectLst/>
                <a:latin typeface="Söhne"/>
              </a:rPr>
              <a:t>Formula</a:t>
            </a:r>
            <a:r>
              <a:rPr lang="en-IN" b="0" i="0" dirty="0">
                <a:solidFill>
                  <a:srgbClr val="374151"/>
                </a:solidFill>
                <a:effectLst/>
                <a:latin typeface="Söhne"/>
              </a:rPr>
              <a:t>:                                                   where </a:t>
            </a:r>
            <a:r>
              <a:rPr lang="en-IN" b="0" i="1" dirty="0">
                <a:solidFill>
                  <a:srgbClr val="374151"/>
                </a:solidFill>
                <a:effectLst/>
                <a:latin typeface="KaTeX_Math"/>
              </a:rPr>
              <a:t>C</a:t>
            </a:r>
            <a:r>
              <a:rPr lang="en-IN" b="0" i="0" dirty="0">
                <a:solidFill>
                  <a:srgbClr val="374151"/>
                </a:solidFill>
                <a:effectLst/>
                <a:latin typeface="Söhne"/>
              </a:rPr>
              <a:t> is the number of classes.</a:t>
            </a:r>
          </a:p>
          <a:p>
            <a:pPr algn="l">
              <a:buFont typeface="Arial" panose="020B0604020202020204" pitchFamily="34" charset="0"/>
              <a:buChar char="•"/>
            </a:pPr>
            <a:r>
              <a:rPr lang="en-IN" b="1" i="0" dirty="0">
                <a:solidFill>
                  <a:srgbClr val="374151"/>
                </a:solidFill>
                <a:effectLst/>
                <a:latin typeface="Söhne"/>
              </a:rPr>
              <a:t>Explanation</a:t>
            </a:r>
            <a:r>
              <a:rPr lang="en-IN" b="0" i="0" dirty="0">
                <a:solidFill>
                  <a:srgbClr val="374151"/>
                </a:solidFill>
                <a:effectLst/>
                <a:latin typeface="Söhne"/>
              </a:rPr>
              <a:t>: An extension of binary cross-entropy for multiple classes. It measures the dissimilarity between the true label distribution and the predicted probabilities for each class.</a:t>
            </a:r>
          </a:p>
          <a:p>
            <a:pPr algn="l">
              <a:buFont typeface="Arial" panose="020B0604020202020204" pitchFamily="34" charset="0"/>
              <a:buChar char="•"/>
            </a:pPr>
            <a:r>
              <a:rPr lang="en-IN" b="1" i="0" dirty="0">
                <a:solidFill>
                  <a:srgbClr val="374151"/>
                </a:solidFill>
                <a:effectLst/>
                <a:latin typeface="Söhne"/>
              </a:rPr>
              <a:t>Example</a:t>
            </a:r>
            <a:r>
              <a:rPr lang="en-IN" b="0" i="0" dirty="0">
                <a:solidFill>
                  <a:srgbClr val="374151"/>
                </a:solidFill>
                <a:effectLst/>
                <a:latin typeface="Söhne"/>
              </a:rPr>
              <a:t>: Classifying images into multiple categories (e.g., cars, bicycles, buses). The loss measures the model's accuracy in assigning probabilities to each class for every image.</a:t>
            </a:r>
          </a:p>
          <a:p>
            <a:endParaRPr lang="en-US" dirty="0"/>
          </a:p>
        </p:txBody>
      </p:sp>
      <p:pic>
        <p:nvPicPr>
          <p:cNvPr id="6" name="Picture 5">
            <a:extLst>
              <a:ext uri="{FF2B5EF4-FFF2-40B4-BE49-F238E27FC236}">
                <a16:creationId xmlns:a16="http://schemas.microsoft.com/office/drawing/2014/main" id="{AA904CC9-27EB-DF3C-7C84-AAAF75E163B6}"/>
              </a:ext>
            </a:extLst>
          </p:cNvPr>
          <p:cNvPicPr>
            <a:picLocks noChangeAspect="1"/>
          </p:cNvPicPr>
          <p:nvPr/>
        </p:nvPicPr>
        <p:blipFill rotWithShape="1">
          <a:blip r:embed="rId2"/>
          <a:srcRect l="1353" t="-1779"/>
          <a:stretch/>
        </p:blipFill>
        <p:spPr>
          <a:xfrm>
            <a:off x="2526452" y="2363894"/>
            <a:ext cx="4021535" cy="439478"/>
          </a:xfrm>
          <a:prstGeom prst="rect">
            <a:avLst/>
          </a:prstGeom>
        </p:spPr>
      </p:pic>
    </p:spTree>
    <p:extLst>
      <p:ext uri="{BB962C8B-B14F-4D97-AF65-F5344CB8AC3E}">
        <p14:creationId xmlns:p14="http://schemas.microsoft.com/office/powerpoint/2010/main" val="13190071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7478A-774A-DBBA-FFA6-2CB2736A25B0}"/>
              </a:ext>
            </a:extLst>
          </p:cNvPr>
          <p:cNvSpPr>
            <a:spLocks noGrp="1"/>
          </p:cNvSpPr>
          <p:nvPr>
            <p:ph type="title"/>
          </p:nvPr>
        </p:nvSpPr>
        <p:spPr/>
        <p:txBody>
          <a:bodyPr/>
          <a:lstStyle/>
          <a:p>
            <a:r>
              <a:rPr lang="en-IN" b="1" i="0" dirty="0">
                <a:effectLst/>
                <a:latin typeface="Söhne"/>
              </a:rPr>
              <a:t>Sparse Categorical Cross-Entropy Loss</a:t>
            </a:r>
            <a:endParaRPr lang="en-US" dirty="0"/>
          </a:p>
        </p:txBody>
      </p:sp>
      <p:sp>
        <p:nvSpPr>
          <p:cNvPr id="3" name="Content Placeholder 2">
            <a:extLst>
              <a:ext uri="{FF2B5EF4-FFF2-40B4-BE49-F238E27FC236}">
                <a16:creationId xmlns:a16="http://schemas.microsoft.com/office/drawing/2014/main" id="{CC93B9BA-68E3-2FA0-48B6-2A14642DB910}"/>
              </a:ext>
            </a:extLst>
          </p:cNvPr>
          <p:cNvSpPr>
            <a:spLocks noGrp="1"/>
          </p:cNvSpPr>
          <p:nvPr>
            <p:ph idx="1"/>
          </p:nvPr>
        </p:nvSpPr>
        <p:spPr/>
        <p:txBody>
          <a:bodyPr/>
          <a:lstStyle/>
          <a:p>
            <a:r>
              <a:rPr lang="en-IN" b="1" dirty="0"/>
              <a:t>Usage:</a:t>
            </a:r>
            <a:r>
              <a:rPr lang="en-IN" dirty="0"/>
              <a:t> Multi-class classification with integer labels. Similar to categorical cross-entropy but more memory-efficient.</a:t>
            </a:r>
          </a:p>
          <a:p>
            <a:r>
              <a:rPr lang="en-IN" b="1" dirty="0"/>
              <a:t>Explanation</a:t>
            </a:r>
            <a:r>
              <a:rPr lang="en-IN" dirty="0"/>
              <a:t>: An extension of binary cross-entropy for multiple classes. Instead of requiring the true labels to be one-hot encoded vectors, it uses integer labels representing the class indices (hence "sparse"). It measures the dissimilarity between the true label distribution and the predicted probabilities for each class. The loss function penalizes the model when it assigns low probabilities to the correct class, encouraging it to predict higher probabilities for the true class.</a:t>
            </a:r>
            <a:endParaRPr lang="en-US" dirty="0"/>
          </a:p>
        </p:txBody>
      </p:sp>
    </p:spTree>
    <p:extLst>
      <p:ext uri="{BB962C8B-B14F-4D97-AF65-F5344CB8AC3E}">
        <p14:creationId xmlns:p14="http://schemas.microsoft.com/office/powerpoint/2010/main" val="33124580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0AEDE-AA61-C46D-DF7F-0E6D2F279616}"/>
              </a:ext>
            </a:extLst>
          </p:cNvPr>
          <p:cNvSpPr>
            <a:spLocks noGrp="1"/>
          </p:cNvSpPr>
          <p:nvPr>
            <p:ph type="title"/>
          </p:nvPr>
        </p:nvSpPr>
        <p:spPr/>
        <p:txBody>
          <a:bodyPr/>
          <a:lstStyle/>
          <a:p>
            <a:r>
              <a:rPr lang="en-IN" b="1" i="0" dirty="0">
                <a:effectLst/>
                <a:latin typeface="Söhne"/>
              </a:rPr>
              <a:t>Sparse Categorical Cross-Entropy Loss</a:t>
            </a:r>
            <a:endParaRPr lang="en-US" dirty="0"/>
          </a:p>
        </p:txBody>
      </p:sp>
      <p:sp>
        <p:nvSpPr>
          <p:cNvPr id="3" name="Content Placeholder 2">
            <a:extLst>
              <a:ext uri="{FF2B5EF4-FFF2-40B4-BE49-F238E27FC236}">
                <a16:creationId xmlns:a16="http://schemas.microsoft.com/office/drawing/2014/main" id="{797A3EEB-A8DC-2533-DAF2-2690B7EB2198}"/>
              </a:ext>
            </a:extLst>
          </p:cNvPr>
          <p:cNvSpPr>
            <a:spLocks noGrp="1"/>
          </p:cNvSpPr>
          <p:nvPr>
            <p:ph idx="1"/>
          </p:nvPr>
        </p:nvSpPr>
        <p:spPr/>
        <p:txBody>
          <a:bodyPr/>
          <a:lstStyle/>
          <a:p>
            <a:r>
              <a:rPr lang="en-IN" b="1" dirty="0"/>
              <a:t>Example: </a:t>
            </a:r>
            <a:r>
              <a:rPr lang="en-IN" dirty="0"/>
              <a:t>Classifying images into multiple categories (e.g., cars, bicycles, buses). Each image is </a:t>
            </a:r>
            <a:r>
              <a:rPr lang="en-IN" dirty="0" err="1"/>
              <a:t>labeled</a:t>
            </a:r>
            <a:r>
              <a:rPr lang="en-IN" dirty="0"/>
              <a:t> with an integer corresponding to its category (e.g., 0 for cars, 1 for bicycles, 2 for buses). The neural network outputs a probability distribution over all classes for every image. The sparse categorical cross-entropy loss measures the model's accuracy in assigning high probabilities to the correct class for each image, guiding the model to improve its predictions during training.</a:t>
            </a:r>
          </a:p>
          <a:p>
            <a:endParaRPr lang="en-US" dirty="0"/>
          </a:p>
        </p:txBody>
      </p:sp>
    </p:spTree>
    <p:extLst>
      <p:ext uri="{BB962C8B-B14F-4D97-AF65-F5344CB8AC3E}">
        <p14:creationId xmlns:p14="http://schemas.microsoft.com/office/powerpoint/2010/main" val="738950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D4E6-7DE5-550D-640D-C009DA31D879}"/>
              </a:ext>
            </a:extLst>
          </p:cNvPr>
          <p:cNvSpPr>
            <a:spLocks noGrp="1"/>
          </p:cNvSpPr>
          <p:nvPr>
            <p:ph type="title"/>
          </p:nvPr>
        </p:nvSpPr>
        <p:spPr/>
        <p:txBody>
          <a:bodyPr/>
          <a:lstStyle/>
          <a:p>
            <a:r>
              <a:rPr lang="en-IN" b="1" i="0" dirty="0">
                <a:effectLst/>
                <a:latin typeface="Söhne"/>
              </a:rPr>
              <a:t>Sparse Categorical Cross-Entropy Loss</a:t>
            </a:r>
            <a:endParaRPr lang="en-US" dirty="0"/>
          </a:p>
        </p:txBody>
      </p:sp>
      <p:sp>
        <p:nvSpPr>
          <p:cNvPr id="3" name="Content Placeholder 2">
            <a:extLst>
              <a:ext uri="{FF2B5EF4-FFF2-40B4-BE49-F238E27FC236}">
                <a16:creationId xmlns:a16="http://schemas.microsoft.com/office/drawing/2014/main" id="{4193A338-37AE-B238-B224-6E637DB6683C}"/>
              </a:ext>
            </a:extLst>
          </p:cNvPr>
          <p:cNvSpPr>
            <a:spLocks noGrp="1"/>
          </p:cNvSpPr>
          <p:nvPr>
            <p:ph idx="1"/>
          </p:nvPr>
        </p:nvSpPr>
        <p:spPr/>
        <p:txBody>
          <a:bodyPr>
            <a:normAutofit/>
          </a:bodyPr>
          <a:lstStyle/>
          <a:p>
            <a:endParaRPr lang="en-US" dirty="0"/>
          </a:p>
          <a:p>
            <a:endParaRPr lang="en-US" dirty="0"/>
          </a:p>
          <a:p>
            <a:r>
              <a:rPr lang="en-IN" dirty="0"/>
              <a:t>where:</a:t>
            </a:r>
          </a:p>
          <a:p>
            <a:pPr>
              <a:buFont typeface="Arial" panose="020B0604020202020204" pitchFamily="34" charset="0"/>
              <a:buChar char="•"/>
            </a:pPr>
            <a:r>
              <a:rPr lang="en-IN" dirty="0"/>
              <a:t>NNN is the number of samples.</a:t>
            </a:r>
          </a:p>
          <a:p>
            <a:pPr>
              <a:buFont typeface="Arial" panose="020B0604020202020204" pitchFamily="34" charset="0"/>
              <a:buChar char="•"/>
            </a:pPr>
            <a:r>
              <a:rPr lang="en-IN" dirty="0"/>
              <a:t>CCC is the number of classes.</a:t>
            </a:r>
          </a:p>
          <a:p>
            <a:pPr>
              <a:buFont typeface="Arial" panose="020B0604020202020204" pitchFamily="34" charset="0"/>
              <a:buChar char="•"/>
            </a:pPr>
            <a:r>
              <a:rPr lang="en-IN" dirty="0" err="1"/>
              <a:t>z</a:t>
            </a:r>
            <a:r>
              <a:rPr lang="en-IN" baseline="-25000" dirty="0" err="1"/>
              <a:t>i,c</a:t>
            </a:r>
            <a:r>
              <a:rPr lang="en-IN" dirty="0"/>
              <a:t> is the predicted logit (raw output) for class ccc on sample </a:t>
            </a:r>
            <a:r>
              <a:rPr lang="en-IN" dirty="0" err="1"/>
              <a:t>i</a:t>
            </a:r>
            <a:r>
              <a:rPr lang="en-IN" dirty="0"/>
              <a:t>.</a:t>
            </a:r>
          </a:p>
          <a:p>
            <a:pPr>
              <a:buFont typeface="Arial" panose="020B0604020202020204" pitchFamily="34" charset="0"/>
              <a:buChar char="•"/>
            </a:pPr>
            <a:r>
              <a:rPr lang="en-IN" dirty="0" err="1"/>
              <a:t>y</a:t>
            </a:r>
            <a:r>
              <a:rPr lang="en-IN" baseline="-25000" dirty="0" err="1"/>
              <a:t>i</a:t>
            </a:r>
            <a:r>
              <a:rPr lang="en-IN" dirty="0"/>
              <a:t>​ is the true class label (an integer from 1 to C) for sample </a:t>
            </a:r>
            <a:r>
              <a:rPr lang="en-IN" dirty="0" err="1"/>
              <a:t>i</a:t>
            </a:r>
            <a:r>
              <a:rPr lang="en-IN" dirty="0"/>
              <a:t>.</a:t>
            </a:r>
          </a:p>
          <a:p>
            <a:pPr>
              <a:buFont typeface="Arial" panose="020B0604020202020204" pitchFamily="34" charset="0"/>
              <a:buChar char="•"/>
            </a:pPr>
            <a:r>
              <a:rPr lang="en-IN" dirty="0" err="1"/>
              <a:t>p</a:t>
            </a:r>
            <a:r>
              <a:rPr lang="en-IN" baseline="-25000" dirty="0" err="1"/>
              <a:t>i</a:t>
            </a:r>
            <a:r>
              <a:rPr lang="en-IN" dirty="0" err="1"/>
              <a:t>,y</a:t>
            </a:r>
            <a:r>
              <a:rPr lang="en-IN" baseline="-25000" dirty="0" err="1"/>
              <a:t>i</a:t>
            </a:r>
            <a:r>
              <a:rPr lang="en-IN" dirty="0"/>
              <a:t>=             is the predicted probability of the true class.</a:t>
            </a:r>
          </a:p>
          <a:p>
            <a:endParaRPr lang="en-US" dirty="0"/>
          </a:p>
        </p:txBody>
      </p:sp>
      <p:pic>
        <p:nvPicPr>
          <p:cNvPr id="7" name="Picture 6" descr="A mathematical equation with black letters&#10;&#10;Description automatically generated with medium confidence">
            <a:extLst>
              <a:ext uri="{FF2B5EF4-FFF2-40B4-BE49-F238E27FC236}">
                <a16:creationId xmlns:a16="http://schemas.microsoft.com/office/drawing/2014/main" id="{3FDDCE16-3038-370F-627E-E2A20CE3F0C1}"/>
              </a:ext>
            </a:extLst>
          </p:cNvPr>
          <p:cNvPicPr>
            <a:picLocks noChangeAspect="1"/>
          </p:cNvPicPr>
          <p:nvPr/>
        </p:nvPicPr>
        <p:blipFill>
          <a:blip r:embed="rId2"/>
          <a:stretch>
            <a:fillRect/>
          </a:stretch>
        </p:blipFill>
        <p:spPr>
          <a:xfrm>
            <a:off x="1960704" y="5386098"/>
            <a:ext cx="922345" cy="625319"/>
          </a:xfrm>
          <a:prstGeom prst="rect">
            <a:avLst/>
          </a:prstGeom>
        </p:spPr>
      </p:pic>
    </p:spTree>
    <p:extLst>
      <p:ext uri="{BB962C8B-B14F-4D97-AF65-F5344CB8AC3E}">
        <p14:creationId xmlns:p14="http://schemas.microsoft.com/office/powerpoint/2010/main" val="62612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5604</Words>
  <Application>Microsoft Macintosh PowerPoint</Application>
  <PresentationFormat>Widescreen</PresentationFormat>
  <Paragraphs>294</Paragraphs>
  <Slides>56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Calibri</vt:lpstr>
      <vt:lpstr>Calibri Light</vt:lpstr>
      <vt:lpstr>KaTeX_Main</vt:lpstr>
      <vt:lpstr>KaTeX_Math</vt:lpstr>
      <vt:lpstr>KaTeX_Size1</vt:lpstr>
      <vt:lpstr>Söhne</vt:lpstr>
      <vt:lpstr>Söhne Mono</vt:lpstr>
      <vt:lpstr>Office Theme</vt:lpstr>
      <vt:lpstr>PowerPoint Presentation</vt:lpstr>
      <vt:lpstr>Learning Rate</vt:lpstr>
      <vt:lpstr>Importance of Learning Rate</vt:lpstr>
      <vt:lpstr>Effect of different learning rates</vt:lpstr>
      <vt:lpstr>Tips</vt:lpstr>
      <vt:lpstr>Batch Size</vt:lpstr>
      <vt:lpstr>Implications of Batch Size</vt:lpstr>
      <vt:lpstr>Examples</vt:lpstr>
      <vt:lpstr>Tips</vt:lpstr>
      <vt:lpstr>Number of Epochs</vt:lpstr>
      <vt:lpstr>Implications of the Number of Epochs</vt:lpstr>
      <vt:lpstr>Examples</vt:lpstr>
      <vt:lpstr>Tips</vt:lpstr>
      <vt:lpstr>Optimizers</vt:lpstr>
      <vt:lpstr>Examples and Implications of Different Optimizers</vt:lpstr>
      <vt:lpstr>Examples and Implications of Different Optimizers</vt:lpstr>
      <vt:lpstr>Examples</vt:lpstr>
      <vt:lpstr>Tips</vt:lpstr>
      <vt:lpstr>Weight Initialization</vt:lpstr>
      <vt:lpstr>Popular Weight Initialization Methods</vt:lpstr>
      <vt:lpstr>Popular Weight Initialization Methods</vt:lpstr>
      <vt:lpstr>Popular Weight Initialization Methods</vt:lpstr>
      <vt:lpstr>Examples</vt:lpstr>
      <vt:lpstr>Activation Functions</vt:lpstr>
      <vt:lpstr>Common Activation Functions</vt:lpstr>
      <vt:lpstr>Common Activation Functions</vt:lpstr>
      <vt:lpstr>Common Activation Functions</vt:lpstr>
      <vt:lpstr>Examples</vt:lpstr>
      <vt:lpstr>Network Architecture</vt:lpstr>
      <vt:lpstr>Key Components in CNN Architecture</vt:lpstr>
      <vt:lpstr>Examples and Implications of Different Architectures</vt:lpstr>
      <vt:lpstr>PowerPoint Presentation</vt:lpstr>
      <vt:lpstr>Examples</vt:lpstr>
      <vt:lpstr>Dropout</vt:lpstr>
      <vt:lpstr>Importance of Dropout</vt:lpstr>
      <vt:lpstr>Tuning the Dropout Rate</vt:lpstr>
      <vt:lpstr>Examples</vt:lpstr>
      <vt:lpstr>Tips</vt:lpstr>
      <vt:lpstr>Batch Normalization</vt:lpstr>
      <vt:lpstr>Why is it Needed</vt:lpstr>
      <vt:lpstr>How Does BatchNorm Work?</vt:lpstr>
      <vt:lpstr>Example</vt:lpstr>
      <vt:lpstr>Benefits</vt:lpstr>
      <vt:lpstr>Weight Decay (L2 Regularization)</vt:lpstr>
      <vt:lpstr>Weight Decay (L2 Regularization)</vt:lpstr>
      <vt:lpstr>Benefits of Weight Decay</vt:lpstr>
      <vt:lpstr>How to Use</vt:lpstr>
      <vt:lpstr>Loss Functions</vt:lpstr>
      <vt:lpstr>Why are Loss Functions useful?</vt:lpstr>
      <vt:lpstr>Importance of Loss Functions</vt:lpstr>
      <vt:lpstr>Mean Squared Error (MSE) Loss:</vt:lpstr>
      <vt:lpstr>Cross-Entropy Loss (Log Loss)</vt:lpstr>
      <vt:lpstr>Categorical Cross-Entropy Loss</vt:lpstr>
      <vt:lpstr>Sparse Categorical Cross-Entropy Loss</vt:lpstr>
      <vt:lpstr>Sparse Categorical Cross-Entropy Loss</vt:lpstr>
      <vt:lpstr>Sparse Categorical Cross-Entropy Loss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Pandey</dc:creator>
  <cp:lastModifiedBy>Amit Pandey</cp:lastModifiedBy>
  <cp:revision>17</cp:revision>
  <dcterms:created xsi:type="dcterms:W3CDTF">2023-10-21T02:07:06Z</dcterms:created>
  <dcterms:modified xsi:type="dcterms:W3CDTF">2024-11-10T08:08:15Z</dcterms:modified>
</cp:coreProperties>
</file>